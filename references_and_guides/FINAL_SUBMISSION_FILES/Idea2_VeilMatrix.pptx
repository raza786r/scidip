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Space Grotesk" panose="020B0604020202020204" charset="0"/>
      <p:regular r:id="rId25"/>
      <p:bold r:id="rId26"/>
    </p:embeddedFont>
    <p:embeddedFont>
      <p:font typeface="Space Grotesk SemiBold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XdDC6XOfP0PyE91MB7ji8wQT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5893f04f_6_7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g3e85893f04f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" name="Google Shape;42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" name="Google Shape;49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8969c066b_84_10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3e8969c066b_84_10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e8969c066b_84_10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8969c066b_84_107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3e8969c066b_84_107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g3e8969c066b_84_10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e8969c066b_84_10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e8969c066b_84_10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e8969c066b_84_1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e8969c066b_84_1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e8969c066b_84_1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e8969c066b_84_1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e8969c066b_84_1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8969c066b_84_119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e8969c066b_84_119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g3e8969c066b_84_1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e8969c066b_84_1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3e8969c066b_84_1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e8969c066b_84_12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3e8969c066b_84_12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0" name="Google Shape;40;g3e8969c066b_84_125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1" name="Google Shape;41;g3e8969c066b_84_12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e8969c066b_84_12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3e8969c066b_84_12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8969c066b_84_13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3e8969c066b_84_132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7" name="Google Shape;47;g3e8969c066b_84_132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48" name="Google Shape;48;g3e8969c066b_84_132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9" name="Google Shape;49;g3e8969c066b_84_132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0" name="Google Shape;50;g3e8969c066b_84_13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3e8969c066b_84_13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e8969c066b_84_13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8969c066b_84_14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e8969c066b_84_14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e8969c066b_84_14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e8969c066b_84_14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8969c066b_84_146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3e8969c066b_84_146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61" name="Google Shape;61;g3e8969c066b_84_146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2" name="Google Shape;62;g3e8969c066b_84_14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3e8969c066b_84_14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3e8969c066b_84_14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8969c066b_84_153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3e8969c066b_84_153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g3e8969c066b_84_153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9" name="Google Shape;69;g3e8969c066b_84_15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3e8969c066b_84_15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e8969c066b_84_15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8969c066b_84_16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3e8969c066b_84_160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e8969c066b_84_16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e8969c066b_84_16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3e8969c066b_84_16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8969c066b_84_166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3e8969c066b_84_166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g3e8969c066b_84_16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e8969c066b_84_16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3e8969c066b_84_16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8969c066b_84_9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e8969c066b_84_9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g3e8969c066b_84_9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g3e8969c066b_84_9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3e8969c066b_84_9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crystalparadigm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g3e85893f04f_6_75"/>
          <p:cNvGrpSpPr/>
          <p:nvPr/>
        </p:nvGrpSpPr>
        <p:grpSpPr>
          <a:xfrm>
            <a:off x="476250" y="221142"/>
            <a:ext cx="6160200" cy="1336115"/>
            <a:chOff x="386443" y="401517"/>
            <a:chExt cx="6160200" cy="1336115"/>
          </a:xfrm>
        </p:grpSpPr>
        <p:sp>
          <p:nvSpPr>
            <p:cNvPr id="91" name="Google Shape;91;g3e85893f04f_6_75"/>
            <p:cNvSpPr txBox="1"/>
            <p:nvPr/>
          </p:nvSpPr>
          <p:spPr>
            <a:xfrm>
              <a:off x="386443" y="401517"/>
              <a:ext cx="5715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rPr lang="en-US" sz="4200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CRYSTAL </a:t>
              </a:r>
              <a:r>
                <a:rPr lang="en-US" sz="4200" b="1" i="0" u="none" strike="noStrike" cap="none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PARADIGM</a:t>
              </a:r>
              <a:endParaRPr sz="4200" b="1" i="0" u="none" strike="noStrike" cap="none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2" name="Google Shape;92;g3e85893f04f_6_75"/>
            <p:cNvSpPr txBox="1"/>
            <p:nvPr/>
          </p:nvSpPr>
          <p:spPr>
            <a:xfrm>
              <a:off x="386443" y="1356632"/>
              <a:ext cx="616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0"/>
                <a:buFont typeface="Arial"/>
                <a:buNone/>
              </a:pPr>
              <a:r>
                <a:rPr lang="en-US" sz="1530" b="0" i="0" u="none" strike="noStrike" cap="none" dirty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AI-Integrated Materials Architectures for Aerospace Applications </a:t>
              </a:r>
              <a:endParaRPr sz="1530" b="0" i="0" u="none" strike="noStrike" cap="none" dirty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sp>
        <p:nvSpPr>
          <p:cNvPr id="93" name="Google Shape;93;g3e85893f04f_6_75"/>
          <p:cNvSpPr txBox="1"/>
          <p:nvPr/>
        </p:nvSpPr>
        <p:spPr>
          <a:xfrm>
            <a:off x="476250" y="1476375"/>
            <a:ext cx="5250650" cy="346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Crystal Paradigm is a research-driven organization at the intersection of artificial intelligence and materials science. Currently, its aerospace-focused deep-tech engineering team has computationally validated a next-generation radar-absorbing magnetic material achieving an ideal X-band alignment score of 0.98—exceeding the baseline radar attenuation threshold by 14%.</a:t>
            </a:r>
            <a:endParaRPr sz="12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Our mission is to accelerate the discovery of next-generation materials by combining machine learning, high-performance computing, and experimental validation in one closed loop.</a:t>
            </a:r>
            <a:endParaRPr sz="12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This program takes that platform to its hardest proving ground — extreme-environment aerospace defense aircraft: soft magnetic absorbing layers paired with functionally graded crystal structures, from public materials databases to an HPC-validated, experimental data and in-house data curation with a printable manufacturing recipe and screening of materials.</a:t>
            </a:r>
            <a:endParaRPr sz="10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125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4" name="Google Shape;94;g3e85893f04f_6_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63336"/>
            <a:ext cx="2095500" cy="24846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96" name="Google Shape;96;g3e85893f04f_6_75"/>
          <p:cNvSpPr/>
          <p:nvPr/>
        </p:nvSpPr>
        <p:spPr>
          <a:xfrm>
            <a:off x="6047418" y="2705487"/>
            <a:ext cx="2764164" cy="1008276"/>
          </a:xfrm>
          <a:prstGeom prst="roundRect">
            <a:avLst>
              <a:gd name="adj" fmla="val 15383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Research Paper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(Under Review)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/>
              <a:t>2 Indian Patents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(Under Filing Process)</a:t>
            </a:r>
            <a:endParaRPr sz="1100" b="0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4908B-8CF3-5C80-68EF-FA5C52FAE30B}"/>
              </a:ext>
            </a:extLst>
          </p:cNvPr>
          <p:cNvSpPr txBox="1"/>
          <p:nvPr/>
        </p:nvSpPr>
        <p:spPr>
          <a:xfrm>
            <a:off x="395323" y="82925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BDEFD"/>
                </a:solidFill>
                <a:latin typeface="Space Grotesk SemiBold"/>
                <a:cs typeface="Space Grotesk SemiBold"/>
                <a:sym typeface="Space Grotesk SemiBold"/>
              </a:rPr>
              <a:t>Challenge #2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/>
          <p:nvPr/>
        </p:nvSpPr>
        <p:spPr>
          <a:xfrm>
            <a:off x="1267123" y="3564731"/>
            <a:ext cx="11235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50"/>
              <a:buFont typeface="Inter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428625" y="381000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CRYSTAL PARADIGM FOR STEALTHIER, HIGH-SURVIVABILITY MILITARY AIRCRAFT </a:t>
            </a:r>
            <a:endParaRPr sz="1820" b="1" i="0" u="none" strike="noStrike" cap="none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428625" y="1000125"/>
            <a:ext cx="828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AI-Driven Inverse Design of Gradient Radar Absorbing Materials </a:t>
            </a:r>
            <a:endParaRPr sz="1600" b="0" i="0" u="none" strike="noStrike" cap="none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107" name="Google Shape;107;p1"/>
          <p:cNvGrpSpPr/>
          <p:nvPr/>
        </p:nvGrpSpPr>
        <p:grpSpPr>
          <a:xfrm>
            <a:off x="4090307" y="1524000"/>
            <a:ext cx="4625068" cy="3143175"/>
            <a:chOff x="3952875" y="1524000"/>
            <a:chExt cx="4762500" cy="3143175"/>
          </a:xfrm>
        </p:grpSpPr>
        <p:sp>
          <p:nvSpPr>
            <p:cNvPr id="108" name="Google Shape;108;p1"/>
            <p:cNvSpPr/>
            <p:nvPr/>
          </p:nvSpPr>
          <p:spPr>
            <a:xfrm>
              <a:off x="3952875" y="152400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4095750" y="152400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Integrated Multi-Material Architecture</a:t>
              </a:r>
              <a:endParaRPr sz="1100" b="1" i="0" u="none" strike="noStrike" cap="none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Merging a high-loss refractory magnetic base with a multi-layer functionally graded ferrite/carbon composite radar absorbing coating. </a:t>
              </a:r>
              <a:endParaRPr sz="1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952875" y="233362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 txBox="1"/>
            <p:nvPr/>
          </p:nvSpPr>
          <p:spPr>
            <a:xfrm>
              <a:off x="4095750" y="233362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 dirty="0">
                  <a:solidFill>
                    <a:srgbClr val="991B1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Problem</a:t>
              </a:r>
              <a:endParaRPr sz="1100" b="1" i="0" u="none" strike="noStrike" cap="none" dirty="0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Impedance mismatching and narrow bandwidth limitations at high radar frequencies causing surface wave reflection and loss of stealth capability. </a:t>
              </a:r>
              <a:endParaRPr sz="1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952875" y="314325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4095750" y="314325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07598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Current Status</a:t>
              </a:r>
              <a:endParaRPr sz="1100" b="1" i="0" u="none" strike="noStrike" cap="none">
                <a:solidFill>
                  <a:srgbClr val="07598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TRL-3+ screening complete via a pretrained diffusion model with fine-tuned property adapters and TMM/ML force-field solvers; lab-backed prototyping ready. </a:t>
              </a:r>
              <a:endParaRPr sz="1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952875" y="395287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D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4095750" y="395287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16653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Strategic Ask</a:t>
              </a:r>
              <a:endParaRPr sz="1100" b="1" i="0" u="none" strike="noStrike" cap="none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structured co-development and co-validation testing partnership with Safran's materials division. </a:t>
              </a:r>
              <a:endParaRPr sz="1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16" name="Google Shape;11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28763"/>
            <a:ext cx="380047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THIS MATTERS TO SAFRAN NOW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Addressing Aviation Fleet Imperatives and Supply Chain Resilience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00075" y="1441252"/>
            <a:ext cx="811530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Electromagnetic Threat Limit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00075" y="1659136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Next-generation radar tracking networks operate across wideband frequencies with extreme detection sensitivity. These severe limits introduce advanced tracking capabilities that outpace legacy passive stealth coatings. 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00063" y="2182443"/>
            <a:ext cx="81153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Supply Chain Resilience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00075" y="2398534"/>
            <a:ext cx="8115300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Conventional radar-absorbing designs rely heavily on rare elements like Hafnium. Our solution intentionally limits high-risk dependencies to mitigate price volatility and supply chain exposure. </a:t>
            </a:r>
            <a:endParaRPr sz="850" dirty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Directly aligned with Safran's defense and aerospace program targets for signature reduction and structural efficiency. </a:t>
            </a:r>
            <a:endParaRPr sz="850" b="0" i="0" u="none" strike="noStrike" cap="none" dirty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 b="0" i="0" u="none" strike="noStrike" cap="none" dirty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 b="0" i="0" u="none" strike="noStrike" cap="none" dirty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 b="0" i="0" u="none" strike="noStrike" cap="none" dirty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578644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RADAR CROSS SECTION (RCS)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78644" y="3662958"/>
            <a:ext cx="2319319" cy="809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50"/>
              <a:buFont typeface="Inter"/>
              <a:buNone/>
            </a:pPr>
            <a:r>
              <a:rPr lang="en-US" sz="750" b="1" i="0" u="none" strike="noStrike" cap="non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r>
              <a:rPr lang="en-US" sz="80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compressor parasitic bleed air, driving an immediate </a:t>
            </a:r>
            <a:r>
              <a:rPr lang="en-US" sz="750" b="1" i="0" u="none" strike="noStrike" cap="non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1.5% n95% reduction in radar cross-section across the X-band spectrum, driving a massive increase in aircraft survivability and tactical mission </a:t>
            </a:r>
            <a:r>
              <a:rPr lang="en-US" sz="750" b="1" i="0" u="none" strike="noStrike" cap="non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success.et</a:t>
            </a:r>
            <a:r>
              <a:rPr lang="en-US" sz="750" b="1" i="0" u="none" strike="noStrike" cap="non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 reduction</a:t>
            </a:r>
            <a:r>
              <a:rPr lang="en-US" sz="80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Specific Fuel Consumption (SFC).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3412313" y="3391495"/>
            <a:ext cx="2319347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MRO MAINTENANCE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412313" y="3662958"/>
            <a:ext cx="2319347" cy="55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Lowering environmental and mechanical degradation to extend coating inspection intervals and airframe operational life cycles significantly. 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246009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246009" y="3662958"/>
            <a:ext cx="2319319" cy="55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 export of a universal, print-ready compositional matrix to drive advanced industrial material deposition setups for shop-floor deployment.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67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/>
          <p:nvPr/>
        </p:nvSpPr>
        <p:spPr>
          <a:xfrm>
            <a:off x="428625" y="817318"/>
            <a:ext cx="3714750" cy="6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00"/>
              <a:buFont typeface="Space Grotesk SemiBold"/>
              <a:buNone/>
            </a:pPr>
            <a:r>
              <a:rPr lang="en-US" sz="2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TECHNICAL PROBLEM IN ONE PICTURE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00075" y="1691701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Impedance Matching Discontinuity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00075" y="1856000"/>
            <a:ext cx="35433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Air impedance (Z_0-approx-377 Omega) vs. raw absorber coating impedance (</a:t>
            </a:r>
            <a:r>
              <a:rPr lang="en-US" sz="750" dirty="0" err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Z_in</a:t>
            </a:r>
            <a:r>
              <a:rPr lang="en-US" sz="7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&lt;&lt; Z_0). Interface reflection coefficients exceed acceptable military thresholds, far surpassing the detection limits of legacy monostatic and </a:t>
            </a:r>
            <a:r>
              <a:rPr lang="en-US" sz="750" dirty="0" err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multistatic</a:t>
            </a:r>
            <a:r>
              <a:rPr lang="en-US" sz="7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radar tracking systems.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0075" y="2490272"/>
            <a:ext cx="35433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Microstructural Phase Decay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00075" y="2617835"/>
            <a:ext cx="35433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Inhomogeneous elemental distribution precipitates non-magnetic secondary phases, causing rapid degradation of complex permeability ($\mu''$) and interface absorption failure. 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600075" y="3178967"/>
            <a:ext cx="35433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Edge Scattering Threat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00075" y="3380405"/>
            <a:ext cx="35433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Geometric discontinuities and surface geometric edges create intense electromagnetic scattering nodes, accelerating localized radar cross-section (RCS) spikes and signature detection leaks. 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00075" y="3918737"/>
            <a:ext cx="35433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Unified Imperative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00075" y="4076662"/>
            <a:ext cx="35433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Chemical composition, structural lattice geometry, and dielectric-magnetic multi-layers must be optimized as a single system to prevent radar reflection failures. 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000625" y="874216"/>
            <a:ext cx="3714750" cy="14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00"/>
              <a:buFont typeface="Space Grotesk SemiBold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000625" y="4163913"/>
            <a:ext cx="3714750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Schematic cross-section showing interfacial stress singularities and crack initiation zones.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5863" y="1267750"/>
            <a:ext cx="340042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 txBox="1"/>
          <p:nvPr/>
        </p:nvSpPr>
        <p:spPr>
          <a:xfrm>
            <a:off x="428625" y="33337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ADVANCED ARCHITECTURE &amp; RECIPIENT LAYOUT</a:t>
            </a:r>
            <a:endParaRPr sz="2400" b="1" i="0" u="none" strike="noStrike" cap="none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59" name="Google Shape;159;p4"/>
          <p:cNvGrpSpPr/>
          <p:nvPr/>
        </p:nvGrpSpPr>
        <p:grpSpPr>
          <a:xfrm>
            <a:off x="428625" y="1238250"/>
            <a:ext cx="3333900" cy="3238575"/>
            <a:chOff x="428625" y="1238250"/>
            <a:chExt cx="3333900" cy="3238575"/>
          </a:xfrm>
        </p:grpSpPr>
        <p:sp>
          <p:nvSpPr>
            <p:cNvPr id="160" name="Google Shape;160;p4"/>
            <p:cNvSpPr/>
            <p:nvPr/>
          </p:nvSpPr>
          <p:spPr>
            <a:xfrm>
              <a:off x="428625" y="1238250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571500" y="133350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Substrate Phase Security</a:t>
              </a:r>
              <a:endParaRPr sz="1100" b="1" i="0" u="none" strike="noStrike" cap="none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Optimized quinary soft magnetic matrix ensuring a stable single-phase crystal structure lattice. </a:t>
              </a:r>
              <a:endParaRPr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428625" y="2143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571500" y="2238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8"/>
                <a:buFont typeface="Arial"/>
                <a:buNone/>
              </a:pPr>
              <a:r>
                <a:rPr lang="en-US" sz="1018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Pareto Gradient</a:t>
              </a:r>
              <a:endParaRPr sz="1018" b="1" i="0" u="none" strike="noStrike" cap="none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33"/>
                <a:buFont typeface="Arial"/>
                <a:buNone/>
              </a:pPr>
              <a:r>
                <a:rPr lang="en-US" sz="833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Transition zone governed by a power-law exponent n=1.1, shifting electromagnetic boundary mismatches away from the surface.</a:t>
              </a:r>
              <a:endParaRPr sz="833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428625" y="2905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571500" y="3000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8"/>
                <a:buFont typeface="Arial"/>
                <a:buNone/>
              </a:pPr>
              <a:r>
                <a:rPr lang="en-US" sz="1018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Transpiration Porosity Network</a:t>
              </a:r>
              <a:endParaRPr sz="1018" b="1" i="0" u="none" strike="noStrike" cap="none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33"/>
                <a:buFont typeface="Arial"/>
                <a:buNone/>
              </a:pPr>
              <a:r>
                <a:rPr lang="en-US" sz="833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micro-structures programmed via selective laser sintering, allowing incoming radar waves to dissipate uniformly into heat. </a:t>
              </a:r>
              <a:endParaRPr sz="833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428625" y="3667125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571500" y="3762375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Hardware-Agnostic Output</a:t>
              </a:r>
              <a:endParaRPr sz="1100" b="1" i="0" u="none" strike="noStrike" cap="none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export of an 11-layer data ledger to drive multi-hopper LENS printers. </a:t>
              </a:r>
              <a:endParaRPr sz="9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>
            <a:off x="4117900" y="1405116"/>
            <a:ext cx="4857900" cy="3071601"/>
            <a:chOff x="4000500" y="333375"/>
            <a:chExt cx="4857900" cy="4476900"/>
          </a:xfrm>
        </p:grpSpPr>
        <p:sp>
          <p:nvSpPr>
            <p:cNvPr id="169" name="Google Shape;169;p4"/>
            <p:cNvSpPr/>
            <p:nvPr/>
          </p:nvSpPr>
          <p:spPr>
            <a:xfrm>
              <a:off x="4000500" y="333375"/>
              <a:ext cx="4857900" cy="447690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" name="Google Shape;170;p4"/>
            <p:cNvGrpSpPr/>
            <p:nvPr/>
          </p:nvGrpSpPr>
          <p:grpSpPr>
            <a:xfrm>
              <a:off x="4000500" y="333375"/>
              <a:ext cx="4857600" cy="381000"/>
              <a:chOff x="4000500" y="333375"/>
              <a:chExt cx="4857600" cy="381000"/>
            </a:xfrm>
          </p:grpSpPr>
          <p:pic>
            <p:nvPicPr>
              <p:cNvPr id="171" name="Google Shape;171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" name="Google Shape;172;p4"/>
              <p:cNvSpPr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5" name="Google Shape;175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4"/>
              <p:cNvSpPr txBox="1"/>
              <p:nvPr/>
            </p:nvSpPr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Layer</a:t>
                </a:r>
                <a:endParaRPr sz="800" b="0" i="0" u="none" strike="noStrike" cap="none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77" name="Google Shape;177;p4"/>
              <p:cNvSpPr txBox="1"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Depth (mm)</a:t>
                </a:r>
                <a:endParaRPr sz="800" b="0" i="0" u="none" strike="noStrike" cap="none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78" name="Google Shape;178;p4"/>
              <p:cNvSpPr txBox="1"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Alloy Vol %</a:t>
                </a:r>
                <a:endParaRPr sz="800" b="0" i="0" u="none" strike="noStrike" cap="none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79" name="Google Shape;179;p4"/>
              <p:cNvSpPr txBox="1"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Ceramic Vol %</a:t>
                </a:r>
                <a:endParaRPr sz="800" b="0" i="0" u="none" strike="noStrike" cap="none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80" name="Google Shape;180;p4"/>
              <p:cNvSpPr txBox="1"/>
              <p:nvPr/>
            </p:nvSpPr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Profile Description</a:t>
                </a:r>
                <a:endParaRPr sz="800" b="0" i="0" u="none" strike="noStrike" cap="none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181" name="Google Shape;181;p4"/>
            <p:cNvGrpSpPr/>
            <p:nvPr/>
          </p:nvGrpSpPr>
          <p:grpSpPr>
            <a:xfrm>
              <a:off x="4000500" y="714375"/>
              <a:ext cx="4857900" cy="3143400"/>
              <a:chOff x="4000500" y="714375"/>
              <a:chExt cx="4857900" cy="3143400"/>
            </a:xfrm>
          </p:grpSpPr>
          <p:sp>
            <p:nvSpPr>
              <p:cNvPr id="182" name="Google Shape;182;p4"/>
              <p:cNvSpPr/>
              <p:nvPr/>
            </p:nvSpPr>
            <p:spPr>
              <a:xfrm>
                <a:off x="4000500" y="714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"/>
              <p:cNvSpPr txBox="1"/>
              <p:nvPr/>
            </p:nvSpPr>
            <p:spPr>
              <a:xfrm>
                <a:off x="4000500" y="714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4" name="Google Shape;184;p4"/>
              <p:cNvSpPr txBox="1"/>
              <p:nvPr/>
            </p:nvSpPr>
            <p:spPr>
              <a:xfrm>
                <a:off x="4476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4"/>
              <p:cNvSpPr txBox="1"/>
              <p:nvPr/>
            </p:nvSpPr>
            <p:spPr>
              <a:xfrm>
                <a:off x="5238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4"/>
              <p:cNvSpPr txBox="1"/>
              <p:nvPr/>
            </p:nvSpPr>
            <p:spPr>
              <a:xfrm>
                <a:off x="6000750" y="714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4"/>
              <p:cNvSpPr txBox="1"/>
              <p:nvPr/>
            </p:nvSpPr>
            <p:spPr>
              <a:xfrm>
                <a:off x="6858000" y="714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Refractory HEA Base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>
                <a:off x="4000500" y="1000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"/>
              <p:cNvSpPr txBox="1"/>
              <p:nvPr/>
            </p:nvSpPr>
            <p:spPr>
              <a:xfrm>
                <a:off x="4000500" y="1000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4476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0.50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1" name="Google Shape;191;p4"/>
              <p:cNvSpPr txBox="1"/>
              <p:nvPr/>
            </p:nvSpPr>
            <p:spPr>
              <a:xfrm>
                <a:off x="5238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92.1%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4"/>
              <p:cNvSpPr txBox="1"/>
              <p:nvPr/>
            </p:nvSpPr>
            <p:spPr>
              <a:xfrm>
                <a:off x="6000750" y="100012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7.9%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3" name="Google Shape;193;p4"/>
              <p:cNvSpPr txBox="1"/>
              <p:nvPr/>
            </p:nvSpPr>
            <p:spPr>
              <a:xfrm>
                <a:off x="6858000" y="1000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4000500" y="1285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4"/>
              <p:cNvSpPr txBox="1"/>
              <p:nvPr/>
            </p:nvSpPr>
            <p:spPr>
              <a:xfrm>
                <a:off x="4000500" y="1285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4"/>
              <p:cNvSpPr txBox="1"/>
              <p:nvPr/>
            </p:nvSpPr>
            <p:spPr>
              <a:xfrm>
                <a:off x="4476750" y="1285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1.00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5238750" y="1285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83.0%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4"/>
              <p:cNvSpPr txBox="1"/>
              <p:nvPr/>
            </p:nvSpPr>
            <p:spPr>
              <a:xfrm>
                <a:off x="6000750" y="12858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17.0%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4"/>
              <p:cNvSpPr txBox="1"/>
              <p:nvPr/>
            </p:nvSpPr>
            <p:spPr>
              <a:xfrm>
                <a:off x="6858000" y="1285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500" y="15716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"/>
              <p:cNvSpPr txBox="1"/>
              <p:nvPr/>
            </p:nvSpPr>
            <p:spPr>
              <a:xfrm>
                <a:off x="4000500" y="1571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2" name="Google Shape;202;p4"/>
              <p:cNvSpPr txBox="1"/>
              <p:nvPr/>
            </p:nvSpPr>
            <p:spPr>
              <a:xfrm>
                <a:off x="4476750" y="1571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1.50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3" name="Google Shape;203;p4"/>
              <p:cNvSpPr txBox="1"/>
              <p:nvPr/>
            </p:nvSpPr>
            <p:spPr>
              <a:xfrm>
                <a:off x="5238750" y="1571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73.4%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4" name="Google Shape;204;p4"/>
              <p:cNvSpPr txBox="1"/>
              <p:nvPr/>
            </p:nvSpPr>
            <p:spPr>
              <a:xfrm>
                <a:off x="6000750" y="157162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26.6%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5" name="Google Shape;205;p4"/>
              <p:cNvSpPr txBox="1"/>
              <p:nvPr/>
            </p:nvSpPr>
            <p:spPr>
              <a:xfrm>
                <a:off x="6858000" y="1571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4000500" y="18573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"/>
              <p:cNvSpPr txBox="1"/>
              <p:nvPr/>
            </p:nvSpPr>
            <p:spPr>
              <a:xfrm>
                <a:off x="4000500" y="1857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4476750" y="1857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2.00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5238750" y="1857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63.5%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6000750" y="1857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36.5%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1" name="Google Shape;211;p4"/>
              <p:cNvSpPr txBox="1"/>
              <p:nvPr/>
            </p:nvSpPr>
            <p:spPr>
              <a:xfrm>
                <a:off x="6858000" y="1857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4000500" y="21431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4000500" y="2143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4" name="Google Shape;214;p4"/>
              <p:cNvSpPr txBox="1"/>
              <p:nvPr/>
            </p:nvSpPr>
            <p:spPr>
              <a:xfrm>
                <a:off x="4476750" y="2143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2.50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5" name="Google Shape;215;p4"/>
              <p:cNvSpPr txBox="1"/>
              <p:nvPr/>
            </p:nvSpPr>
            <p:spPr>
              <a:xfrm>
                <a:off x="5238750" y="2143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53.3%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6" name="Google Shape;216;p4"/>
              <p:cNvSpPr txBox="1"/>
              <p:nvPr/>
            </p:nvSpPr>
            <p:spPr>
              <a:xfrm>
                <a:off x="6000750" y="214312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46.7%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7" name="Google Shape;217;p4"/>
              <p:cNvSpPr txBox="1"/>
              <p:nvPr/>
            </p:nvSpPr>
            <p:spPr>
              <a:xfrm>
                <a:off x="6858000" y="2143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4000500" y="24288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"/>
              <p:cNvSpPr txBox="1"/>
              <p:nvPr/>
            </p:nvSpPr>
            <p:spPr>
              <a:xfrm>
                <a:off x="4000500" y="2428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7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0" name="Google Shape;220;p4"/>
              <p:cNvSpPr txBox="1"/>
              <p:nvPr/>
            </p:nvSpPr>
            <p:spPr>
              <a:xfrm>
                <a:off x="4476750" y="2428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3.00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4"/>
              <p:cNvSpPr txBox="1"/>
              <p:nvPr/>
            </p:nvSpPr>
            <p:spPr>
              <a:xfrm>
                <a:off x="5238750" y="2428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42.9%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2" name="Google Shape;222;p4"/>
              <p:cNvSpPr txBox="1"/>
              <p:nvPr/>
            </p:nvSpPr>
            <p:spPr>
              <a:xfrm>
                <a:off x="6000750" y="24288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57.1%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4"/>
              <p:cNvSpPr txBox="1"/>
              <p:nvPr/>
            </p:nvSpPr>
            <p:spPr>
              <a:xfrm>
                <a:off x="6858000" y="2428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 i="0" u="none" strike="noStrike" cap="none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4000500" y="27146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"/>
              <p:cNvSpPr txBox="1"/>
              <p:nvPr/>
            </p:nvSpPr>
            <p:spPr>
              <a:xfrm>
                <a:off x="4000500" y="2714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4"/>
              <p:cNvSpPr txBox="1"/>
              <p:nvPr/>
            </p:nvSpPr>
            <p:spPr>
              <a:xfrm>
                <a:off x="4476750" y="2714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3.50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4"/>
              <p:cNvSpPr txBox="1"/>
              <p:nvPr/>
            </p:nvSpPr>
            <p:spPr>
              <a:xfrm>
                <a:off x="5238750" y="2714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32.2%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4"/>
              <p:cNvSpPr txBox="1"/>
              <p:nvPr/>
            </p:nvSpPr>
            <p:spPr>
              <a:xfrm>
                <a:off x="6000750" y="271462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67.8%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6858000" y="2714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4000500" y="3000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4"/>
              <p:cNvSpPr txBox="1"/>
              <p:nvPr/>
            </p:nvSpPr>
            <p:spPr>
              <a:xfrm>
                <a:off x="4000500" y="3000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9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" name="Google Shape;232;p4"/>
              <p:cNvSpPr txBox="1"/>
              <p:nvPr/>
            </p:nvSpPr>
            <p:spPr>
              <a:xfrm>
                <a:off x="4476750" y="3000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4.00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" name="Google Shape;233;p4"/>
              <p:cNvSpPr txBox="1"/>
              <p:nvPr/>
            </p:nvSpPr>
            <p:spPr>
              <a:xfrm>
                <a:off x="5238750" y="3000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21.4%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" name="Google Shape;234;p4"/>
              <p:cNvSpPr txBox="1"/>
              <p:nvPr/>
            </p:nvSpPr>
            <p:spPr>
              <a:xfrm>
                <a:off x="6000750" y="3000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78.6%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" name="Google Shape;235;p4"/>
              <p:cNvSpPr txBox="1"/>
              <p:nvPr/>
            </p:nvSpPr>
            <p:spPr>
              <a:xfrm>
                <a:off x="6858000" y="3000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4000500" y="3286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4"/>
              <p:cNvSpPr txBox="1"/>
              <p:nvPr/>
            </p:nvSpPr>
            <p:spPr>
              <a:xfrm>
                <a:off x="4000500" y="3286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4"/>
              <p:cNvSpPr txBox="1"/>
              <p:nvPr/>
            </p:nvSpPr>
            <p:spPr>
              <a:xfrm>
                <a:off x="4476750" y="3286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4.50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4"/>
              <p:cNvSpPr txBox="1"/>
              <p:nvPr/>
            </p:nvSpPr>
            <p:spPr>
              <a:xfrm>
                <a:off x="5238750" y="3286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10.9%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4"/>
              <p:cNvSpPr txBox="1"/>
              <p:nvPr/>
            </p:nvSpPr>
            <p:spPr>
              <a:xfrm>
                <a:off x="6000750" y="328612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89.1%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4"/>
              <p:cNvSpPr txBox="1"/>
              <p:nvPr/>
            </p:nvSpPr>
            <p:spPr>
              <a:xfrm>
                <a:off x="6858000" y="3286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4000500" y="3571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"/>
              <p:cNvSpPr txBox="1"/>
              <p:nvPr/>
            </p:nvSpPr>
            <p:spPr>
              <a:xfrm>
                <a:off x="4000500" y="3571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11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4"/>
              <p:cNvSpPr txBox="1"/>
              <p:nvPr/>
            </p:nvSpPr>
            <p:spPr>
              <a:xfrm>
                <a:off x="4476750" y="3571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5.00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4"/>
              <p:cNvSpPr txBox="1"/>
              <p:nvPr/>
            </p:nvSpPr>
            <p:spPr>
              <a:xfrm>
                <a:off x="5238750" y="3571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4"/>
              <p:cNvSpPr txBox="1"/>
              <p:nvPr/>
            </p:nvSpPr>
            <p:spPr>
              <a:xfrm>
                <a:off x="6000750" y="35718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6858000" y="3571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Porous LZO Ceramic</a:t>
                </a:r>
                <a:endParaRPr sz="800" b="0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8" name="Google Shape;248;p4"/>
            <p:cNvSpPr txBox="1"/>
            <p:nvPr/>
          </p:nvSpPr>
          <p:spPr>
            <a:xfrm>
              <a:off x="4000500" y="457200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*Data source: manufacturing_recipe.csv | Optimized for 5.0 mm transition zone.</a:t>
              </a:r>
              <a:endParaRPr sz="7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49" name="Google Shape;249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5963" y="1004325"/>
            <a:ext cx="4321775" cy="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WE WIN TECHNICALLY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System-Level Innovation and Active Electromagnetic Armor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600075" y="1369814"/>
            <a:ext cx="81153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lang="en-US" sz="1100">
                <a:solidFill>
                  <a:schemeClr val="dk1"/>
                </a:solidFill>
              </a:rPr>
              <a:t>Our platform executes a unified optimization run that solves for substrate chemistry, gradient shapes, and active absorption mechanics concurrently, minimizing interface impedance mismatch to a reflection coefficient of just </a:t>
            </a:r>
            <a:r>
              <a:rPr lang="en-US" sz="1100" b="1">
                <a:solidFill>
                  <a:schemeClr val="dk1"/>
                </a:solidFill>
              </a:rPr>
              <a:t>0.02</a:t>
            </a:r>
            <a:r>
              <a:rPr lang="en-US" sz="1100">
                <a:solidFill>
                  <a:schemeClr val="dk1"/>
                </a:solidFill>
              </a:rPr>
              <a:t>. 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3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"/>
          <p:cNvSpPr/>
          <p:nvPr/>
        </p:nvSpPr>
        <p:spPr>
          <a:xfrm>
            <a:off x="892969" y="2288456"/>
            <a:ext cx="124837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STABILITY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14363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crystal stability ensures a stable single-phase soft magnetic lattice matrix with zero parasitic secondary phase risk up to high operational thermal limits. 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4894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"/>
          <p:cNvSpPr/>
          <p:nvPr/>
        </p:nvSpPr>
        <p:spPr>
          <a:xfrm>
            <a:off x="5143500" y="2288456"/>
            <a:ext cx="1696641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OXIDATION RESISTANCE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4790138" y="2643917"/>
            <a:ext cx="3867831" cy="29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dirty="0">
                <a:solidFill>
                  <a:srgbClr val="111111"/>
                </a:solidFill>
                <a:latin typeface="Inter"/>
              </a:rPr>
              <a:t>Self-correcting material geometry limits radar wave reflection across the X-band to &lt; 10%(exceptional 2% reflection / -17 dB loss achieved). </a:t>
            </a:r>
            <a:endParaRPr sz="850" dirty="0">
              <a:solidFill>
                <a:srgbClr val="111111"/>
              </a:solidFill>
              <a:latin typeface="Inter"/>
              <a:sym typeface="Calibri"/>
            </a:endParaRPr>
          </a:p>
        </p:txBody>
      </p:sp>
      <p:pic>
        <p:nvPicPr>
          <p:cNvPr id="265" name="Google Shape;26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3" y="379400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"/>
          <p:cNvSpPr/>
          <p:nvPr/>
        </p:nvSpPr>
        <p:spPr>
          <a:xfrm>
            <a:off x="892969" y="3788643"/>
            <a:ext cx="1852017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ADHESION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614363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Power-law gradient curves ($n=1.1$) minimize internal boundary mismatches and prevent surface wave scattering at geometric edges. 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64894" y="3794001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"/>
          <p:cNvSpPr/>
          <p:nvPr/>
        </p:nvSpPr>
        <p:spPr>
          <a:xfrm>
            <a:off x="5164931" y="3788643"/>
            <a:ext cx="1559123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4864894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universal </a:t>
            </a:r>
            <a:r>
              <a:rPr lang="en-US" sz="850" dirty="0" err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manufacturing_recipe.csv</a:t>
            </a: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maps composition directly to commercial multi-hopper 3D printers.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"/>
          <p:cNvSpPr/>
          <p:nvPr/>
        </p:nvSpPr>
        <p:spPr>
          <a:xfrm>
            <a:off x="428625" y="357188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WHAT IS PROVEN TODAY AND WHAT IS NOT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428625" y="866180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Verification Metrics and TRL Maturity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60007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600075" y="1516261"/>
            <a:ext cx="3829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In-memory properties surrogate model audited at </a:t>
            </a:r>
            <a:r>
              <a:rPr lang="en-US" sz="800" b="1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Test R^2 = 0.977</a:t>
            </a:r>
            <a:r>
              <a:rPr lang="en-US" sz="85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800" b="1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= 8.11 </a:t>
            </a:r>
            <a:r>
              <a:rPr lang="en-US" sz="800" b="1" i="0" u="none" strike="noStrike" cap="none" dirty="0" err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GPa</a:t>
            </a:r>
            <a:r>
              <a:rPr lang="en-US" sz="85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Verified via cloud-scaled 3D </a:t>
            </a:r>
            <a:r>
              <a:rPr lang="en-US" sz="850" b="0" i="0" u="none" strike="noStrike" cap="none" dirty="0" err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FEniCS</a:t>
            </a:r>
            <a:r>
              <a:rPr lang="en-US" sz="85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FEA stress grids.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488632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Ab Initio Phase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886325" y="1516261"/>
            <a:ext cx="3829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CALPHAD sweeps and Gradient Boosting regressors (R^2 = 0.958) confirm stable </a:t>
            </a:r>
            <a:r>
              <a:rPr lang="en-US" sz="800" b="1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single-phase BCC matrix</a:t>
            </a:r>
            <a:r>
              <a:rPr lang="en-US" sz="85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across extreme thermal envelopes.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428625" y="2282037"/>
            <a:ext cx="1861200" cy="298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28625" y="2282037"/>
            <a:ext cx="1861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Vector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2289795" y="2282037"/>
            <a:ext cx="1677300" cy="298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2289795" y="2282037"/>
            <a:ext cx="16773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/ In Silico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3967097" y="2282037"/>
            <a:ext cx="1774800" cy="298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3967097" y="2282037"/>
            <a:ext cx="17748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Experimental Lab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742012" y="2282037"/>
            <a:ext cx="1849800" cy="298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5742012" y="2282037"/>
            <a:ext cx="18498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Target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7591825" y="2282037"/>
            <a:ext cx="1123500" cy="298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7591825" y="2282037"/>
            <a:ext cx="1123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28625" y="2580289"/>
            <a:ext cx="1861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Crystallographic Phase Security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2289795" y="2580289"/>
            <a:ext cx="1677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Verified (Niggli reductions &amp; PyXtal symmetry)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3967097" y="2580289"/>
            <a:ext cx="1774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Pending XRD Scan &amp; Rietveld Refinement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5742012" y="2580289"/>
            <a:ext cx="1849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Space group matching (P42/mnm, P63/mmc, or Im-3)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7698974" y="26660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7913294" y="2694589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28625" y="2917831"/>
            <a:ext cx="1861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Thermodynamic Stability 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289795" y="2917831"/>
            <a:ext cx="16773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Audited (E_above_hull &lt;= 0.1 eV/atom via MatterSim)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3967097" y="2917831"/>
            <a:ext cx="1774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Pending High-T Solid State Synthesis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742012" y="2917831"/>
            <a:ext cx="1849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Distance to Convex Hull &lt;= 0.1 eV/atom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7698973" y="30071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7913302" y="3035775"/>
            <a:ext cx="3876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28625" y="3258945"/>
            <a:ext cx="1861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Magnetocrystalline Anisotropy (K1) 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2289795" y="3258945"/>
            <a:ext cx="16773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Verified (Fully-Relativistic fixed spin moment DFT)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3967097" y="3258945"/>
            <a:ext cx="1774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Pending Broadband FMR / VSM sweeps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5742012" y="3258945"/>
            <a:ext cx="1849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Anisotropy constant K1 within target limits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7698973" y="3348250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7913294" y="3376817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428625" y="3600059"/>
            <a:ext cx="1861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Saturation Magnetization (Ms) 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2289795" y="3600059"/>
            <a:ext cx="16773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Modeled (DFT Spin Moments &amp; GNN predictions)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967097" y="3600059"/>
            <a:ext cx="1774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Pending Vibrating Sample Magnetometry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5742012" y="3600059"/>
            <a:ext cx="1849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Magnetization within 20% of design target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7699026" y="368937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7913294" y="3717931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GREEN 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428625" y="3941173"/>
            <a:ext cx="1861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Dynamic FMR Resonance (fr) 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2289795" y="3941173"/>
            <a:ext cx="16773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chemeClr val="dk1"/>
                </a:solidFill>
                <a:highlight>
                  <a:schemeClr val="lt1"/>
                </a:highlight>
              </a:rPr>
              <a:t>Calculated (</a:t>
            </a:r>
            <a:r>
              <a:rPr lang="en-US" sz="750" dirty="0" err="1">
                <a:solidFill>
                  <a:schemeClr val="dk1"/>
                </a:solidFill>
                <a:highlight>
                  <a:schemeClr val="lt1"/>
                </a:highlight>
              </a:rPr>
              <a:t>fr</a:t>
            </a:r>
            <a:r>
              <a:rPr lang="en-US" sz="75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US" sz="750" dirty="0" err="1">
                <a:solidFill>
                  <a:schemeClr val="dk1"/>
                </a:solidFill>
                <a:highlight>
                  <a:schemeClr val="lt1"/>
                </a:highlight>
              </a:rPr>
              <a:t>approx</a:t>
            </a:r>
            <a:r>
              <a:rPr lang="en-US" sz="750" dirty="0">
                <a:solidFill>
                  <a:schemeClr val="dk1"/>
                </a:solidFill>
                <a:highlight>
                  <a:schemeClr val="lt1"/>
                </a:highlight>
              </a:rPr>
              <a:t> 28.0 * 2K1 / </a:t>
            </a:r>
            <a:r>
              <a:rPr lang="en-US" sz="750" dirty="0" err="1">
                <a:solidFill>
                  <a:schemeClr val="dk1"/>
                </a:solidFill>
                <a:highlight>
                  <a:schemeClr val="lt1"/>
                </a:highlight>
              </a:rPr>
              <a:t>Ms</a:t>
            </a:r>
            <a:r>
              <a:rPr lang="en-US" sz="750" dirty="0">
                <a:solidFill>
                  <a:schemeClr val="dk1"/>
                </a:solidFill>
                <a:highlight>
                  <a:schemeClr val="lt1"/>
                </a:highlight>
              </a:rPr>
              <a:t> GHz)</a:t>
            </a:r>
            <a:endParaRPr sz="750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3967097" y="3941173"/>
            <a:ext cx="1774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Pending Resonant Cavity Sweeps (1.0 - 68.0 GHz)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742012" y="3941173"/>
            <a:ext cx="18498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Resonance frequency alignment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428625" y="4282287"/>
            <a:ext cx="18651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Physical Prototyping 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2293869" y="4282287"/>
            <a:ext cx="1680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Fully Formulated (Compositionally Disordered Lattices)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3974855" y="4282287"/>
            <a:ext cx="17787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Not Yet Tested </a:t>
            </a:r>
            <a:endParaRPr sz="7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5753649" y="4282287"/>
            <a:ext cx="18540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chemeClr val="dk1"/>
                </a:solidFill>
                <a:highlight>
                  <a:schemeClr val="lt1"/>
                </a:highlight>
              </a:rPr>
              <a:t>TRL 4 Microwave Absorber Device Assembly </a:t>
            </a:r>
            <a:endParaRPr sz="75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324" name="Google Shape;324;p6"/>
          <p:cNvSpPr txBox="1"/>
          <p:nvPr/>
        </p:nvSpPr>
        <p:spPr>
          <a:xfrm>
            <a:off x="7870275" y="4120300"/>
            <a:ext cx="6018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7682025" y="4023388"/>
            <a:ext cx="807000" cy="1821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600" b="1" i="0" u="none" strike="noStrike" cap="non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YELLOW</a:t>
            </a:r>
            <a:endParaRPr sz="600" b="1" i="0" u="none" strike="noStrike" cap="non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7682075" y="4362825"/>
            <a:ext cx="807000" cy="176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6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NEXT PHASE</a:t>
            </a:r>
            <a:endParaRPr sz="600" b="1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7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PLAN TO TRL 4+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6-Month Rapid Co-Validation Sprint &amp; Milestone Framework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578644" y="1662708"/>
            <a:ext cx="2366953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2BDEFD"/>
                </a:solidFill>
                <a:latin typeface="Inter"/>
                <a:ea typeface="Inter"/>
                <a:cs typeface="Inter"/>
                <a:sym typeface="Inter"/>
              </a:rPr>
              <a:t>MONTHS 1–2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578644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Multi-Physics &amp; EM Structural Audits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578650" y="2065254"/>
            <a:ext cx="23670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Final certification of ALREADY ACHIEVED target resonance matching via 3D Pre-trained diffusion model, CHGNet molecular dynamics relaxation, and automated Transfer Matrix Method (TMM) solvers on high-end cloud supercomputing. Extending validation to 20,000+ simulated electromagnetic wave sweeps. 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3388509" y="1662708"/>
            <a:ext cx="2366953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2BDEFD"/>
                </a:solidFill>
                <a:latin typeface="Inter"/>
                <a:ea typeface="Inter"/>
                <a:cs typeface="Inter"/>
                <a:sym typeface="Inter"/>
              </a:rPr>
              <a:t>MONTHS 3–4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3388509" y="1803797"/>
            <a:ext cx="2366953" cy="30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Additive Prototyping &amp; Compositional Programming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3388509" y="2219530"/>
            <a:ext cx="236695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Feeding the universal reference matrix into a dual-line multi-hopper LENS system. Optimizing laser power and powder flow to program the integrated multi-layer gradient ferrite and carbon structures.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6198375" y="1662708"/>
            <a:ext cx="2366953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2BDEFD"/>
                </a:solidFill>
                <a:latin typeface="Inter"/>
                <a:ea typeface="Inter"/>
                <a:cs typeface="Inter"/>
                <a:sym typeface="Inter"/>
              </a:rPr>
              <a:t>MONTHS 5–6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6198375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High-Temperature Characterization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6198375" y="2065241"/>
            <a:ext cx="236695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Exposure of fabricated coupons to 1,000 continuous electromagnetic absorption cycles inside an automated Anechoic Free-Space Measurement Rig across a real frequency spectrum of 8–12 GHz (X-band threshold).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28625" y="4013002"/>
            <a:ext cx="8286750" cy="553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428625" y="4013002"/>
            <a:ext cx="28575" cy="553641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571500" y="4013002"/>
            <a:ext cx="8143875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Go/No-Go Gatekeeping Criteria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571500" y="4266605"/>
            <a:ext cx="81438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Microstructural characterization via SEM/EDS must confirm a clear layer-wise compositional layout and verify the complete absence of processing voids or macro-cracking before advancing to full-scale aircraft coating geometries.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8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INTEGRATION PATH WITH SAFRAN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In Silico Design to Joint Flight Certification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428625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48283" y="1663601"/>
            <a:ext cx="1332309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 SILICO DESIGN SCREENING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2107406" y="1441252"/>
            <a:ext cx="1571700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2197671" y="1600189"/>
            <a:ext cx="13911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GRADIENT COATING </a:t>
            </a:r>
            <a:endParaRPr sz="70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WITNESS COUPONS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3786188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3857625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ANECHOIC RIG SHOCK</a:t>
            </a:r>
            <a:endParaRPr sz="70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VALIDATION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5464969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536406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SUBSCALE</a:t>
            </a:r>
            <a:endParaRPr sz="70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COATED COMPONENTS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85075" rIns="85075" bIns="850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JOINT SAFRAN FLIGHT CERTIFICATION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60007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Witness Coupon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60007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Fabricate flat, multi-layer gradient witness coupons using our hardware-agnostic composition standard, providing a highly cost-effective platform for initial electromagnetic testing.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88632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Comparative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88632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Subject our radar-absorbing RAM coupons to concurrent testing alongside Safran’s current industry-standard reference panels to measure total radar cross-section (RCS) signature reduction.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60007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Adaptive Learning Loops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60007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Real-world attenuation discrepancies provide data to retrain surrogate models, close the digital twin gap, and calibrate automated material deposition parameters.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488632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Flight-Readiness Funnel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488632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Upon successful TRL 4 validation, move to coating subscale structural component features to establish a long-term, joint operational qualification flight roadmap.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28625" y="381000"/>
            <a:ext cx="8286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 VALUE &amp; OPERATING SAVINGS LEDGER</a:t>
            </a:r>
            <a:endParaRPr sz="2400" b="1" i="0" u="none" strike="noStrike" cap="none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28625" y="762000"/>
            <a:ext cx="82869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Fleet Scalability and Direct Operating Cost Reductions</a:t>
            </a:r>
            <a:endParaRPr sz="1200" b="0" i="0" u="none" strike="noStrike" cap="none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388" name="Google Shape;388;p9"/>
          <p:cNvGrpSpPr/>
          <p:nvPr/>
        </p:nvGrpSpPr>
        <p:grpSpPr>
          <a:xfrm>
            <a:off x="428625" y="1285875"/>
            <a:ext cx="8286825" cy="714300"/>
            <a:chOff x="428625" y="1285875"/>
            <a:chExt cx="8286825" cy="714300"/>
          </a:xfrm>
        </p:grpSpPr>
        <p:sp>
          <p:nvSpPr>
            <p:cNvPr id="389" name="Google Shape;389;p9"/>
            <p:cNvSpPr/>
            <p:nvPr/>
          </p:nvSpPr>
          <p:spPr>
            <a:xfrm>
              <a:off x="428625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"/>
            <p:cNvSpPr txBox="1"/>
            <p:nvPr/>
          </p:nvSpPr>
          <p:spPr>
            <a:xfrm>
              <a:off x="571500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Parasitic Air Reductions</a:t>
              </a:r>
              <a:endParaRPr sz="10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lang="en-US" sz="8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11-layer insulation matrix drops substrate temperatures by 150K–200K, cutting reliance on compressor parasitic bleed air by </a:t>
              </a:r>
              <a:r>
                <a:rPr lang="en-US" sz="850" b="1" i="0" u="none" strike="noStrike" cap="none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15%</a:t>
              </a:r>
              <a:r>
                <a:rPr lang="en-US" sz="8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667250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"/>
            <p:cNvSpPr txBox="1"/>
            <p:nvPr/>
          </p:nvSpPr>
          <p:spPr>
            <a:xfrm>
              <a:off x="4810125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Annual Volumetric Yield</a:t>
              </a:r>
              <a:endParaRPr sz="10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lang="en-US" sz="8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 standard narrowbody (3,000 hr/yr), our platform saves </a:t>
              </a:r>
              <a:r>
                <a:rPr lang="en-US" sz="850" b="1" i="0" u="none" strike="noStrike" cap="none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108 metric tons (135,000 liters)</a:t>
              </a:r>
              <a:r>
                <a:rPr lang="en-US" sz="8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Jet A-1 fuel per aircraft annually.</a:t>
              </a:r>
              <a:endParaRPr sz="8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93" name="Google Shape;393;p9"/>
          <p:cNvSpPr/>
          <p:nvPr/>
        </p:nvSpPr>
        <p:spPr>
          <a:xfrm>
            <a:off x="428625" y="21431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2862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Assessment Parameter</a:t>
            </a:r>
            <a:endParaRPr sz="800" b="0" i="0" u="none" strike="noStrike" cap="none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2333625" y="21431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Governing Computational Formula</a:t>
            </a:r>
            <a:endParaRPr sz="800" b="0" i="0" u="none" strike="noStrike" cap="none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5000625" y="21431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Input Variable</a:t>
            </a:r>
            <a:endParaRPr sz="800" b="0" i="0" u="none" strike="noStrike" cap="none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681037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 Annual Savings Yield</a:t>
            </a:r>
            <a:endParaRPr sz="800" b="0" i="0" u="none" strike="noStrike" cap="none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2862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Ab Initio Compute Cut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2333625" y="252412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Delta t_compute = t_traditional * 0.999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5000625" y="252412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99.9% Reduction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681037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Frees HPC Queue Capacity</a:t>
            </a:r>
            <a:endParaRPr sz="850" b="1" i="0" u="none" strike="noStrike" cap="none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428625" y="285750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2862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Discovery Efficiency Gain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2333625" y="285750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eta_discovery = Delta SUN * 2.0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5000625" y="285750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2.0x Net Stability Multiplier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681037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Maximizes Crystalline Quality</a:t>
            </a:r>
            <a:endParaRPr sz="850" b="1" i="0" u="none" strike="noStrike" cap="none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42862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Computational Hours Saved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2333625" y="319087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t_saved = N_candidates * 80 core-hr * 0.999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5000625" y="319087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3,000 Candidates Baseline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681037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239,760 Core-Hours / Project</a:t>
            </a:r>
            <a:endParaRPr sz="850" b="1" i="0" u="none" strike="noStrike" cap="none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28625" y="352425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28625" y="352425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Direct Operating Cost Cut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2333625" y="352425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Cash Savings = t_saved * USD 0.05/core-hr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000625" y="352425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USD 0.05/hr Core-Hour Price</a:t>
            </a:r>
            <a:endParaRPr sz="85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992525" y="3524250"/>
            <a:ext cx="1722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USD 11,988 / Project</a:t>
            </a:r>
            <a:endParaRPr sz="850" b="1" i="0" u="none" strike="noStrike" cap="none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428625" y="38576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42862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2BDEFD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Pipeline Scalability Value</a:t>
            </a:r>
            <a:endParaRPr sz="900" b="1" i="0" u="none" strike="noStrike" cap="none">
              <a:solidFill>
                <a:srgbClr val="2BDEF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333625" y="38576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Yield = Cash Savings * 50 Projects</a:t>
            </a:r>
            <a:endParaRPr sz="85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000625" y="38576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 Crystalline Families</a:t>
            </a:r>
            <a:endParaRPr sz="85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681037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USD 599,400 / Year</a:t>
            </a:r>
            <a:endParaRPr sz="1100" b="1" i="0" u="none" strike="noStrike" cap="non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28625" y="4381500"/>
            <a:ext cx="828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*Calculations based on global average aviation fuel procurement costs and standard narrowbody operational profiles.</a:t>
            </a:r>
            <a:endParaRPr sz="7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10"/>
          <p:cNvGrpSpPr/>
          <p:nvPr/>
        </p:nvGrpSpPr>
        <p:grpSpPr>
          <a:xfrm>
            <a:off x="428625" y="381000"/>
            <a:ext cx="8344050" cy="762075"/>
            <a:chOff x="428625" y="381000"/>
            <a:chExt cx="8344050" cy="762075"/>
          </a:xfrm>
        </p:grpSpPr>
        <p:sp>
          <p:nvSpPr>
            <p:cNvPr id="428" name="Google Shape;428;p10"/>
            <p:cNvSpPr txBox="1"/>
            <p:nvPr/>
          </p:nvSpPr>
          <p:spPr>
            <a:xfrm>
              <a:off x="428625" y="381000"/>
              <a:ext cx="8286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DEFENSIBILITY AND IP PERIMETER</a:t>
              </a:r>
              <a:endParaRPr sz="24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9" name="Google Shape;429;p10"/>
            <p:cNvSpPr txBox="1"/>
            <p:nvPr/>
          </p:nvSpPr>
          <p:spPr>
            <a:xfrm>
              <a:off x="485775" y="904875"/>
              <a:ext cx="8286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Multi-Layered Protection Strategy</a:t>
              </a:r>
              <a:endParaRPr sz="1200" b="0" i="0" u="none" strike="noStrike" cap="none" dirty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430" name="Google Shape;430;p10"/>
          <p:cNvGrpSpPr/>
          <p:nvPr/>
        </p:nvGrpSpPr>
        <p:grpSpPr>
          <a:xfrm>
            <a:off x="428625" y="1333500"/>
            <a:ext cx="3905400" cy="3238500"/>
            <a:chOff x="428625" y="1333500"/>
            <a:chExt cx="3905400" cy="3238500"/>
          </a:xfrm>
        </p:grpSpPr>
        <p:sp>
          <p:nvSpPr>
            <p:cNvPr id="431" name="Google Shape;431;p10"/>
            <p:cNvSpPr/>
            <p:nvPr/>
          </p:nvSpPr>
          <p:spPr>
            <a:xfrm>
              <a:off x="428625" y="1333500"/>
              <a:ext cx="3905400" cy="3238500"/>
            </a:xfrm>
            <a:prstGeom prst="roundRect">
              <a:avLst>
                <a:gd name="adj" fmla="val 235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" name="Google Shape;432;p10"/>
            <p:cNvGrpSpPr/>
            <p:nvPr/>
          </p:nvGrpSpPr>
          <p:grpSpPr>
            <a:xfrm>
              <a:off x="714375" y="1619250"/>
              <a:ext cx="3333900" cy="428700"/>
              <a:chOff x="714375" y="1619250"/>
              <a:chExt cx="3333900" cy="428700"/>
            </a:xfrm>
          </p:grpSpPr>
          <p:sp>
            <p:nvSpPr>
              <p:cNvPr id="433" name="Google Shape;433;p10"/>
              <p:cNvSpPr/>
              <p:nvPr/>
            </p:nvSpPr>
            <p:spPr>
              <a:xfrm>
                <a:off x="714375" y="161925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0"/>
              <p:cNvSpPr txBox="1"/>
              <p:nvPr/>
            </p:nvSpPr>
            <p:spPr>
              <a:xfrm>
                <a:off x="714375" y="161925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1: </a:t>
                </a: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FERRITE &amp; SPINEL CHEMISTRY PATENTS </a:t>
                </a:r>
                <a:endParaRPr sz="9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35" name="Google Shape;435;p10"/>
            <p:cNvGrpSpPr/>
            <p:nvPr/>
          </p:nvGrpSpPr>
          <p:grpSpPr>
            <a:xfrm>
              <a:off x="714375" y="2143125"/>
              <a:ext cx="3333900" cy="428700"/>
              <a:chOff x="714375" y="2143125"/>
              <a:chExt cx="3333900" cy="428700"/>
            </a:xfrm>
          </p:grpSpPr>
          <p:sp>
            <p:nvSpPr>
              <p:cNvPr id="436" name="Google Shape;436;p10"/>
              <p:cNvSpPr/>
              <p:nvPr/>
            </p:nvSpPr>
            <p:spPr>
              <a:xfrm>
                <a:off x="714375" y="2143125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2BDEFD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0"/>
              <p:cNvSpPr txBox="1"/>
              <p:nvPr/>
            </p:nvSpPr>
            <p:spPr>
              <a:xfrm>
                <a:off x="714375" y="2143125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2: </a:t>
                </a: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11-LAYER IMPEDANCE GRADIENT ARCHITECTURE </a:t>
                </a:r>
                <a:endParaRPr sz="9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38" name="Google Shape;438;p10"/>
            <p:cNvGrpSpPr/>
            <p:nvPr/>
          </p:nvGrpSpPr>
          <p:grpSpPr>
            <a:xfrm>
              <a:off x="714375" y="2667000"/>
              <a:ext cx="3333900" cy="428700"/>
              <a:chOff x="714375" y="2667000"/>
              <a:chExt cx="3333900" cy="428700"/>
            </a:xfrm>
          </p:grpSpPr>
          <p:sp>
            <p:nvSpPr>
              <p:cNvPr id="439" name="Google Shape;439;p10"/>
              <p:cNvSpPr/>
              <p:nvPr/>
            </p:nvSpPr>
            <p:spPr>
              <a:xfrm>
                <a:off x="714375" y="266700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0"/>
              <p:cNvSpPr txBox="1"/>
              <p:nvPr/>
            </p:nvSpPr>
            <p:spPr>
              <a:xfrm>
                <a:off x="714375" y="266700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3: </a:t>
                </a: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MULTI-MATERIAL CO-DEPOSITION PROCESS </a:t>
                </a:r>
                <a:endParaRPr sz="9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41" name="Google Shape;441;p10"/>
            <p:cNvGrpSpPr/>
            <p:nvPr/>
          </p:nvGrpSpPr>
          <p:grpSpPr>
            <a:xfrm>
              <a:off x="714375" y="3190875"/>
              <a:ext cx="3333900" cy="1095300"/>
              <a:chOff x="714375" y="3190875"/>
              <a:chExt cx="3333900" cy="1095300"/>
            </a:xfrm>
          </p:grpSpPr>
          <p:sp>
            <p:nvSpPr>
              <p:cNvPr id="442" name="Google Shape;442;p10"/>
              <p:cNvSpPr/>
              <p:nvPr/>
            </p:nvSpPr>
            <p:spPr>
              <a:xfrm>
                <a:off x="714375" y="3190875"/>
                <a:ext cx="3333900" cy="1095300"/>
              </a:xfrm>
              <a:prstGeom prst="roundRect">
                <a:avLst>
                  <a:gd name="adj" fmla="val 3478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0"/>
              <p:cNvSpPr txBox="1"/>
              <p:nvPr/>
            </p:nvSpPr>
            <p:spPr>
              <a:xfrm>
                <a:off x="714375" y="3190875"/>
                <a:ext cx="3333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4:</a:t>
                </a:r>
                <a:endParaRPr sz="1100" b="1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IN-MEMORY MATERIALS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 INFORMATICS DATA MOAT </a:t>
                </a:r>
                <a:endParaRPr sz="1100" b="1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444" name="Google Shape;444;p10"/>
          <p:cNvGrpSpPr/>
          <p:nvPr/>
        </p:nvGrpSpPr>
        <p:grpSpPr>
          <a:xfrm>
            <a:off x="4714875" y="1333500"/>
            <a:ext cx="4000500" cy="3143175"/>
            <a:chOff x="4714875" y="1333500"/>
            <a:chExt cx="4000500" cy="3143175"/>
          </a:xfrm>
        </p:grpSpPr>
        <p:grpSp>
          <p:nvGrpSpPr>
            <p:cNvPr id="445" name="Google Shape;445;p10"/>
            <p:cNvGrpSpPr/>
            <p:nvPr/>
          </p:nvGrpSpPr>
          <p:grpSpPr>
            <a:xfrm>
              <a:off x="4714875" y="1333500"/>
              <a:ext cx="4000500" cy="714300"/>
              <a:chOff x="4714875" y="1333500"/>
              <a:chExt cx="4000500" cy="714300"/>
            </a:xfrm>
          </p:grpSpPr>
          <p:sp>
            <p:nvSpPr>
              <p:cNvPr id="446" name="Google Shape;446;p10"/>
              <p:cNvSpPr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0"/>
              <p:cNvSpPr txBox="1"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 dirty="0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Compositional Windows</a:t>
                </a:r>
                <a:endParaRPr sz="1100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just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dirty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Protecting the exact chemical boundaries of our optimized soft magnetic and multi-element absorber spaces via composition patent filings.</a:t>
                </a:r>
                <a:endParaRPr sz="900" b="0" i="0" u="none" strike="noStrike" cap="none" dirty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48" name="Google Shape;448;p10"/>
            <p:cNvGrpSpPr/>
            <p:nvPr/>
          </p:nvGrpSpPr>
          <p:grpSpPr>
            <a:xfrm>
              <a:off x="4714875" y="2143125"/>
              <a:ext cx="4000500" cy="714300"/>
              <a:chOff x="4714875" y="2143125"/>
              <a:chExt cx="4000500" cy="714300"/>
            </a:xfrm>
          </p:grpSpPr>
          <p:sp>
            <p:nvSpPr>
              <p:cNvPr id="449" name="Google Shape;449;p10"/>
              <p:cNvSpPr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0"/>
              <p:cNvSpPr txBox="1"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 dirty="0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Gradient Architecture Claims</a:t>
                </a:r>
                <a:endParaRPr sz="1100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just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dirty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Patenting the 11-layer electromagnetic power-law distribution profile (n=1.1) and the specific spatial arrangement of the co-deposited alloy-absorber transition zone. </a:t>
                </a:r>
                <a:endParaRPr sz="900" b="0" i="0" u="none" strike="noStrike" cap="none" dirty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51" name="Google Shape;451;p10"/>
            <p:cNvGrpSpPr/>
            <p:nvPr/>
          </p:nvGrpSpPr>
          <p:grpSpPr>
            <a:xfrm>
              <a:off x="4714875" y="2952750"/>
              <a:ext cx="4000500" cy="714300"/>
              <a:chOff x="4714875" y="2952750"/>
              <a:chExt cx="4000500" cy="714300"/>
            </a:xfrm>
          </p:grpSpPr>
          <p:sp>
            <p:nvSpPr>
              <p:cNvPr id="452" name="Google Shape;452;p10"/>
              <p:cNvSpPr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0"/>
              <p:cNvSpPr txBox="1"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 dirty="0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Process Recipe Protections</a:t>
                </a:r>
                <a:endParaRPr sz="1100" b="1" i="0" u="none" strike="noStrike" cap="none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just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dirty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Filing defensive patents covering the multi-hopper powder feeding conditions, operational laser power matrices, and geometric radar-absorbing component constraints. </a:t>
                </a:r>
                <a:endParaRPr sz="900" b="0" i="0" u="none" strike="noStrike" cap="none" dirty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54" name="Google Shape;454;p10"/>
            <p:cNvGrpSpPr/>
            <p:nvPr/>
          </p:nvGrpSpPr>
          <p:grpSpPr>
            <a:xfrm>
              <a:off x="4714875" y="3762375"/>
              <a:ext cx="4000500" cy="714300"/>
              <a:chOff x="4714875" y="3762375"/>
              <a:chExt cx="4000500" cy="714300"/>
            </a:xfrm>
          </p:grpSpPr>
          <p:sp>
            <p:nvSpPr>
              <p:cNvPr id="455" name="Google Shape;455;p10"/>
              <p:cNvSpPr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0"/>
              <p:cNvSpPr txBox="1"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Data Moat &amp; Trade Secrets</a:t>
                </a:r>
                <a:endParaRPr sz="11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just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Securing the proprietary surrogate model weights and the unreduced multi-physics training datasets that anchor our optimization runs.</a:t>
                </a:r>
                <a:endParaRPr sz="900" b="0" i="0" u="none" strike="noStrike" cap="none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1"/>
          <p:cNvGrpSpPr/>
          <p:nvPr/>
        </p:nvGrpSpPr>
        <p:grpSpPr>
          <a:xfrm>
            <a:off x="428625" y="428625"/>
            <a:ext cx="8286900" cy="4286250"/>
            <a:chOff x="428625" y="428625"/>
            <a:chExt cx="8286900" cy="4286250"/>
          </a:xfrm>
        </p:grpSpPr>
        <p:sp>
          <p:nvSpPr>
            <p:cNvPr id="463" name="Google Shape;463;p11"/>
            <p:cNvSpPr/>
            <p:nvPr/>
          </p:nvSpPr>
          <p:spPr>
            <a:xfrm>
              <a:off x="428625" y="1190625"/>
              <a:ext cx="8286900" cy="1047900"/>
            </a:xfrm>
            <a:prstGeom prst="roundRect">
              <a:avLst>
                <a:gd name="adj" fmla="val 909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" name="Google Shape;464;p11"/>
            <p:cNvGrpSpPr/>
            <p:nvPr/>
          </p:nvGrpSpPr>
          <p:grpSpPr>
            <a:xfrm>
              <a:off x="428625" y="428625"/>
              <a:ext cx="8286900" cy="714450"/>
              <a:chOff x="428625" y="428625"/>
              <a:chExt cx="8286900" cy="714450"/>
            </a:xfrm>
          </p:grpSpPr>
          <p:sp>
            <p:nvSpPr>
              <p:cNvPr id="465" name="Google Shape;465;p11"/>
              <p:cNvSpPr txBox="1"/>
              <p:nvPr/>
            </p:nvSpPr>
            <p:spPr>
              <a:xfrm>
                <a:off x="428625" y="428625"/>
                <a:ext cx="8286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1" i="0" u="none" strike="noStrike" cap="none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BUSINESS MODEL AND ASK</a:t>
                </a:r>
                <a:endParaRPr sz="28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66" name="Google Shape;466;p11"/>
              <p:cNvSpPr txBox="1"/>
              <p:nvPr/>
            </p:nvSpPr>
            <p:spPr>
              <a:xfrm>
                <a:off x="428625" y="904875"/>
                <a:ext cx="828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2BDEFD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Co-Development Project Structure and Shared Success Criteria</a:t>
                </a:r>
                <a:endParaRPr sz="1200" b="0" i="0" u="none" strike="noStrike" cap="none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467" name="Google Shape;467;p11"/>
            <p:cNvGrpSpPr/>
            <p:nvPr/>
          </p:nvGrpSpPr>
          <p:grpSpPr>
            <a:xfrm>
              <a:off x="619125" y="1333500"/>
              <a:ext cx="3619500" cy="809625"/>
              <a:chOff x="619125" y="1333500"/>
              <a:chExt cx="3619500" cy="809625"/>
            </a:xfrm>
          </p:grpSpPr>
          <p:sp>
            <p:nvSpPr>
              <p:cNvPr id="468" name="Google Shape;468;p11"/>
              <p:cNvSpPr txBox="1"/>
              <p:nvPr/>
            </p:nvSpPr>
            <p:spPr>
              <a:xfrm>
                <a:off x="61912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Project Structure</a:t>
                </a:r>
                <a:endParaRPr sz="10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69" name="Google Shape;469;p11"/>
              <p:cNvSpPr txBox="1"/>
              <p:nvPr/>
            </p:nvSpPr>
            <p:spPr>
              <a:xfrm>
                <a:off x="61912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0" i="0" u="none" strike="noStrike" cap="none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Partnering through a milestone-funded, shared-risk </a:t>
                </a:r>
                <a:r>
                  <a:rPr lang="en-US" sz="900" b="1" i="0" u="none" strike="noStrike" cap="none" dirty="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rPr>
                  <a:t>Joint Development Agreement (JDA)</a:t>
                </a:r>
                <a:r>
                  <a:rPr lang="en-US" sz="900" b="0" i="0" u="none" strike="noStrike" cap="none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with Safran's </a:t>
                </a:r>
                <a:r>
                  <a:rPr lang="en-US" sz="90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aero-</a:t>
                </a:r>
                <a:r>
                  <a:rPr lang="en-US" sz="900" dirty="0" err="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defence</a:t>
                </a:r>
                <a:r>
                  <a:rPr lang="en-US" sz="90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900" b="0" i="0" u="none" strike="noStrike" cap="none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teams.</a:t>
                </a:r>
                <a:endParaRPr sz="900" b="0" i="0" u="none" strike="noStrike" cap="none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0" name="Google Shape;470;p11"/>
            <p:cNvGrpSpPr/>
            <p:nvPr/>
          </p:nvGrpSpPr>
          <p:grpSpPr>
            <a:xfrm>
              <a:off x="4905375" y="1333500"/>
              <a:ext cx="3619500" cy="809625"/>
              <a:chOff x="4905375" y="1333500"/>
              <a:chExt cx="3619500" cy="809625"/>
            </a:xfrm>
          </p:grpSpPr>
          <p:sp>
            <p:nvSpPr>
              <p:cNvPr id="471" name="Google Shape;471;p11"/>
              <p:cNvSpPr txBox="1"/>
              <p:nvPr/>
            </p:nvSpPr>
            <p:spPr>
              <a:xfrm>
                <a:off x="490537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Success Criteria</a:t>
                </a:r>
                <a:endParaRPr sz="1000" b="1" i="0" u="none" strike="noStrike" cap="none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72" name="Google Shape;472;p11"/>
              <p:cNvSpPr txBox="1"/>
              <p:nvPr/>
            </p:nvSpPr>
            <p:spPr>
              <a:xfrm>
                <a:off x="490537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Zero interface impedance mismatch reflections under anechoic rig wave testing and verification of a Reflection Coefficient&lt;=0.02 (or minimum -15 dB Reflection Loss).</a:t>
                </a:r>
                <a:endParaRPr sz="9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3" name="Google Shape;473;p11"/>
            <p:cNvGrpSpPr/>
            <p:nvPr/>
          </p:nvGrpSpPr>
          <p:grpSpPr>
            <a:xfrm>
              <a:off x="428625" y="2381250"/>
              <a:ext cx="8286900" cy="2000250"/>
              <a:chOff x="428625" y="2381250"/>
              <a:chExt cx="8286900" cy="2000250"/>
            </a:xfrm>
          </p:grpSpPr>
          <p:sp>
            <p:nvSpPr>
              <p:cNvPr id="474" name="Google Shape;474;p11"/>
              <p:cNvSpPr/>
              <p:nvPr/>
            </p:nvSpPr>
            <p:spPr>
              <a:xfrm>
                <a:off x="428625" y="2381250"/>
                <a:ext cx="82869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1"/>
              <p:cNvSpPr txBox="1"/>
              <p:nvPr/>
            </p:nvSpPr>
            <p:spPr>
              <a:xfrm>
                <a:off x="428625" y="2381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Collaborative Phase</a:t>
                </a:r>
                <a:endParaRPr sz="900" b="1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76" name="Google Shape;476;p11"/>
              <p:cNvSpPr txBox="1"/>
              <p:nvPr/>
            </p:nvSpPr>
            <p:spPr>
              <a:xfrm>
                <a:off x="2333625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Crystal Paradigm Commitment</a:t>
                </a:r>
                <a:endParaRPr sz="900" b="1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77" name="Google Shape;477;p11"/>
              <p:cNvSpPr txBox="1"/>
              <p:nvPr/>
            </p:nvSpPr>
            <p:spPr>
              <a:xfrm>
                <a:off x="5524500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Safran Strategic Support</a:t>
                </a:r>
                <a:endParaRPr sz="900" b="1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478" name="Google Shape;478;p11"/>
              <p:cNvGrpSpPr/>
              <p:nvPr/>
            </p:nvGrpSpPr>
            <p:grpSpPr>
              <a:xfrm>
                <a:off x="428625" y="2809875"/>
                <a:ext cx="8286900" cy="762000"/>
                <a:chOff x="428625" y="2809875"/>
                <a:chExt cx="8286900" cy="762000"/>
              </a:xfrm>
            </p:grpSpPr>
            <p:sp>
              <p:nvSpPr>
                <p:cNvPr id="479" name="Google Shape;479;p11"/>
                <p:cNvSpPr/>
                <p:nvPr/>
              </p:nvSpPr>
              <p:spPr>
                <a:xfrm>
                  <a:off x="428625" y="2809875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11"/>
                <p:cNvSpPr txBox="1"/>
                <p:nvPr/>
              </p:nvSpPr>
              <p:spPr>
                <a:xfrm>
                  <a:off x="428625" y="2809875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1:</a:t>
                  </a:r>
                  <a:endParaRPr sz="900" b="1" i="0" u="none" strike="noStrike" cap="none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0" i="0" u="none" strike="noStrike" cap="none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Shared POC Sprint</a:t>
                  </a:r>
                  <a:endParaRPr sz="900" b="0" i="0" u="none" strike="noStrike" cap="none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81" name="Google Shape;481;p11"/>
                <p:cNvSpPr txBox="1"/>
                <p:nvPr/>
              </p:nvSpPr>
              <p:spPr>
                <a:xfrm>
                  <a:off x="2333625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marR="0" lvl="0" indent="0" algn="just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50"/>
                    <a:buFont typeface="Arial"/>
                    <a:buNone/>
                  </a:pPr>
                  <a:r>
                    <a:rPr lang="en-US" sz="850" dirty="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Execute on-premises materials informatics models, optimize multi-layer impedance matching distributions, and fabricate printed gradient coating test coupons. Add-on AI integration tailored directly to your electromagnetic signature problems. </a:t>
                  </a:r>
                  <a:endParaRPr sz="850" b="0" i="0" u="none" strike="noStrike" cap="none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82" name="Google Shape;482;p11"/>
                <p:cNvSpPr txBox="1"/>
                <p:nvPr/>
              </p:nvSpPr>
              <p:spPr>
                <a:xfrm>
                  <a:off x="5524500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marR="0" lvl="0" indent="0" algn="just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50"/>
                    <a:buFont typeface="Arial"/>
                    <a:buNone/>
                  </a:pPr>
                  <a:r>
                    <a:rPr lang="en-US" sz="850" dirty="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real-world aircraft radar cross-section (RCS) boundary fields and fund the pre-scale sprint under a budget cap discussed in further meetings. </a:t>
                  </a:r>
                  <a:endParaRPr sz="850" b="0" i="0" u="none" strike="noStrike" cap="none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83" name="Google Shape;483;p11"/>
              <p:cNvGrpSpPr/>
              <p:nvPr/>
            </p:nvGrpSpPr>
            <p:grpSpPr>
              <a:xfrm>
                <a:off x="428625" y="3619500"/>
                <a:ext cx="8286900" cy="762000"/>
                <a:chOff x="428625" y="3619500"/>
                <a:chExt cx="8286900" cy="762000"/>
              </a:xfrm>
            </p:grpSpPr>
            <p:sp>
              <p:nvSpPr>
                <p:cNvPr id="484" name="Google Shape;484;p11"/>
                <p:cNvSpPr/>
                <p:nvPr/>
              </p:nvSpPr>
              <p:spPr>
                <a:xfrm>
                  <a:off x="428625" y="3619500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11"/>
                <p:cNvSpPr txBox="1"/>
                <p:nvPr/>
              </p:nvSpPr>
              <p:spPr>
                <a:xfrm>
                  <a:off x="428625" y="3619500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2:</a:t>
                  </a:r>
                  <a:endParaRPr sz="900" b="1" i="0" u="none" strike="noStrike" cap="none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-US" sz="900" b="0" i="0" u="none" strike="noStrike" cap="none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Scale-Out JDA</a:t>
                  </a:r>
                  <a:endParaRPr sz="900" b="0" i="0" u="none" strike="noStrike" cap="none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86" name="Google Shape;486;p11"/>
                <p:cNvSpPr txBox="1"/>
                <p:nvPr/>
              </p:nvSpPr>
              <p:spPr>
                <a:xfrm>
                  <a:off x="2333625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marR="0" lvl="0" indent="0" algn="just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50"/>
                    <a:buFont typeface="Arial"/>
                    <a:buNone/>
                  </a:pPr>
                  <a:r>
                    <a:rPr lang="en-US" sz="850" dirty="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 manufacturing recipes up to complex, subscale radar-absorbing airframe feature geometries and support joint qualification. </a:t>
                  </a:r>
                  <a:endParaRPr sz="850" b="0" i="0" u="none" strike="noStrike" cap="none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87" name="Google Shape;487;p11"/>
                <p:cNvSpPr txBox="1"/>
                <p:nvPr/>
              </p:nvSpPr>
              <p:spPr>
                <a:xfrm>
                  <a:off x="5524500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marR="0" lvl="0" indent="0" algn="just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50"/>
                    <a:buFont typeface="Arial"/>
                    <a:buNone/>
                  </a:pPr>
                  <a:r>
                    <a:rPr lang="en-US" sz="850" dirty="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access to internal electromagnetic testing rigs, anechoic test chambers, and lead downstream flight-readiness certification. </a:t>
                  </a:r>
                  <a:endParaRPr sz="850" b="0" i="0" u="none" strike="noStrike" cap="none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488" name="Google Shape;488;p11"/>
            <p:cNvSpPr txBox="1"/>
            <p:nvPr/>
          </p:nvSpPr>
          <p:spPr>
            <a:xfrm>
              <a:off x="428625" y="4524375"/>
              <a:ext cx="828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lang="en-US" sz="750" b="0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*Transitioning to a structured technology licensing model or direct material supply partnership upon POC validation.</a:t>
              </a:r>
              <a:endParaRPr sz="7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775" y="0"/>
            <a:ext cx="9144000" cy="5413483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CLOSING &amp; IMMEDIATE 90-DAY ROADMAP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742913" y="866186"/>
            <a:ext cx="36861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sz="1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Us, Why Now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607975" y="1174649"/>
            <a:ext cx="368610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Our Project </a:t>
            </a:r>
            <a:r>
              <a:rPr lang="en-US" sz="850" dirty="0" err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VeilMatrix</a:t>
            </a:r>
            <a:r>
              <a:rPr lang="en-US" sz="850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 has already achieved an ideal X-band alignment score of 0.98 and minimized wave reflection leakage to a mere 2%—the only software-driven magnetic layer architecture to clear the targeted aviation performance baseline computationally. We are ready to print and test. 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4886372" y="866013"/>
            <a:ext cx="36861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sz="11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Crystal Paradigm Team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4886325" y="1027181"/>
            <a:ext cx="40581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dirty="0">
                <a:solidFill>
                  <a:srgbClr val="111111"/>
                </a:solidFill>
                <a:latin typeface="Inter"/>
              </a:rPr>
              <a:t>Our team includes experts in magnetics, high-performance computing, materials informatics, and applied engineering, providing a strong scientific foundation for innovation. Supported by a lean group of technical specialists and interns, we manage high-throughput data pipelines, multi-physics simulations, and ML/</a:t>
            </a:r>
            <a:r>
              <a:rPr lang="en-US" sz="850" dirty="0" err="1">
                <a:solidFill>
                  <a:srgbClr val="111111"/>
                </a:solidFill>
                <a:latin typeface="Inter"/>
              </a:rPr>
              <a:t>AutoML</a:t>
            </a:r>
            <a:r>
              <a:rPr lang="en-US" sz="850" dirty="0">
                <a:solidFill>
                  <a:srgbClr val="111111"/>
                </a:solidFill>
                <a:latin typeface="Inter"/>
              </a:rPr>
              <a:t> workflows under structured technical oversight</a:t>
            </a:r>
            <a:r>
              <a:rPr lang="en-US" sz="1100" dirty="0">
                <a:solidFill>
                  <a:srgbClr val="1F1F1F"/>
                </a:solidFill>
              </a:rPr>
              <a:t>. </a:t>
            </a:r>
            <a:endParaRPr sz="1100" b="0" i="0" u="none" strike="noStrike" cap="none" dirty="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571500" y="2089547"/>
            <a:ext cx="8001000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IMMEDIATE 90-DAY MILESTONES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571500" y="2807494"/>
            <a:ext cx="800100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571500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DAY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571500" y="3186113"/>
            <a:ext cx="2666991" cy="42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Complete secure ingestion and incorporate Safran’s specific electromagnetic and radar cross-section (RCS) boundary constraints. 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323849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DAY 60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3238491" y="3186113"/>
            <a:ext cx="2666991" cy="42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Execute fine-tuned 3D  diffusion generation loops and  molecular dynamics relaxation sweeps to verify Candidate C. 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590548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DAY 90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5905481" y="3186113"/>
            <a:ext cx="2666991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 export of print-ready multi-layer composition matrices to initiate physical absorber coupon fabrication. 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0" y="4034740"/>
            <a:ext cx="9144000" cy="1378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-52775" y="4236400"/>
            <a:ext cx="8693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Grotesk SemiBold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Partnering to bridge the gap between materials informatics and operational deployment.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571500" y="4763100"/>
            <a:ext cx="46425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600"/>
              <a:buFont typeface="Space Grotesk SemiBold"/>
              <a:buNone/>
            </a:pPr>
            <a:r>
              <a:rPr lang="en-US" sz="1600" b="0" i="0" u="sng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crystalparadigm.in</a:t>
            </a:r>
            <a:endParaRPr sz="1600" b="0" i="0" u="none" strike="noStrike" cap="none">
              <a:solidFill>
                <a:srgbClr val="2BDE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 txBox="1"/>
          <p:nvPr/>
        </p:nvSpPr>
        <p:spPr>
          <a:xfrm>
            <a:off x="5367900" y="4609725"/>
            <a:ext cx="3204600" cy="42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khub.crystalparadigm@gmail.com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2214</Words>
  <Application>Microsoft Office PowerPoint</Application>
  <PresentationFormat>On-screen Show (16:9)</PresentationFormat>
  <Paragraphs>292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Inter</vt:lpstr>
      <vt:lpstr>Arial</vt:lpstr>
      <vt:lpstr>Inter SemiBold</vt:lpstr>
      <vt:lpstr>Space Grotesk SemiBold</vt:lpstr>
      <vt:lpstr>Space Grotesk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HARISH GOGULAPATI</cp:lastModifiedBy>
  <cp:revision>3</cp:revision>
  <dcterms:created xsi:type="dcterms:W3CDTF">2026-06-04T12:08:38Z</dcterms:created>
  <dcterms:modified xsi:type="dcterms:W3CDTF">2026-06-05T17:31:11Z</dcterms:modified>
</cp:coreProperties>
</file>