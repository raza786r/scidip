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17"/>
  </p:notesMasterIdLst>
  <p:sldIdLst>
    <p:sldId id="256" r:id="rId3"/>
    <p:sldId id="270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5143500" cy="9144000"/>
  <p:embeddedFontLst>
    <p:embeddedFont>
      <p:font typeface="Inter" panose="020B0604020202020204" charset="0"/>
      <p:regular r:id="rId18"/>
      <p:bold r:id="rId19"/>
      <p:italic r:id="rId20"/>
      <p:boldItalic r:id="rId21"/>
    </p:embeddedFont>
    <p:embeddedFont>
      <p:font typeface="Inter Medium" panose="020B0604020202020204" charset="0"/>
      <p:regular r:id="rId22"/>
      <p:bold r:id="rId23"/>
      <p:italic r:id="rId24"/>
      <p:boldItalic r:id="rId25"/>
    </p:embeddedFont>
    <p:embeddedFont>
      <p:font typeface="Inter SemiBold" panose="020B0604020202020204" charset="0"/>
      <p:regular r:id="rId26"/>
      <p:bold r:id="rId27"/>
      <p:italic r:id="rId28"/>
      <p:boldItalic r:id="rId29"/>
    </p:embeddedFont>
    <p:embeddedFont>
      <p:font typeface="Space Grotesk" panose="020B0604020202020204" charset="0"/>
      <p:bold r:id="rId30"/>
    </p:embeddedFont>
    <p:embeddedFont>
      <p:font typeface="Space Grotesk SemiBold" panose="020B0604020202020204" charset="0"/>
      <p:regular r:id="rId31"/>
      <p:bold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5" roundtripDataSignature="AMtx7mhLdsu46NZDv1iNawfR3J/rA+h4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tableStyles" Target="tableStyles.xml"/><Relationship Id="rId21" Type="http://schemas.openxmlformats.org/officeDocument/2006/relationships/font" Target="fonts/font4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customschemas.google.com/relationships/presentationmetadata" Target="metadata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85893f04f_6_75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3e85893f04f_6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19" y="685800"/>
            <a:ext cx="3429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5" name="Google Shape;34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0" name="Google Shape;37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6" name="Google Shape;39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8" name="Google Shape;43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3" name="Google Shape;47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5" name="Google Shape;50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e8969c066b_83_15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g3e8969c066b_83_15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g3e8969c066b_83_15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e8969c066b_83_159"/>
          <p:cNvSpPr txBox="1">
            <a:spLocks noGrp="1"/>
          </p:cNvSpPr>
          <p:nvPr>
            <p:ph type="ctrTitle"/>
          </p:nvPr>
        </p:nvSpPr>
        <p:spPr>
          <a:xfrm>
            <a:off x="342900" y="1065213"/>
            <a:ext cx="3886200" cy="7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g3e8969c066b_83_159"/>
          <p:cNvSpPr txBox="1"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g3e8969c066b_83_159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g3e8969c066b_83_159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3e8969c066b_83_159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e8969c066b_83_165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g3e8969c066b_83_165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g3e8969c066b_83_16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g3e8969c066b_83_16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g3e8969c066b_83_16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e8969c066b_83_171"/>
          <p:cNvSpPr txBox="1">
            <a:spLocks noGrp="1"/>
          </p:cNvSpPr>
          <p:nvPr>
            <p:ph type="title"/>
          </p:nvPr>
        </p:nvSpPr>
        <p:spPr>
          <a:xfrm>
            <a:off x="361156" y="2203450"/>
            <a:ext cx="3886200" cy="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g3e8969c066b_83_171"/>
          <p:cNvSpPr txBox="1">
            <a:spLocks noGrp="1"/>
          </p:cNvSpPr>
          <p:nvPr>
            <p:ph type="body" idx="1"/>
          </p:nvPr>
        </p:nvSpPr>
        <p:spPr>
          <a:xfrm>
            <a:off x="361156" y="1453357"/>
            <a:ext cx="3886200" cy="7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g3e8969c066b_83_171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g3e8969c066b_83_171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g3e8969c066b_83_171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e8969c066b_83_177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g3e8969c066b_83_177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2019300" cy="22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42" name="Google Shape;42;g3e8969c066b_83_177"/>
          <p:cNvSpPr txBox="1">
            <a:spLocks noGrp="1"/>
          </p:cNvSpPr>
          <p:nvPr>
            <p:ph type="body" idx="2"/>
          </p:nvPr>
        </p:nvSpPr>
        <p:spPr>
          <a:xfrm>
            <a:off x="2324100" y="800100"/>
            <a:ext cx="2019300" cy="22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43" name="Google Shape;43;g3e8969c066b_83_177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g3e8969c066b_83_177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g3e8969c066b_83_177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e8969c066b_83_184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g3e8969c066b_83_184"/>
          <p:cNvSpPr txBox="1">
            <a:spLocks noGrp="1"/>
          </p:cNvSpPr>
          <p:nvPr>
            <p:ph type="body" idx="1"/>
          </p:nvPr>
        </p:nvSpPr>
        <p:spPr>
          <a:xfrm>
            <a:off x="228600" y="767556"/>
            <a:ext cx="2020200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49" name="Google Shape;49;g3e8969c066b_83_184"/>
          <p:cNvSpPr txBox="1">
            <a:spLocks noGrp="1"/>
          </p:cNvSpPr>
          <p:nvPr>
            <p:ph type="body" idx="2"/>
          </p:nvPr>
        </p:nvSpPr>
        <p:spPr>
          <a:xfrm>
            <a:off x="228600" y="1087438"/>
            <a:ext cx="2020200" cy="19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50" name="Google Shape;50;g3e8969c066b_83_184"/>
          <p:cNvSpPr txBox="1">
            <a:spLocks noGrp="1"/>
          </p:cNvSpPr>
          <p:nvPr>
            <p:ph type="body" idx="3"/>
          </p:nvPr>
        </p:nvSpPr>
        <p:spPr>
          <a:xfrm>
            <a:off x="2322513" y="767556"/>
            <a:ext cx="2020800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51" name="Google Shape;51;g3e8969c066b_83_184"/>
          <p:cNvSpPr txBox="1">
            <a:spLocks noGrp="1"/>
          </p:cNvSpPr>
          <p:nvPr>
            <p:ph type="body" idx="4"/>
          </p:nvPr>
        </p:nvSpPr>
        <p:spPr>
          <a:xfrm>
            <a:off x="2322513" y="1087438"/>
            <a:ext cx="2020800" cy="19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52" name="Google Shape;52;g3e8969c066b_83_18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g3e8969c066b_83_18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g3e8969c066b_83_18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8969c066b_83_193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g3e8969c066b_83_19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g3e8969c066b_83_19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g3e8969c066b_83_19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8969c066b_83_198"/>
          <p:cNvSpPr txBox="1">
            <a:spLocks noGrp="1"/>
          </p:cNvSpPr>
          <p:nvPr>
            <p:ph type="title"/>
          </p:nvPr>
        </p:nvSpPr>
        <p:spPr>
          <a:xfrm>
            <a:off x="228600" y="136525"/>
            <a:ext cx="1504200" cy="5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g3e8969c066b_83_198"/>
          <p:cNvSpPr txBox="1">
            <a:spLocks noGrp="1"/>
          </p:cNvSpPr>
          <p:nvPr>
            <p:ph type="body" idx="1"/>
          </p:nvPr>
        </p:nvSpPr>
        <p:spPr>
          <a:xfrm>
            <a:off x="1787525" y="136525"/>
            <a:ext cx="2556000" cy="29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marL="2286000" lvl="4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marL="2743200" lvl="5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  <p:sp>
        <p:nvSpPr>
          <p:cNvPr id="63" name="Google Shape;63;g3e8969c066b_83_198"/>
          <p:cNvSpPr txBox="1">
            <a:spLocks noGrp="1"/>
          </p:cNvSpPr>
          <p:nvPr>
            <p:ph type="body" idx="2"/>
          </p:nvPr>
        </p:nvSpPr>
        <p:spPr>
          <a:xfrm>
            <a:off x="228600" y="717550"/>
            <a:ext cx="1504200" cy="23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64" name="Google Shape;64;g3e8969c066b_83_198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g3e8969c066b_83_198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g3e8969c066b_83_198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8969c066b_83_205"/>
          <p:cNvSpPr txBox="1">
            <a:spLocks noGrp="1"/>
          </p:cNvSpPr>
          <p:nvPr>
            <p:ph type="title"/>
          </p:nvPr>
        </p:nvSpPr>
        <p:spPr>
          <a:xfrm>
            <a:off x="896144" y="2400300"/>
            <a:ext cx="27432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g3e8969c066b_83_205"/>
          <p:cNvSpPr>
            <a:spLocks noGrp="1"/>
          </p:cNvSpPr>
          <p:nvPr>
            <p:ph type="pic" idx="2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g3e8969c066b_83_205"/>
          <p:cNvSpPr txBox="1">
            <a:spLocks noGrp="1"/>
          </p:cNvSpPr>
          <p:nvPr>
            <p:ph type="body" idx="1"/>
          </p:nvPr>
        </p:nvSpPr>
        <p:spPr>
          <a:xfrm>
            <a:off x="896144" y="2683669"/>
            <a:ext cx="27432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71" name="Google Shape;71;g3e8969c066b_83_20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g3e8969c066b_83_20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g3e8969c066b_83_20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8969c066b_83_212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g3e8969c066b_83_212"/>
          <p:cNvSpPr txBox="1">
            <a:spLocks noGrp="1"/>
          </p:cNvSpPr>
          <p:nvPr>
            <p:ph type="body" idx="1"/>
          </p:nvPr>
        </p:nvSpPr>
        <p:spPr>
          <a:xfrm rot="5400000">
            <a:off x="1154550" y="-125850"/>
            <a:ext cx="22629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g3e8969c066b_83_212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g3e8969c066b_83_212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g3e8969c066b_83_212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8969c066b_83_218"/>
          <p:cNvSpPr txBox="1">
            <a:spLocks noGrp="1"/>
          </p:cNvSpPr>
          <p:nvPr>
            <p:ph type="title"/>
          </p:nvPr>
        </p:nvSpPr>
        <p:spPr>
          <a:xfrm rot="5400000">
            <a:off x="2366100" y="1085919"/>
            <a:ext cx="29259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g3e8969c066b_83_218"/>
          <p:cNvSpPr txBox="1">
            <a:spLocks noGrp="1"/>
          </p:cNvSpPr>
          <p:nvPr>
            <p:ph type="body" idx="1"/>
          </p:nvPr>
        </p:nvSpPr>
        <p:spPr>
          <a:xfrm rot="5400000">
            <a:off x="270600" y="95319"/>
            <a:ext cx="2925900" cy="30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g3e8969c066b_83_218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g3e8969c066b_83_218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g3e8969c066b_83_218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0247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e8969c066b_83_149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>
            <a:endParaRPr/>
          </a:p>
        </p:txBody>
      </p:sp>
      <p:sp>
        <p:nvSpPr>
          <p:cNvPr id="13" name="Google Shape;13;g3e8969c066b_83_149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marR="0" lvl="0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g3e8969c066b_83_149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g3e8969c066b_83_149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g3e8969c066b_83_149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ystalparadigm.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g3e85893f04f_6_75"/>
          <p:cNvGrpSpPr/>
          <p:nvPr/>
        </p:nvGrpSpPr>
        <p:grpSpPr>
          <a:xfrm>
            <a:off x="476250" y="285750"/>
            <a:ext cx="8191500" cy="809625"/>
            <a:chOff x="476250" y="285750"/>
            <a:chExt cx="8191500" cy="809625"/>
          </a:xfrm>
        </p:grpSpPr>
        <p:sp>
          <p:nvSpPr>
            <p:cNvPr id="91" name="Google Shape;91;g3e85893f04f_6_75"/>
            <p:cNvSpPr txBox="1"/>
            <p:nvPr/>
          </p:nvSpPr>
          <p:spPr>
            <a:xfrm>
              <a:off x="476250" y="28575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3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CRYSTAL </a:t>
              </a:r>
              <a:r>
                <a:rPr lang="en-US" sz="3330" b="1">
                  <a:solidFill>
                    <a:srgbClr val="2BDEF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PARADIGM</a:t>
              </a:r>
              <a:endParaRPr sz="3330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295" b="1">
                  <a:solidFill>
                    <a:srgbClr val="64748B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AI-Integrated Materials Architectures for Aerospace Applications</a:t>
              </a:r>
              <a:endParaRPr sz="1295" b="1">
                <a:solidFill>
                  <a:srgbClr val="64748B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cxnSp>
          <p:nvCxnSpPr>
            <p:cNvPr id="92" name="Google Shape;92;g3e85893f04f_6_75"/>
            <p:cNvCxnSpPr/>
            <p:nvPr/>
          </p:nvCxnSpPr>
          <p:spPr>
            <a:xfrm>
              <a:off x="476250" y="1095375"/>
              <a:ext cx="8191500" cy="0"/>
            </a:xfrm>
            <a:prstGeom prst="straightConnector1">
              <a:avLst/>
            </a:prstGeom>
            <a:solidFill>
              <a:srgbClr val="FFFFFF"/>
            </a:solidFill>
            <a:ln w="1905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93" name="Google Shape;93;g3e85893f04f_6_75"/>
          <p:cNvSpPr txBox="1"/>
          <p:nvPr/>
        </p:nvSpPr>
        <p:spPr>
          <a:xfrm>
            <a:off x="476250" y="1333500"/>
            <a:ext cx="5143500" cy="28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1A365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Pioneering AI-Driven Materials Discovery</a:t>
            </a:r>
            <a:endParaRPr sz="1300" b="0">
              <a:solidFill>
                <a:srgbClr val="1A365D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Crystal Paradigm is a research-driven organization at the intersection of artificial intelligence and materials science. We field an aerospace-focused deep-tech engineering team that has computationally validated a next-generation turbine blade material achieving a </a:t>
            </a:r>
            <a:r>
              <a:rPr lang="en-US" sz="1150" b="1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3D Safety Factor of 1.71</a:t>
            </a:r>
            <a:r>
              <a:rPr lang="en-US" sz="115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— exceeding the 1.50 airworthiness threshold by 14%.</a:t>
            </a:r>
            <a:endParaRPr sz="115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1A365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Our Mission</a:t>
            </a:r>
            <a:endParaRPr sz="1300" b="0">
              <a:solidFill>
                <a:srgbClr val="1A365D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To accelerate the discovery of next-generation materials by combining machine learning, high-performance computing (HPC), and experimental validation in one closed loop.</a:t>
            </a:r>
            <a:endParaRPr sz="115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4748B"/>
                </a:solidFill>
                <a:highlight>
                  <a:srgbClr val="F8FAFC"/>
                </a:highlight>
                <a:latin typeface="Inter"/>
                <a:ea typeface="Inter"/>
                <a:cs typeface="Inter"/>
                <a:sym typeface="Inter"/>
              </a:rPr>
              <a:t>Targeting extreme-environment aerospace propulsion: refractory high-entropy alloys paired with functionally graded ceramic coatings, merging in-house data curation with high-fidelity physics models to generate direct, print-ready manufacturing matrices.</a:t>
            </a:r>
            <a:endParaRPr sz="1000">
              <a:solidFill>
                <a:srgbClr val="64748B"/>
              </a:solidFill>
              <a:highlight>
                <a:srgbClr val="F8FAFC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94" name="Google Shape;94;g3e85893f04f_6_75"/>
          <p:cNvGrpSpPr/>
          <p:nvPr/>
        </p:nvGrpSpPr>
        <p:grpSpPr>
          <a:xfrm>
            <a:off x="6022075" y="525144"/>
            <a:ext cx="2840355" cy="4142371"/>
            <a:chOff x="6286500" y="1333500"/>
            <a:chExt cx="2286000" cy="3333900"/>
          </a:xfrm>
        </p:grpSpPr>
        <p:pic>
          <p:nvPicPr>
            <p:cNvPr id="95" name="Google Shape;95;g3e85893f04f_6_7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477000" y="1333500"/>
              <a:ext cx="1905000" cy="19050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96" name="Google Shape;96;g3e85893f04f_6_75"/>
            <p:cNvSpPr/>
            <p:nvPr/>
          </p:nvSpPr>
          <p:spPr>
            <a:xfrm>
              <a:off x="6286500" y="3429000"/>
              <a:ext cx="2286000" cy="1238400"/>
            </a:xfrm>
            <a:prstGeom prst="roundRect">
              <a:avLst>
                <a:gd name="adj" fmla="val 9230"/>
              </a:avLst>
            </a:prstGeom>
            <a:solidFill>
              <a:srgbClr val="1A36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g3e85893f04f_6_75"/>
            <p:cNvSpPr txBox="1"/>
            <p:nvPr/>
          </p:nvSpPr>
          <p:spPr>
            <a:xfrm>
              <a:off x="6286500" y="3429000"/>
              <a:ext cx="2286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325" tIns="118325" rIns="118325" bIns="1183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33" b="1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4 </a:t>
              </a:r>
              <a:r>
                <a:rPr lang="en-US" sz="1242" b="0">
                  <a:solidFill>
                    <a:srgbClr val="2BDEF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Research Papers</a:t>
              </a:r>
              <a:endParaRPr sz="2733" b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94" i="1">
                  <a:solidFill>
                    <a:srgbClr val="94A3B8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(under Review)</a:t>
              </a:r>
              <a:endParaRPr sz="994" i="1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ctr" rtl="0">
                <a:spcBef>
                  <a:spcPts val="932"/>
                </a:spcBef>
                <a:spcAft>
                  <a:spcPts val="0"/>
                </a:spcAft>
                <a:buNone/>
              </a:pPr>
              <a:r>
                <a:rPr lang="en-US" sz="2733" b="1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2 </a:t>
              </a:r>
              <a:r>
                <a:rPr lang="en-US" sz="1242" b="0">
                  <a:solidFill>
                    <a:srgbClr val="2BDEF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Patents</a:t>
              </a:r>
              <a:endParaRPr sz="2733" b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94" i="1">
                  <a:solidFill>
                    <a:srgbClr val="94A3B8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(under filing)</a:t>
              </a:r>
              <a:endParaRPr sz="994" i="1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07008"/>
          </a:xfrm>
          <a:prstGeom prst="rect">
            <a:avLst/>
          </a:prstGeom>
          <a:solidFill>
            <a:srgbClr val="0F203C"/>
          </a:solidFill>
          <a:ln w="12700">
            <a:solidFill>
              <a:srgbClr val="0F20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07008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 PARADIGM  ·  SAFRAN EXPLORE RESPONSE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47472" y="27432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ALIGNMENT: SAFRAN EXPLORE CHALLENGES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47472" y="85953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 gap between AI-driven discovery and physical bulk materials.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" y="1371600"/>
            <a:ext cx="4224528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EF"/>
            </a:solidFill>
            <a:prstDash val="solid"/>
          </a:ln>
          <a:effectLst>
            <a:outerShdw blurRad="63500" dist="25400" dir="8100000" algn="bl" rotWithShape="0">
              <a:srgbClr val="B0BECB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371600"/>
            <a:ext cx="422452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481328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2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#1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8912" y="1645920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kern="0" spc="80" dirty="0">
                <a:solidFill>
                  <a:srgbClr val="0F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MATERIALS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38912" y="1947672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Multi-Material Systems, Gradients &amp; Additive Processes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8912" y="2249424"/>
            <a:ext cx="3858768" cy="0"/>
          </a:xfrm>
          <a:prstGeom prst="line">
            <a:avLst/>
          </a:prstGeom>
          <a:noFill/>
          <a:ln w="9525">
            <a:solidFill>
              <a:srgbClr val="D6E4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" y="2377440"/>
            <a:ext cx="82296" cy="822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2322576"/>
            <a:ext cx="3712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[1.1.1 &amp; 1.2.2] Multi-Material TBCs: </a:t>
            </a:r>
            <a:r>
              <a:rPr lang="en-US" sz="9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the 1400°C CTE mismatch using an integrated Lanthanum Zirconate (LZO) ceramic coating coupled with a refractory HEA core.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8912" y="2953512"/>
            <a:ext cx="82296" cy="822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" y="2898648"/>
            <a:ext cx="3712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[1.1.2] Physical &amp; Mechanical Gradients: </a:t>
            </a:r>
            <a:r>
              <a:rPr lang="en-US" sz="9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11-layer Functionally Graded Material (FGM) completely eliminates macro-stress concentrations at the coating interface.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8912" y="3529584"/>
            <a:ext cx="82296" cy="822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" y="3474720"/>
            <a:ext cx="3712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[1.3.2] Hybrid Additive Processes: </a:t>
            </a:r>
            <a:r>
              <a:rPr lang="en-US" sz="9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architecture is formulated for immediate multi-hopper Laser Engineered Net Shaping (LENS / DED) 3D printing.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1371600"/>
            <a:ext cx="4224528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EF"/>
            </a:solidFill>
            <a:prstDash val="solid"/>
          </a:ln>
          <a:effectLst>
            <a:outerShdw blurRad="63500" dist="25400" dir="8100000" algn="bl" rotWithShape="0">
              <a:srgbClr val="B0BECB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371600"/>
            <a:ext cx="422452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481328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2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#2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46320" y="1645920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60" dirty="0">
                <a:solidFill>
                  <a:srgbClr val="0F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FOR MATERIALS &amp; PROCESSES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46320" y="1947672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Design, Simulation &amp; Chemical Gradients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2249424"/>
            <a:ext cx="3858768" cy="0"/>
          </a:xfrm>
          <a:prstGeom prst="line">
            <a:avLst/>
          </a:prstGeom>
          <a:noFill/>
          <a:ln w="9525">
            <a:solidFill>
              <a:srgbClr val="D6E4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2377440"/>
            <a:ext cx="82296" cy="822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92624" y="2322576"/>
            <a:ext cx="3712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[2.3.1] AI for Composite Architectures: </a:t>
            </a:r>
            <a:r>
              <a:rPr lang="en-US" sz="9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Constrained Differential Evolution (DE) combined with Random Forest surrogates to navigate a 9-element hypercube in minutes.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46320" y="2953512"/>
            <a:ext cx="82296" cy="822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92624" y="2898648"/>
            <a:ext cx="3712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[2.2.1] Numerical Performance Simulation: </a:t>
            </a:r>
            <a:r>
              <a:rPr lang="en-US" sz="9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candidates via 3D FEniCS FEA stress grids (SF = 1.71) and MACE/CHGNet ML Force Field Molecular Dynamics.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3529584"/>
            <a:ext cx="82296" cy="822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92624" y="3474720"/>
            <a:ext cx="3712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[2.1.1 &amp; 2.1.2] Hybrid Chemical Gradients: </a:t>
            </a:r>
            <a:r>
              <a:rPr lang="en-US" sz="9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converts continuous AI property curves into discrete, print-ready metal-ceramic gradient parameters.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4599432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645152"/>
            <a:ext cx="9144000" cy="544068"/>
          </a:xfrm>
          <a:prstGeom prst="rect">
            <a:avLst/>
          </a:prstGeom>
          <a:solidFill>
            <a:srgbClr val="0F203C"/>
          </a:solidFill>
          <a:ln w="12700">
            <a:solidFill>
              <a:srgbClr val="0F203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" y="4718304"/>
            <a:ext cx="141732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" y="471830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0F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UNIFIED SOLUTION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828800" y="4709160"/>
            <a:ext cx="0" cy="310896"/>
          </a:xfrm>
          <a:prstGeom prst="line">
            <a:avLst/>
          </a:prstGeom>
          <a:noFill/>
          <a:ln w="19050">
            <a:solidFill>
              <a:srgbClr val="1E3A5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93392" y="469087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 Paradigm does not just provide a material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 1)</a:t>
            </a: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software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 2)</a:t>
            </a: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we provide a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complete, unbroken data-to-manufacturing pipeline.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/>
          <p:cNvSpPr/>
          <p:nvPr/>
        </p:nvSpPr>
        <p:spPr>
          <a:xfrm>
            <a:off x="1267123" y="3564731"/>
            <a:ext cx="1123500" cy="1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950"/>
              <a:buFont typeface="Inter"/>
              <a:buNone/>
            </a:pP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428625" y="381000"/>
            <a:ext cx="82869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20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rPr>
              <a:t>CRYSTAL PARADIGM FOR HOTTER, LONGER-LIVED PROPULSION MATERIALS</a:t>
            </a:r>
            <a:endParaRPr sz="1820" b="1">
              <a:solidFill>
                <a:srgbClr val="1A365D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428625" y="1000125"/>
            <a:ext cx="82869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AI-Driven Inverse Design of Graded Transpiration Shields</a:t>
            </a:r>
            <a:endParaRPr sz="1600" b="0">
              <a:solidFill>
                <a:srgbClr val="2BDEFD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grpSp>
        <p:nvGrpSpPr>
          <p:cNvPr id="112" name="Google Shape;112;p1"/>
          <p:cNvGrpSpPr/>
          <p:nvPr/>
        </p:nvGrpSpPr>
        <p:grpSpPr>
          <a:xfrm>
            <a:off x="428625" y="1524000"/>
            <a:ext cx="3238500" cy="3238500"/>
            <a:chOff x="428625" y="1524000"/>
            <a:chExt cx="3238500" cy="3238500"/>
          </a:xfrm>
        </p:grpSpPr>
        <p:pic>
          <p:nvPicPr>
            <p:cNvPr id="113" name="Google Shape;113;p1" descr="A high-tech, futuristic cross-section of a 3D-printed aerospace material shield with visible 11-layers, showing a gradient from a metallic base to a white ceramic coating, glowing with extreme heat (1400C) on one side, photorealistic, cinematic lighting, laboratory setting.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28625" y="1524000"/>
              <a:ext cx="3238500" cy="3238500"/>
            </a:xfrm>
            <a:prstGeom prst="roundRect">
              <a:avLst>
                <a:gd name="adj" fmla="val 5882"/>
              </a:avLst>
            </a:prstGeom>
            <a:noFill/>
            <a:ln>
              <a:noFill/>
            </a:ln>
          </p:spPr>
        </p:pic>
        <p:sp>
          <p:nvSpPr>
            <p:cNvPr id="114" name="Google Shape;114;p1"/>
            <p:cNvSpPr/>
            <p:nvPr/>
          </p:nvSpPr>
          <p:spPr>
            <a:xfrm>
              <a:off x="428625" y="1524000"/>
              <a:ext cx="3238500" cy="3238500"/>
            </a:xfrm>
            <a:prstGeom prst="roundRect">
              <a:avLst>
                <a:gd name="adj" fmla="val 5882"/>
              </a:avLst>
            </a:prstGeom>
            <a:solidFill>
              <a:srgbClr val="000000">
                <a:alpha val="0"/>
              </a:srgbClr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"/>
          <p:cNvGrpSpPr/>
          <p:nvPr/>
        </p:nvGrpSpPr>
        <p:grpSpPr>
          <a:xfrm>
            <a:off x="3952875" y="1524000"/>
            <a:ext cx="4762500" cy="3143175"/>
            <a:chOff x="3952875" y="1524000"/>
            <a:chExt cx="4762500" cy="3143175"/>
          </a:xfrm>
        </p:grpSpPr>
        <p:sp>
          <p:nvSpPr>
            <p:cNvPr id="116" name="Google Shape;116;p1"/>
            <p:cNvSpPr/>
            <p:nvPr/>
          </p:nvSpPr>
          <p:spPr>
            <a:xfrm>
              <a:off x="3952875" y="1524000"/>
              <a:ext cx="4762500" cy="714300"/>
            </a:xfrm>
            <a:prstGeom prst="roundRect">
              <a:avLst>
                <a:gd name="adj" fmla="val 13333"/>
              </a:avLst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"/>
            <p:cNvSpPr txBox="1"/>
            <p:nvPr/>
          </p:nvSpPr>
          <p:spPr>
            <a:xfrm>
              <a:off x="4095750" y="1524000"/>
              <a:ext cx="4476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Integrated Multi-Material Architecture</a:t>
              </a:r>
              <a:endParaRPr sz="1100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Merging a high-temperature refractory HEA base with an 11-layer functionally graded LZO thermal barrier coating.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8" name="Google Shape;118;p1"/>
            <p:cNvSpPr/>
            <p:nvPr/>
          </p:nvSpPr>
          <p:spPr>
            <a:xfrm>
              <a:off x="3952875" y="2333625"/>
              <a:ext cx="4762500" cy="714300"/>
            </a:xfrm>
            <a:prstGeom prst="roundRect">
              <a:avLst>
                <a:gd name="adj" fmla="val 13333"/>
              </a:avLst>
            </a:prstGeom>
            <a:solidFill>
              <a:srgbClr val="FEF2F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"/>
            <p:cNvSpPr txBox="1"/>
            <p:nvPr/>
          </p:nvSpPr>
          <p:spPr>
            <a:xfrm>
              <a:off x="4095750" y="2333625"/>
              <a:ext cx="4476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991B1B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The Problem</a:t>
              </a:r>
              <a:endParaRPr sz="1100" b="1">
                <a:solidFill>
                  <a:srgbClr val="991B1B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Thermal fatigue from CTE mismatches at 1400°C causing interfacial shear stress and layer delamination.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0" name="Google Shape;120;p1"/>
            <p:cNvSpPr/>
            <p:nvPr/>
          </p:nvSpPr>
          <p:spPr>
            <a:xfrm>
              <a:off x="3952875" y="3143250"/>
              <a:ext cx="4762500" cy="714300"/>
            </a:xfrm>
            <a:prstGeom prst="roundRect">
              <a:avLst>
                <a:gd name="adj" fmla="val 13333"/>
              </a:avLst>
            </a:prstGeom>
            <a:solidFill>
              <a:srgbClr val="F0F9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"/>
            <p:cNvSpPr txBox="1"/>
            <p:nvPr/>
          </p:nvSpPr>
          <p:spPr>
            <a:xfrm>
              <a:off x="4095750" y="3143250"/>
              <a:ext cx="4476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07598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Current Status</a:t>
              </a:r>
              <a:endParaRPr sz="1100" b="1">
                <a:solidFill>
                  <a:srgbClr val="07598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TRL-3+ screening complete via physics-informed regressors and FEA/MD solvers; lab-backed prototyping ready.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2" name="Google Shape;122;p1"/>
            <p:cNvSpPr/>
            <p:nvPr/>
          </p:nvSpPr>
          <p:spPr>
            <a:xfrm>
              <a:off x="3952875" y="3952875"/>
              <a:ext cx="4762500" cy="714300"/>
            </a:xfrm>
            <a:prstGeom prst="roundRect">
              <a:avLst>
                <a:gd name="adj" fmla="val 13333"/>
              </a:avLst>
            </a:prstGeom>
            <a:solidFill>
              <a:srgbClr val="F0FDF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"/>
            <p:cNvSpPr txBox="1"/>
            <p:nvPr/>
          </p:nvSpPr>
          <p:spPr>
            <a:xfrm>
              <a:off x="4095750" y="3952875"/>
              <a:ext cx="4476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166534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The Strategic Ask</a:t>
              </a:r>
              <a:endParaRPr sz="1100" b="1">
                <a:solidFill>
                  <a:srgbClr val="166534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 structured co-development and co-validation testing partnership with Safran's materials division.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"/>
          <p:cNvSpPr/>
          <p:nvPr/>
        </p:nvSpPr>
        <p:spPr>
          <a:xfrm>
            <a:off x="428625" y="428625"/>
            <a:ext cx="8715375" cy="43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50"/>
              <a:buFont typeface="Space Grotesk SemiBold"/>
              <a:buNone/>
            </a:pPr>
            <a:r>
              <a:rPr lang="en-US" sz="245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WHY THIS MATTERS TO SAFRAN NOW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428625" y="937617"/>
            <a:ext cx="8715375" cy="21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1200"/>
              <a:buFont typeface="Space Grotesk SemiBold"/>
              <a:buNone/>
            </a:pPr>
            <a:r>
              <a:rPr lang="en-US" sz="1200" b="0" i="0" u="none" strike="noStrike" cap="none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Addressing Aviation Fleet Imperatives and Supply Chain Resilience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600075" y="1441252"/>
            <a:ext cx="8115300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 Aerothermal Fire Limit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600075" y="1659136"/>
            <a:ext cx="81153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Next-generation turbine entries run at 1400^C (1673^K). These severe limits introduce extreme expansion stresses and oxidation kinetics that outpace legacy protective systems.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"/>
          <p:cNvSpPr/>
          <p:nvPr/>
        </p:nvSpPr>
        <p:spPr>
          <a:xfrm>
            <a:off x="600063" y="2182443"/>
            <a:ext cx="8115300" cy="1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Supply Chain Resilience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"/>
          <p:cNvSpPr/>
          <p:nvPr/>
        </p:nvSpPr>
        <p:spPr>
          <a:xfrm>
            <a:off x="600075" y="2398534"/>
            <a:ext cx="81153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Conventional designs rely heavily on rare elements like Hafnium. Our solution intentionally limits high-risk dependencies to mitigate price volatility and supply chain exposure. </a:t>
            </a:r>
            <a:endParaRPr sz="850" b="0" i="0" u="none" strike="noStrike" cap="none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Directly aligned with Safran's RISE open-rotor program targets for TET &gt; 1400°C and 20% SFC improvement.</a:t>
            </a:r>
            <a:endParaRPr sz="85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endParaRPr sz="85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endParaRPr sz="85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endParaRPr sz="85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Google Shape;136;p2"/>
          <p:cNvSpPr/>
          <p:nvPr/>
        </p:nvSpPr>
        <p:spPr>
          <a:xfrm>
            <a:off x="578644" y="3391495"/>
            <a:ext cx="2319319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900"/>
              <a:buFont typeface="Space Grotesk SemiBold"/>
              <a:buNone/>
            </a:pPr>
            <a:r>
              <a:rPr lang="en-US" sz="900" b="0" i="0" u="none" strike="noStrike" cap="none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FUEL BURN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"/>
          <p:cNvSpPr/>
          <p:nvPr/>
        </p:nvSpPr>
        <p:spPr>
          <a:xfrm>
            <a:off x="578644" y="3662958"/>
            <a:ext cx="2319319" cy="450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750"/>
              <a:buFont typeface="Inter"/>
              <a:buNone/>
            </a:pPr>
            <a:r>
              <a:rPr lang="en-US" sz="750" b="1" i="0" u="none" strike="noStrike" cap="non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15% reduction</a:t>
            </a:r>
            <a:r>
              <a:rPr lang="en-US" sz="80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in compressor parasitic bleed air, driving an immediate </a:t>
            </a:r>
            <a:r>
              <a:rPr lang="en-US" sz="750" b="1" i="0" u="none" strike="noStrike" cap="non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1.5% net reduction</a:t>
            </a:r>
            <a:r>
              <a:rPr lang="en-US" sz="80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in Specific Fuel Consumption (SFC).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"/>
          <p:cNvSpPr/>
          <p:nvPr/>
        </p:nvSpPr>
        <p:spPr>
          <a:xfrm>
            <a:off x="3412313" y="3391495"/>
            <a:ext cx="2319347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900"/>
              <a:buFont typeface="Space Grotesk SemiBold"/>
              <a:buNone/>
            </a:pPr>
            <a:r>
              <a:rPr lang="en-US" sz="900" b="0" i="0" u="none" strike="noStrike" cap="none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MRO MAINTENANCE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"/>
          <p:cNvSpPr/>
          <p:nvPr/>
        </p:nvSpPr>
        <p:spPr>
          <a:xfrm>
            <a:off x="3412313" y="3662958"/>
            <a:ext cx="2319347" cy="450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Lowering thermal degradation to extend engine shop visit intervals and </a:t>
            </a:r>
            <a:r>
              <a:rPr lang="en-US" sz="750" b="1" i="0" u="none" strike="noStrike" cap="non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blade operational life cycles</a:t>
            </a:r>
            <a:r>
              <a:rPr lang="en-US" sz="80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significantly.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"/>
          <p:cNvSpPr/>
          <p:nvPr/>
        </p:nvSpPr>
        <p:spPr>
          <a:xfrm>
            <a:off x="6246009" y="3391495"/>
            <a:ext cx="2319319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900"/>
              <a:buFont typeface="Space Grotesk SemiBold"/>
              <a:buNone/>
            </a:pPr>
            <a:r>
              <a:rPr lang="en-US" sz="900" b="0" i="0" u="none" strike="noStrike" cap="none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MANUFACTURABILITY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"/>
          <p:cNvSpPr/>
          <p:nvPr/>
        </p:nvSpPr>
        <p:spPr>
          <a:xfrm>
            <a:off x="6246000" y="3662947"/>
            <a:ext cx="2319300" cy="8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Direct export of a universal, </a:t>
            </a:r>
            <a:r>
              <a:rPr lang="en-US" sz="750" b="1" i="0" u="none" strike="noStrike" cap="non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print-ready 11-layer compositional matrix</a:t>
            </a:r>
            <a:r>
              <a:rPr lang="en-US" sz="80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to drive multi-hopper 3D printers for shop-floor deployment</a:t>
            </a:r>
            <a:r>
              <a:rPr lang="en-US" sz="8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,drastically reducing physical prototyping lead times from months to days.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82675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3"/>
          <p:cNvSpPr/>
          <p:nvPr/>
        </p:nvSpPr>
        <p:spPr>
          <a:xfrm>
            <a:off x="428625" y="817318"/>
            <a:ext cx="3714750" cy="66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100"/>
              <a:buFont typeface="Space Grotesk SemiBold"/>
              <a:buNone/>
            </a:pPr>
            <a:r>
              <a:rPr lang="en-US" sz="21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 TECHNICAL PROBLEM IN ONE PICTURE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600075" y="1691701"/>
            <a:ext cx="3543300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Thermal Expansion Discontinuity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600075" y="1856000"/>
            <a:ext cx="3543300" cy="4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Metallic base (α ≈ 6.44–14.0 μm/m·K) vs LZO coating (α = 9.1 μm/m·K). Interface shear forces exceed 850 MPa, far surpassing the thermal limits of legacy Inconel 718 and CMSX-4.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600075" y="2350322"/>
            <a:ext cx="3543300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Microstructural Phase Decay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600075" y="2550347"/>
            <a:ext cx="3543300" cy="280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Oxygen diffusion precipitates brittle sigma phases , causing rapid material loss and interface failure.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600075" y="3008942"/>
            <a:ext cx="3543300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 Cooling Hole Threat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600075" y="3208967"/>
            <a:ext cx="3543300" cy="280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Laser-drilled holes create stress concentration , accelerating crack propagation and layer delamination.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"/>
          <p:cNvSpPr/>
          <p:nvPr/>
        </p:nvSpPr>
        <p:spPr>
          <a:xfrm>
            <a:off x="600075" y="3667562"/>
            <a:ext cx="3543300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 Unified Imperative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600075" y="3867587"/>
            <a:ext cx="3543300" cy="280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Substrate, cooling channels, and insulating layers must be optimized as a single system to prevent failure.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3"/>
          <p:cNvSpPr/>
          <p:nvPr/>
        </p:nvSpPr>
        <p:spPr>
          <a:xfrm>
            <a:off x="5000625" y="874216"/>
            <a:ext cx="3714750" cy="146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800"/>
              <a:buFont typeface="Space Grotesk SemiBold"/>
              <a:buNone/>
            </a:pPr>
            <a:r>
              <a:rPr lang="en-US" sz="800" b="0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THERMOMECHANICAL FAILURE-MODE ANALYSIS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00625" y="1163538"/>
            <a:ext cx="357187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3"/>
          <p:cNvSpPr/>
          <p:nvPr/>
        </p:nvSpPr>
        <p:spPr>
          <a:xfrm>
            <a:off x="7429500" y="2806601"/>
            <a:ext cx="912614" cy="191095"/>
          </a:xfrm>
          <a:prstGeom prst="rect">
            <a:avLst/>
          </a:prstGeom>
          <a:solidFill>
            <a:srgbClr val="FF0000">
              <a:alpha val="10196"/>
            </a:srgbClr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3"/>
          <p:cNvSpPr/>
          <p:nvPr/>
        </p:nvSpPr>
        <p:spPr>
          <a:xfrm>
            <a:off x="7429500" y="2806601"/>
            <a:ext cx="912614" cy="191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075" tIns="42525" rIns="85075" bIns="425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"/>
              <a:buFont typeface="Inter"/>
              <a:buNone/>
            </a:pPr>
            <a:r>
              <a:rPr lang="en-US" sz="600" b="0" i="0" u="none" strike="noStrike" cap="none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SHEAR &gt; 850 MPa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5572125" y="2306538"/>
            <a:ext cx="1019770" cy="191095"/>
          </a:xfrm>
          <a:prstGeom prst="rect">
            <a:avLst/>
          </a:prstGeom>
          <a:solidFill>
            <a:srgbClr val="FF0000">
              <a:alpha val="10196"/>
            </a:srgbClr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3"/>
          <p:cNvSpPr/>
          <p:nvPr/>
        </p:nvSpPr>
        <p:spPr>
          <a:xfrm>
            <a:off x="5572125" y="2306538"/>
            <a:ext cx="1019770" cy="191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075" tIns="42525" rIns="85075" bIns="425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"/>
              <a:buFont typeface="Inter"/>
              <a:buNone/>
            </a:pPr>
            <a:r>
              <a:rPr lang="en-US" sz="600" b="0" i="0" u="none" strike="noStrike" cap="none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DELAMINATION RISK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"/>
          <p:cNvSpPr/>
          <p:nvPr/>
        </p:nvSpPr>
        <p:spPr>
          <a:xfrm>
            <a:off x="5000625" y="4163913"/>
            <a:ext cx="3714750" cy="105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Inter"/>
              <a:buNone/>
            </a:pPr>
            <a:r>
              <a:rPr lang="en-US" sz="6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Schematic cross-section showing interfacial stress singularities and crack initiation zones.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"/>
          <p:cNvSpPr txBox="1"/>
          <p:nvPr/>
        </p:nvSpPr>
        <p:spPr>
          <a:xfrm>
            <a:off x="83925" y="149325"/>
            <a:ext cx="4762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rPr>
              <a:t>OUR ADVANCED ARCHITECTURE &amp; RECIPIENT LAYOUT</a:t>
            </a:r>
            <a:endParaRPr sz="2200" b="1">
              <a:solidFill>
                <a:srgbClr val="1A365D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171" name="Google Shape;171;p4"/>
          <p:cNvGrpSpPr/>
          <p:nvPr/>
        </p:nvGrpSpPr>
        <p:grpSpPr>
          <a:xfrm>
            <a:off x="428625" y="1238250"/>
            <a:ext cx="3333900" cy="3238575"/>
            <a:chOff x="428625" y="1238250"/>
            <a:chExt cx="3333900" cy="3238575"/>
          </a:xfrm>
        </p:grpSpPr>
        <p:sp>
          <p:nvSpPr>
            <p:cNvPr id="172" name="Google Shape;172;p4"/>
            <p:cNvSpPr/>
            <p:nvPr/>
          </p:nvSpPr>
          <p:spPr>
            <a:xfrm>
              <a:off x="428625" y="1238250"/>
              <a:ext cx="3333900" cy="809700"/>
            </a:xfrm>
            <a:prstGeom prst="roundRect">
              <a:avLst>
                <a:gd name="adj" fmla="val 4705"/>
              </a:avLst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4"/>
            <p:cNvSpPr txBox="1"/>
            <p:nvPr/>
          </p:nvSpPr>
          <p:spPr>
            <a:xfrm>
              <a:off x="571500" y="1333500"/>
              <a:ext cx="3048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Substrate Phase Security</a:t>
              </a:r>
              <a:endParaRPr sz="1100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9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Optimized quinary refractory HEA matrix ensuring stable single-phase BCC solid solution.</a:t>
              </a:r>
              <a:endParaRPr sz="9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428625" y="2143125"/>
              <a:ext cx="3333900" cy="666900"/>
            </a:xfrm>
            <a:prstGeom prst="roundRect">
              <a:avLst>
                <a:gd name="adj" fmla="val 5714"/>
              </a:avLst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4"/>
            <p:cNvSpPr txBox="1"/>
            <p:nvPr/>
          </p:nvSpPr>
          <p:spPr>
            <a:xfrm>
              <a:off x="571500" y="2238375"/>
              <a:ext cx="3048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18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The Pareto Gradient</a:t>
              </a:r>
              <a:endParaRPr sz="1018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833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Transition zone governed by power-law exponent </a:t>
              </a:r>
              <a:r>
                <a:rPr lang="en-US" sz="833" b="1">
                  <a:solidFill>
                    <a:srgbClr val="1A365D"/>
                  </a:solidFill>
                  <a:latin typeface="Inter"/>
                  <a:ea typeface="Inter"/>
                  <a:cs typeface="Inter"/>
                  <a:sym typeface="Inter"/>
                </a:rPr>
                <a:t>n=1.1</a:t>
              </a:r>
              <a:r>
                <a:rPr lang="en-US" sz="833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, shifting shear stresses away from the surface.</a:t>
              </a:r>
              <a:endParaRPr sz="833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6" name="Google Shape;176;p4"/>
            <p:cNvSpPr/>
            <p:nvPr/>
          </p:nvSpPr>
          <p:spPr>
            <a:xfrm>
              <a:off x="428625" y="2905125"/>
              <a:ext cx="3333900" cy="666900"/>
            </a:xfrm>
            <a:prstGeom prst="roundRect">
              <a:avLst>
                <a:gd name="adj" fmla="val 5714"/>
              </a:avLst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4"/>
            <p:cNvSpPr txBox="1"/>
            <p:nvPr/>
          </p:nvSpPr>
          <p:spPr>
            <a:xfrm>
              <a:off x="571500" y="3000375"/>
              <a:ext cx="3048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18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Transpiration Porosity Network</a:t>
              </a:r>
              <a:endParaRPr sz="1018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833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Integrated micro-pores programmed via selective laser sintering, allowing cooling air to weep uniformly.</a:t>
              </a:r>
              <a:endParaRPr sz="833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8" name="Google Shape;178;p4"/>
            <p:cNvSpPr/>
            <p:nvPr/>
          </p:nvSpPr>
          <p:spPr>
            <a:xfrm>
              <a:off x="428625" y="3667125"/>
              <a:ext cx="3333900" cy="809700"/>
            </a:xfrm>
            <a:prstGeom prst="roundRect">
              <a:avLst>
                <a:gd name="adj" fmla="val 4705"/>
              </a:avLst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4"/>
            <p:cNvSpPr txBox="1"/>
            <p:nvPr/>
          </p:nvSpPr>
          <p:spPr>
            <a:xfrm>
              <a:off x="571500" y="3762375"/>
              <a:ext cx="3048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Hardware-Agnostic Output</a:t>
              </a:r>
              <a:endParaRPr sz="1100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9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Direct export of 11-layer data ledger  to drive multi-hopper LENS printers.</a:t>
              </a:r>
              <a:endParaRPr sz="9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0" name="Google Shape;180;p4"/>
          <p:cNvGrpSpPr/>
          <p:nvPr/>
        </p:nvGrpSpPr>
        <p:grpSpPr>
          <a:xfrm>
            <a:off x="4106000" y="717063"/>
            <a:ext cx="4857900" cy="3572119"/>
            <a:chOff x="4000500" y="333375"/>
            <a:chExt cx="4857900" cy="4476900"/>
          </a:xfrm>
        </p:grpSpPr>
        <p:sp>
          <p:nvSpPr>
            <p:cNvPr id="181" name="Google Shape;181;p4"/>
            <p:cNvSpPr/>
            <p:nvPr/>
          </p:nvSpPr>
          <p:spPr>
            <a:xfrm>
              <a:off x="4000500" y="333375"/>
              <a:ext cx="4857900" cy="4476900"/>
            </a:xfrm>
            <a:prstGeom prst="roundRect">
              <a:avLst>
                <a:gd name="adj" fmla="val 1702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2" name="Google Shape;182;p4"/>
            <p:cNvGrpSpPr/>
            <p:nvPr/>
          </p:nvGrpSpPr>
          <p:grpSpPr>
            <a:xfrm>
              <a:off x="4000500" y="333375"/>
              <a:ext cx="4857600" cy="381000"/>
              <a:chOff x="4000500" y="333375"/>
              <a:chExt cx="4857600" cy="381000"/>
            </a:xfrm>
          </p:grpSpPr>
          <p:pic>
            <p:nvPicPr>
              <p:cNvPr id="183" name="Google Shape;183;p4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4000500" y="333375"/>
                <a:ext cx="476400" cy="381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4" name="Google Shape;184;p4"/>
              <p:cNvSpPr/>
              <p:nvPr/>
            </p:nvSpPr>
            <p:spPr>
              <a:xfrm>
                <a:off x="4476750" y="333375"/>
                <a:ext cx="762000" cy="381000"/>
              </a:xfrm>
              <a:prstGeom prst="rect">
                <a:avLst/>
              </a:prstGeom>
              <a:solidFill>
                <a:srgbClr val="1A36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4"/>
              <p:cNvSpPr/>
              <p:nvPr/>
            </p:nvSpPr>
            <p:spPr>
              <a:xfrm>
                <a:off x="5238750" y="333375"/>
                <a:ext cx="762000" cy="381000"/>
              </a:xfrm>
              <a:prstGeom prst="rect">
                <a:avLst/>
              </a:prstGeom>
              <a:solidFill>
                <a:srgbClr val="1A36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4"/>
              <p:cNvSpPr/>
              <p:nvPr/>
            </p:nvSpPr>
            <p:spPr>
              <a:xfrm>
                <a:off x="6000750" y="333375"/>
                <a:ext cx="857400" cy="381000"/>
              </a:xfrm>
              <a:prstGeom prst="rect">
                <a:avLst/>
              </a:prstGeom>
              <a:solidFill>
                <a:srgbClr val="1A36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87" name="Google Shape;187;p4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6858000" y="333375"/>
                <a:ext cx="2000100" cy="381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8" name="Google Shape;188;p4"/>
              <p:cNvSpPr txBox="1"/>
              <p:nvPr/>
            </p:nvSpPr>
            <p:spPr>
              <a:xfrm>
                <a:off x="4000500" y="333375"/>
                <a:ext cx="476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FFFFFF"/>
                    </a:solidFill>
                    <a:latin typeface="Space Grotesk SemiBold"/>
                    <a:ea typeface="Space Grotesk SemiBold"/>
                    <a:cs typeface="Space Grotesk SemiBold"/>
                    <a:sym typeface="Space Grotesk SemiBold"/>
                  </a:rPr>
                  <a:t>Layer</a:t>
                </a:r>
                <a:endParaRPr sz="800" b="0">
                  <a:solidFill>
                    <a:srgbClr val="FFFFFF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endParaRPr>
              </a:p>
            </p:txBody>
          </p:sp>
          <p:sp>
            <p:nvSpPr>
              <p:cNvPr id="189" name="Google Shape;189;p4"/>
              <p:cNvSpPr txBox="1"/>
              <p:nvPr/>
            </p:nvSpPr>
            <p:spPr>
              <a:xfrm>
                <a:off x="4476750" y="333375"/>
                <a:ext cx="762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FFFFFF"/>
                    </a:solidFill>
                    <a:latin typeface="Space Grotesk SemiBold"/>
                    <a:ea typeface="Space Grotesk SemiBold"/>
                    <a:cs typeface="Space Grotesk SemiBold"/>
                    <a:sym typeface="Space Grotesk SemiBold"/>
                  </a:rPr>
                  <a:t>Depth (mm)</a:t>
                </a:r>
                <a:endParaRPr sz="800" b="0">
                  <a:solidFill>
                    <a:srgbClr val="FFFFFF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endParaRPr>
              </a:p>
            </p:txBody>
          </p:sp>
          <p:sp>
            <p:nvSpPr>
              <p:cNvPr id="190" name="Google Shape;190;p4"/>
              <p:cNvSpPr txBox="1"/>
              <p:nvPr/>
            </p:nvSpPr>
            <p:spPr>
              <a:xfrm>
                <a:off x="5238750" y="333375"/>
                <a:ext cx="762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FFFFFF"/>
                    </a:solidFill>
                    <a:latin typeface="Space Grotesk SemiBold"/>
                    <a:ea typeface="Space Grotesk SemiBold"/>
                    <a:cs typeface="Space Grotesk SemiBold"/>
                    <a:sym typeface="Space Grotesk SemiBold"/>
                  </a:rPr>
                  <a:t>Alloy Vol %</a:t>
                </a:r>
                <a:endParaRPr sz="800" b="0">
                  <a:solidFill>
                    <a:srgbClr val="FFFFFF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endParaRPr>
              </a:p>
            </p:txBody>
          </p:sp>
          <p:sp>
            <p:nvSpPr>
              <p:cNvPr id="191" name="Google Shape;191;p4"/>
              <p:cNvSpPr txBox="1"/>
              <p:nvPr/>
            </p:nvSpPr>
            <p:spPr>
              <a:xfrm>
                <a:off x="6000750" y="333375"/>
                <a:ext cx="857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FFFFFF"/>
                    </a:solidFill>
                    <a:latin typeface="Space Grotesk SemiBold"/>
                    <a:ea typeface="Space Grotesk SemiBold"/>
                    <a:cs typeface="Space Grotesk SemiBold"/>
                    <a:sym typeface="Space Grotesk SemiBold"/>
                  </a:rPr>
                  <a:t>Ceramic Vol %</a:t>
                </a:r>
                <a:endParaRPr sz="800" b="0">
                  <a:solidFill>
                    <a:srgbClr val="FFFFFF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endParaRPr>
              </a:p>
            </p:txBody>
          </p:sp>
          <p:sp>
            <p:nvSpPr>
              <p:cNvPr id="192" name="Google Shape;192;p4"/>
              <p:cNvSpPr txBox="1"/>
              <p:nvPr/>
            </p:nvSpPr>
            <p:spPr>
              <a:xfrm>
                <a:off x="6858000" y="333375"/>
                <a:ext cx="20001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FFFFFF"/>
                    </a:solidFill>
                    <a:latin typeface="Space Grotesk SemiBold"/>
                    <a:ea typeface="Space Grotesk SemiBold"/>
                    <a:cs typeface="Space Grotesk SemiBold"/>
                    <a:sym typeface="Space Grotesk SemiBold"/>
                  </a:rPr>
                  <a:t>Profile Description</a:t>
                </a:r>
                <a:endParaRPr sz="800" b="0">
                  <a:solidFill>
                    <a:srgbClr val="FFFFFF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endParaRPr>
              </a:p>
            </p:txBody>
          </p:sp>
        </p:grpSp>
        <p:grpSp>
          <p:nvGrpSpPr>
            <p:cNvPr id="193" name="Google Shape;193;p4"/>
            <p:cNvGrpSpPr/>
            <p:nvPr/>
          </p:nvGrpSpPr>
          <p:grpSpPr>
            <a:xfrm>
              <a:off x="4000500" y="714375"/>
              <a:ext cx="4857900" cy="3214838"/>
              <a:chOff x="4000500" y="714375"/>
              <a:chExt cx="4857900" cy="3214838"/>
            </a:xfrm>
          </p:grpSpPr>
          <p:sp>
            <p:nvSpPr>
              <p:cNvPr id="194" name="Google Shape;194;p4"/>
              <p:cNvSpPr/>
              <p:nvPr/>
            </p:nvSpPr>
            <p:spPr>
              <a:xfrm>
                <a:off x="4000500" y="714375"/>
                <a:ext cx="4857900" cy="285900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4"/>
              <p:cNvSpPr txBox="1"/>
              <p:nvPr/>
            </p:nvSpPr>
            <p:spPr>
              <a:xfrm>
                <a:off x="4000500" y="71437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1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6" name="Google Shape;196;p4"/>
              <p:cNvSpPr txBox="1"/>
              <p:nvPr/>
            </p:nvSpPr>
            <p:spPr>
              <a:xfrm>
                <a:off x="4476750" y="71437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0.00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7" name="Google Shape;197;p4"/>
              <p:cNvSpPr txBox="1"/>
              <p:nvPr/>
            </p:nvSpPr>
            <p:spPr>
              <a:xfrm>
                <a:off x="5238750" y="71437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100.0%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8" name="Google Shape;198;p4"/>
              <p:cNvSpPr txBox="1"/>
              <p:nvPr/>
            </p:nvSpPr>
            <p:spPr>
              <a:xfrm>
                <a:off x="6000750" y="714375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0.0%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9" name="Google Shape;199;p4"/>
              <p:cNvSpPr txBox="1"/>
              <p:nvPr/>
            </p:nvSpPr>
            <p:spPr>
              <a:xfrm>
                <a:off x="6858000" y="71437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Pure Refractory HEA Base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0" name="Google Shape;200;p4"/>
              <p:cNvSpPr/>
              <p:nvPr/>
            </p:nvSpPr>
            <p:spPr>
              <a:xfrm>
                <a:off x="4000500" y="1000125"/>
                <a:ext cx="4857900" cy="285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4"/>
              <p:cNvSpPr txBox="1"/>
              <p:nvPr/>
            </p:nvSpPr>
            <p:spPr>
              <a:xfrm>
                <a:off x="4000500" y="100012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2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2" name="Google Shape;202;p4"/>
              <p:cNvSpPr txBox="1"/>
              <p:nvPr/>
            </p:nvSpPr>
            <p:spPr>
              <a:xfrm>
                <a:off x="4476750" y="100012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0.50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3" name="Google Shape;203;p4"/>
              <p:cNvSpPr txBox="1"/>
              <p:nvPr/>
            </p:nvSpPr>
            <p:spPr>
              <a:xfrm>
                <a:off x="5238750" y="100012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4" name="Google Shape;204;p4"/>
              <p:cNvSpPr txBox="1"/>
              <p:nvPr/>
            </p:nvSpPr>
            <p:spPr>
              <a:xfrm>
                <a:off x="6000750" y="1061113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5" name="Google Shape;205;p4"/>
              <p:cNvSpPr txBox="1"/>
              <p:nvPr/>
            </p:nvSpPr>
            <p:spPr>
              <a:xfrm>
                <a:off x="6858000" y="100012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Graded Matrix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6" name="Google Shape;206;p4"/>
              <p:cNvSpPr/>
              <p:nvPr/>
            </p:nvSpPr>
            <p:spPr>
              <a:xfrm>
                <a:off x="4000500" y="1285875"/>
                <a:ext cx="4857900" cy="285900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4"/>
              <p:cNvSpPr txBox="1"/>
              <p:nvPr/>
            </p:nvSpPr>
            <p:spPr>
              <a:xfrm>
                <a:off x="4000500" y="128587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3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8" name="Google Shape;208;p4"/>
              <p:cNvSpPr txBox="1"/>
              <p:nvPr/>
            </p:nvSpPr>
            <p:spPr>
              <a:xfrm>
                <a:off x="4476750" y="128587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1.00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9" name="Google Shape;209;p4"/>
              <p:cNvSpPr txBox="1"/>
              <p:nvPr/>
            </p:nvSpPr>
            <p:spPr>
              <a:xfrm>
                <a:off x="5238750" y="1285797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0" name="Google Shape;210;p4"/>
              <p:cNvSpPr txBox="1"/>
              <p:nvPr/>
            </p:nvSpPr>
            <p:spPr>
              <a:xfrm>
                <a:off x="6000750" y="1305379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1" name="Google Shape;211;p4"/>
              <p:cNvSpPr txBox="1"/>
              <p:nvPr/>
            </p:nvSpPr>
            <p:spPr>
              <a:xfrm>
                <a:off x="6858000" y="128587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Graded Matrix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2" name="Google Shape;212;p4"/>
              <p:cNvSpPr/>
              <p:nvPr/>
            </p:nvSpPr>
            <p:spPr>
              <a:xfrm>
                <a:off x="4000500" y="1571625"/>
                <a:ext cx="4857900" cy="285900"/>
              </a:xfrm>
              <a:prstGeom prst="rect">
                <a:avLst/>
              </a:prstGeom>
              <a:solidFill>
                <a:srgbClr val="ECFE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4"/>
              <p:cNvSpPr txBox="1"/>
              <p:nvPr/>
            </p:nvSpPr>
            <p:spPr>
              <a:xfrm>
                <a:off x="4000500" y="157162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4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14" name="Google Shape;214;p4"/>
              <p:cNvSpPr txBox="1"/>
              <p:nvPr/>
            </p:nvSpPr>
            <p:spPr>
              <a:xfrm>
                <a:off x="4476750" y="157162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1.50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15" name="Google Shape;215;p4"/>
              <p:cNvSpPr txBox="1"/>
              <p:nvPr/>
            </p:nvSpPr>
            <p:spPr>
              <a:xfrm>
                <a:off x="5238750" y="1649642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16" name="Google Shape;216;p4"/>
              <p:cNvSpPr txBox="1"/>
              <p:nvPr/>
            </p:nvSpPr>
            <p:spPr>
              <a:xfrm>
                <a:off x="6000750" y="1610634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17" name="Google Shape;217;p4"/>
              <p:cNvSpPr txBox="1"/>
              <p:nvPr/>
            </p:nvSpPr>
            <p:spPr>
              <a:xfrm>
                <a:off x="6858000" y="157162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Micro-Porosity Zone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18" name="Google Shape;218;p4"/>
              <p:cNvSpPr/>
              <p:nvPr/>
            </p:nvSpPr>
            <p:spPr>
              <a:xfrm>
                <a:off x="4000500" y="1857375"/>
                <a:ext cx="4857900" cy="285900"/>
              </a:xfrm>
              <a:prstGeom prst="rect">
                <a:avLst/>
              </a:prstGeom>
              <a:solidFill>
                <a:srgbClr val="ECFE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4"/>
              <p:cNvSpPr txBox="1"/>
              <p:nvPr/>
            </p:nvSpPr>
            <p:spPr>
              <a:xfrm>
                <a:off x="4000500" y="185737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5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0" name="Google Shape;220;p4"/>
              <p:cNvSpPr txBox="1"/>
              <p:nvPr/>
            </p:nvSpPr>
            <p:spPr>
              <a:xfrm>
                <a:off x="4476750" y="185737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2.00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1" name="Google Shape;221;p4"/>
              <p:cNvSpPr txBox="1"/>
              <p:nvPr/>
            </p:nvSpPr>
            <p:spPr>
              <a:xfrm>
                <a:off x="5238750" y="1935392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2" name="Google Shape;222;p4"/>
              <p:cNvSpPr txBox="1"/>
              <p:nvPr/>
            </p:nvSpPr>
            <p:spPr>
              <a:xfrm>
                <a:off x="6000750" y="1894723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3" name="Google Shape;223;p4"/>
              <p:cNvSpPr txBox="1"/>
              <p:nvPr/>
            </p:nvSpPr>
            <p:spPr>
              <a:xfrm>
                <a:off x="6858000" y="185737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Micro-Porosity Zone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4" name="Google Shape;224;p4"/>
              <p:cNvSpPr/>
              <p:nvPr/>
            </p:nvSpPr>
            <p:spPr>
              <a:xfrm>
                <a:off x="4000500" y="2143125"/>
                <a:ext cx="4857900" cy="285900"/>
              </a:xfrm>
              <a:prstGeom prst="rect">
                <a:avLst/>
              </a:prstGeom>
              <a:solidFill>
                <a:srgbClr val="ECFE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4"/>
              <p:cNvSpPr txBox="1"/>
              <p:nvPr/>
            </p:nvSpPr>
            <p:spPr>
              <a:xfrm>
                <a:off x="4000500" y="214312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6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6" name="Google Shape;226;p4"/>
              <p:cNvSpPr txBox="1"/>
              <p:nvPr/>
            </p:nvSpPr>
            <p:spPr>
              <a:xfrm>
                <a:off x="4476750" y="214312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2.50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7" name="Google Shape;227;p4"/>
              <p:cNvSpPr txBox="1"/>
              <p:nvPr/>
            </p:nvSpPr>
            <p:spPr>
              <a:xfrm>
                <a:off x="5238750" y="2214563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8" name="Google Shape;228;p4"/>
              <p:cNvSpPr txBox="1"/>
              <p:nvPr/>
            </p:nvSpPr>
            <p:spPr>
              <a:xfrm>
                <a:off x="6000750" y="2217852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9" name="Google Shape;229;p4"/>
              <p:cNvSpPr txBox="1"/>
              <p:nvPr/>
            </p:nvSpPr>
            <p:spPr>
              <a:xfrm>
                <a:off x="6858000" y="214312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Micro-Porosity Zone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30" name="Google Shape;230;p4"/>
              <p:cNvSpPr/>
              <p:nvPr/>
            </p:nvSpPr>
            <p:spPr>
              <a:xfrm>
                <a:off x="4000500" y="2428875"/>
                <a:ext cx="4857900" cy="285900"/>
              </a:xfrm>
              <a:prstGeom prst="rect">
                <a:avLst/>
              </a:prstGeom>
              <a:solidFill>
                <a:srgbClr val="ECFE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4"/>
              <p:cNvSpPr txBox="1"/>
              <p:nvPr/>
            </p:nvSpPr>
            <p:spPr>
              <a:xfrm>
                <a:off x="4000500" y="242887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7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32" name="Google Shape;232;p4"/>
              <p:cNvSpPr txBox="1"/>
              <p:nvPr/>
            </p:nvSpPr>
            <p:spPr>
              <a:xfrm>
                <a:off x="4476750" y="242887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3.00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33" name="Google Shape;233;p4"/>
              <p:cNvSpPr txBox="1"/>
              <p:nvPr/>
            </p:nvSpPr>
            <p:spPr>
              <a:xfrm>
                <a:off x="5238750" y="2500250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34" name="Google Shape;234;p4"/>
              <p:cNvSpPr txBox="1"/>
              <p:nvPr/>
            </p:nvSpPr>
            <p:spPr>
              <a:xfrm>
                <a:off x="6000750" y="2503602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35" name="Google Shape;235;p4"/>
              <p:cNvSpPr txBox="1"/>
              <p:nvPr/>
            </p:nvSpPr>
            <p:spPr>
              <a:xfrm>
                <a:off x="6858000" y="242887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Micro-Porosity Zone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36" name="Google Shape;236;p4"/>
              <p:cNvSpPr/>
              <p:nvPr/>
            </p:nvSpPr>
            <p:spPr>
              <a:xfrm>
                <a:off x="4000500" y="2714625"/>
                <a:ext cx="4857900" cy="285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4"/>
              <p:cNvSpPr txBox="1"/>
              <p:nvPr/>
            </p:nvSpPr>
            <p:spPr>
              <a:xfrm>
                <a:off x="4000500" y="271462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8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8" name="Google Shape;238;p4"/>
              <p:cNvSpPr txBox="1"/>
              <p:nvPr/>
            </p:nvSpPr>
            <p:spPr>
              <a:xfrm>
                <a:off x="4476750" y="271462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3.50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9" name="Google Shape;239;p4"/>
              <p:cNvSpPr txBox="1"/>
              <p:nvPr/>
            </p:nvSpPr>
            <p:spPr>
              <a:xfrm>
                <a:off x="5238750" y="2786063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0" name="Google Shape;240;p4"/>
              <p:cNvSpPr txBox="1"/>
              <p:nvPr/>
            </p:nvSpPr>
            <p:spPr>
              <a:xfrm>
                <a:off x="6000750" y="2786063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1" name="Google Shape;241;p4"/>
              <p:cNvSpPr txBox="1"/>
              <p:nvPr/>
            </p:nvSpPr>
            <p:spPr>
              <a:xfrm>
                <a:off x="6858000" y="271462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Graded Matrix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2" name="Google Shape;242;p4"/>
              <p:cNvSpPr/>
              <p:nvPr/>
            </p:nvSpPr>
            <p:spPr>
              <a:xfrm>
                <a:off x="4000500" y="3000375"/>
                <a:ext cx="4857900" cy="285900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4"/>
              <p:cNvSpPr txBox="1"/>
              <p:nvPr/>
            </p:nvSpPr>
            <p:spPr>
              <a:xfrm>
                <a:off x="4000500" y="300037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9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4" name="Google Shape;244;p4"/>
              <p:cNvSpPr txBox="1"/>
              <p:nvPr/>
            </p:nvSpPr>
            <p:spPr>
              <a:xfrm>
                <a:off x="4476750" y="300037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4.00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5" name="Google Shape;245;p4"/>
              <p:cNvSpPr txBox="1"/>
              <p:nvPr/>
            </p:nvSpPr>
            <p:spPr>
              <a:xfrm>
                <a:off x="5238750" y="3071813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6" name="Google Shape;246;p4"/>
              <p:cNvSpPr txBox="1"/>
              <p:nvPr/>
            </p:nvSpPr>
            <p:spPr>
              <a:xfrm>
                <a:off x="6000750" y="3071781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7" name="Google Shape;247;p4"/>
              <p:cNvSpPr txBox="1"/>
              <p:nvPr/>
            </p:nvSpPr>
            <p:spPr>
              <a:xfrm>
                <a:off x="6858000" y="300037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Graded Matrix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8" name="Google Shape;248;p4"/>
              <p:cNvSpPr/>
              <p:nvPr/>
            </p:nvSpPr>
            <p:spPr>
              <a:xfrm>
                <a:off x="4000500" y="3286125"/>
                <a:ext cx="4857900" cy="285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4"/>
              <p:cNvSpPr txBox="1"/>
              <p:nvPr/>
            </p:nvSpPr>
            <p:spPr>
              <a:xfrm>
                <a:off x="4000500" y="328612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10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0" name="Google Shape;250;p4"/>
              <p:cNvSpPr txBox="1"/>
              <p:nvPr/>
            </p:nvSpPr>
            <p:spPr>
              <a:xfrm>
                <a:off x="4476750" y="328612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4.50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1" name="Google Shape;251;p4"/>
              <p:cNvSpPr txBox="1"/>
              <p:nvPr/>
            </p:nvSpPr>
            <p:spPr>
              <a:xfrm>
                <a:off x="5238750" y="3357563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2" name="Google Shape;252;p4"/>
              <p:cNvSpPr txBox="1"/>
              <p:nvPr/>
            </p:nvSpPr>
            <p:spPr>
              <a:xfrm>
                <a:off x="6000750" y="3357563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3" name="Google Shape;253;p4"/>
              <p:cNvSpPr txBox="1"/>
              <p:nvPr/>
            </p:nvSpPr>
            <p:spPr>
              <a:xfrm>
                <a:off x="6858000" y="328612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Graded Matrix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4" name="Google Shape;254;p4"/>
              <p:cNvSpPr/>
              <p:nvPr/>
            </p:nvSpPr>
            <p:spPr>
              <a:xfrm>
                <a:off x="4000500" y="3571875"/>
                <a:ext cx="4857900" cy="285900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4"/>
              <p:cNvSpPr txBox="1"/>
              <p:nvPr/>
            </p:nvSpPr>
            <p:spPr>
              <a:xfrm>
                <a:off x="4000500" y="357187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11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6" name="Google Shape;256;p4"/>
              <p:cNvSpPr txBox="1"/>
              <p:nvPr/>
            </p:nvSpPr>
            <p:spPr>
              <a:xfrm>
                <a:off x="4476750" y="357187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5.00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7" name="Google Shape;257;p4"/>
              <p:cNvSpPr txBox="1"/>
              <p:nvPr/>
            </p:nvSpPr>
            <p:spPr>
              <a:xfrm>
                <a:off x="5238750" y="3643313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0.00%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8" name="Google Shape;258;p4"/>
              <p:cNvSpPr txBox="1"/>
              <p:nvPr/>
            </p:nvSpPr>
            <p:spPr>
              <a:xfrm>
                <a:off x="6000750" y="3643313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100.0%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9" name="Google Shape;259;p4"/>
              <p:cNvSpPr txBox="1"/>
              <p:nvPr/>
            </p:nvSpPr>
            <p:spPr>
              <a:xfrm>
                <a:off x="6858000" y="357187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Pure Porous LZO Ceramic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260" name="Google Shape;260;p4"/>
            <p:cNvSpPr txBox="1"/>
            <p:nvPr/>
          </p:nvSpPr>
          <p:spPr>
            <a:xfrm>
              <a:off x="4000500" y="4572000"/>
              <a:ext cx="4857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			Optimized for 5.0 mm transition zone.</a:t>
              </a:r>
              <a:endParaRPr sz="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61" name="Google Shape;261;p4"/>
          <p:cNvGrpSpPr/>
          <p:nvPr/>
        </p:nvGrpSpPr>
        <p:grpSpPr>
          <a:xfrm>
            <a:off x="428625" y="4476825"/>
            <a:ext cx="8370825" cy="500400"/>
            <a:chOff x="428625" y="4476825"/>
            <a:chExt cx="8370825" cy="500400"/>
          </a:xfrm>
        </p:grpSpPr>
        <p:sp>
          <p:nvSpPr>
            <p:cNvPr id="262" name="Google Shape;262;p4"/>
            <p:cNvSpPr/>
            <p:nvPr/>
          </p:nvSpPr>
          <p:spPr>
            <a:xfrm>
              <a:off x="428625" y="4619625"/>
              <a:ext cx="3333900" cy="190500"/>
            </a:xfrm>
            <a:prstGeom prst="roundRect">
              <a:avLst>
                <a:gd name="adj" fmla="val 10000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4"/>
            <p:cNvSpPr txBox="1"/>
            <p:nvPr/>
          </p:nvSpPr>
          <p:spPr>
            <a:xfrm>
              <a:off x="476250" y="4476825"/>
              <a:ext cx="83232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1A365D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Elemental family details are fully provided (Ta-W-Cr-V-Ti-Zr-Hf-Al-Nb), but exact compositional ratios are proprietary to protect Crystal Paradigm IP; full composition disclosure is available for joint engineering teams during subsequent technical reviews under an NDA </a:t>
              </a:r>
              <a:endParaRPr sz="1100" b="0">
                <a:solidFill>
                  <a:srgbClr val="1A365D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264" name="Google Shape;264;p4"/>
          <p:cNvSpPr txBox="1"/>
          <p:nvPr/>
        </p:nvSpPr>
        <p:spPr>
          <a:xfrm>
            <a:off x="4657525" y="211250"/>
            <a:ext cx="46329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rPr>
              <a:t>          11-Layer Graded FGM Design Profile </a:t>
            </a:r>
            <a:endParaRPr b="1">
              <a:solidFill>
                <a:srgbClr val="1A365D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rPr>
              <a:t>(Proprietary Composition Ratios Masked Pending Formal NDA Review) </a:t>
            </a:r>
            <a:endParaRPr sz="1000" b="1">
              <a:solidFill>
                <a:srgbClr val="1A365D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6377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5"/>
          <p:cNvSpPr/>
          <p:nvPr/>
        </p:nvSpPr>
        <p:spPr>
          <a:xfrm>
            <a:off x="428625" y="428625"/>
            <a:ext cx="8715375" cy="43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50"/>
              <a:buFont typeface="Space Grotesk SemiBold"/>
              <a:buNone/>
            </a:pPr>
            <a:r>
              <a:rPr lang="en-US" sz="245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WHY WE WIN TECHNICALLY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5"/>
          <p:cNvSpPr/>
          <p:nvPr/>
        </p:nvSpPr>
        <p:spPr>
          <a:xfrm>
            <a:off x="428625" y="937617"/>
            <a:ext cx="8715375" cy="21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1200"/>
              <a:buFont typeface="Space Grotesk SemiBold"/>
              <a:buNone/>
            </a:pPr>
            <a:r>
              <a:rPr lang="en-US" sz="1200" b="0" i="0" u="none" strike="noStrike" cap="none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System-Level Innovation and Active Environmental Armor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5"/>
          <p:cNvSpPr/>
          <p:nvPr/>
        </p:nvSpPr>
        <p:spPr>
          <a:xfrm>
            <a:off x="600075" y="1369814"/>
            <a:ext cx="8115300" cy="411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Inter"/>
              <a:buNone/>
            </a:pPr>
            <a:r>
              <a:rPr lang="en-US" sz="9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Our platform executes a unified optimization run that solves for substrate chemistry, gradient shapes, and active transpiration mechanics concurrently, minimizing interface mismatch to just </a:t>
            </a:r>
            <a:r>
              <a:rPr lang="en-US" sz="900" b="0" i="0" u="none" strike="noStrike" cap="non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2.66 μm/mK</a:t>
            </a:r>
            <a:r>
              <a:rPr lang="en-US" sz="9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4" name="Google Shape;274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4363" y="2293813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5"/>
          <p:cNvSpPr/>
          <p:nvPr/>
        </p:nvSpPr>
        <p:spPr>
          <a:xfrm>
            <a:off x="892969" y="2288456"/>
            <a:ext cx="1248370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PHASE STABILITY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5"/>
          <p:cNvSpPr/>
          <p:nvPr/>
        </p:nvSpPr>
        <p:spPr>
          <a:xfrm>
            <a:off x="614363" y="2577778"/>
            <a:ext cx="3664744" cy="320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Audited VEC of </a:t>
            </a:r>
            <a:r>
              <a:rPr lang="en-US" sz="800" b="0" i="0" u="none" strike="noStrike" cap="non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5.02</a:t>
            </a: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ensures a stable single-phase BCC solid solution with zero sigma phase risk up to </a:t>
            </a:r>
            <a:r>
              <a:rPr lang="en-US" sz="8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its solidus limit of 2727^K</a:t>
            </a: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64894" y="2293813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5"/>
          <p:cNvSpPr/>
          <p:nvPr/>
        </p:nvSpPr>
        <p:spPr>
          <a:xfrm>
            <a:off x="5143500" y="2288456"/>
            <a:ext cx="1696641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OXIDATION RESISTANCE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5"/>
          <p:cNvSpPr/>
          <p:nvPr/>
        </p:nvSpPr>
        <p:spPr>
          <a:xfrm>
            <a:off x="4864894" y="2577778"/>
            <a:ext cx="3664744" cy="320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Self-healing Alumina armor limits high-temperature scale growth to </a:t>
            </a:r>
            <a:r>
              <a:rPr lang="en-US" sz="800" b="0" i="0" u="none" strike="noStrike" cap="non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&lt; 10 mg/cm²</a:t>
            </a: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(exceptional 7.5 mg/cm² achieved).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0" name="Google Shape;280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4363" y="3794001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5"/>
          <p:cNvSpPr/>
          <p:nvPr/>
        </p:nvSpPr>
        <p:spPr>
          <a:xfrm>
            <a:off x="892969" y="3788643"/>
            <a:ext cx="1852017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ADHESION PERFORMANCE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5"/>
          <p:cNvSpPr/>
          <p:nvPr/>
        </p:nvSpPr>
        <p:spPr>
          <a:xfrm>
            <a:off x="614363" y="4077965"/>
            <a:ext cx="3664744" cy="320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Power-law gradient curves (</a:t>
            </a:r>
            <a:r>
              <a:rPr lang="en-US" sz="800" b="0" i="0" u="none" strike="noStrike" cap="non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n=1.1</a:t>
            </a: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) minimize internal shear forces and prevent coating spallation at 1400°C.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p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64894" y="3794001"/>
            <a:ext cx="192881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5"/>
          <p:cNvSpPr/>
          <p:nvPr/>
        </p:nvSpPr>
        <p:spPr>
          <a:xfrm>
            <a:off x="5164931" y="3788643"/>
            <a:ext cx="1559123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MANUFACTURABILITY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5"/>
          <p:cNvSpPr/>
          <p:nvPr/>
        </p:nvSpPr>
        <p:spPr>
          <a:xfrm>
            <a:off x="4864894" y="4077965"/>
            <a:ext cx="3664744" cy="320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The universal </a:t>
            </a:r>
            <a:r>
              <a:rPr lang="en-US" sz="800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proprietary LENS  printing matrix</a:t>
            </a: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maps composition directly to commercial multi-hopper 3D printers.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6"/>
          <p:cNvSpPr/>
          <p:nvPr/>
        </p:nvSpPr>
        <p:spPr>
          <a:xfrm>
            <a:off x="428625" y="357188"/>
            <a:ext cx="8715375" cy="43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50"/>
              <a:buFont typeface="Space Grotesk SemiBold"/>
              <a:buNone/>
            </a:pPr>
            <a:r>
              <a:rPr lang="en-US" sz="245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WHAT IS PROVEN TODAY AND WHAT IS NOT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6"/>
          <p:cNvSpPr/>
          <p:nvPr/>
        </p:nvSpPr>
        <p:spPr>
          <a:xfrm>
            <a:off x="428625" y="866180"/>
            <a:ext cx="8715375" cy="21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1200"/>
              <a:buFont typeface="Space Grotesk SemiBold"/>
              <a:buNone/>
            </a:pPr>
            <a:r>
              <a:rPr lang="en-US" sz="1200" b="0" i="0" u="none" strike="noStrike" cap="none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High-Fidelity Verification Metrics and TRL Maturity Status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6"/>
          <p:cNvSpPr/>
          <p:nvPr/>
        </p:nvSpPr>
        <p:spPr>
          <a:xfrm>
            <a:off x="600075" y="1298377"/>
            <a:ext cx="3829050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High-Fidelity Models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6"/>
          <p:cNvSpPr/>
          <p:nvPr/>
        </p:nvSpPr>
        <p:spPr>
          <a:xfrm>
            <a:off x="600075" y="1516261"/>
            <a:ext cx="3829050" cy="480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In-memory properties surrogate model audited at </a:t>
            </a:r>
            <a:r>
              <a:rPr lang="en-US" sz="800" b="1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Test R^2 = 0.977</a:t>
            </a: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lang="en-US" sz="800" b="1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MAE = 8.11 GPa</a:t>
            </a: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. Verified via cloud-scaled 3D FEniCS FEA stress grids.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6"/>
          <p:cNvSpPr/>
          <p:nvPr/>
        </p:nvSpPr>
        <p:spPr>
          <a:xfrm>
            <a:off x="4886325" y="1298377"/>
            <a:ext cx="3829050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Ab Initio Phase Consistency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6"/>
          <p:cNvSpPr/>
          <p:nvPr/>
        </p:nvSpPr>
        <p:spPr>
          <a:xfrm>
            <a:off x="4886325" y="1516261"/>
            <a:ext cx="3829050" cy="480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CALPHAD sweeps and Gradient Boosting regressors (R^2 = 0.958) confirm stable </a:t>
            </a:r>
            <a:r>
              <a:rPr lang="en-US" sz="800" b="1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single-phase BCC matrix</a:t>
            </a: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across extreme thermal envelopes.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6"/>
          <p:cNvSpPr/>
          <p:nvPr/>
        </p:nvSpPr>
        <p:spPr>
          <a:xfrm>
            <a:off x="428625" y="2282037"/>
            <a:ext cx="1861170" cy="2982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6"/>
          <p:cNvSpPr/>
          <p:nvPr/>
        </p:nvSpPr>
        <p:spPr>
          <a:xfrm>
            <a:off x="428625" y="2282037"/>
            <a:ext cx="1861170" cy="298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Evaluation Vector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6"/>
          <p:cNvSpPr/>
          <p:nvPr/>
        </p:nvSpPr>
        <p:spPr>
          <a:xfrm>
            <a:off x="2289795" y="2282037"/>
            <a:ext cx="1677302" cy="2982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6"/>
          <p:cNvSpPr/>
          <p:nvPr/>
        </p:nvSpPr>
        <p:spPr>
          <a:xfrm>
            <a:off x="2289795" y="2282037"/>
            <a:ext cx="1677302" cy="298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Model / In Silico Status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6"/>
          <p:cNvSpPr/>
          <p:nvPr/>
        </p:nvSpPr>
        <p:spPr>
          <a:xfrm>
            <a:off x="3967097" y="2282037"/>
            <a:ext cx="1774915" cy="2982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6"/>
          <p:cNvSpPr/>
          <p:nvPr/>
        </p:nvSpPr>
        <p:spPr>
          <a:xfrm>
            <a:off x="3967097" y="2282037"/>
            <a:ext cx="1774915" cy="298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Experimental Lab Status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6"/>
          <p:cNvSpPr/>
          <p:nvPr/>
        </p:nvSpPr>
        <p:spPr>
          <a:xfrm>
            <a:off x="5742012" y="2282037"/>
            <a:ext cx="1849813" cy="2982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6"/>
          <p:cNvSpPr/>
          <p:nvPr/>
        </p:nvSpPr>
        <p:spPr>
          <a:xfrm>
            <a:off x="5742012" y="2282037"/>
            <a:ext cx="1849813" cy="298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Validation Target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6"/>
          <p:cNvSpPr/>
          <p:nvPr/>
        </p:nvSpPr>
        <p:spPr>
          <a:xfrm>
            <a:off x="7591825" y="2282037"/>
            <a:ext cx="1123550" cy="2982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6"/>
          <p:cNvSpPr/>
          <p:nvPr/>
        </p:nvSpPr>
        <p:spPr>
          <a:xfrm>
            <a:off x="7591825" y="2282037"/>
            <a:ext cx="1123550" cy="298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Status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6"/>
          <p:cNvSpPr/>
          <p:nvPr/>
        </p:nvSpPr>
        <p:spPr>
          <a:xfrm>
            <a:off x="428625" y="2580289"/>
            <a:ext cx="1861170" cy="351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BCC Phase Security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6"/>
          <p:cNvSpPr/>
          <p:nvPr/>
        </p:nvSpPr>
        <p:spPr>
          <a:xfrm>
            <a:off x="2289795" y="2580289"/>
            <a:ext cx="1677302" cy="351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Verified (CALPHAD)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6"/>
          <p:cNvSpPr/>
          <p:nvPr/>
        </p:nvSpPr>
        <p:spPr>
          <a:xfrm>
            <a:off x="3967097" y="2580289"/>
            <a:ext cx="1774915" cy="351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Pending Lab Sweep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6"/>
          <p:cNvSpPr/>
          <p:nvPr/>
        </p:nvSpPr>
        <p:spPr>
          <a:xfrm>
            <a:off x="5742012" y="2580289"/>
            <a:ext cx="1849813" cy="351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0% Brittle Sigma Phase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6"/>
          <p:cNvSpPr/>
          <p:nvPr/>
        </p:nvSpPr>
        <p:spPr>
          <a:xfrm>
            <a:off x="7698974" y="2666025"/>
            <a:ext cx="773100" cy="1767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6"/>
          <p:cNvSpPr/>
          <p:nvPr/>
        </p:nvSpPr>
        <p:spPr>
          <a:xfrm>
            <a:off x="7913294" y="2694589"/>
            <a:ext cx="287536" cy="105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600"/>
              <a:buFont typeface="Inter"/>
              <a:buNone/>
            </a:pPr>
            <a:r>
              <a:rPr lang="en-US" sz="600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6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GREEN</a:t>
            </a:r>
            <a:endParaRPr sz="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6"/>
          <p:cNvSpPr/>
          <p:nvPr/>
        </p:nvSpPr>
        <p:spPr>
          <a:xfrm>
            <a:off x="428625" y="2917831"/>
            <a:ext cx="1861170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Elastic Modulus Surface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6"/>
          <p:cNvSpPr/>
          <p:nvPr/>
        </p:nvSpPr>
        <p:spPr>
          <a:xfrm>
            <a:off x="2289795" y="2917831"/>
            <a:ext cx="1677302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Audited (R^2=0.977$)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6"/>
          <p:cNvSpPr/>
          <p:nvPr/>
        </p:nvSpPr>
        <p:spPr>
          <a:xfrm>
            <a:off x="3967097" y="2917831"/>
            <a:ext cx="1774915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Pending Coupon Tensile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6"/>
          <p:cNvSpPr/>
          <p:nvPr/>
        </p:nvSpPr>
        <p:spPr>
          <a:xfrm>
            <a:off x="5742012" y="2917831"/>
            <a:ext cx="1849813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MAE ≤ 8.11 GPa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6"/>
          <p:cNvSpPr/>
          <p:nvPr/>
        </p:nvSpPr>
        <p:spPr>
          <a:xfrm>
            <a:off x="7698973" y="3007125"/>
            <a:ext cx="773100" cy="1767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6"/>
          <p:cNvSpPr/>
          <p:nvPr/>
        </p:nvSpPr>
        <p:spPr>
          <a:xfrm>
            <a:off x="7913302" y="3035775"/>
            <a:ext cx="387600" cy="1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600"/>
              <a:buFont typeface="Inter"/>
              <a:buNone/>
            </a:pPr>
            <a:r>
              <a:rPr lang="en-US" sz="600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6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GREEN</a:t>
            </a:r>
            <a:endParaRPr sz="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6"/>
          <p:cNvSpPr/>
          <p:nvPr/>
        </p:nvSpPr>
        <p:spPr>
          <a:xfrm>
            <a:off x="428625" y="3258945"/>
            <a:ext cx="1861170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Oxidation Scale Kinetics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6"/>
          <p:cNvSpPr/>
          <p:nvPr/>
        </p:nvSpPr>
        <p:spPr>
          <a:xfrm>
            <a:off x="2289795" y="3258945"/>
            <a:ext cx="1677302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Verified (MACE MD)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6"/>
          <p:cNvSpPr/>
          <p:nvPr/>
        </p:nvSpPr>
        <p:spPr>
          <a:xfrm>
            <a:off x="3967097" y="3258945"/>
            <a:ext cx="1774915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Pending TGA Weight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6"/>
          <p:cNvSpPr/>
          <p:nvPr/>
        </p:nvSpPr>
        <p:spPr>
          <a:xfrm>
            <a:off x="5742012" y="3258945"/>
            <a:ext cx="1849813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Mass Gain &lt; 10 mg/cm²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6"/>
          <p:cNvSpPr/>
          <p:nvPr/>
        </p:nvSpPr>
        <p:spPr>
          <a:xfrm>
            <a:off x="7698973" y="3348250"/>
            <a:ext cx="773100" cy="1767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6"/>
          <p:cNvSpPr/>
          <p:nvPr/>
        </p:nvSpPr>
        <p:spPr>
          <a:xfrm>
            <a:off x="7913294" y="3376817"/>
            <a:ext cx="287536" cy="105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600"/>
              <a:buFont typeface="Inter"/>
              <a:buNone/>
            </a:pPr>
            <a:r>
              <a:rPr lang="en-US" sz="600" b="1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6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GREEN</a:t>
            </a:r>
            <a:endParaRPr sz="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6"/>
          <p:cNvSpPr/>
          <p:nvPr/>
        </p:nvSpPr>
        <p:spPr>
          <a:xfrm>
            <a:off x="428625" y="3600059"/>
            <a:ext cx="1861170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Interfacial Bond Safety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6"/>
          <p:cNvSpPr/>
          <p:nvPr/>
        </p:nvSpPr>
        <p:spPr>
          <a:xfrm>
            <a:off x="2289795" y="3600059"/>
            <a:ext cx="1677302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Verified (1D/3D FEA)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6"/>
          <p:cNvSpPr/>
          <p:nvPr/>
        </p:nvSpPr>
        <p:spPr>
          <a:xfrm>
            <a:off x="3967097" y="3600059"/>
            <a:ext cx="1774915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Pending Adhesion Test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6"/>
          <p:cNvSpPr/>
          <p:nvPr/>
        </p:nvSpPr>
        <p:spPr>
          <a:xfrm>
            <a:off x="5742012" y="3600059"/>
            <a:ext cx="1849813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Safety Factor ≥ 1.50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6"/>
          <p:cNvSpPr/>
          <p:nvPr/>
        </p:nvSpPr>
        <p:spPr>
          <a:xfrm>
            <a:off x="7699026" y="3689375"/>
            <a:ext cx="773100" cy="1767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6"/>
          <p:cNvSpPr/>
          <p:nvPr/>
        </p:nvSpPr>
        <p:spPr>
          <a:xfrm>
            <a:off x="7913294" y="3717931"/>
            <a:ext cx="287400" cy="1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600"/>
              <a:buFont typeface="Inter"/>
              <a:buNone/>
            </a:pPr>
            <a:r>
              <a:rPr lang="en-US" sz="600" b="1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6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GREEN </a:t>
            </a:r>
            <a:endParaRPr sz="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6"/>
          <p:cNvSpPr/>
          <p:nvPr/>
        </p:nvSpPr>
        <p:spPr>
          <a:xfrm>
            <a:off x="428625" y="3941173"/>
            <a:ext cx="1861170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Transpiration Film Stability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6"/>
          <p:cNvSpPr/>
          <p:nvPr/>
        </p:nvSpPr>
        <p:spPr>
          <a:xfrm>
            <a:off x="2289795" y="3941173"/>
            <a:ext cx="1677302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Modeled (CFD Jet Lift)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6"/>
          <p:cNvSpPr/>
          <p:nvPr/>
        </p:nvSpPr>
        <p:spPr>
          <a:xfrm>
            <a:off x="3967097" y="3941173"/>
            <a:ext cx="1774915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Pending Burner Rig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6"/>
          <p:cNvSpPr/>
          <p:nvPr/>
        </p:nvSpPr>
        <p:spPr>
          <a:xfrm>
            <a:off x="5742012" y="3941173"/>
            <a:ext cx="1849813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Zero Boundary Separation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6"/>
          <p:cNvSpPr/>
          <p:nvPr/>
        </p:nvSpPr>
        <p:spPr>
          <a:xfrm>
            <a:off x="428625" y="4282287"/>
            <a:ext cx="1865244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Physical Prototyping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6"/>
          <p:cNvSpPr/>
          <p:nvPr/>
        </p:nvSpPr>
        <p:spPr>
          <a:xfrm>
            <a:off x="2293869" y="4282287"/>
            <a:ext cx="1680986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Fully Formulated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6"/>
          <p:cNvSpPr/>
          <p:nvPr/>
        </p:nvSpPr>
        <p:spPr>
          <a:xfrm>
            <a:off x="3974855" y="4282287"/>
            <a:ext cx="1778794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Not Yet Tested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6"/>
          <p:cNvSpPr/>
          <p:nvPr/>
        </p:nvSpPr>
        <p:spPr>
          <a:xfrm>
            <a:off x="5753649" y="4282287"/>
            <a:ext cx="1853859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TRL 4 Coupon Assembly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6"/>
          <p:cNvSpPr txBox="1"/>
          <p:nvPr/>
        </p:nvSpPr>
        <p:spPr>
          <a:xfrm>
            <a:off x="6294025" y="4877000"/>
            <a:ext cx="773100" cy="1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6"/>
          <p:cNvSpPr txBox="1"/>
          <p:nvPr/>
        </p:nvSpPr>
        <p:spPr>
          <a:xfrm>
            <a:off x="7870275" y="4120300"/>
            <a:ext cx="601800" cy="2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6"/>
          <p:cNvSpPr/>
          <p:nvPr/>
        </p:nvSpPr>
        <p:spPr>
          <a:xfrm>
            <a:off x="7682025" y="4023388"/>
            <a:ext cx="807000" cy="182100"/>
          </a:xfrm>
          <a:prstGeom prst="rect">
            <a:avLst/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accent4"/>
                </a:solidFill>
              </a:rPr>
              <a:t>      </a:t>
            </a:r>
            <a:r>
              <a:rPr lang="en-US" sz="600" b="1">
                <a:solidFill>
                  <a:srgbClr val="F1C232"/>
                </a:solidFill>
              </a:rPr>
              <a:t>YELLOW</a:t>
            </a:r>
            <a:endParaRPr sz="600" b="1">
              <a:solidFill>
                <a:srgbClr val="F1C232"/>
              </a:solidFill>
            </a:endParaRPr>
          </a:p>
        </p:txBody>
      </p:sp>
      <p:sp>
        <p:nvSpPr>
          <p:cNvPr id="342" name="Google Shape;342;p6"/>
          <p:cNvSpPr/>
          <p:nvPr/>
        </p:nvSpPr>
        <p:spPr>
          <a:xfrm>
            <a:off x="7682075" y="4362825"/>
            <a:ext cx="807000" cy="176700"/>
          </a:xfrm>
          <a:prstGeom prst="rect">
            <a:avLst/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accent4"/>
                </a:solidFill>
              </a:rPr>
              <a:t>   </a:t>
            </a:r>
            <a:r>
              <a:rPr lang="en-US" sz="600" b="1">
                <a:solidFill>
                  <a:schemeClr val="accent4"/>
                </a:solidFill>
              </a:rPr>
              <a:t>NEXT PHASE</a:t>
            </a:r>
            <a:endParaRPr sz="600" b="1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199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7"/>
          <p:cNvSpPr/>
          <p:nvPr/>
        </p:nvSpPr>
        <p:spPr>
          <a:xfrm>
            <a:off x="428625" y="98925"/>
            <a:ext cx="8715300" cy="4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50"/>
              <a:buFont typeface="Space Grotesk SemiBold"/>
              <a:buNone/>
            </a:pPr>
            <a:r>
              <a:rPr lang="en-US" sz="245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VALIDATION PLAN TO TRL 4+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7"/>
          <p:cNvSpPr/>
          <p:nvPr/>
        </p:nvSpPr>
        <p:spPr>
          <a:xfrm>
            <a:off x="428588" y="554642"/>
            <a:ext cx="8715300" cy="217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1200"/>
              <a:buFont typeface="Space Grotesk SemiBold"/>
              <a:buNone/>
            </a:pPr>
            <a:r>
              <a:rPr lang="en-US" sz="1050" b="1" dirty="0">
                <a:solidFill>
                  <a:srgbClr val="2BDEFD"/>
                </a:solidFill>
                <a:highlight>
                  <a:srgbClr val="FFFFFF"/>
                </a:highlight>
              </a:rPr>
              <a:t>Accelerated Co-Validation Sprint</a:t>
            </a:r>
            <a:r>
              <a:rPr lang="en-US" sz="1100" dirty="0">
                <a:solidFill>
                  <a:srgbClr val="00FFFF"/>
                </a:solidFill>
              </a:rPr>
              <a:t> </a:t>
            </a:r>
            <a:r>
              <a:rPr lang="en-US" sz="1200" b="0" i="0" u="none" strike="noStrike" cap="none" dirty="0">
                <a:solidFill>
                  <a:srgbClr val="00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 </a:t>
            </a:r>
            <a:r>
              <a:rPr lang="en-US" sz="1200" b="0" i="0" u="none" strike="noStrike" cap="none" dirty="0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&amp; Milestone Framework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7"/>
          <p:cNvSpPr/>
          <p:nvPr/>
        </p:nvSpPr>
        <p:spPr>
          <a:xfrm>
            <a:off x="578644" y="1341239"/>
            <a:ext cx="589359" cy="198239"/>
          </a:xfrm>
          <a:prstGeom prst="rect">
            <a:avLst/>
          </a:prstGeom>
          <a:solidFill>
            <a:srgbClr val="2BD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7"/>
          <p:cNvSpPr/>
          <p:nvPr/>
        </p:nvSpPr>
        <p:spPr>
          <a:xfrm>
            <a:off x="578644" y="1341239"/>
            <a:ext cx="589359" cy="198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42525" rIns="127500" bIns="425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PHASE 1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7"/>
          <p:cNvSpPr/>
          <p:nvPr/>
        </p:nvSpPr>
        <p:spPr>
          <a:xfrm>
            <a:off x="578644" y="1803797"/>
            <a:ext cx="2366953" cy="154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1" i="0" u="none" strike="noStrike" cap="none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rPr>
              <a:t>Multi-Physics Structural Audits</a:t>
            </a:r>
            <a:endParaRPr sz="9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7"/>
          <p:cNvSpPr/>
          <p:nvPr/>
        </p:nvSpPr>
        <p:spPr>
          <a:xfrm>
            <a:off x="578650" y="2065250"/>
            <a:ext cx="2367000" cy="15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10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Final certification of ALREADY ACHIEVED structural Safety Factor of 1.71 via 3D FEniCS FEA and MACE Molecular Dynamics on High-end  cloud supercomputing. Extending validation to 20,000+ thermal cycles.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7"/>
          <p:cNvSpPr/>
          <p:nvPr/>
        </p:nvSpPr>
        <p:spPr>
          <a:xfrm>
            <a:off x="3388509" y="1341239"/>
            <a:ext cx="603647" cy="198239"/>
          </a:xfrm>
          <a:prstGeom prst="rect">
            <a:avLst/>
          </a:prstGeom>
          <a:solidFill>
            <a:srgbClr val="2BD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7"/>
          <p:cNvSpPr/>
          <p:nvPr/>
        </p:nvSpPr>
        <p:spPr>
          <a:xfrm>
            <a:off x="3388509" y="1341239"/>
            <a:ext cx="603647" cy="198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42525" rIns="127500" bIns="425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PHASE 2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7"/>
          <p:cNvSpPr/>
          <p:nvPr/>
        </p:nvSpPr>
        <p:spPr>
          <a:xfrm>
            <a:off x="3388509" y="1803797"/>
            <a:ext cx="2366953" cy="308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1" i="0" u="none" strike="noStrike" cap="none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rPr>
              <a:t>Additive Prototyping &amp; Porosity Programming</a:t>
            </a:r>
            <a:endParaRPr sz="9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7"/>
          <p:cNvSpPr/>
          <p:nvPr/>
        </p:nvSpPr>
        <p:spPr>
          <a:xfrm>
            <a:off x="3388500" y="2219519"/>
            <a:ext cx="2367000" cy="13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10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Feeding the universal reference matrix into a dual-line </a:t>
            </a:r>
            <a:r>
              <a:rPr lang="en-US" sz="1000" b="1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multi-hopper LENS system</a:t>
            </a:r>
            <a:r>
              <a:rPr lang="en-US" sz="10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. Optimizing laser power and powder flow to program the integrated transpiration micro-pores.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7"/>
          <p:cNvSpPr/>
          <p:nvPr/>
        </p:nvSpPr>
        <p:spPr>
          <a:xfrm>
            <a:off x="6198375" y="1341239"/>
            <a:ext cx="605433" cy="198239"/>
          </a:xfrm>
          <a:prstGeom prst="rect">
            <a:avLst/>
          </a:prstGeom>
          <a:solidFill>
            <a:srgbClr val="2BD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7"/>
          <p:cNvSpPr/>
          <p:nvPr/>
        </p:nvSpPr>
        <p:spPr>
          <a:xfrm>
            <a:off x="6198375" y="1341239"/>
            <a:ext cx="605433" cy="198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42525" rIns="127500" bIns="425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PHASE 3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7"/>
          <p:cNvSpPr/>
          <p:nvPr/>
        </p:nvSpPr>
        <p:spPr>
          <a:xfrm>
            <a:off x="6198375" y="1803797"/>
            <a:ext cx="2366953" cy="154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1" i="0" u="none" strike="noStrike" cap="none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rPr>
              <a:t>High-Temperature Characterization</a:t>
            </a:r>
            <a:endParaRPr sz="9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7"/>
          <p:cNvSpPr/>
          <p:nvPr/>
        </p:nvSpPr>
        <p:spPr>
          <a:xfrm>
            <a:off x="6198375" y="2065262"/>
            <a:ext cx="2367000" cy="13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10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Exposure of fabricated coupons to 1,000 continuous thermal shock cycles inside an automated </a:t>
            </a:r>
            <a:r>
              <a:rPr lang="en-US" sz="1000" b="1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Jet Burner Rig</a:t>
            </a:r>
            <a:r>
              <a:rPr lang="en-US" sz="10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at a real gas temperature of 1400°C (1673 K).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7"/>
          <p:cNvSpPr/>
          <p:nvPr/>
        </p:nvSpPr>
        <p:spPr>
          <a:xfrm>
            <a:off x="428625" y="4013002"/>
            <a:ext cx="8286750" cy="55364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7"/>
          <p:cNvSpPr/>
          <p:nvPr/>
        </p:nvSpPr>
        <p:spPr>
          <a:xfrm>
            <a:off x="428625" y="4013002"/>
            <a:ext cx="28575" cy="553641"/>
          </a:xfrm>
          <a:prstGeom prst="rect">
            <a:avLst/>
          </a:prstGeom>
          <a:solidFill>
            <a:srgbClr val="2BD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7"/>
          <p:cNvSpPr/>
          <p:nvPr/>
        </p:nvSpPr>
        <p:spPr>
          <a:xfrm>
            <a:off x="571500" y="4013002"/>
            <a:ext cx="8143875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0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Go/No-Go Gatekeeping Criteria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7"/>
          <p:cNvSpPr/>
          <p:nvPr/>
        </p:nvSpPr>
        <p:spPr>
          <a:xfrm>
            <a:off x="571500" y="4266605"/>
            <a:ext cx="8143875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Microstructural characterization via </a:t>
            </a:r>
            <a:r>
              <a:rPr lang="en-US" sz="750" b="1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SEM/EDS</a:t>
            </a:r>
            <a:r>
              <a:rPr lang="en-US" sz="80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must confirm clear layer-wise compositional layout and verify the complete absence of processing voids or macro-cracking before advancing to full turbine blade geometries.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7"/>
          <p:cNvSpPr txBox="1"/>
          <p:nvPr/>
        </p:nvSpPr>
        <p:spPr>
          <a:xfrm>
            <a:off x="525898" y="954850"/>
            <a:ext cx="49326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Inter"/>
                <a:ea typeface="Inter"/>
                <a:cs typeface="Inter"/>
                <a:sym typeface="Inter"/>
              </a:rPr>
              <a:t>Note :- Timeline to be mutually agreed .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8"/>
          <p:cNvSpPr/>
          <p:nvPr/>
        </p:nvSpPr>
        <p:spPr>
          <a:xfrm>
            <a:off x="428625" y="428625"/>
            <a:ext cx="8715375" cy="43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50"/>
              <a:buFont typeface="Space Grotesk SemiBold"/>
              <a:buNone/>
            </a:pPr>
            <a:r>
              <a:rPr lang="en-US" sz="245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INTEGRATION PATH WITH SAFRAN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8"/>
          <p:cNvSpPr/>
          <p:nvPr/>
        </p:nvSpPr>
        <p:spPr>
          <a:xfrm>
            <a:off x="428625" y="937617"/>
            <a:ext cx="8715375" cy="21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1200"/>
              <a:buFont typeface="Space Grotesk SemiBold"/>
              <a:buNone/>
            </a:pPr>
            <a:r>
              <a:rPr lang="en-US" sz="1200" b="0" i="0" u="none" strike="noStrike" cap="none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From In Silico Design to Joint Flight Certification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8"/>
          <p:cNvSpPr/>
          <p:nvPr/>
        </p:nvSpPr>
        <p:spPr>
          <a:xfrm>
            <a:off x="428625" y="1441252"/>
            <a:ext cx="1571625" cy="5715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8"/>
          <p:cNvSpPr/>
          <p:nvPr/>
        </p:nvSpPr>
        <p:spPr>
          <a:xfrm>
            <a:off x="548283" y="1663601"/>
            <a:ext cx="1332309" cy="126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IN SILICO DESIGN SCREENING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8"/>
          <p:cNvSpPr/>
          <p:nvPr/>
        </p:nvSpPr>
        <p:spPr>
          <a:xfrm>
            <a:off x="2107406" y="1441252"/>
            <a:ext cx="1571625" cy="5715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8"/>
          <p:cNvSpPr/>
          <p:nvPr/>
        </p:nvSpPr>
        <p:spPr>
          <a:xfrm>
            <a:off x="2197596" y="1663601"/>
            <a:ext cx="1391245" cy="126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LENS FGM WITNESS COUPONS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8"/>
          <p:cNvSpPr/>
          <p:nvPr/>
        </p:nvSpPr>
        <p:spPr>
          <a:xfrm>
            <a:off x="3786188" y="1441252"/>
            <a:ext cx="1571625" cy="5715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8"/>
          <p:cNvSpPr/>
          <p:nvPr/>
        </p:nvSpPr>
        <p:spPr>
          <a:xfrm>
            <a:off x="3857625" y="1600200"/>
            <a:ext cx="1428750" cy="253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JET BURNER RIG SHOCK VALIDATION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8"/>
          <p:cNvSpPr/>
          <p:nvPr/>
        </p:nvSpPr>
        <p:spPr>
          <a:xfrm>
            <a:off x="5464969" y="1441252"/>
            <a:ext cx="1571625" cy="5715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8"/>
          <p:cNvSpPr/>
          <p:nvPr/>
        </p:nvSpPr>
        <p:spPr>
          <a:xfrm>
            <a:off x="5536406" y="1600200"/>
            <a:ext cx="1428750" cy="253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SUBSCALE BLADE COMPONENTS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8"/>
          <p:cNvSpPr/>
          <p:nvPr/>
        </p:nvSpPr>
        <p:spPr>
          <a:xfrm>
            <a:off x="7143750" y="1441252"/>
            <a:ext cx="1571625" cy="571500"/>
          </a:xfrm>
          <a:prstGeom prst="rect">
            <a:avLst/>
          </a:prstGeom>
          <a:solidFill>
            <a:srgbClr val="2BD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8"/>
          <p:cNvSpPr/>
          <p:nvPr/>
        </p:nvSpPr>
        <p:spPr>
          <a:xfrm>
            <a:off x="7143750" y="1441252"/>
            <a:ext cx="15716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075" tIns="85075" rIns="85075" bIns="850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JOINT SAFRAN FLIGHT CERTIFICATION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8"/>
          <p:cNvSpPr/>
          <p:nvPr/>
        </p:nvSpPr>
        <p:spPr>
          <a:xfrm>
            <a:off x="600075" y="2369939"/>
            <a:ext cx="3829050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Witness Coupon Baseline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8"/>
          <p:cNvSpPr/>
          <p:nvPr/>
        </p:nvSpPr>
        <p:spPr>
          <a:xfrm>
            <a:off x="600075" y="2609255"/>
            <a:ext cx="38290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Fabricate flat, graded FGM witness coupons using our hardware-agnostic composition standard, providing a cost-effective platform for initial evaluation.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8"/>
          <p:cNvSpPr/>
          <p:nvPr/>
        </p:nvSpPr>
        <p:spPr>
          <a:xfrm>
            <a:off x="4886325" y="2369939"/>
            <a:ext cx="3829050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Comparative Performance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8"/>
          <p:cNvSpPr/>
          <p:nvPr/>
        </p:nvSpPr>
        <p:spPr>
          <a:xfrm>
            <a:off x="4886325" y="2609255"/>
            <a:ext cx="38290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Subject our transpiration-cooled HEA coupons to concurrent testing alongside Safran’s current single-crystal Nickel superalloys to measure structural gains.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8"/>
          <p:cNvSpPr/>
          <p:nvPr/>
        </p:nvSpPr>
        <p:spPr>
          <a:xfrm>
            <a:off x="600075" y="3409355"/>
            <a:ext cx="3829050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Adaptive Learning Loops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8"/>
          <p:cNvSpPr/>
          <p:nvPr/>
        </p:nvSpPr>
        <p:spPr>
          <a:xfrm>
            <a:off x="600075" y="3648670"/>
            <a:ext cx="38290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Real-world discrepancies provide data to retrain surrogate models, close the digital twin gap, and calibrate multi-hopper additive manufacturing parameters.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8"/>
          <p:cNvSpPr/>
          <p:nvPr/>
        </p:nvSpPr>
        <p:spPr>
          <a:xfrm>
            <a:off x="4886325" y="3409355"/>
            <a:ext cx="3829050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Flight-Readiness Funnel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8"/>
          <p:cNvSpPr/>
          <p:nvPr/>
        </p:nvSpPr>
        <p:spPr>
          <a:xfrm>
            <a:off x="4886325" y="3648670"/>
            <a:ext cx="38290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Upon successful TRL 4 validation, move to manufacturing subscale blade-feature coupons to establish a long-term, joint qualification flight roadmap.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9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9"/>
          <p:cNvSpPr/>
          <p:nvPr/>
        </p:nvSpPr>
        <p:spPr>
          <a:xfrm>
            <a:off x="428625" y="381000"/>
            <a:ext cx="8286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rPr>
              <a:t>ECONOMIC VALUE &amp; OPERATING SAVINGS LEDGER</a:t>
            </a:r>
            <a:endParaRPr sz="2400" b="1">
              <a:solidFill>
                <a:srgbClr val="1A365D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01" name="Google Shape;401;p9"/>
          <p:cNvSpPr/>
          <p:nvPr/>
        </p:nvSpPr>
        <p:spPr>
          <a:xfrm>
            <a:off x="428625" y="762000"/>
            <a:ext cx="82869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Fleet Scalability and Direct Operating Cost Reductions</a:t>
            </a:r>
            <a:endParaRPr sz="1200" b="0">
              <a:solidFill>
                <a:srgbClr val="2BDEFD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grpSp>
        <p:nvGrpSpPr>
          <p:cNvPr id="402" name="Google Shape;402;p9"/>
          <p:cNvGrpSpPr/>
          <p:nvPr/>
        </p:nvGrpSpPr>
        <p:grpSpPr>
          <a:xfrm>
            <a:off x="428625" y="1285875"/>
            <a:ext cx="8286825" cy="714300"/>
            <a:chOff x="428625" y="1285875"/>
            <a:chExt cx="8286825" cy="714300"/>
          </a:xfrm>
        </p:grpSpPr>
        <p:sp>
          <p:nvSpPr>
            <p:cNvPr id="403" name="Google Shape;403;p9"/>
            <p:cNvSpPr/>
            <p:nvPr/>
          </p:nvSpPr>
          <p:spPr>
            <a:xfrm>
              <a:off x="428625" y="1285875"/>
              <a:ext cx="4048200" cy="714300"/>
            </a:xfrm>
            <a:prstGeom prst="roundRect">
              <a:avLst>
                <a:gd name="adj" fmla="val 10666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9"/>
            <p:cNvSpPr txBox="1"/>
            <p:nvPr/>
          </p:nvSpPr>
          <p:spPr>
            <a:xfrm>
              <a:off x="571500" y="1381125"/>
              <a:ext cx="37623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Parasitic Air Reductions</a:t>
              </a:r>
              <a:endParaRPr sz="1000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11-layer insulation matrix drops substrate temperatures by 150K–200K, cutting reliance on compressor parasitic bleed air by </a:t>
              </a:r>
              <a:r>
                <a:rPr lang="en-US" sz="850" b="1">
                  <a:solidFill>
                    <a:srgbClr val="1A365D"/>
                  </a:solidFill>
                  <a:latin typeface="Inter"/>
                  <a:ea typeface="Inter"/>
                  <a:cs typeface="Inter"/>
                  <a:sym typeface="Inter"/>
                </a:rPr>
                <a:t>15%</a:t>
              </a:r>
              <a:r>
                <a:rPr lang="en-US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05" name="Google Shape;405;p9"/>
            <p:cNvSpPr/>
            <p:nvPr/>
          </p:nvSpPr>
          <p:spPr>
            <a:xfrm>
              <a:off x="4667250" y="1285875"/>
              <a:ext cx="4048200" cy="714300"/>
            </a:xfrm>
            <a:prstGeom prst="roundRect">
              <a:avLst>
                <a:gd name="adj" fmla="val 10666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9"/>
            <p:cNvSpPr txBox="1"/>
            <p:nvPr/>
          </p:nvSpPr>
          <p:spPr>
            <a:xfrm>
              <a:off x="4810125" y="1381125"/>
              <a:ext cx="37623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Annual Volumetric Yield</a:t>
              </a:r>
              <a:endParaRPr sz="1000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For a standard narrowbody (3,000 hr/yr), our platform saves </a:t>
              </a:r>
              <a:r>
                <a:rPr lang="en-US" sz="850" b="1">
                  <a:solidFill>
                    <a:srgbClr val="1A365D"/>
                  </a:solidFill>
                  <a:latin typeface="Inter"/>
                  <a:ea typeface="Inter"/>
                  <a:cs typeface="Inter"/>
                  <a:sym typeface="Inter"/>
                </a:rPr>
                <a:t>108 metric tons (135,000 liters)</a:t>
              </a:r>
              <a:r>
                <a:rPr lang="en-US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of Jet A-1 fuel per aircraft annually.</a:t>
              </a:r>
              <a:endParaRPr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407" name="Google Shape;407;p9"/>
          <p:cNvSpPr/>
          <p:nvPr/>
        </p:nvSpPr>
        <p:spPr>
          <a:xfrm>
            <a:off x="428625" y="2143125"/>
            <a:ext cx="8286900" cy="381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9"/>
          <p:cNvSpPr/>
          <p:nvPr/>
        </p:nvSpPr>
        <p:spPr>
          <a:xfrm>
            <a:off x="428625" y="2143125"/>
            <a:ext cx="190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142875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Assessment Parameter</a:t>
            </a:r>
            <a:endParaRPr sz="800" b="0">
              <a:solidFill>
                <a:srgbClr val="FFFFFF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409" name="Google Shape;409;p9"/>
          <p:cNvSpPr/>
          <p:nvPr/>
        </p:nvSpPr>
        <p:spPr>
          <a:xfrm>
            <a:off x="2333625" y="2143125"/>
            <a:ext cx="2667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Governing Aerospace Formula</a:t>
            </a:r>
            <a:endParaRPr sz="800" b="0">
              <a:solidFill>
                <a:srgbClr val="FFFFFF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410" name="Google Shape;410;p9"/>
          <p:cNvSpPr/>
          <p:nvPr/>
        </p:nvSpPr>
        <p:spPr>
          <a:xfrm>
            <a:off x="5000625" y="2143125"/>
            <a:ext cx="1809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Baseline Input Variable</a:t>
            </a:r>
            <a:endParaRPr sz="800" b="0">
              <a:solidFill>
                <a:srgbClr val="FFFFFF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411" name="Google Shape;411;p9"/>
          <p:cNvSpPr/>
          <p:nvPr/>
        </p:nvSpPr>
        <p:spPr>
          <a:xfrm>
            <a:off x="6810375" y="2143125"/>
            <a:ext cx="190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42875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Net Annual Savings Yield</a:t>
            </a:r>
            <a:endParaRPr sz="800" b="0">
              <a:solidFill>
                <a:srgbClr val="FFFFFF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412" name="Google Shape;412;p9"/>
          <p:cNvSpPr/>
          <p:nvPr/>
        </p:nvSpPr>
        <p:spPr>
          <a:xfrm>
            <a:off x="428625" y="2524125"/>
            <a:ext cx="1905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142875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>
                <a:solidFill>
                  <a:srgbClr val="1A365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Parasitic Bleed Air Cut</a:t>
            </a:r>
            <a:endParaRPr sz="850" b="0">
              <a:solidFill>
                <a:srgbClr val="1A365D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413" name="Google Shape;413;p9"/>
          <p:cNvSpPr/>
          <p:nvPr/>
        </p:nvSpPr>
        <p:spPr>
          <a:xfrm>
            <a:off x="2333625" y="2524125"/>
            <a:ext cx="2667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Δ m_bleed = m_baseline × 0.15</a:t>
            </a:r>
            <a:endParaRPr sz="8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4" name="Google Shape;414;p9"/>
          <p:cNvSpPr/>
          <p:nvPr/>
        </p:nvSpPr>
        <p:spPr>
          <a:xfrm>
            <a:off x="5000625" y="2524125"/>
            <a:ext cx="18096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15% Reduction</a:t>
            </a:r>
            <a:endParaRPr sz="8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5" name="Google Shape;415;p9"/>
          <p:cNvSpPr/>
          <p:nvPr/>
        </p:nvSpPr>
        <p:spPr>
          <a:xfrm>
            <a:off x="6810375" y="2524125"/>
            <a:ext cx="1905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42875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Frees Core Mass Flow</a:t>
            </a:r>
            <a:endParaRPr sz="850" b="1">
              <a:solidFill>
                <a:srgbClr val="0596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6" name="Google Shape;416;p9"/>
          <p:cNvSpPr/>
          <p:nvPr/>
        </p:nvSpPr>
        <p:spPr>
          <a:xfrm>
            <a:off x="428625" y="2857500"/>
            <a:ext cx="8286900" cy="3333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9"/>
          <p:cNvSpPr/>
          <p:nvPr/>
        </p:nvSpPr>
        <p:spPr>
          <a:xfrm>
            <a:off x="428625" y="2857500"/>
            <a:ext cx="1905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142875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>
                <a:solidFill>
                  <a:srgbClr val="1A365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Net SFC Efficiency Gain</a:t>
            </a:r>
            <a:endParaRPr sz="850" b="0">
              <a:solidFill>
                <a:srgbClr val="1A365D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418" name="Google Shape;418;p9"/>
          <p:cNvSpPr/>
          <p:nvPr/>
        </p:nvSpPr>
        <p:spPr>
          <a:xfrm>
            <a:off x="2333625" y="2857500"/>
            <a:ext cx="2667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η_cycle = Δ SFC × 1.0</a:t>
            </a:r>
            <a:endParaRPr sz="8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9" name="Google Shape;419;p9"/>
          <p:cNvSpPr/>
          <p:nvPr/>
        </p:nvSpPr>
        <p:spPr>
          <a:xfrm>
            <a:off x="5000625" y="2857500"/>
            <a:ext cx="18096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1.5% Net Reduction</a:t>
            </a:r>
            <a:endParaRPr sz="8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0" name="Google Shape;420;p9"/>
          <p:cNvSpPr/>
          <p:nvPr/>
        </p:nvSpPr>
        <p:spPr>
          <a:xfrm>
            <a:off x="6810375" y="2857500"/>
            <a:ext cx="1905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42875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Maximizes Core Thrust</a:t>
            </a:r>
            <a:endParaRPr sz="850" b="1">
              <a:solidFill>
                <a:srgbClr val="0596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1" name="Google Shape;421;p9"/>
          <p:cNvSpPr/>
          <p:nvPr/>
        </p:nvSpPr>
        <p:spPr>
          <a:xfrm>
            <a:off x="428625" y="3190875"/>
            <a:ext cx="1905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142875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>
                <a:solidFill>
                  <a:srgbClr val="1A365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Volumetric Fuel Savings</a:t>
            </a:r>
            <a:endParaRPr sz="850" b="0">
              <a:solidFill>
                <a:srgbClr val="1A365D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422" name="Google Shape;422;p9"/>
          <p:cNvSpPr/>
          <p:nvPr/>
        </p:nvSpPr>
        <p:spPr>
          <a:xfrm>
            <a:off x="2333625" y="3190875"/>
            <a:ext cx="2667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V_saved = 3,000 hr × 2,400 kg/hr × 0.015</a:t>
            </a:r>
            <a:endParaRPr sz="8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3" name="Google Shape;423;p9"/>
          <p:cNvSpPr/>
          <p:nvPr/>
        </p:nvSpPr>
        <p:spPr>
          <a:xfrm>
            <a:off x="5000625" y="3190875"/>
            <a:ext cx="18096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7,200 Metric Tons Baseline</a:t>
            </a:r>
            <a:endParaRPr sz="8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4" name="Google Shape;424;p9"/>
          <p:cNvSpPr/>
          <p:nvPr/>
        </p:nvSpPr>
        <p:spPr>
          <a:xfrm>
            <a:off x="6810375" y="3190875"/>
            <a:ext cx="1905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42875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135,000 Liters / Aircraft</a:t>
            </a:r>
            <a:endParaRPr sz="850" b="1">
              <a:solidFill>
                <a:srgbClr val="0596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5" name="Google Shape;425;p9"/>
          <p:cNvSpPr/>
          <p:nvPr/>
        </p:nvSpPr>
        <p:spPr>
          <a:xfrm>
            <a:off x="428625" y="3524250"/>
            <a:ext cx="8286900" cy="3333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9"/>
          <p:cNvSpPr/>
          <p:nvPr/>
        </p:nvSpPr>
        <p:spPr>
          <a:xfrm>
            <a:off x="428625" y="3524250"/>
            <a:ext cx="1905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142875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>
                <a:solidFill>
                  <a:srgbClr val="1A365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Direct Operating Cost Cut</a:t>
            </a:r>
            <a:endParaRPr sz="850" b="0">
              <a:solidFill>
                <a:srgbClr val="1A365D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427" name="Google Shape;427;p9"/>
          <p:cNvSpPr/>
          <p:nvPr/>
        </p:nvSpPr>
        <p:spPr>
          <a:xfrm>
            <a:off x="2333625" y="3524250"/>
            <a:ext cx="2667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Cash Savings = V_saved × $0.85 /L</a:t>
            </a:r>
            <a:endParaRPr sz="8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8" name="Google Shape;428;p9"/>
          <p:cNvSpPr/>
          <p:nvPr/>
        </p:nvSpPr>
        <p:spPr>
          <a:xfrm>
            <a:off x="5000625" y="3524250"/>
            <a:ext cx="18096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$0.85/L Jet A-1 Price</a:t>
            </a:r>
            <a:endParaRPr sz="8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9" name="Google Shape;429;p9"/>
          <p:cNvSpPr/>
          <p:nvPr/>
        </p:nvSpPr>
        <p:spPr>
          <a:xfrm>
            <a:off x="6992525" y="3524250"/>
            <a:ext cx="17229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42875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$114,750 / Aircraft           </a:t>
            </a:r>
            <a:endParaRPr sz="1050">
              <a:solidFill>
                <a:srgbClr val="FD971F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850" b="1">
              <a:solidFill>
                <a:srgbClr val="0596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0" name="Google Shape;430;p9"/>
          <p:cNvSpPr/>
          <p:nvPr/>
        </p:nvSpPr>
        <p:spPr>
          <a:xfrm>
            <a:off x="428625" y="3857625"/>
            <a:ext cx="8286900" cy="381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9"/>
          <p:cNvSpPr/>
          <p:nvPr/>
        </p:nvSpPr>
        <p:spPr>
          <a:xfrm>
            <a:off x="428625" y="3857625"/>
            <a:ext cx="190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142875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2BDEFD"/>
                </a:solidFill>
                <a:latin typeface="Space Grotesk"/>
                <a:ea typeface="Space Grotesk"/>
                <a:cs typeface="Space Grotesk"/>
                <a:sym typeface="Space Grotesk"/>
              </a:rPr>
              <a:t>Fleet Scalability Revenue</a:t>
            </a:r>
            <a:endParaRPr sz="900" b="1">
              <a:solidFill>
                <a:srgbClr val="2BDEFD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32" name="Google Shape;432;p9"/>
          <p:cNvSpPr/>
          <p:nvPr/>
        </p:nvSpPr>
        <p:spPr>
          <a:xfrm>
            <a:off x="2333625" y="3857625"/>
            <a:ext cx="2667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Total Yield = Cash Savings × 100 Jets</a:t>
            </a:r>
            <a:endParaRPr sz="8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3" name="Google Shape;433;p9"/>
          <p:cNvSpPr/>
          <p:nvPr/>
        </p:nvSpPr>
        <p:spPr>
          <a:xfrm>
            <a:off x="5000625" y="3857625"/>
            <a:ext cx="1809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100 Narrowbody Fleet</a:t>
            </a:r>
            <a:endParaRPr sz="8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4" name="Google Shape;434;p9"/>
          <p:cNvSpPr/>
          <p:nvPr/>
        </p:nvSpPr>
        <p:spPr>
          <a:xfrm>
            <a:off x="6810375" y="3857625"/>
            <a:ext cx="190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42875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$11,475,000 / Year</a:t>
            </a:r>
            <a:endParaRPr sz="1100" b="1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35" name="Google Shape;435;p9"/>
          <p:cNvSpPr/>
          <p:nvPr/>
        </p:nvSpPr>
        <p:spPr>
          <a:xfrm>
            <a:off x="428625" y="4381500"/>
            <a:ext cx="8286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*Calculations based on global average aviation fuel procurement costs and standard narrowbody operational profiles.</a:t>
            </a:r>
            <a:endParaRPr sz="700" b="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" name="Google Shape;441;p10"/>
          <p:cNvGrpSpPr/>
          <p:nvPr/>
        </p:nvGrpSpPr>
        <p:grpSpPr>
          <a:xfrm>
            <a:off x="428625" y="381000"/>
            <a:ext cx="8286900" cy="666825"/>
            <a:chOff x="428625" y="381000"/>
            <a:chExt cx="8286900" cy="666825"/>
          </a:xfrm>
        </p:grpSpPr>
        <p:sp>
          <p:nvSpPr>
            <p:cNvPr id="442" name="Google Shape;442;p10"/>
            <p:cNvSpPr txBox="1"/>
            <p:nvPr/>
          </p:nvSpPr>
          <p:spPr>
            <a:xfrm>
              <a:off x="428625" y="381000"/>
              <a:ext cx="8286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DEFENSIBILITY AND IP PERIMETER</a:t>
              </a:r>
              <a:endParaRPr sz="2400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43" name="Google Shape;443;p10"/>
            <p:cNvSpPr txBox="1"/>
            <p:nvPr/>
          </p:nvSpPr>
          <p:spPr>
            <a:xfrm>
              <a:off x="428625" y="809625"/>
              <a:ext cx="8286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2BDEFD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Multi-Layered Protection Strategy</a:t>
              </a:r>
              <a:endParaRPr sz="1200" b="0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</p:grpSp>
      <p:grpSp>
        <p:nvGrpSpPr>
          <p:cNvPr id="444" name="Google Shape;444;p10"/>
          <p:cNvGrpSpPr/>
          <p:nvPr/>
        </p:nvGrpSpPr>
        <p:grpSpPr>
          <a:xfrm>
            <a:off x="428625" y="1333500"/>
            <a:ext cx="3905400" cy="3238500"/>
            <a:chOff x="428625" y="1333500"/>
            <a:chExt cx="3905400" cy="3238500"/>
          </a:xfrm>
        </p:grpSpPr>
        <p:sp>
          <p:nvSpPr>
            <p:cNvPr id="445" name="Google Shape;445;p10"/>
            <p:cNvSpPr/>
            <p:nvPr/>
          </p:nvSpPr>
          <p:spPr>
            <a:xfrm>
              <a:off x="428625" y="1333500"/>
              <a:ext cx="3905400" cy="3238500"/>
            </a:xfrm>
            <a:prstGeom prst="roundRect">
              <a:avLst>
                <a:gd name="adj" fmla="val 2352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6" name="Google Shape;446;p10"/>
            <p:cNvGrpSpPr/>
            <p:nvPr/>
          </p:nvGrpSpPr>
          <p:grpSpPr>
            <a:xfrm>
              <a:off x="714375" y="1619250"/>
              <a:ext cx="3333900" cy="428700"/>
              <a:chOff x="714375" y="1619250"/>
              <a:chExt cx="3333900" cy="428700"/>
            </a:xfrm>
          </p:grpSpPr>
          <p:sp>
            <p:nvSpPr>
              <p:cNvPr id="447" name="Google Shape;447;p10"/>
              <p:cNvSpPr/>
              <p:nvPr/>
            </p:nvSpPr>
            <p:spPr>
              <a:xfrm>
                <a:off x="714375" y="1619250"/>
                <a:ext cx="3333900" cy="428700"/>
              </a:xfrm>
              <a:prstGeom prst="roundRect">
                <a:avLst>
                  <a:gd name="adj" fmla="val 8888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10"/>
              <p:cNvSpPr txBox="1"/>
              <p:nvPr/>
            </p:nvSpPr>
            <p:spPr>
              <a:xfrm>
                <a:off x="714375" y="1619250"/>
                <a:ext cx="33339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LAYER 1: RHEA CHEMISTRY PATENTS</a:t>
                </a:r>
                <a:endParaRPr sz="9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449" name="Google Shape;449;p10"/>
            <p:cNvGrpSpPr/>
            <p:nvPr/>
          </p:nvGrpSpPr>
          <p:grpSpPr>
            <a:xfrm>
              <a:off x="714375" y="2143125"/>
              <a:ext cx="3333900" cy="428700"/>
              <a:chOff x="714375" y="2143125"/>
              <a:chExt cx="3333900" cy="428700"/>
            </a:xfrm>
          </p:grpSpPr>
          <p:sp>
            <p:nvSpPr>
              <p:cNvPr id="450" name="Google Shape;450;p10"/>
              <p:cNvSpPr/>
              <p:nvPr/>
            </p:nvSpPr>
            <p:spPr>
              <a:xfrm>
                <a:off x="714375" y="2143125"/>
                <a:ext cx="3333900" cy="428700"/>
              </a:xfrm>
              <a:prstGeom prst="roundRect">
                <a:avLst>
                  <a:gd name="adj" fmla="val 8888"/>
                </a:avLst>
              </a:prstGeom>
              <a:solidFill>
                <a:srgbClr val="2BDEFD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10"/>
              <p:cNvSpPr txBox="1"/>
              <p:nvPr/>
            </p:nvSpPr>
            <p:spPr>
              <a:xfrm>
                <a:off x="714375" y="2143125"/>
                <a:ext cx="33339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LAYER 2: 11-LAYER SPATIAL FGM ARCHITECTURE</a:t>
                </a:r>
                <a:endParaRPr sz="9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452" name="Google Shape;452;p10"/>
            <p:cNvGrpSpPr/>
            <p:nvPr/>
          </p:nvGrpSpPr>
          <p:grpSpPr>
            <a:xfrm>
              <a:off x="714375" y="2667000"/>
              <a:ext cx="3333900" cy="428700"/>
              <a:chOff x="714375" y="2667000"/>
              <a:chExt cx="3333900" cy="428700"/>
            </a:xfrm>
          </p:grpSpPr>
          <p:sp>
            <p:nvSpPr>
              <p:cNvPr id="453" name="Google Shape;453;p10"/>
              <p:cNvSpPr/>
              <p:nvPr/>
            </p:nvSpPr>
            <p:spPr>
              <a:xfrm>
                <a:off x="714375" y="2667000"/>
                <a:ext cx="3333900" cy="428700"/>
              </a:xfrm>
              <a:prstGeom prst="roundRect">
                <a:avLst>
                  <a:gd name="adj" fmla="val 8888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10"/>
              <p:cNvSpPr txBox="1"/>
              <p:nvPr/>
            </p:nvSpPr>
            <p:spPr>
              <a:xfrm>
                <a:off x="714375" y="2667000"/>
                <a:ext cx="33339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LAYER 3: SINTERED TRANSPIRATION PROCESS</a:t>
                </a:r>
                <a:endParaRPr sz="9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455" name="Google Shape;455;p10"/>
            <p:cNvGrpSpPr/>
            <p:nvPr/>
          </p:nvGrpSpPr>
          <p:grpSpPr>
            <a:xfrm>
              <a:off x="714375" y="3190875"/>
              <a:ext cx="3333900" cy="1095300"/>
              <a:chOff x="714375" y="3190875"/>
              <a:chExt cx="3333900" cy="1095300"/>
            </a:xfrm>
          </p:grpSpPr>
          <p:sp>
            <p:nvSpPr>
              <p:cNvPr id="456" name="Google Shape;456;p10"/>
              <p:cNvSpPr/>
              <p:nvPr/>
            </p:nvSpPr>
            <p:spPr>
              <a:xfrm>
                <a:off x="714375" y="3190875"/>
                <a:ext cx="3333900" cy="1095300"/>
              </a:xfrm>
              <a:prstGeom prst="roundRect">
                <a:avLst>
                  <a:gd name="adj" fmla="val 3478"/>
                </a:avLst>
              </a:prstGeom>
              <a:solidFill>
                <a:srgbClr val="1A36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10"/>
              <p:cNvSpPr txBox="1"/>
              <p:nvPr/>
            </p:nvSpPr>
            <p:spPr>
              <a:xfrm>
                <a:off x="714375" y="3190875"/>
                <a:ext cx="3333900" cy="10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LAYER 4:</a:t>
                </a:r>
                <a:endParaRPr sz="1100" b="1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IN-MEMORY MATERIALS</a:t>
                </a:r>
                <a:endParaRPr sz="1100" b="1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INFORMATICS DATA MOAT</a:t>
                </a:r>
                <a:endParaRPr sz="1100" b="1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</p:grpSp>
      <p:grpSp>
        <p:nvGrpSpPr>
          <p:cNvPr id="458" name="Google Shape;458;p10"/>
          <p:cNvGrpSpPr/>
          <p:nvPr/>
        </p:nvGrpSpPr>
        <p:grpSpPr>
          <a:xfrm>
            <a:off x="4714875" y="1333500"/>
            <a:ext cx="4000500" cy="3143175"/>
            <a:chOff x="4714875" y="1333500"/>
            <a:chExt cx="4000500" cy="3143175"/>
          </a:xfrm>
        </p:grpSpPr>
        <p:grpSp>
          <p:nvGrpSpPr>
            <p:cNvPr id="459" name="Google Shape;459;p10"/>
            <p:cNvGrpSpPr/>
            <p:nvPr/>
          </p:nvGrpSpPr>
          <p:grpSpPr>
            <a:xfrm>
              <a:off x="4714875" y="1333500"/>
              <a:ext cx="4000500" cy="714300"/>
              <a:chOff x="4714875" y="1333500"/>
              <a:chExt cx="4000500" cy="714300"/>
            </a:xfrm>
          </p:grpSpPr>
          <p:sp>
            <p:nvSpPr>
              <p:cNvPr id="460" name="Google Shape;460;p10"/>
              <p:cNvSpPr/>
              <p:nvPr/>
            </p:nvSpPr>
            <p:spPr>
              <a:xfrm>
                <a:off x="4714875" y="1333500"/>
                <a:ext cx="4000500" cy="714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10"/>
              <p:cNvSpPr txBox="1"/>
              <p:nvPr/>
            </p:nvSpPr>
            <p:spPr>
              <a:xfrm>
                <a:off x="4714875" y="1333500"/>
                <a:ext cx="40005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Compositional Windows</a:t>
                </a:r>
                <a:endParaRPr sz="11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Protecting the exact chemical boundaries of our optimized quinary and senary refractory HEA spaces via </a:t>
                </a:r>
                <a:r>
                  <a:rPr lang="en-US" sz="900" b="0">
                    <a:solidFill>
                      <a:srgbClr val="1A365D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composition patent filings</a:t>
                </a:r>
                <a:r>
                  <a:rPr lang="en-US" sz="900" b="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.</a:t>
                </a:r>
                <a:endParaRPr sz="900" b="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62" name="Google Shape;462;p10"/>
            <p:cNvGrpSpPr/>
            <p:nvPr/>
          </p:nvGrpSpPr>
          <p:grpSpPr>
            <a:xfrm>
              <a:off x="4714875" y="2143125"/>
              <a:ext cx="4000500" cy="714300"/>
              <a:chOff x="4714875" y="2143125"/>
              <a:chExt cx="4000500" cy="714300"/>
            </a:xfrm>
          </p:grpSpPr>
          <p:sp>
            <p:nvSpPr>
              <p:cNvPr id="463" name="Google Shape;463;p10"/>
              <p:cNvSpPr/>
              <p:nvPr/>
            </p:nvSpPr>
            <p:spPr>
              <a:xfrm>
                <a:off x="4714875" y="2143125"/>
                <a:ext cx="4000500" cy="714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10"/>
              <p:cNvSpPr txBox="1"/>
              <p:nvPr/>
            </p:nvSpPr>
            <p:spPr>
              <a:xfrm>
                <a:off x="4714875" y="2143125"/>
                <a:ext cx="40005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Gradient Architecture Claims</a:t>
                </a:r>
                <a:endParaRPr sz="11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Patenting the 11-layer power-law distribution profile (</a:t>
                </a:r>
                <a:r>
                  <a:rPr lang="en-US" sz="900" b="0">
                    <a:solidFill>
                      <a:srgbClr val="1A365D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n=1.1</a:t>
                </a:r>
                <a:r>
                  <a:rPr lang="en-US" sz="900" b="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) and the specific spatial arrangement of the co-deposited metal-ceramic transition zone.</a:t>
                </a:r>
                <a:endParaRPr sz="900" b="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65" name="Google Shape;465;p10"/>
            <p:cNvGrpSpPr/>
            <p:nvPr/>
          </p:nvGrpSpPr>
          <p:grpSpPr>
            <a:xfrm>
              <a:off x="4714875" y="2952750"/>
              <a:ext cx="4000500" cy="714300"/>
              <a:chOff x="4714875" y="2952750"/>
              <a:chExt cx="4000500" cy="714300"/>
            </a:xfrm>
          </p:grpSpPr>
          <p:sp>
            <p:nvSpPr>
              <p:cNvPr id="466" name="Google Shape;466;p10"/>
              <p:cNvSpPr/>
              <p:nvPr/>
            </p:nvSpPr>
            <p:spPr>
              <a:xfrm>
                <a:off x="4714875" y="2952750"/>
                <a:ext cx="4000500" cy="714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10"/>
              <p:cNvSpPr txBox="1"/>
              <p:nvPr/>
            </p:nvSpPr>
            <p:spPr>
              <a:xfrm>
                <a:off x="4714875" y="2952750"/>
                <a:ext cx="40005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Process Recipe Protections</a:t>
                </a:r>
                <a:endParaRPr sz="11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Filing defensive patents covering the multi-hopper powder feeding conditions, operational pressure fields, and geometric turbine casing constraints.</a:t>
                </a:r>
                <a:endParaRPr sz="900" b="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68" name="Google Shape;468;p10"/>
            <p:cNvGrpSpPr/>
            <p:nvPr/>
          </p:nvGrpSpPr>
          <p:grpSpPr>
            <a:xfrm>
              <a:off x="4714875" y="3762375"/>
              <a:ext cx="4000500" cy="714300"/>
              <a:chOff x="4714875" y="3762375"/>
              <a:chExt cx="4000500" cy="714300"/>
            </a:xfrm>
          </p:grpSpPr>
          <p:sp>
            <p:nvSpPr>
              <p:cNvPr id="469" name="Google Shape;469;p10"/>
              <p:cNvSpPr/>
              <p:nvPr/>
            </p:nvSpPr>
            <p:spPr>
              <a:xfrm>
                <a:off x="4714875" y="3762375"/>
                <a:ext cx="4000500" cy="714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10"/>
              <p:cNvSpPr txBox="1"/>
              <p:nvPr/>
            </p:nvSpPr>
            <p:spPr>
              <a:xfrm>
                <a:off x="4714875" y="3762375"/>
                <a:ext cx="40005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Data Moat &amp; Trade Secrets</a:t>
                </a:r>
                <a:endParaRPr sz="11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Securing the proprietary </a:t>
                </a:r>
                <a:r>
                  <a:rPr lang="en-US" sz="900" b="0">
                    <a:solidFill>
                      <a:srgbClr val="1A365D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surrogate model weights</a:t>
                </a:r>
                <a:r>
                  <a:rPr lang="en-US" sz="900" b="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 and the unreduced multi-physics training datasets that anchor our optimization runs.</a:t>
                </a:r>
                <a:endParaRPr sz="900" b="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6" name="Google Shape;476;p11"/>
          <p:cNvGrpSpPr/>
          <p:nvPr/>
        </p:nvGrpSpPr>
        <p:grpSpPr>
          <a:xfrm>
            <a:off x="428625" y="428625"/>
            <a:ext cx="8286900" cy="4286250"/>
            <a:chOff x="428625" y="428625"/>
            <a:chExt cx="8286900" cy="4286250"/>
          </a:xfrm>
        </p:grpSpPr>
        <p:sp>
          <p:nvSpPr>
            <p:cNvPr id="477" name="Google Shape;477;p11"/>
            <p:cNvSpPr/>
            <p:nvPr/>
          </p:nvSpPr>
          <p:spPr>
            <a:xfrm>
              <a:off x="428625" y="1190625"/>
              <a:ext cx="8286900" cy="1047900"/>
            </a:xfrm>
            <a:prstGeom prst="roundRect">
              <a:avLst>
                <a:gd name="adj" fmla="val 9090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8" name="Google Shape;478;p11"/>
            <p:cNvGrpSpPr/>
            <p:nvPr/>
          </p:nvGrpSpPr>
          <p:grpSpPr>
            <a:xfrm>
              <a:off x="428625" y="428625"/>
              <a:ext cx="8286900" cy="714450"/>
              <a:chOff x="428625" y="428625"/>
              <a:chExt cx="8286900" cy="714450"/>
            </a:xfrm>
          </p:grpSpPr>
          <p:sp>
            <p:nvSpPr>
              <p:cNvPr id="479" name="Google Shape;479;p11"/>
              <p:cNvSpPr txBox="1"/>
              <p:nvPr/>
            </p:nvSpPr>
            <p:spPr>
              <a:xfrm>
                <a:off x="428625" y="428625"/>
                <a:ext cx="8286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BUSINESS MODEL AND ASK</a:t>
                </a:r>
                <a:endParaRPr sz="28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480" name="Google Shape;480;p11"/>
              <p:cNvSpPr txBox="1"/>
              <p:nvPr/>
            </p:nvSpPr>
            <p:spPr>
              <a:xfrm>
                <a:off x="428625" y="904875"/>
                <a:ext cx="82869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0">
                    <a:solidFill>
                      <a:srgbClr val="2BDEFD"/>
                    </a:solidFill>
                    <a:latin typeface="Space Grotesk SemiBold"/>
                    <a:ea typeface="Space Grotesk SemiBold"/>
                    <a:cs typeface="Space Grotesk SemiBold"/>
                    <a:sym typeface="Space Grotesk SemiBold"/>
                  </a:rPr>
                  <a:t>Co-Development Project Structure and Shared Success Criteria</a:t>
                </a:r>
                <a:endParaRPr sz="1200" b="0">
                  <a:solidFill>
                    <a:srgbClr val="2BDEFD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endParaRPr>
              </a:p>
            </p:txBody>
          </p:sp>
        </p:grpSp>
        <p:grpSp>
          <p:nvGrpSpPr>
            <p:cNvPr id="481" name="Google Shape;481;p11"/>
            <p:cNvGrpSpPr/>
            <p:nvPr/>
          </p:nvGrpSpPr>
          <p:grpSpPr>
            <a:xfrm>
              <a:off x="619125" y="1333500"/>
              <a:ext cx="3619500" cy="809625"/>
              <a:chOff x="619125" y="1333500"/>
              <a:chExt cx="3619500" cy="809625"/>
            </a:xfrm>
          </p:grpSpPr>
          <p:sp>
            <p:nvSpPr>
              <p:cNvPr id="482" name="Google Shape;482;p11"/>
              <p:cNvSpPr txBox="1"/>
              <p:nvPr/>
            </p:nvSpPr>
            <p:spPr>
              <a:xfrm>
                <a:off x="619125" y="1333500"/>
                <a:ext cx="3619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Project Structure</a:t>
                </a:r>
                <a:endParaRPr sz="10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483" name="Google Shape;483;p11"/>
              <p:cNvSpPr txBox="1"/>
              <p:nvPr/>
            </p:nvSpPr>
            <p:spPr>
              <a:xfrm>
                <a:off x="619125" y="1571625"/>
                <a:ext cx="3619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Partnering through a milestone-funded, shared-risk </a:t>
                </a:r>
                <a:r>
                  <a:rPr lang="en-US" sz="900" b="1">
                    <a:solidFill>
                      <a:srgbClr val="1A365D"/>
                    </a:solidFill>
                    <a:latin typeface="Inter"/>
                    <a:ea typeface="Inter"/>
                    <a:cs typeface="Inter"/>
                    <a:sym typeface="Inter"/>
                  </a:rPr>
                  <a:t>Joint Development Agreement (JDA)</a:t>
                </a:r>
                <a:r>
                  <a:rPr lang="en-US" sz="900" b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 with Safran's hot-section teams.</a:t>
                </a:r>
                <a:endParaRPr sz="9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84" name="Google Shape;484;p11"/>
            <p:cNvGrpSpPr/>
            <p:nvPr/>
          </p:nvGrpSpPr>
          <p:grpSpPr>
            <a:xfrm>
              <a:off x="4905375" y="1333500"/>
              <a:ext cx="3619500" cy="809625"/>
              <a:chOff x="4905375" y="1333500"/>
              <a:chExt cx="3619500" cy="809625"/>
            </a:xfrm>
          </p:grpSpPr>
          <p:sp>
            <p:nvSpPr>
              <p:cNvPr id="485" name="Google Shape;485;p11"/>
              <p:cNvSpPr txBox="1"/>
              <p:nvPr/>
            </p:nvSpPr>
            <p:spPr>
              <a:xfrm>
                <a:off x="4905375" y="1333500"/>
                <a:ext cx="3619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Success Criteria</a:t>
                </a:r>
                <a:endParaRPr sz="10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486" name="Google Shape;486;p11"/>
              <p:cNvSpPr txBox="1"/>
              <p:nvPr/>
            </p:nvSpPr>
            <p:spPr>
              <a:xfrm>
                <a:off x="4905375" y="1571625"/>
                <a:ext cx="3619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Zero interface delamination under burner rig testing and verification of a physical </a:t>
                </a:r>
                <a:r>
                  <a:rPr lang="en-US" sz="900" b="1">
                    <a:solidFill>
                      <a:srgbClr val="1A365D"/>
                    </a:solidFill>
                    <a:latin typeface="Inter"/>
                    <a:ea typeface="Inter"/>
                    <a:cs typeface="Inter"/>
                    <a:sym typeface="Inter"/>
                  </a:rPr>
                  <a:t>Safety Factor ≥ 1.50</a:t>
                </a:r>
                <a:r>
                  <a:rPr lang="en-US" sz="900" b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.</a:t>
                </a:r>
                <a:endParaRPr sz="9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87" name="Google Shape;487;p11"/>
            <p:cNvGrpSpPr/>
            <p:nvPr/>
          </p:nvGrpSpPr>
          <p:grpSpPr>
            <a:xfrm>
              <a:off x="428625" y="2381250"/>
              <a:ext cx="8286900" cy="2000250"/>
              <a:chOff x="428625" y="2381250"/>
              <a:chExt cx="8286900" cy="2000250"/>
            </a:xfrm>
          </p:grpSpPr>
          <p:sp>
            <p:nvSpPr>
              <p:cNvPr id="488" name="Google Shape;488;p11"/>
              <p:cNvSpPr/>
              <p:nvPr/>
            </p:nvSpPr>
            <p:spPr>
              <a:xfrm>
                <a:off x="428625" y="2381250"/>
                <a:ext cx="82869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1A36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1"/>
              <p:cNvSpPr txBox="1"/>
              <p:nvPr/>
            </p:nvSpPr>
            <p:spPr>
              <a:xfrm>
                <a:off x="428625" y="2381250"/>
                <a:ext cx="1905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Collaborative Phase</a:t>
                </a:r>
                <a:endParaRPr sz="900" b="1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490" name="Google Shape;490;p11"/>
              <p:cNvSpPr txBox="1"/>
              <p:nvPr/>
            </p:nvSpPr>
            <p:spPr>
              <a:xfrm>
                <a:off x="2333625" y="2381250"/>
                <a:ext cx="31908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Crystal Paradigm Commitment</a:t>
                </a:r>
                <a:endParaRPr sz="900" b="1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491" name="Google Shape;491;p11"/>
              <p:cNvSpPr txBox="1"/>
              <p:nvPr/>
            </p:nvSpPr>
            <p:spPr>
              <a:xfrm>
                <a:off x="5524500" y="2381250"/>
                <a:ext cx="31908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Safran Strategic Support</a:t>
                </a:r>
                <a:endParaRPr sz="900" b="1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grpSp>
            <p:nvGrpSpPr>
              <p:cNvPr id="492" name="Google Shape;492;p11"/>
              <p:cNvGrpSpPr/>
              <p:nvPr/>
            </p:nvGrpSpPr>
            <p:grpSpPr>
              <a:xfrm>
                <a:off x="428625" y="2809875"/>
                <a:ext cx="8286900" cy="762000"/>
                <a:chOff x="428625" y="2809875"/>
                <a:chExt cx="8286900" cy="762000"/>
              </a:xfrm>
            </p:grpSpPr>
            <p:sp>
              <p:nvSpPr>
                <p:cNvPr id="493" name="Google Shape;493;p11"/>
                <p:cNvSpPr/>
                <p:nvPr/>
              </p:nvSpPr>
              <p:spPr>
                <a:xfrm>
                  <a:off x="428625" y="2809875"/>
                  <a:ext cx="8286900" cy="762000"/>
                </a:xfrm>
                <a:prstGeom prst="roundRect">
                  <a:avLst>
                    <a:gd name="adj" fmla="val 5000"/>
                  </a:avLst>
                </a:prstGeom>
                <a:solidFill>
                  <a:srgbClr val="F8FAFC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4" name="Google Shape;494;p11"/>
                <p:cNvSpPr txBox="1"/>
                <p:nvPr/>
              </p:nvSpPr>
              <p:spPr>
                <a:xfrm>
                  <a:off x="428625" y="2809875"/>
                  <a:ext cx="19050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9050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1">
                      <a:solidFill>
                        <a:srgbClr val="1A365D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Phase 1:</a:t>
                  </a:r>
                  <a:endParaRPr sz="900" b="1">
                    <a:solidFill>
                      <a:srgbClr val="1A365D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>
                      <a:solidFill>
                        <a:srgbClr val="1A365D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Shared POC Sprint</a:t>
                  </a:r>
                  <a:endParaRPr sz="900">
                    <a:solidFill>
                      <a:srgbClr val="1A365D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495" name="Google Shape;495;p11"/>
                <p:cNvSpPr txBox="1"/>
                <p:nvPr/>
              </p:nvSpPr>
              <p:spPr>
                <a:xfrm>
                  <a:off x="2333625" y="2809875"/>
                  <a:ext cx="31908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90500" tIns="0" rIns="19050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850">
                      <a:solidFill>
                        <a:srgbClr val="47556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Execute on-premises multi-physics models, optimize layer distributions, and fabricate printed FGM test coupons and Add on AI integration for your problems</a:t>
                  </a:r>
                  <a:endParaRPr sz="8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496" name="Google Shape;496;p11"/>
                <p:cNvSpPr txBox="1"/>
                <p:nvPr/>
              </p:nvSpPr>
              <p:spPr>
                <a:xfrm>
                  <a:off x="5524500" y="2809875"/>
                  <a:ext cx="31908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90500" tIns="0" rIns="19050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850">
                      <a:solidFill>
                        <a:srgbClr val="47556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Provide real engine boundary fields and fund the pre-scale sprint under a budget cap discussed in further meetings..</a:t>
                  </a:r>
                  <a:endParaRPr sz="8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497" name="Google Shape;497;p11"/>
              <p:cNvGrpSpPr/>
              <p:nvPr/>
            </p:nvGrpSpPr>
            <p:grpSpPr>
              <a:xfrm>
                <a:off x="428625" y="3619500"/>
                <a:ext cx="8286900" cy="762000"/>
                <a:chOff x="428625" y="3619500"/>
                <a:chExt cx="8286900" cy="762000"/>
              </a:xfrm>
            </p:grpSpPr>
            <p:sp>
              <p:nvSpPr>
                <p:cNvPr id="498" name="Google Shape;498;p11"/>
                <p:cNvSpPr/>
                <p:nvPr/>
              </p:nvSpPr>
              <p:spPr>
                <a:xfrm>
                  <a:off x="428625" y="3619500"/>
                  <a:ext cx="8286900" cy="762000"/>
                </a:xfrm>
                <a:prstGeom prst="roundRect">
                  <a:avLst>
                    <a:gd name="adj" fmla="val 5000"/>
                  </a:avLst>
                </a:prstGeom>
                <a:solidFill>
                  <a:srgbClr val="FFFFFF"/>
                </a:solidFill>
                <a:ln w="9525" cap="flat" cmpd="sng">
                  <a:solidFill>
                    <a:srgbClr val="F1F5F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9" name="Google Shape;499;p11"/>
                <p:cNvSpPr txBox="1"/>
                <p:nvPr/>
              </p:nvSpPr>
              <p:spPr>
                <a:xfrm>
                  <a:off x="428625" y="3619500"/>
                  <a:ext cx="19050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9050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1">
                      <a:solidFill>
                        <a:srgbClr val="1A365D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Phase 2:</a:t>
                  </a:r>
                  <a:endParaRPr sz="900" b="1">
                    <a:solidFill>
                      <a:srgbClr val="1A365D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>
                      <a:solidFill>
                        <a:srgbClr val="1A365D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Scale-Out JDA</a:t>
                  </a:r>
                  <a:endParaRPr sz="900">
                    <a:solidFill>
                      <a:srgbClr val="1A365D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500" name="Google Shape;500;p11"/>
                <p:cNvSpPr txBox="1"/>
                <p:nvPr/>
              </p:nvSpPr>
              <p:spPr>
                <a:xfrm>
                  <a:off x="2333625" y="3619500"/>
                  <a:ext cx="31908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90500" tIns="0" rIns="19050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850">
                      <a:solidFill>
                        <a:srgbClr val="47556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Scale manufacturing recipes up to complex, subscale high-pressure blade geometries and support joint qualification.</a:t>
                  </a:r>
                  <a:endParaRPr sz="8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501" name="Google Shape;501;p11"/>
                <p:cNvSpPr txBox="1"/>
                <p:nvPr/>
              </p:nvSpPr>
              <p:spPr>
                <a:xfrm>
                  <a:off x="5524500" y="3619500"/>
                  <a:ext cx="31908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90500" tIns="0" rIns="19050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850">
                      <a:solidFill>
                        <a:srgbClr val="47556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Provide access to internal testing rigs, engine test cells, and lead downstream flight-readiness certification.</a:t>
                  </a:r>
                  <a:endParaRPr sz="8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  <p:sp>
          <p:nvSpPr>
            <p:cNvPr id="502" name="Google Shape;502;p11"/>
            <p:cNvSpPr txBox="1"/>
            <p:nvPr/>
          </p:nvSpPr>
          <p:spPr>
            <a:xfrm>
              <a:off x="428625" y="4524375"/>
              <a:ext cx="8286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*Transitioning to a structured technology licensing model or direct material supply partnership upon POC validation.</a:t>
              </a:r>
              <a:endParaRPr sz="75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" name="Google Shape;508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52775" y="0"/>
            <a:ext cx="9144000" cy="5413483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12"/>
          <p:cNvSpPr/>
          <p:nvPr/>
        </p:nvSpPr>
        <p:spPr>
          <a:xfrm>
            <a:off x="571500" y="428625"/>
            <a:ext cx="8001000" cy="43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50"/>
              <a:buFont typeface="Space Grotesk SemiBold"/>
              <a:buNone/>
            </a:pPr>
            <a:r>
              <a:rPr lang="en-US" sz="245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CLOSING &amp; </a:t>
            </a:r>
            <a:r>
              <a:rPr lang="en-US" sz="2450" b="1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COLLABORATION ROADMAP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2"/>
          <p:cNvSpPr/>
          <p:nvPr/>
        </p:nvSpPr>
        <p:spPr>
          <a:xfrm>
            <a:off x="742913" y="866186"/>
            <a:ext cx="36861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00"/>
              <a:buFont typeface="Space Grotesk SemiBold"/>
              <a:buNone/>
            </a:pPr>
            <a:r>
              <a:rPr lang="en-US" sz="11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Why Us, Why Now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2"/>
          <p:cNvSpPr/>
          <p:nvPr/>
        </p:nvSpPr>
        <p:spPr>
          <a:xfrm>
            <a:off x="650625" y="1108868"/>
            <a:ext cx="3686100" cy="6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1000">
                <a:highlight>
                  <a:srgbClr val="FFFFFF"/>
                </a:highlight>
              </a:rPr>
              <a:t>We have successfully engineered a constrained 9-element RHEA+FGM system achieving a 3D-validated Safety Factor of 1.71 and an oxidation mass gain of just 7.5 mg/cm² — computationally clearing the 1.50 airworthiness threshold while reducing Hafnium exposure by &gt;75%. We are ready to transition from digital twin to physical test.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850" b="0" i="0" u="none" strike="noStrike" cap="none"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2"/>
          <p:cNvSpPr/>
          <p:nvPr/>
        </p:nvSpPr>
        <p:spPr>
          <a:xfrm>
            <a:off x="4886325" y="817661"/>
            <a:ext cx="36861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00"/>
              <a:buFont typeface="Space Grotesk SemiBold"/>
              <a:buNone/>
            </a:pPr>
            <a:r>
              <a:rPr lang="en-US" sz="11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 Crystal Paradigm Team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2"/>
          <p:cNvSpPr/>
          <p:nvPr/>
        </p:nvSpPr>
        <p:spPr>
          <a:xfrm>
            <a:off x="4886325" y="1068075"/>
            <a:ext cx="4058100" cy="1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highlight>
                  <a:srgbClr val="FFFFFF"/>
                </a:highlight>
              </a:rPr>
              <a:t>Our scientific foundation is anchored by top-tier mentors, including Dr. Shilpa Choudhary (Stanford Top 2% Scientist, 16+ yrs AI) and Dr. Kasarapu Venkataramana (CSIR-IICT, 12+ yrs materials science). The rapid technical execution and day-to-day innovation are driven by our core team of undergraduate AI Research Interns and applied engineering specialists. Together, we manage high-throughput data pipelines, multi-physics simulations, and ML/AutoML workflows under structured, expert oversight.</a:t>
            </a:r>
            <a:r>
              <a:rPr lang="en-US" sz="1100">
                <a:highlight>
                  <a:srgbClr val="FFFFFF"/>
                </a:highlight>
              </a:rPr>
              <a:t> </a:t>
            </a:r>
            <a:endParaRPr sz="1100"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endParaRPr sz="1100">
              <a:solidFill>
                <a:srgbClr val="1F1F1F"/>
              </a:solidFill>
            </a:endParaRPr>
          </a:p>
        </p:txBody>
      </p:sp>
      <p:sp>
        <p:nvSpPr>
          <p:cNvPr id="514" name="Google Shape;514;p12"/>
          <p:cNvSpPr/>
          <p:nvPr/>
        </p:nvSpPr>
        <p:spPr>
          <a:xfrm>
            <a:off x="571500" y="2347710"/>
            <a:ext cx="8001000" cy="2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1200"/>
              <a:buFont typeface="Space Grotesk SemiBold"/>
              <a:buNone/>
            </a:pPr>
            <a:r>
              <a:rPr lang="en-US" b="1">
                <a:solidFill>
                  <a:srgbClr val="2BDEF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EXECUTION PHASES:</a:t>
            </a:r>
            <a:r>
              <a:rPr lang="en-US" sz="1200">
                <a:solidFill>
                  <a:srgbClr val="4A86E8"/>
                </a:solidFill>
                <a:highlight>
                  <a:srgbClr val="F0FDF4"/>
                </a:highlight>
              </a:rPr>
              <a:t> </a:t>
            </a:r>
            <a:endParaRPr sz="1200" b="0" i="0" u="none" strike="noStrike" cap="none">
              <a:solidFill>
                <a:srgbClr val="4A86E8"/>
              </a:solidFill>
              <a:highlight>
                <a:srgbClr val="F0FDF4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2"/>
          <p:cNvSpPr/>
          <p:nvPr/>
        </p:nvSpPr>
        <p:spPr>
          <a:xfrm>
            <a:off x="571500" y="2807494"/>
            <a:ext cx="8001000" cy="14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12"/>
          <p:cNvSpPr/>
          <p:nvPr/>
        </p:nvSpPr>
        <p:spPr>
          <a:xfrm>
            <a:off x="571500" y="2950369"/>
            <a:ext cx="2666991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0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PHASE 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2"/>
          <p:cNvSpPr/>
          <p:nvPr/>
        </p:nvSpPr>
        <p:spPr>
          <a:xfrm>
            <a:off x="571500" y="3186113"/>
            <a:ext cx="26670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0050" tIns="0" rIns="170050" bIns="0" anchor="t" anchorCtr="0">
            <a:sp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>
                <a:highlight>
                  <a:srgbClr val="FFFFFF"/>
                </a:highlight>
              </a:rPr>
              <a:t>Execute unreduced 3D FEniCS FEA stress field grids and MACE Machine Learning Force Field MD simulations against Safran’s specific propulsion boundary constraints. </a:t>
            </a:r>
            <a:endParaRPr sz="750" i="0" u="none" strike="noStrike" cap="none">
              <a:highlight>
                <a:srgbClr val="FFFFFF"/>
              </a:highlight>
            </a:endParaRPr>
          </a:p>
        </p:txBody>
      </p:sp>
      <p:sp>
        <p:nvSpPr>
          <p:cNvPr id="518" name="Google Shape;518;p12"/>
          <p:cNvSpPr/>
          <p:nvPr/>
        </p:nvSpPr>
        <p:spPr>
          <a:xfrm>
            <a:off x="3238491" y="2950369"/>
            <a:ext cx="2666991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0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PHASE 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2"/>
          <p:cNvSpPr/>
          <p:nvPr/>
        </p:nvSpPr>
        <p:spPr>
          <a:xfrm>
            <a:off x="3238491" y="3186113"/>
            <a:ext cx="2666991" cy="420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0050" tIns="0" rIns="170050" bIns="0" anchor="t" anchorCtr="0">
            <a:sp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1000">
                <a:highlight>
                  <a:srgbClr val="FFFFFF"/>
                </a:highlight>
              </a:rPr>
              <a:t>Direct export of our continuous FGM physics curves into discrete 11-layer LENS multi-hopper powder printing matrices to initiate coupon fabrication.</a:t>
            </a:r>
            <a:r>
              <a:rPr lang="en-US" sz="1100">
                <a:highlight>
                  <a:srgbClr val="FFFFFF"/>
                </a:highlight>
              </a:rPr>
              <a:t> </a:t>
            </a:r>
            <a:endParaRPr sz="750" b="0" i="0" u="none" strike="noStrike" cap="none"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2"/>
          <p:cNvSpPr/>
          <p:nvPr/>
        </p:nvSpPr>
        <p:spPr>
          <a:xfrm>
            <a:off x="5905481" y="2950369"/>
            <a:ext cx="2666991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PHASE 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2"/>
          <p:cNvSpPr/>
          <p:nvPr/>
        </p:nvSpPr>
        <p:spPr>
          <a:xfrm>
            <a:off x="5905481" y="3186113"/>
            <a:ext cx="2666991" cy="280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0050" tIns="0" rIns="170050" bIns="0" anchor="t" anchorCtr="0">
            <a:sp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1000">
                <a:highlight>
                  <a:srgbClr val="FFFFFF"/>
                </a:highlight>
              </a:rPr>
              <a:t>Subject printed FGM coupons to 1,000 continuous thermal shock cycles at 1400°C in an automated Jet Burner Rig to confirm empirical Safety Factor &gt;= 1.50.</a:t>
            </a:r>
            <a:r>
              <a:rPr lang="en-US" sz="1100">
                <a:highlight>
                  <a:srgbClr val="FFFFFF"/>
                </a:highlight>
              </a:rPr>
              <a:t> </a:t>
            </a:r>
            <a:endParaRPr sz="750" b="0" i="0" u="none" strike="noStrike" cap="none"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2"/>
          <p:cNvSpPr/>
          <p:nvPr/>
        </p:nvSpPr>
        <p:spPr>
          <a:xfrm>
            <a:off x="0" y="4034740"/>
            <a:ext cx="9144000" cy="1378744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12"/>
          <p:cNvSpPr/>
          <p:nvPr/>
        </p:nvSpPr>
        <p:spPr>
          <a:xfrm>
            <a:off x="-52775" y="4236400"/>
            <a:ext cx="86937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Space Grotesk SemiBold"/>
              <a:buNone/>
            </a:pPr>
            <a:r>
              <a:rPr lang="en-US" sz="125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Partnering to bridge the gap between materials informatics and operational deployment.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2"/>
          <p:cNvSpPr/>
          <p:nvPr/>
        </p:nvSpPr>
        <p:spPr>
          <a:xfrm>
            <a:off x="571500" y="4763100"/>
            <a:ext cx="8175000" cy="2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1600"/>
              <a:buFont typeface="Space Grotesk SemiBold"/>
              <a:buNone/>
            </a:pPr>
            <a:r>
              <a:rPr lang="en-US" sz="1600" b="0" i="0" u="sng" strike="noStrike" cap="none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crystalparadigm.in</a:t>
            </a:r>
            <a:r>
              <a:rPr lang="en-US" sz="1600">
                <a:solidFill>
                  <a:srgbClr val="2BDEFD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 khub.crystalparadigm@gmail.com</a:t>
            </a:r>
            <a:endParaRPr sz="1600" b="0" i="0" u="none" strike="noStrike" cap="none">
              <a:solidFill>
                <a:srgbClr val="2BDEF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2406</Words>
  <Application>Microsoft Office PowerPoint</Application>
  <PresentationFormat>On-screen Show (16:9)</PresentationFormat>
  <Paragraphs>311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Space Grotesk</vt:lpstr>
      <vt:lpstr>Inter Medium</vt:lpstr>
      <vt:lpstr>Arial</vt:lpstr>
      <vt:lpstr>Courier New</vt:lpstr>
      <vt:lpstr>Calibri</vt:lpstr>
      <vt:lpstr>Inter</vt:lpstr>
      <vt:lpstr>Inter SemiBold</vt:lpstr>
      <vt:lpstr>Space Grotesk SemiBold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MOHAMMED AHMED RAZA</cp:lastModifiedBy>
  <cp:revision>2</cp:revision>
  <dcterms:created xsi:type="dcterms:W3CDTF">2026-06-04T12:08:38Z</dcterms:created>
  <dcterms:modified xsi:type="dcterms:W3CDTF">2026-06-05T17:38:03Z</dcterms:modified>
</cp:coreProperties>
</file>