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1.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 / 18</a:t>
            </a:r>
            <a:endParaRPr lang="en-US" sz="900" dirty="0"/>
          </a:p>
        </p:txBody>
      </p:sp>
      <p:sp>
        <p:nvSpPr>
          <p:cNvPr id="3" name="Shape 1"/>
          <p:cNvSpPr/>
          <p:nvPr/>
        </p:nvSpPr>
        <p:spPr>
          <a:xfrm>
            <a:off x="0" y="6263640"/>
            <a:ext cx="12188952" cy="0"/>
          </a:xfrm>
          <a:prstGeom prst="line">
            <a:avLst/>
          </a:prstGeom>
          <a:noFill/>
          <a:ln w="9525">
            <a:solidFill>
              <a:srgbClr val="2A3550"/>
            </a:solidFill>
            <a:prstDash val="solid"/>
          </a:ln>
        </p:spPr>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E5A0"/>
                </a:solidFill>
                <a:latin typeface="Arial" pitchFamily="34" charset="0"/>
                <a:ea typeface="Arial" pitchFamily="34" charset="-122"/>
                <a:cs typeface="Arial" pitchFamily="34" charset="-120"/>
              </a:rPr>
              <a:t>SCIDIP PROGRAM APPLICATION</a:t>
            </a:r>
            <a:endParaRPr lang="en-US" sz="1200" dirty="0"/>
          </a:p>
        </p:txBody>
      </p:sp>
      <p:sp>
        <p:nvSpPr>
          <p:cNvPr id="5" name="Text 3"/>
          <p:cNvSpPr/>
          <p:nvPr/>
        </p:nvSpPr>
        <p:spPr>
          <a:xfrm>
            <a:off x="548640" y="658368"/>
            <a:ext cx="7315200" cy="274320"/>
          </a:xfrm>
          <a:prstGeom prst="rect">
            <a:avLst/>
          </a:prstGeom>
          <a:noFill/>
          <a:ln/>
        </p:spPr>
        <p:txBody>
          <a:bodyPr wrap="square" rtlCol="0" anchor="ctr"/>
          <a:lstStyle/>
          <a:p>
            <a:pPr indent="0" marL="0">
              <a:buNone/>
            </a:pPr>
            <a:r>
              <a:rPr lang="en-US" sz="1050" dirty="0">
                <a:solidFill>
                  <a:srgbClr val="6E7A90"/>
                </a:solidFill>
                <a:latin typeface="Calibri" pitchFamily="34" charset="0"/>
                <a:ea typeface="Calibri" pitchFamily="34" charset="-122"/>
                <a:cs typeface="Calibri" pitchFamily="34" charset="-120"/>
              </a:rPr>
              <a:t>Advanced Materials  ·  Advanced Batteries  ·  Electric Mobility  ·  Sustainability</a:t>
            </a:r>
            <a:endParaRPr lang="en-US" sz="1050" dirty="0"/>
          </a:p>
        </p:txBody>
      </p:sp>
      <p:sp>
        <p:nvSpPr>
          <p:cNvPr id="6" name="Text 4"/>
          <p:cNvSpPr/>
          <p:nvPr/>
        </p:nvSpPr>
        <p:spPr>
          <a:xfrm>
            <a:off x="548640" y="1188720"/>
            <a:ext cx="7040880" cy="1600200"/>
          </a:xfrm>
          <a:prstGeom prst="rect">
            <a:avLst/>
          </a:prstGeom>
          <a:noFill/>
          <a:ln/>
        </p:spPr>
        <p:txBody>
          <a:bodyPr wrap="square" rtlCol="0" anchor="t"/>
          <a:lstStyle/>
          <a:p>
            <a:pPr indent="0" marL="0">
              <a:lnSpc>
                <a:spcPct val="112000"/>
              </a:lnSpc>
              <a:buNone/>
            </a:pPr>
            <a:r>
              <a:rPr lang="en-US" sz="2900" b="1" dirty="0">
                <a:solidFill>
                  <a:srgbClr val="F5F7FA"/>
                </a:solidFill>
                <a:latin typeface="Arial" pitchFamily="34" charset="0"/>
                <a:ea typeface="Arial" pitchFamily="34" charset="-122"/>
                <a:cs typeface="Arial" pitchFamily="34" charset="-120"/>
              </a:rPr>
              <a:t>Accelerating Innovation at the Intersection of AI and Material Science</a:t>
            </a:r>
            <a:endParaRPr lang="en-US" sz="2900" dirty="0"/>
          </a:p>
        </p:txBody>
      </p:sp>
      <p:sp>
        <p:nvSpPr>
          <p:cNvPr id="7" name="Text 5"/>
          <p:cNvSpPr/>
          <p:nvPr/>
        </p:nvSpPr>
        <p:spPr>
          <a:xfrm>
            <a:off x="548640" y="2880360"/>
            <a:ext cx="6675120" cy="914400"/>
          </a:xfrm>
          <a:prstGeom prst="rect">
            <a:avLst/>
          </a:prstGeom>
          <a:noFill/>
          <a:ln/>
        </p:spPr>
        <p:txBody>
          <a:bodyPr wrap="square" rtlCol="0" anchor="ctr"/>
          <a:lstStyle/>
          <a:p>
            <a:pPr indent="0" marL="0">
              <a:lnSpc>
                <a:spcPct val="125000"/>
              </a:lnSpc>
              <a:buNone/>
            </a:pPr>
            <a:r>
              <a:rPr lang="en-US" sz="1450" dirty="0">
                <a:solidFill>
                  <a:srgbClr val="AAB4C6"/>
                </a:solidFill>
                <a:latin typeface="Calibri" pitchFamily="34" charset="0"/>
                <a:ea typeface="Calibri" pitchFamily="34" charset="-122"/>
                <a:cs typeface="Calibri" pitchFamily="34" charset="-120"/>
              </a:rPr>
              <a:t>Crystal Paradigm is an elite Deep-Tech Discovery Platform. We leverage artificial intelligence and high-performance computing to accelerate material discovery from </a:t>
            </a:r>
            <a:pPr indent="0" marL="0">
              <a:lnSpc>
                <a:spcPct val="125000"/>
              </a:lnSpc>
              <a:buNone/>
            </a:pPr>
            <a:r>
              <a:rPr lang="en-US" sz="1450" b="1" dirty="0">
                <a:solidFill>
                  <a:srgbClr val="00E5A0"/>
                </a:solidFill>
                <a:latin typeface="Calibri" pitchFamily="34" charset="0"/>
                <a:ea typeface="Calibri" pitchFamily="34" charset="-122"/>
                <a:cs typeface="Calibri" pitchFamily="34" charset="-120"/>
              </a:rPr>
              <a:t>5 years to 4 weeks</a:t>
            </a:r>
            <a:pPr indent="0" marL="0">
              <a:lnSpc>
                <a:spcPct val="125000"/>
              </a:lnSpc>
              <a:buNone/>
            </a:pPr>
            <a:r>
              <a:rPr lang="en-US" sz="1450" dirty="0">
                <a:solidFill>
                  <a:srgbClr val="AAB4C6"/>
                </a:solidFill>
                <a:latin typeface="Calibri" pitchFamily="34" charset="0"/>
                <a:ea typeface="Calibri" pitchFamily="34" charset="-122"/>
                <a:cs typeface="Calibri" pitchFamily="34" charset="-120"/>
              </a:rPr>
              <a:t>.</a:t>
            </a:r>
            <a:endParaRPr lang="en-US" sz="1450" dirty="0"/>
          </a:p>
        </p:txBody>
      </p:sp>
      <p:sp>
        <p:nvSpPr>
          <p:cNvPr id="8" name="Shape 6"/>
          <p:cNvSpPr/>
          <p:nvPr/>
        </p:nvSpPr>
        <p:spPr>
          <a:xfrm>
            <a:off x="7818120" y="1234440"/>
            <a:ext cx="1737360" cy="1737360"/>
          </a:xfrm>
          <a:prstGeom prst="ellipse">
            <a:avLst/>
          </a:prstGeom>
          <a:solidFill>
            <a:srgbClr val="1A2338"/>
          </a:solidFill>
          <a:ln w="15875">
            <a:solidFill>
              <a:srgbClr val="00E5A0"/>
            </a:solidFill>
            <a:prstDash val="solid"/>
          </a:ln>
        </p:spPr>
      </p:sp>
      <p:pic>
        <p:nvPicPr>
          <p:cNvPr id="9" name="Image 0" descr="assets/icon_atom.png">    </p:cNvPr>
          <p:cNvPicPr>
            <a:picLocks noChangeAspect="1"/>
          </p:cNvPicPr>
          <p:nvPr/>
        </p:nvPicPr>
        <p:blipFill>
          <a:blip r:embed="rId1"/>
          <a:stretch>
            <a:fillRect/>
          </a:stretch>
        </p:blipFill>
        <p:spPr>
          <a:xfrm>
            <a:off x="8235086" y="1651406"/>
            <a:ext cx="903427" cy="903427"/>
          </a:xfrm>
          <a:prstGeom prst="rect">
            <a:avLst/>
          </a:prstGeom>
        </p:spPr>
      </p:pic>
      <p:sp>
        <p:nvSpPr>
          <p:cNvPr id="10" name="Shape 7"/>
          <p:cNvSpPr/>
          <p:nvPr/>
        </p:nvSpPr>
        <p:spPr>
          <a:xfrm>
            <a:off x="7452360" y="868680"/>
            <a:ext cx="2468880" cy="2468880"/>
          </a:xfrm>
          <a:prstGeom prst="ellipse">
            <a:avLst/>
          </a:prstGeom>
          <a:ln w="12700">
            <a:solidFill>
              <a:srgbClr val="00B8FF"/>
            </a:solidFill>
            <a:prstDash val="dash"/>
          </a:ln>
        </p:spPr>
      </p:sp>
      <p:sp>
        <p:nvSpPr>
          <p:cNvPr id="11" name="Shape 8"/>
          <p:cNvSpPr/>
          <p:nvPr/>
        </p:nvSpPr>
        <p:spPr>
          <a:xfrm>
            <a:off x="7635240" y="2926080"/>
            <a:ext cx="109728" cy="109728"/>
          </a:xfrm>
          <a:prstGeom prst="ellipse">
            <a:avLst/>
          </a:prstGeom>
          <a:solidFill>
            <a:srgbClr val="00B8FF"/>
          </a:solidFill>
          <a:ln/>
        </p:spPr>
      </p:sp>
      <p:sp>
        <p:nvSpPr>
          <p:cNvPr id="12" name="Shape 9"/>
          <p:cNvSpPr/>
          <p:nvPr/>
        </p:nvSpPr>
        <p:spPr>
          <a:xfrm>
            <a:off x="9875520" y="1463040"/>
            <a:ext cx="109728" cy="109728"/>
          </a:xfrm>
          <a:prstGeom prst="ellipse">
            <a:avLst/>
          </a:prstGeom>
          <a:solidFill>
            <a:srgbClr val="00E5A0"/>
          </a:solidFill>
          <a:ln/>
        </p:spPr>
      </p:sp>
      <p:sp>
        <p:nvSpPr>
          <p:cNvPr id="13" name="Shape 10"/>
          <p:cNvSpPr/>
          <p:nvPr/>
        </p:nvSpPr>
        <p:spPr>
          <a:xfrm>
            <a:off x="7452360" y="3794760"/>
            <a:ext cx="1234440" cy="914400"/>
          </a:xfrm>
          <a:prstGeom prst="roundRect">
            <a:avLst>
              <a:gd name="adj" fmla="val 12000"/>
            </a:avLst>
          </a:prstGeom>
          <a:solidFill>
            <a:srgbClr val="141B2E"/>
          </a:solidFill>
          <a:ln w="12700">
            <a:solidFill>
              <a:srgbClr val="2A3550"/>
            </a:solidFill>
            <a:prstDash val="solid"/>
          </a:ln>
        </p:spPr>
      </p:sp>
      <p:sp>
        <p:nvSpPr>
          <p:cNvPr id="14" name="Shape 11"/>
          <p:cNvSpPr/>
          <p:nvPr/>
        </p:nvSpPr>
        <p:spPr>
          <a:xfrm>
            <a:off x="7836408" y="3950208"/>
            <a:ext cx="457200" cy="457200"/>
          </a:xfrm>
          <a:prstGeom prst="ellipse">
            <a:avLst/>
          </a:prstGeom>
          <a:solidFill>
            <a:srgbClr val="1A2338"/>
          </a:solidFill>
          <a:ln w="15875">
            <a:solidFill>
              <a:srgbClr val="00B8FF"/>
            </a:solidFill>
            <a:prstDash val="solid"/>
          </a:ln>
        </p:spPr>
      </p:sp>
      <p:pic>
        <p:nvPicPr>
          <p:cNvPr id="15" name="Image 1" descr="assets/icon_battery.png">    </p:cNvPr>
          <p:cNvPicPr>
            <a:picLocks noChangeAspect="1"/>
          </p:cNvPicPr>
          <p:nvPr/>
        </p:nvPicPr>
        <p:blipFill>
          <a:blip r:embed="rId2"/>
          <a:stretch>
            <a:fillRect/>
          </a:stretch>
        </p:blipFill>
        <p:spPr>
          <a:xfrm>
            <a:off x="7946136" y="4059936"/>
            <a:ext cx="237744" cy="237744"/>
          </a:xfrm>
          <a:prstGeom prst="rect">
            <a:avLst/>
          </a:prstGeom>
        </p:spPr>
      </p:pic>
      <p:sp>
        <p:nvSpPr>
          <p:cNvPr id="16" name="Text 12"/>
          <p:cNvSpPr/>
          <p:nvPr/>
        </p:nvSpPr>
        <p:spPr>
          <a:xfrm>
            <a:off x="7452360" y="4443984"/>
            <a:ext cx="1234440" cy="228600"/>
          </a:xfrm>
          <a:prstGeom prst="rect">
            <a:avLst/>
          </a:prstGeom>
          <a:noFill/>
          <a:ln/>
        </p:spPr>
        <p:txBody>
          <a:bodyPr wrap="square" rtlCol="0" anchor="ctr"/>
          <a:lstStyle/>
          <a:p>
            <a:pPr algn="ctr" indent="0" marL="0">
              <a:buNone/>
            </a:pPr>
            <a:r>
              <a:rPr lang="en-US" sz="1000" dirty="0">
                <a:solidFill>
                  <a:srgbClr val="AAB4C6"/>
                </a:solidFill>
                <a:latin typeface="Calibri" pitchFamily="34" charset="0"/>
                <a:ea typeface="Calibri" pitchFamily="34" charset="-122"/>
                <a:cs typeface="Calibri" pitchFamily="34" charset="-120"/>
              </a:rPr>
              <a:t>Batteries</a:t>
            </a:r>
            <a:endParaRPr lang="en-US" sz="1000" dirty="0"/>
          </a:p>
        </p:txBody>
      </p:sp>
      <p:sp>
        <p:nvSpPr>
          <p:cNvPr id="17" name="Shape 13"/>
          <p:cNvSpPr/>
          <p:nvPr/>
        </p:nvSpPr>
        <p:spPr>
          <a:xfrm>
            <a:off x="8869680" y="3794760"/>
            <a:ext cx="1234440" cy="914400"/>
          </a:xfrm>
          <a:prstGeom prst="roundRect">
            <a:avLst>
              <a:gd name="adj" fmla="val 12000"/>
            </a:avLst>
          </a:prstGeom>
          <a:solidFill>
            <a:srgbClr val="141B2E"/>
          </a:solidFill>
          <a:ln w="12700">
            <a:solidFill>
              <a:srgbClr val="2A3550"/>
            </a:solidFill>
            <a:prstDash val="solid"/>
          </a:ln>
        </p:spPr>
      </p:sp>
      <p:sp>
        <p:nvSpPr>
          <p:cNvPr id="18" name="Shape 14"/>
          <p:cNvSpPr/>
          <p:nvPr/>
        </p:nvSpPr>
        <p:spPr>
          <a:xfrm>
            <a:off x="9253728" y="3950208"/>
            <a:ext cx="457200" cy="457200"/>
          </a:xfrm>
          <a:prstGeom prst="ellipse">
            <a:avLst/>
          </a:prstGeom>
          <a:solidFill>
            <a:srgbClr val="1A2338"/>
          </a:solidFill>
          <a:ln w="15875">
            <a:solidFill>
              <a:srgbClr val="00B8FF"/>
            </a:solidFill>
            <a:prstDash val="solid"/>
          </a:ln>
        </p:spPr>
      </p:sp>
      <p:pic>
        <p:nvPicPr>
          <p:cNvPr id="19" name="Image 2" descr="assets/icon_radio.png">    </p:cNvPr>
          <p:cNvPicPr>
            <a:picLocks noChangeAspect="1"/>
          </p:cNvPicPr>
          <p:nvPr/>
        </p:nvPicPr>
        <p:blipFill>
          <a:blip r:embed="rId3"/>
          <a:stretch>
            <a:fillRect/>
          </a:stretch>
        </p:blipFill>
        <p:spPr>
          <a:xfrm>
            <a:off x="9363456" y="4059936"/>
            <a:ext cx="237744" cy="237744"/>
          </a:xfrm>
          <a:prstGeom prst="rect">
            <a:avLst/>
          </a:prstGeom>
        </p:spPr>
      </p:pic>
      <p:sp>
        <p:nvSpPr>
          <p:cNvPr id="20" name="Text 15"/>
          <p:cNvSpPr/>
          <p:nvPr/>
        </p:nvSpPr>
        <p:spPr>
          <a:xfrm>
            <a:off x="8869680" y="4443984"/>
            <a:ext cx="1234440" cy="228600"/>
          </a:xfrm>
          <a:prstGeom prst="rect">
            <a:avLst/>
          </a:prstGeom>
          <a:noFill/>
          <a:ln/>
        </p:spPr>
        <p:txBody>
          <a:bodyPr wrap="square" rtlCol="0" anchor="ctr"/>
          <a:lstStyle/>
          <a:p>
            <a:pPr algn="ctr" indent="0" marL="0">
              <a:buNone/>
            </a:pPr>
            <a:r>
              <a:rPr lang="en-US" sz="1000" dirty="0">
                <a:solidFill>
                  <a:srgbClr val="AAB4C6"/>
                </a:solidFill>
                <a:latin typeface="Calibri" pitchFamily="34" charset="0"/>
                <a:ea typeface="Calibri" pitchFamily="34" charset="-122"/>
                <a:cs typeface="Calibri" pitchFamily="34" charset="-120"/>
              </a:rPr>
              <a:t>Sensors</a:t>
            </a:r>
            <a:endParaRPr lang="en-US" sz="1000" dirty="0"/>
          </a:p>
        </p:txBody>
      </p:sp>
      <p:sp>
        <p:nvSpPr>
          <p:cNvPr id="21" name="Shape 16"/>
          <p:cNvSpPr/>
          <p:nvPr/>
        </p:nvSpPr>
        <p:spPr>
          <a:xfrm>
            <a:off x="10287000" y="3794760"/>
            <a:ext cx="1234440" cy="914400"/>
          </a:xfrm>
          <a:prstGeom prst="roundRect">
            <a:avLst>
              <a:gd name="adj" fmla="val 12000"/>
            </a:avLst>
          </a:prstGeom>
          <a:solidFill>
            <a:srgbClr val="141B2E"/>
          </a:solidFill>
          <a:ln w="12700">
            <a:solidFill>
              <a:srgbClr val="2A3550"/>
            </a:solidFill>
            <a:prstDash val="solid"/>
          </a:ln>
        </p:spPr>
      </p:sp>
      <p:sp>
        <p:nvSpPr>
          <p:cNvPr id="22" name="Shape 17"/>
          <p:cNvSpPr/>
          <p:nvPr/>
        </p:nvSpPr>
        <p:spPr>
          <a:xfrm>
            <a:off x="10671048" y="3950208"/>
            <a:ext cx="457200" cy="457200"/>
          </a:xfrm>
          <a:prstGeom prst="ellipse">
            <a:avLst/>
          </a:prstGeom>
          <a:solidFill>
            <a:srgbClr val="1A2338"/>
          </a:solidFill>
          <a:ln w="15875">
            <a:solidFill>
              <a:srgbClr val="00B8FF"/>
            </a:solidFill>
            <a:prstDash val="solid"/>
          </a:ln>
        </p:spPr>
      </p:sp>
      <p:pic>
        <p:nvPicPr>
          <p:cNvPr id="23" name="Image 3" descr="assets/icon_rocket.png">    </p:cNvPr>
          <p:cNvPicPr>
            <a:picLocks noChangeAspect="1"/>
          </p:cNvPicPr>
          <p:nvPr/>
        </p:nvPicPr>
        <p:blipFill>
          <a:blip r:embed="rId4"/>
          <a:stretch>
            <a:fillRect/>
          </a:stretch>
        </p:blipFill>
        <p:spPr>
          <a:xfrm>
            <a:off x="10780776" y="4059936"/>
            <a:ext cx="237744" cy="237744"/>
          </a:xfrm>
          <a:prstGeom prst="rect">
            <a:avLst/>
          </a:prstGeom>
        </p:spPr>
      </p:pic>
      <p:sp>
        <p:nvSpPr>
          <p:cNvPr id="24" name="Text 18"/>
          <p:cNvSpPr/>
          <p:nvPr/>
        </p:nvSpPr>
        <p:spPr>
          <a:xfrm>
            <a:off x="10287000" y="4443984"/>
            <a:ext cx="1234440" cy="228600"/>
          </a:xfrm>
          <a:prstGeom prst="rect">
            <a:avLst/>
          </a:prstGeom>
          <a:noFill/>
          <a:ln/>
        </p:spPr>
        <p:txBody>
          <a:bodyPr wrap="square" rtlCol="0" anchor="ctr"/>
          <a:lstStyle/>
          <a:p>
            <a:pPr algn="ctr" indent="0" marL="0">
              <a:buNone/>
            </a:pPr>
            <a:r>
              <a:rPr lang="en-US" sz="1000" dirty="0">
                <a:solidFill>
                  <a:srgbClr val="AAB4C6"/>
                </a:solidFill>
                <a:latin typeface="Calibri" pitchFamily="34" charset="0"/>
                <a:ea typeface="Calibri" pitchFamily="34" charset="-122"/>
                <a:cs typeface="Calibri" pitchFamily="34" charset="-120"/>
              </a:rPr>
              <a:t>Aerospace</a:t>
            </a:r>
            <a:endParaRPr lang="en-US" sz="1000" dirty="0"/>
          </a:p>
        </p:txBody>
      </p:sp>
      <p:sp>
        <p:nvSpPr>
          <p:cNvPr id="25" name="Shape 19"/>
          <p:cNvSpPr/>
          <p:nvPr/>
        </p:nvSpPr>
        <p:spPr>
          <a:xfrm>
            <a:off x="548640" y="3977640"/>
            <a:ext cx="5349240" cy="2057400"/>
          </a:xfrm>
          <a:prstGeom prst="roundRect">
            <a:avLst>
              <a:gd name="adj" fmla="val 4444"/>
            </a:avLst>
          </a:prstGeom>
          <a:solidFill>
            <a:srgbClr val="141B2E"/>
          </a:solidFill>
          <a:ln w="12700">
            <a:solidFill>
              <a:srgbClr val="2A3550"/>
            </a:solidFill>
            <a:prstDash val="solid"/>
          </a:ln>
        </p:spPr>
      </p:sp>
      <p:sp>
        <p:nvSpPr>
          <p:cNvPr id="26" name="Shape 20"/>
          <p:cNvSpPr/>
          <p:nvPr/>
        </p:nvSpPr>
        <p:spPr>
          <a:xfrm>
            <a:off x="804672" y="4215384"/>
            <a:ext cx="475488" cy="475488"/>
          </a:xfrm>
          <a:prstGeom prst="ellipse">
            <a:avLst/>
          </a:prstGeom>
          <a:solidFill>
            <a:srgbClr val="1A2338"/>
          </a:solidFill>
          <a:ln w="15875">
            <a:solidFill>
              <a:srgbClr val="00E5A0"/>
            </a:solidFill>
            <a:prstDash val="solid"/>
          </a:ln>
        </p:spPr>
      </p:sp>
      <p:pic>
        <p:nvPicPr>
          <p:cNvPr id="27" name="Image 4" descr="assets/icon_trending.png">    </p:cNvPr>
          <p:cNvPicPr>
            <a:picLocks noChangeAspect="1"/>
          </p:cNvPicPr>
          <p:nvPr/>
        </p:nvPicPr>
        <p:blipFill>
          <a:blip r:embed="rId5"/>
          <a:stretch>
            <a:fillRect/>
          </a:stretch>
        </p:blipFill>
        <p:spPr>
          <a:xfrm>
            <a:off x="918789" y="4329501"/>
            <a:ext cx="247254" cy="247254"/>
          </a:xfrm>
          <a:prstGeom prst="rect">
            <a:avLst/>
          </a:prstGeom>
        </p:spPr>
      </p:pic>
      <p:sp>
        <p:nvSpPr>
          <p:cNvPr id="28" name="Text 21"/>
          <p:cNvSpPr/>
          <p:nvPr/>
        </p:nvSpPr>
        <p:spPr>
          <a:xfrm>
            <a:off x="1417320" y="4215384"/>
            <a:ext cx="4251960" cy="457200"/>
          </a:xfrm>
          <a:prstGeom prst="rect">
            <a:avLst/>
          </a:prstGeom>
          <a:noFill/>
          <a:ln/>
        </p:spPr>
        <p:txBody>
          <a:bodyPr wrap="square" rtlCol="0" anchor="ctr"/>
          <a:lstStyle/>
          <a:p>
            <a:pPr indent="0" marL="0">
              <a:buNone/>
            </a:pPr>
            <a:r>
              <a:rPr lang="en-US" sz="1300" b="1" spc="50" kern="0" dirty="0">
                <a:solidFill>
                  <a:srgbClr val="F5F7FA"/>
                </a:solidFill>
                <a:latin typeface="Arial" pitchFamily="34" charset="0"/>
                <a:ea typeface="Arial" pitchFamily="34" charset="-122"/>
                <a:cs typeface="Arial" pitchFamily="34" charset="-120"/>
              </a:rPr>
              <a:t>OUR EXPANDING PIPELINE</a:t>
            </a:r>
            <a:endParaRPr lang="en-US" sz="1300" dirty="0"/>
          </a:p>
        </p:txBody>
      </p:sp>
      <p:sp>
        <p:nvSpPr>
          <p:cNvPr id="29" name="Text 22"/>
          <p:cNvSpPr/>
          <p:nvPr/>
        </p:nvSpPr>
        <p:spPr>
          <a:xfrm>
            <a:off x="822960" y="4572000"/>
            <a:ext cx="4846320" cy="457200"/>
          </a:xfrm>
          <a:prstGeom prst="rect">
            <a:avLst/>
          </a:prstGeom>
          <a:noFill/>
          <a:ln/>
        </p:spPr>
        <p:txBody>
          <a:bodyPr wrap="square" rtlCol="0" anchor="ctr"/>
          <a:lstStyle/>
          <a:p>
            <a:pPr indent="0" marL="0">
              <a:buNone/>
            </a:pPr>
            <a:r>
              <a:rPr lang="en-US" sz="1150" i="1" dirty="0">
                <a:solidFill>
                  <a:srgbClr val="AAB4C6"/>
                </a:solidFill>
                <a:latin typeface="Calibri" pitchFamily="34" charset="0"/>
                <a:ea typeface="Calibri" pitchFamily="34" charset="-122"/>
                <a:cs typeface="Calibri" pitchFamily="34" charset="-120"/>
              </a:rPr>
              <a:t>Our AI architecture is highly scalable. We are actively advancing research across:</a:t>
            </a:r>
            <a:endParaRPr lang="en-US" sz="1150" dirty="0"/>
          </a:p>
        </p:txBody>
      </p:sp>
      <p:sp>
        <p:nvSpPr>
          <p:cNvPr id="30" name="Text 23"/>
          <p:cNvSpPr/>
          <p:nvPr/>
        </p:nvSpPr>
        <p:spPr>
          <a:xfrm>
            <a:off x="822960" y="4983480"/>
            <a:ext cx="4846320" cy="457200"/>
          </a:xfrm>
          <a:prstGeom prst="rect">
            <a:avLst/>
          </a:prstGeom>
          <a:noFill/>
          <a:ln/>
        </p:spPr>
        <p:txBody>
          <a:bodyPr wrap="square" rtlCol="0" anchor="t"/>
          <a:lstStyle/>
          <a:p>
            <a:pPr algn="l" indent="0" marL="0">
              <a:lnSpc>
                <a:spcPct val="118000"/>
              </a:lnSpc>
              <a:buNone/>
            </a:pPr>
            <a:r>
              <a:rPr lang="en-US" sz="1150" dirty="0">
                <a:solidFill>
                  <a:srgbClr val="AAB4C6"/>
                </a:solidFill>
                <a:latin typeface="Calibri" pitchFamily="34" charset="0"/>
                <a:ea typeface="Calibri" pitchFamily="34" charset="-122"/>
                <a:cs typeface="Calibri" pitchFamily="34" charset="-120"/>
              </a:rPr>
              <a:t>•  Supercapacitors &amp; Solid-State Battery Electrolytes (Li-ion &amp; Na-ion)</a:t>
            </a:r>
            <a:endParaRPr lang="en-US" sz="1150" dirty="0"/>
          </a:p>
        </p:txBody>
      </p:sp>
      <p:sp>
        <p:nvSpPr>
          <p:cNvPr id="31" name="Text 24"/>
          <p:cNvSpPr/>
          <p:nvPr/>
        </p:nvSpPr>
        <p:spPr>
          <a:xfrm>
            <a:off x="822960" y="5367528"/>
            <a:ext cx="4846320" cy="457200"/>
          </a:xfrm>
          <a:prstGeom prst="rect">
            <a:avLst/>
          </a:prstGeom>
          <a:noFill/>
          <a:ln/>
        </p:spPr>
        <p:txBody>
          <a:bodyPr wrap="square" rtlCol="0" anchor="t"/>
          <a:lstStyle/>
          <a:p>
            <a:pPr algn="l" indent="0" marL="0">
              <a:lnSpc>
                <a:spcPct val="118000"/>
              </a:lnSpc>
              <a:buNone/>
            </a:pPr>
            <a:r>
              <a:rPr lang="en-US" sz="1150" dirty="0">
                <a:solidFill>
                  <a:srgbClr val="AAB4C6"/>
                </a:solidFill>
                <a:latin typeface="Calibri" pitchFamily="34" charset="0"/>
                <a:ea typeface="Calibri" pitchFamily="34" charset="-122"/>
                <a:cs typeface="Calibri" pitchFamily="34" charset="-120"/>
              </a:rPr>
              <a:t>•  Next-Generation Solar Materials &amp; Advanced Sensor Matrices</a:t>
            </a:r>
            <a:endParaRPr lang="en-US" sz="1150" dirty="0"/>
          </a:p>
        </p:txBody>
      </p:sp>
      <p:sp>
        <p:nvSpPr>
          <p:cNvPr id="32" name="Text 25"/>
          <p:cNvSpPr/>
          <p:nvPr/>
        </p:nvSpPr>
        <p:spPr>
          <a:xfrm>
            <a:off x="822960" y="5623560"/>
            <a:ext cx="4846320" cy="411480"/>
          </a:xfrm>
          <a:prstGeom prst="rect">
            <a:avLst/>
          </a:prstGeom>
          <a:noFill/>
          <a:ln/>
        </p:spPr>
        <p:txBody>
          <a:bodyPr wrap="square" rtlCol="0" anchor="ctr"/>
          <a:lstStyle/>
          <a:p>
            <a:pPr indent="0" marL="0">
              <a:lnSpc>
                <a:spcPct val="115000"/>
              </a:lnSpc>
              <a:buNone/>
            </a:pPr>
            <a:r>
              <a:rPr lang="en-US" sz="1100" b="1" dirty="0">
                <a:solidFill>
                  <a:srgbClr val="00E5A0"/>
                </a:solidFill>
                <a:latin typeface="Calibri" pitchFamily="34" charset="0"/>
                <a:ea typeface="Calibri" pitchFamily="34" charset="-122"/>
                <a:cs typeface="Calibri" pitchFamily="34" charset="-120"/>
              </a:rPr>
              <a:t>Current Traction:</a:t>
            </a:r>
            <a:pPr indent="0" marL="0">
              <a:lnSpc>
                <a:spcPct val="115000"/>
              </a:lnSpc>
              <a:buNone/>
            </a:pPr>
            <a:r>
              <a:rPr lang="en-US" sz="1100" dirty="0">
                <a:solidFill>
                  <a:srgbClr val="AAB4C6"/>
                </a:solidFill>
                <a:latin typeface="Calibri" pitchFamily="34" charset="0"/>
                <a:ea typeface="Calibri" pitchFamily="34" charset="-122"/>
                <a:cs typeface="Calibri" pitchFamily="34" charset="-120"/>
              </a:rPr>
              <a:t> 1 Patent Accepted, 4 Research Papers Under Review, and active industry collaborations.</a:t>
            </a:r>
            <a:endParaRPr lang="en-US" sz="1100" dirty="0"/>
          </a:p>
        </p:txBody>
      </p:sp>
      <p:sp>
        <p:nvSpPr>
          <p:cNvPr id="33" name="Shape 26"/>
          <p:cNvSpPr/>
          <p:nvPr/>
        </p:nvSpPr>
        <p:spPr>
          <a:xfrm>
            <a:off x="6080760" y="3977640"/>
            <a:ext cx="5559552" cy="2057400"/>
          </a:xfrm>
          <a:prstGeom prst="roundRect">
            <a:avLst>
              <a:gd name="adj" fmla="val 4444"/>
            </a:avLst>
          </a:prstGeom>
          <a:solidFill>
            <a:srgbClr val="0A3B2E"/>
          </a:solidFill>
          <a:ln w="15875">
            <a:solidFill>
              <a:srgbClr val="00E5A0"/>
            </a:solidFill>
            <a:prstDash val="solid"/>
          </a:ln>
        </p:spPr>
      </p:sp>
      <p:sp>
        <p:nvSpPr>
          <p:cNvPr id="34" name="Text 27"/>
          <p:cNvSpPr/>
          <p:nvPr/>
        </p:nvSpPr>
        <p:spPr>
          <a:xfrm>
            <a:off x="6355080" y="4114800"/>
            <a:ext cx="5029200" cy="292608"/>
          </a:xfrm>
          <a:prstGeom prst="rect">
            <a:avLst/>
          </a:prstGeom>
          <a:noFill/>
          <a:ln/>
        </p:spPr>
        <p:txBody>
          <a:bodyPr wrap="square" rtlCol="0" anchor="ctr"/>
          <a:lstStyle/>
          <a:p>
            <a:pPr indent="0" marL="0">
              <a:buNone/>
            </a:pPr>
            <a:r>
              <a:rPr lang="en-US" sz="1250" b="1" spc="100" kern="0" dirty="0">
                <a:solidFill>
                  <a:srgbClr val="00E5A0"/>
                </a:solidFill>
                <a:latin typeface="Arial" pitchFamily="34" charset="0"/>
                <a:ea typeface="Arial" pitchFamily="34" charset="-122"/>
                <a:cs typeface="Arial" pitchFamily="34" charset="-120"/>
              </a:rPr>
              <a:t>THE SCIDIP SPEARHEAD</a:t>
            </a:r>
            <a:endParaRPr lang="en-US" sz="1250" dirty="0"/>
          </a:p>
        </p:txBody>
      </p:sp>
      <p:sp>
        <p:nvSpPr>
          <p:cNvPr id="35" name="Text 28"/>
          <p:cNvSpPr/>
          <p:nvPr/>
        </p:nvSpPr>
        <p:spPr>
          <a:xfrm>
            <a:off x="6355080" y="4480560"/>
            <a:ext cx="5029200" cy="1463040"/>
          </a:xfrm>
          <a:prstGeom prst="rect">
            <a:avLst/>
          </a:prstGeom>
          <a:noFill/>
          <a:ln/>
        </p:spPr>
        <p:txBody>
          <a:bodyPr wrap="square" rtlCol="0" anchor="ctr"/>
          <a:lstStyle/>
          <a:p>
            <a:pPr indent="0" marL="0">
              <a:lnSpc>
                <a:spcPct val="128000"/>
              </a:lnSpc>
              <a:buNone/>
            </a:pPr>
            <a:r>
              <a:rPr lang="en-US" sz="1350" dirty="0">
                <a:solidFill>
                  <a:srgbClr val="F5F7FA"/>
                </a:solidFill>
                <a:latin typeface="Calibri" pitchFamily="34" charset="0"/>
                <a:ea typeface="Calibri" pitchFamily="34" charset="-122"/>
                <a:cs typeface="Calibri" pitchFamily="34" charset="-120"/>
              </a:rPr>
              <a:t>For this application, we are deploying our most extreme, fully-validated Proof of Concept: An </a:t>
            </a:r>
            <a:pPr indent="0" marL="0">
              <a:lnSpc>
                <a:spcPct val="128000"/>
              </a:lnSpc>
              <a:buNone/>
            </a:pPr>
            <a:r>
              <a:rPr lang="en-US" sz="1350" b="1" dirty="0">
                <a:solidFill>
                  <a:srgbClr val="00E5A0"/>
                </a:solidFill>
                <a:latin typeface="Calibri" pitchFamily="34" charset="0"/>
                <a:ea typeface="Calibri" pitchFamily="34" charset="-122"/>
                <a:cs typeface="Calibri" pitchFamily="34" charset="-120"/>
              </a:rPr>
              <a:t>AI-generated, aerospace-grade Refractory High-Entropy Alloy (RHEA)</a:t>
            </a:r>
            <a:pPr indent="0" marL="0">
              <a:lnSpc>
                <a:spcPct val="128000"/>
              </a:lnSpc>
              <a:buNone/>
            </a:pPr>
            <a:r>
              <a:rPr lang="en-US" sz="1350" dirty="0">
                <a:solidFill>
                  <a:srgbClr val="F5F7FA"/>
                </a:solidFill>
                <a:latin typeface="Calibri" pitchFamily="34" charset="0"/>
                <a:ea typeface="Calibri" pitchFamily="34" charset="-122"/>
                <a:cs typeface="Calibri" pitchFamily="34" charset="-120"/>
              </a:rPr>
              <a:t> engineered to solve </a:t>
            </a:r>
            <a:pPr indent="0" marL="0">
              <a:lnSpc>
                <a:spcPct val="128000"/>
              </a:lnSpc>
              <a:buNone/>
            </a:pPr>
            <a:r>
              <a:rPr lang="en-US" sz="1350" b="1" dirty="0">
                <a:solidFill>
                  <a:srgbClr val="00E5A0"/>
                </a:solidFill>
                <a:latin typeface="Calibri" pitchFamily="34" charset="0"/>
                <a:ea typeface="Calibri" pitchFamily="34" charset="-122"/>
                <a:cs typeface="Calibri" pitchFamily="34" charset="-120"/>
              </a:rPr>
              <a:t>Sona Comstar's terrestrial thermal bottlenecks.</a:t>
            </a:r>
            <a:endParaRPr lang="en-US" sz="1350" dirty="0"/>
          </a:p>
        </p:txBody>
      </p:sp>
      <p:sp>
        <p:nvSpPr>
          <p:cNvPr id="36" name="Text 29"/>
          <p:cNvSpPr/>
          <p:nvPr/>
        </p:nvSpPr>
        <p:spPr>
          <a:xfrm>
            <a:off x="548640" y="6510528"/>
            <a:ext cx="9601200" cy="256032"/>
          </a:xfrm>
          <a:prstGeom prst="rect">
            <a:avLst/>
          </a:prstGeom>
          <a:noFill/>
          <a:ln/>
        </p:spPr>
        <p:txBody>
          <a:bodyPr wrap="square" rtlCol="0" anchor="ctr"/>
          <a:lstStyle/>
          <a:p>
            <a:pPr algn="l" indent="0" marL="0">
              <a:buNone/>
            </a:pPr>
            <a:r>
              <a:rPr lang="en-US" sz="900" dirty="0">
                <a:solidFill>
                  <a:srgbClr val="6E7A90"/>
                </a:solidFill>
                <a:latin typeface="Calibri" pitchFamily="34" charset="0"/>
                <a:ea typeface="Calibri" pitchFamily="34" charset="-122"/>
                <a:cs typeface="Calibri" pitchFamily="34" charset="-120"/>
              </a:rPr>
              <a:t>Crystal Paradigm Logo  |  SCIDIP Program Application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2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AEROSPACE PROOF OF CONCEPT</a:t>
            </a:r>
            <a:endParaRPr lang="en-US" sz="1200" dirty="0"/>
          </a:p>
        </p:txBody>
      </p:sp>
      <p:sp>
        <p:nvSpPr>
          <p:cNvPr id="5" name="Text 3"/>
          <p:cNvSpPr/>
          <p:nvPr/>
        </p:nvSpPr>
        <p:spPr>
          <a:xfrm>
            <a:off x="548640" y="658368"/>
            <a:ext cx="11064240" cy="640080"/>
          </a:xfrm>
          <a:prstGeom prst="rect">
            <a:avLst/>
          </a:prstGeom>
          <a:noFill/>
          <a:ln/>
        </p:spPr>
        <p:txBody>
          <a:bodyPr wrap="square" rtlCol="0" anchor="ctr"/>
          <a:lstStyle/>
          <a:p>
            <a:pPr algn="l" indent="0" marL="0">
              <a:lnSpc>
                <a:spcPct val="105000"/>
              </a:lnSpc>
              <a:buNone/>
            </a:pPr>
            <a:r>
              <a:rPr lang="en-US" sz="2400" b="1" spc="30" kern="0" dirty="0">
                <a:solidFill>
                  <a:srgbClr val="F5F7FA"/>
                </a:solidFill>
                <a:latin typeface="Arial" pitchFamily="34" charset="0"/>
                <a:ea typeface="Arial" pitchFamily="34" charset="-122"/>
                <a:cs typeface="Arial" pitchFamily="34" charset="-120"/>
              </a:rPr>
              <a:t>PROVING THE PHYSICS: THE AEROSPACE THERMAL BOTTLENECK</a:t>
            </a:r>
            <a:endParaRPr lang="en-US" sz="2400" dirty="0"/>
          </a:p>
        </p:txBody>
      </p:sp>
      <p:sp>
        <p:nvSpPr>
          <p:cNvPr id="6" name="Text 4"/>
          <p:cNvSpPr/>
          <p:nvPr/>
        </p:nvSpPr>
        <p:spPr>
          <a:xfrm>
            <a:off x="548640" y="1298448"/>
            <a:ext cx="11091672" cy="502920"/>
          </a:xfrm>
          <a:prstGeom prst="rect">
            <a:avLst/>
          </a:prstGeom>
          <a:noFill/>
          <a:ln/>
        </p:spPr>
        <p:txBody>
          <a:bodyPr wrap="square" rtlCol="0" anchor="ctr"/>
          <a:lstStyle/>
          <a:p>
            <a:pPr indent="0" marL="0">
              <a:lnSpc>
                <a:spcPct val="120000"/>
              </a:lnSpc>
              <a:buNone/>
            </a:pPr>
            <a:r>
              <a:rPr lang="en-US" sz="1400" dirty="0">
                <a:solidFill>
                  <a:srgbClr val="AAB4C6"/>
                </a:solidFill>
                <a:latin typeface="Calibri" pitchFamily="34" charset="0"/>
                <a:ea typeface="Calibri" pitchFamily="34" charset="-122"/>
                <a:cs typeface="Calibri" pitchFamily="34" charset="-120"/>
              </a:rPr>
              <a:t>Our AI engine was built to solve the hardest thermal problem in modern engineering: Turbine Entry Temperatures (TET) exceeding </a:t>
            </a:r>
            <a:pPr indent="0" marL="0">
              <a:lnSpc>
                <a:spcPct val="120000"/>
              </a:lnSpc>
              <a:buNone/>
            </a:pPr>
            <a:r>
              <a:rPr lang="en-US" sz="1400" b="1" dirty="0">
                <a:solidFill>
                  <a:srgbClr val="00E5A0"/>
                </a:solidFill>
                <a:latin typeface="Calibri" pitchFamily="34" charset="0"/>
                <a:ea typeface="Calibri" pitchFamily="34" charset="-122"/>
                <a:cs typeface="Calibri" pitchFamily="34" charset="-120"/>
              </a:rPr>
              <a:t>1400°C</a:t>
            </a:r>
            <a:pPr indent="0" marL="0">
              <a:lnSpc>
                <a:spcPct val="120000"/>
              </a:lnSpc>
              <a:buNone/>
            </a:pPr>
            <a:r>
              <a:rPr lang="en-US" sz="1400" dirty="0">
                <a:solidFill>
                  <a:srgbClr val="AAB4C6"/>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548640" y="1874520"/>
            <a:ext cx="5349240" cy="1965960"/>
          </a:xfrm>
          <a:prstGeom prst="roundRect">
            <a:avLst>
              <a:gd name="adj" fmla="val 4651"/>
            </a:avLst>
          </a:prstGeom>
          <a:solidFill>
            <a:srgbClr val="141B2E"/>
          </a:solidFill>
          <a:ln w="12700">
            <a:solidFill>
              <a:srgbClr val="2A3550"/>
            </a:solidFill>
            <a:prstDash val="solid"/>
          </a:ln>
        </p:spPr>
      </p:sp>
      <p:sp>
        <p:nvSpPr>
          <p:cNvPr id="8" name="Text 6"/>
          <p:cNvSpPr/>
          <p:nvPr/>
        </p:nvSpPr>
        <p:spPr>
          <a:xfrm>
            <a:off x="822960" y="2057400"/>
            <a:ext cx="4800600" cy="274320"/>
          </a:xfrm>
          <a:prstGeom prst="rect">
            <a:avLst/>
          </a:prstGeom>
          <a:noFill/>
          <a:ln/>
        </p:spPr>
        <p:txBody>
          <a:bodyPr wrap="square" rtlCol="0" anchor="ctr"/>
          <a:lstStyle/>
          <a:p>
            <a:pPr indent="0" marL="0">
              <a:buNone/>
            </a:pPr>
            <a:r>
              <a:rPr lang="en-US" sz="1200" b="1" spc="50" kern="0" dirty="0">
                <a:solidFill>
                  <a:srgbClr val="FF5A5F"/>
                </a:solidFill>
                <a:latin typeface="Arial" pitchFamily="34" charset="0"/>
                <a:ea typeface="Arial" pitchFamily="34" charset="-122"/>
                <a:cs typeface="Arial" pitchFamily="34" charset="-120"/>
              </a:rPr>
              <a:t>THE AEROTHERMAL FIRE LIMIT</a:t>
            </a:r>
            <a:endParaRPr lang="en-US" sz="1200" dirty="0"/>
          </a:p>
        </p:txBody>
      </p:sp>
      <p:sp>
        <p:nvSpPr>
          <p:cNvPr id="9" name="Shape 7"/>
          <p:cNvSpPr/>
          <p:nvPr/>
        </p:nvSpPr>
        <p:spPr>
          <a:xfrm>
            <a:off x="822960" y="2423160"/>
            <a:ext cx="4800600" cy="502920"/>
          </a:xfrm>
          <a:prstGeom prst="rect">
            <a:avLst/>
          </a:prstGeom>
          <a:solidFill>
            <a:srgbClr val="1A2338"/>
          </a:solidFill>
          <a:ln w="9525">
            <a:solidFill>
              <a:srgbClr val="2A3550"/>
            </a:solidFill>
            <a:prstDash val="solid"/>
          </a:ln>
        </p:spPr>
      </p:sp>
      <p:sp>
        <p:nvSpPr>
          <p:cNvPr id="10" name="Shape 8"/>
          <p:cNvSpPr/>
          <p:nvPr/>
        </p:nvSpPr>
        <p:spPr>
          <a:xfrm flipH="1">
            <a:off x="1005840" y="2423160"/>
            <a:ext cx="502920" cy="256032"/>
          </a:xfrm>
          <a:prstGeom prst="line">
            <a:avLst/>
          </a:prstGeom>
          <a:noFill/>
          <a:ln w="25400">
            <a:solidFill>
              <a:srgbClr val="FF5A5F"/>
            </a:solidFill>
            <a:prstDash val="solid"/>
          </a:ln>
        </p:spPr>
      </p:sp>
      <p:sp>
        <p:nvSpPr>
          <p:cNvPr id="11" name="Shape 9"/>
          <p:cNvSpPr/>
          <p:nvPr/>
        </p:nvSpPr>
        <p:spPr>
          <a:xfrm>
            <a:off x="1508760" y="2560320"/>
            <a:ext cx="365760" cy="365760"/>
          </a:xfrm>
          <a:prstGeom prst="line">
            <a:avLst/>
          </a:prstGeom>
          <a:noFill/>
          <a:ln w="25400">
            <a:solidFill>
              <a:srgbClr val="FF5A5F"/>
            </a:solidFill>
            <a:prstDash val="solid"/>
          </a:ln>
        </p:spPr>
      </p:sp>
      <p:sp>
        <p:nvSpPr>
          <p:cNvPr id="12" name="Shape 10"/>
          <p:cNvSpPr/>
          <p:nvPr/>
        </p:nvSpPr>
        <p:spPr>
          <a:xfrm flipH="1">
            <a:off x="1874520" y="2441448"/>
            <a:ext cx="320040" cy="457200"/>
          </a:xfrm>
          <a:prstGeom prst="line">
            <a:avLst/>
          </a:prstGeom>
          <a:noFill/>
          <a:ln w="25400">
            <a:solidFill>
              <a:srgbClr val="FF5A5F"/>
            </a:solidFill>
            <a:prstDash val="solid"/>
          </a:ln>
        </p:spPr>
      </p:sp>
      <p:sp>
        <p:nvSpPr>
          <p:cNvPr id="13" name="Shape 11"/>
          <p:cNvSpPr/>
          <p:nvPr/>
        </p:nvSpPr>
        <p:spPr>
          <a:xfrm>
            <a:off x="2651760" y="2423160"/>
            <a:ext cx="548640" cy="457200"/>
          </a:xfrm>
          <a:prstGeom prst="line">
            <a:avLst/>
          </a:prstGeom>
          <a:noFill/>
          <a:ln w="25400">
            <a:solidFill>
              <a:srgbClr val="FF5A5F"/>
            </a:solidFill>
            <a:prstDash val="solid"/>
          </a:ln>
        </p:spPr>
      </p:sp>
      <p:sp>
        <p:nvSpPr>
          <p:cNvPr id="14" name="Text 12"/>
          <p:cNvSpPr/>
          <p:nvPr/>
        </p:nvSpPr>
        <p:spPr>
          <a:xfrm>
            <a:off x="822960" y="2990088"/>
            <a:ext cx="4800600" cy="228600"/>
          </a:xfrm>
          <a:prstGeom prst="rect">
            <a:avLst/>
          </a:prstGeom>
          <a:noFill/>
          <a:ln/>
        </p:spPr>
        <p:txBody>
          <a:bodyPr wrap="square" rtlCol="0" anchor="ctr"/>
          <a:lstStyle/>
          <a:p>
            <a:pPr indent="0" marL="0">
              <a:buNone/>
            </a:pPr>
            <a:r>
              <a:rPr lang="en-US" sz="950" i="1" dirty="0">
                <a:solidFill>
                  <a:srgbClr val="6E7A90"/>
                </a:solidFill>
                <a:latin typeface="Calibri" pitchFamily="34" charset="0"/>
                <a:ea typeface="Calibri" pitchFamily="34" charset="-122"/>
                <a:cs typeface="Calibri" pitchFamily="34" charset="-120"/>
              </a:rPr>
              <a:t>cracked ceramic armor — CTE mismatch</a:t>
            </a:r>
            <a:endParaRPr lang="en-US" sz="950" dirty="0"/>
          </a:p>
        </p:txBody>
      </p:sp>
      <p:sp>
        <p:nvSpPr>
          <p:cNvPr id="15" name="Text 13"/>
          <p:cNvSpPr/>
          <p:nvPr/>
        </p:nvSpPr>
        <p:spPr>
          <a:xfrm>
            <a:off x="822960" y="3264408"/>
            <a:ext cx="4800600" cy="548640"/>
          </a:xfrm>
          <a:prstGeom prst="rect">
            <a:avLst/>
          </a:prstGeom>
          <a:noFill/>
          <a:ln/>
        </p:spPr>
        <p:txBody>
          <a:bodyPr wrap="square" rtlCol="0" anchor="ctr"/>
          <a:lstStyle/>
          <a:p>
            <a:pPr indent="0" marL="0">
              <a:lnSpc>
                <a:spcPct val="118000"/>
              </a:lnSpc>
              <a:buNone/>
            </a:pPr>
            <a:r>
              <a:rPr lang="en-US" sz="1080" dirty="0">
                <a:solidFill>
                  <a:srgbClr val="AAB4C6"/>
                </a:solidFill>
                <a:latin typeface="Calibri" pitchFamily="34" charset="0"/>
                <a:ea typeface="Calibri" pitchFamily="34" charset="-122"/>
                <a:cs typeface="Calibri" pitchFamily="34" charset="-120"/>
              </a:rPr>
              <a:t>Traditional nickel-based superalloys have hit a physical ceiling. When shielded with ceramics, the massive Coefficient of Thermal Expansion (CTE) mismatch causes the protective armor to </a:t>
            </a:r>
            <a:pPr indent="0" marL="0">
              <a:lnSpc>
                <a:spcPct val="118000"/>
              </a:lnSpc>
              <a:buNone/>
            </a:pPr>
            <a:r>
              <a:rPr lang="en-US" sz="1080" b="1" dirty="0">
                <a:solidFill>
                  <a:srgbClr val="FF5A5F"/>
                </a:solidFill>
                <a:latin typeface="Calibri" pitchFamily="34" charset="0"/>
                <a:ea typeface="Calibri" pitchFamily="34" charset="-122"/>
                <a:cs typeface="Calibri" pitchFamily="34" charset="-120"/>
              </a:rPr>
              <a:t>violently spall off</a:t>
            </a:r>
            <a:pPr indent="0" marL="0">
              <a:lnSpc>
                <a:spcPct val="118000"/>
              </a:lnSpc>
              <a:buNone/>
            </a:pPr>
            <a:r>
              <a:rPr lang="en-US" sz="1080" dirty="0">
                <a:solidFill>
                  <a:srgbClr val="AAB4C6"/>
                </a:solidFill>
                <a:latin typeface="Calibri" pitchFamily="34" charset="0"/>
                <a:ea typeface="Calibri" pitchFamily="34" charset="-122"/>
                <a:cs typeface="Calibri" pitchFamily="34" charset="-120"/>
              </a:rPr>
              <a:t> under rapid thermal cycling.</a:t>
            </a:r>
            <a:endParaRPr lang="en-US" sz="1080" dirty="0"/>
          </a:p>
        </p:txBody>
      </p:sp>
      <p:sp>
        <p:nvSpPr>
          <p:cNvPr id="16" name="Shape 14"/>
          <p:cNvSpPr/>
          <p:nvPr/>
        </p:nvSpPr>
        <p:spPr>
          <a:xfrm>
            <a:off x="6263640" y="1874520"/>
            <a:ext cx="5349240" cy="1965960"/>
          </a:xfrm>
          <a:prstGeom prst="roundRect">
            <a:avLst>
              <a:gd name="adj" fmla="val 4651"/>
            </a:avLst>
          </a:prstGeom>
          <a:solidFill>
            <a:srgbClr val="141B2E"/>
          </a:solidFill>
          <a:ln w="15875">
            <a:solidFill>
              <a:srgbClr val="00E5A0"/>
            </a:solidFill>
            <a:prstDash val="solid"/>
          </a:ln>
        </p:spPr>
      </p:sp>
      <p:sp>
        <p:nvSpPr>
          <p:cNvPr id="17" name="Text 15"/>
          <p:cNvSpPr/>
          <p:nvPr/>
        </p:nvSpPr>
        <p:spPr>
          <a:xfrm>
            <a:off x="6537960" y="2057400"/>
            <a:ext cx="4800600" cy="274320"/>
          </a:xfrm>
          <a:prstGeom prst="rect">
            <a:avLst/>
          </a:prstGeom>
          <a:noFill/>
          <a:ln/>
        </p:spPr>
        <p:txBody>
          <a:bodyPr wrap="square" rtlCol="0" anchor="ctr"/>
          <a:lstStyle/>
          <a:p>
            <a:pPr indent="0" marL="0">
              <a:buNone/>
            </a:pPr>
            <a:r>
              <a:rPr lang="en-US" sz="1200" b="1" spc="50" kern="0" dirty="0">
                <a:solidFill>
                  <a:srgbClr val="00E5A0"/>
                </a:solidFill>
                <a:latin typeface="Arial" pitchFamily="34" charset="0"/>
                <a:ea typeface="Arial" pitchFamily="34" charset="-122"/>
                <a:cs typeface="Arial" pitchFamily="34" charset="-120"/>
              </a:rPr>
              <a:t>THE CRYSTAL PARADIGM AI SOLUTION (CANDIDATE C)</a:t>
            </a:r>
            <a:endParaRPr lang="en-US" sz="1200" dirty="0"/>
          </a:p>
        </p:txBody>
      </p:sp>
      <p:sp>
        <p:nvSpPr>
          <p:cNvPr id="18" name="Shape 16"/>
          <p:cNvSpPr/>
          <p:nvPr/>
        </p:nvSpPr>
        <p:spPr>
          <a:xfrm>
            <a:off x="6537960" y="2423160"/>
            <a:ext cx="418130" cy="365760"/>
          </a:xfrm>
          <a:prstGeom prst="rect">
            <a:avLst/>
          </a:prstGeom>
          <a:solidFill>
            <a:srgbClr val="00E5A0"/>
          </a:solidFill>
          <a:ln/>
        </p:spPr>
      </p:sp>
      <p:sp>
        <p:nvSpPr>
          <p:cNvPr id="19" name="Shape 17"/>
          <p:cNvSpPr/>
          <p:nvPr/>
        </p:nvSpPr>
        <p:spPr>
          <a:xfrm>
            <a:off x="6974378" y="2423160"/>
            <a:ext cx="418130" cy="365760"/>
          </a:xfrm>
          <a:prstGeom prst="rect">
            <a:avLst/>
          </a:prstGeom>
          <a:solidFill>
            <a:srgbClr val="17E6A8"/>
          </a:solidFill>
          <a:ln/>
        </p:spPr>
      </p:sp>
      <p:sp>
        <p:nvSpPr>
          <p:cNvPr id="20" name="Shape 18"/>
          <p:cNvSpPr/>
          <p:nvPr/>
        </p:nvSpPr>
        <p:spPr>
          <a:xfrm>
            <a:off x="7410796" y="2423160"/>
            <a:ext cx="418130" cy="365760"/>
          </a:xfrm>
          <a:prstGeom prst="rect">
            <a:avLst/>
          </a:prstGeom>
          <a:solidFill>
            <a:srgbClr val="2EE6B1"/>
          </a:solidFill>
          <a:ln/>
        </p:spPr>
      </p:sp>
      <p:sp>
        <p:nvSpPr>
          <p:cNvPr id="21" name="Shape 19"/>
          <p:cNvSpPr/>
          <p:nvPr/>
        </p:nvSpPr>
        <p:spPr>
          <a:xfrm>
            <a:off x="7847215" y="2423160"/>
            <a:ext cx="418130" cy="365760"/>
          </a:xfrm>
          <a:prstGeom prst="rect">
            <a:avLst/>
          </a:prstGeom>
          <a:solidFill>
            <a:srgbClr val="46E7B9"/>
          </a:solidFill>
          <a:ln/>
        </p:spPr>
      </p:sp>
      <p:sp>
        <p:nvSpPr>
          <p:cNvPr id="22" name="Shape 20"/>
          <p:cNvSpPr/>
          <p:nvPr/>
        </p:nvSpPr>
        <p:spPr>
          <a:xfrm>
            <a:off x="8283633" y="2423160"/>
            <a:ext cx="418130" cy="365760"/>
          </a:xfrm>
          <a:prstGeom prst="rect">
            <a:avLst/>
          </a:prstGeom>
          <a:solidFill>
            <a:srgbClr val="5DE8C1"/>
          </a:solidFill>
          <a:ln/>
        </p:spPr>
      </p:sp>
      <p:sp>
        <p:nvSpPr>
          <p:cNvPr id="23" name="Shape 21"/>
          <p:cNvSpPr/>
          <p:nvPr/>
        </p:nvSpPr>
        <p:spPr>
          <a:xfrm>
            <a:off x="8720051" y="2423160"/>
            <a:ext cx="418130" cy="365760"/>
          </a:xfrm>
          <a:prstGeom prst="rect">
            <a:avLst/>
          </a:prstGeom>
          <a:solidFill>
            <a:srgbClr val="74E9CA"/>
          </a:solidFill>
          <a:ln/>
        </p:spPr>
      </p:sp>
      <p:sp>
        <p:nvSpPr>
          <p:cNvPr id="24" name="Shape 22"/>
          <p:cNvSpPr/>
          <p:nvPr/>
        </p:nvSpPr>
        <p:spPr>
          <a:xfrm>
            <a:off x="9156469" y="2423160"/>
            <a:ext cx="418130" cy="365760"/>
          </a:xfrm>
          <a:prstGeom prst="rect">
            <a:avLst/>
          </a:prstGeom>
          <a:solidFill>
            <a:srgbClr val="8BE9D2"/>
          </a:solidFill>
          <a:ln/>
        </p:spPr>
      </p:sp>
      <p:sp>
        <p:nvSpPr>
          <p:cNvPr id="25" name="Shape 23"/>
          <p:cNvSpPr/>
          <p:nvPr/>
        </p:nvSpPr>
        <p:spPr>
          <a:xfrm>
            <a:off x="9592887" y="2423160"/>
            <a:ext cx="418130" cy="365760"/>
          </a:xfrm>
          <a:prstGeom prst="rect">
            <a:avLst/>
          </a:prstGeom>
          <a:solidFill>
            <a:srgbClr val="A2EADA"/>
          </a:solidFill>
          <a:ln/>
        </p:spPr>
      </p:sp>
      <p:sp>
        <p:nvSpPr>
          <p:cNvPr id="26" name="Shape 24"/>
          <p:cNvSpPr/>
          <p:nvPr/>
        </p:nvSpPr>
        <p:spPr>
          <a:xfrm>
            <a:off x="10029305" y="2423160"/>
            <a:ext cx="418130" cy="365760"/>
          </a:xfrm>
          <a:prstGeom prst="rect">
            <a:avLst/>
          </a:prstGeom>
          <a:solidFill>
            <a:srgbClr val="BAEBE2"/>
          </a:solidFill>
          <a:ln/>
        </p:spPr>
      </p:sp>
      <p:sp>
        <p:nvSpPr>
          <p:cNvPr id="27" name="Shape 25"/>
          <p:cNvSpPr/>
          <p:nvPr/>
        </p:nvSpPr>
        <p:spPr>
          <a:xfrm>
            <a:off x="10465724" y="2423160"/>
            <a:ext cx="418130" cy="365760"/>
          </a:xfrm>
          <a:prstGeom prst="rect">
            <a:avLst/>
          </a:prstGeom>
          <a:solidFill>
            <a:srgbClr val="D1EBEB"/>
          </a:solidFill>
          <a:ln/>
        </p:spPr>
      </p:sp>
      <p:sp>
        <p:nvSpPr>
          <p:cNvPr id="28" name="Shape 26"/>
          <p:cNvSpPr/>
          <p:nvPr/>
        </p:nvSpPr>
        <p:spPr>
          <a:xfrm>
            <a:off x="10902142" y="2423160"/>
            <a:ext cx="418130" cy="365760"/>
          </a:xfrm>
          <a:prstGeom prst="rect">
            <a:avLst/>
          </a:prstGeom>
          <a:solidFill>
            <a:srgbClr val="E8ECF3"/>
          </a:solidFill>
          <a:ln/>
        </p:spPr>
      </p:sp>
      <p:sp>
        <p:nvSpPr>
          <p:cNvPr id="29" name="Text 27"/>
          <p:cNvSpPr/>
          <p:nvPr/>
        </p:nvSpPr>
        <p:spPr>
          <a:xfrm>
            <a:off x="6537960" y="2834640"/>
            <a:ext cx="4800600" cy="228600"/>
          </a:xfrm>
          <a:prstGeom prst="rect">
            <a:avLst/>
          </a:prstGeom>
          <a:noFill/>
          <a:ln/>
        </p:spPr>
        <p:txBody>
          <a:bodyPr wrap="square" rtlCol="0" anchor="ctr"/>
          <a:lstStyle/>
          <a:p>
            <a:pPr indent="0" marL="0">
              <a:buNone/>
            </a:pPr>
            <a:r>
              <a:rPr lang="en-US" sz="950" i="1" dirty="0">
                <a:solidFill>
                  <a:srgbClr val="6E7A90"/>
                </a:solidFill>
                <a:latin typeface="Calibri" pitchFamily="34" charset="0"/>
                <a:ea typeface="Calibri" pitchFamily="34" charset="-122"/>
                <a:cs typeface="Calibri" pitchFamily="34" charset="-120"/>
              </a:rPr>
              <a:t>11-layer FGM — metallic HEA  →  LZO ceramic  (n = 1.1)</a:t>
            </a:r>
            <a:endParaRPr lang="en-US" sz="950" dirty="0"/>
          </a:p>
        </p:txBody>
      </p:sp>
      <p:sp>
        <p:nvSpPr>
          <p:cNvPr id="30" name="Text 28"/>
          <p:cNvSpPr/>
          <p:nvPr/>
        </p:nvSpPr>
        <p:spPr>
          <a:xfrm>
            <a:off x="6537960" y="3154680"/>
            <a:ext cx="4800600" cy="640080"/>
          </a:xfrm>
          <a:prstGeom prst="rect">
            <a:avLst/>
          </a:prstGeom>
          <a:noFill/>
          <a:ln/>
        </p:spPr>
        <p:txBody>
          <a:bodyPr wrap="square" rtlCol="0" anchor="ctr"/>
          <a:lstStyle/>
          <a:p>
            <a:pPr indent="0" marL="0">
              <a:lnSpc>
                <a:spcPct val="118000"/>
              </a:lnSpc>
              <a:buNone/>
            </a:pPr>
            <a:r>
              <a:rPr lang="en-US" sz="1080" dirty="0">
                <a:solidFill>
                  <a:srgbClr val="AAB4C6"/>
                </a:solidFill>
                <a:latin typeface="Calibri" pitchFamily="34" charset="0"/>
                <a:ea typeface="Calibri" pitchFamily="34" charset="-122"/>
                <a:cs typeface="Calibri" pitchFamily="34" charset="-120"/>
              </a:rPr>
              <a:t>Instead of laboratory trial-and-error, our proprietary </a:t>
            </a:r>
            <a:pPr indent="0" marL="0">
              <a:lnSpc>
                <a:spcPct val="118000"/>
              </a:lnSpc>
              <a:buNone/>
            </a:pPr>
            <a:r>
              <a:rPr lang="en-US" sz="1080" b="1" dirty="0">
                <a:solidFill>
                  <a:srgbClr val="00E5A0"/>
                </a:solidFill>
                <a:latin typeface="Calibri" pitchFamily="34" charset="0"/>
                <a:ea typeface="Calibri" pitchFamily="34" charset="-122"/>
                <a:cs typeface="Calibri" pitchFamily="34" charset="-120"/>
              </a:rPr>
              <a:t>11-phase AI pipeline</a:t>
            </a:r>
            <a:pPr indent="0" marL="0">
              <a:lnSpc>
                <a:spcPct val="118000"/>
              </a:lnSpc>
              <a:buNone/>
            </a:pPr>
            <a:r>
              <a:rPr lang="en-US" sz="1080" dirty="0">
                <a:solidFill>
                  <a:srgbClr val="AAB4C6"/>
                </a:solidFill>
                <a:latin typeface="Calibri" pitchFamily="34" charset="0"/>
                <a:ea typeface="Calibri" pitchFamily="34" charset="-122"/>
                <a:cs typeface="Calibri" pitchFamily="34" charset="-120"/>
              </a:rPr>
              <a:t> computationally invented a completely new Refractory High-Entropy Alloy (</a:t>
            </a:r>
            <a:pPr indent="0" marL="0">
              <a:lnSpc>
                <a:spcPct val="118000"/>
              </a:lnSpc>
              <a:buNone/>
            </a:pPr>
            <a:r>
              <a:rPr lang="en-US" sz="1080" b="1" dirty="0">
                <a:solidFill>
                  <a:srgbClr val="00E5A0"/>
                </a:solidFill>
                <a:latin typeface="Calibri" pitchFamily="34" charset="0"/>
                <a:ea typeface="Calibri" pitchFamily="34" charset="-122"/>
                <a:cs typeface="Calibri" pitchFamily="34" charset="-120"/>
              </a:rPr>
              <a:t>Ta-W-Cr-V-Ti-Zr-Hf + 2.8% Al</a:t>
            </a:r>
            <a:pPr indent="0" marL="0">
              <a:lnSpc>
                <a:spcPct val="118000"/>
              </a:lnSpc>
              <a:buNone/>
            </a:pPr>
            <a:r>
              <a:rPr lang="en-US" sz="1080" dirty="0">
                <a:solidFill>
                  <a:srgbClr val="AAB4C6"/>
                </a:solidFill>
                <a:latin typeface="Calibri" pitchFamily="34" charset="0"/>
                <a:ea typeface="Calibri" pitchFamily="34" charset="-122"/>
                <a:cs typeface="Calibri" pitchFamily="34" charset="-120"/>
              </a:rPr>
              <a:t>).</a:t>
            </a:r>
            <a:endParaRPr lang="en-US" sz="1080" dirty="0"/>
          </a:p>
        </p:txBody>
      </p:sp>
      <p:sp>
        <p:nvSpPr>
          <p:cNvPr id="31" name="Shape 29"/>
          <p:cNvSpPr/>
          <p:nvPr/>
        </p:nvSpPr>
        <p:spPr>
          <a:xfrm>
            <a:off x="548640" y="4160520"/>
            <a:ext cx="3538728" cy="1965960"/>
          </a:xfrm>
          <a:prstGeom prst="roundRect">
            <a:avLst>
              <a:gd name="adj" fmla="val 4651"/>
            </a:avLst>
          </a:prstGeom>
          <a:solidFill>
            <a:srgbClr val="1A2338"/>
          </a:solidFill>
          <a:ln w="12700">
            <a:solidFill>
              <a:srgbClr val="2A3550"/>
            </a:solidFill>
            <a:prstDash val="solid"/>
          </a:ln>
        </p:spPr>
      </p:sp>
      <p:sp>
        <p:nvSpPr>
          <p:cNvPr id="32" name="Shape 30"/>
          <p:cNvSpPr/>
          <p:nvPr/>
        </p:nvSpPr>
        <p:spPr>
          <a:xfrm>
            <a:off x="786384" y="4379976"/>
            <a:ext cx="457200" cy="457200"/>
          </a:xfrm>
          <a:prstGeom prst="ellipse">
            <a:avLst/>
          </a:prstGeom>
          <a:solidFill>
            <a:srgbClr val="141B2E"/>
          </a:solidFill>
          <a:ln w="15875">
            <a:solidFill>
              <a:srgbClr val="00E5A0"/>
            </a:solidFill>
            <a:prstDash val="solid"/>
          </a:ln>
        </p:spPr>
      </p:sp>
      <p:pic>
        <p:nvPicPr>
          <p:cNvPr id="33" name="Image 0" descr="assets/icon_target.png">    </p:cNvPr>
          <p:cNvPicPr>
            <a:picLocks noChangeAspect="1"/>
          </p:cNvPicPr>
          <p:nvPr/>
        </p:nvPicPr>
        <p:blipFill>
          <a:blip r:embed="rId1"/>
          <a:stretch>
            <a:fillRect/>
          </a:stretch>
        </p:blipFill>
        <p:spPr>
          <a:xfrm>
            <a:off x="896112" y="4489704"/>
            <a:ext cx="237744" cy="237744"/>
          </a:xfrm>
          <a:prstGeom prst="rect">
            <a:avLst/>
          </a:prstGeom>
        </p:spPr>
      </p:pic>
      <p:sp>
        <p:nvSpPr>
          <p:cNvPr id="34" name="Text 31"/>
          <p:cNvSpPr/>
          <p:nvPr/>
        </p:nvSpPr>
        <p:spPr>
          <a:xfrm>
            <a:off x="1371600" y="4379976"/>
            <a:ext cx="2532888" cy="457200"/>
          </a:xfrm>
          <a:prstGeom prst="rect">
            <a:avLst/>
          </a:prstGeom>
          <a:noFill/>
          <a:ln/>
        </p:spPr>
        <p:txBody>
          <a:bodyPr wrap="square" rtlCol="0" anchor="ctr"/>
          <a:lstStyle/>
          <a:p>
            <a:pPr indent="0" marL="0">
              <a:buNone/>
            </a:pPr>
            <a:r>
              <a:rPr lang="en-US" sz="1250" b="1" spc="50" kern="0" dirty="0">
                <a:solidFill>
                  <a:srgbClr val="F5F7FA"/>
                </a:solidFill>
                <a:latin typeface="Arial" pitchFamily="34" charset="0"/>
                <a:ea typeface="Arial" pitchFamily="34" charset="-122"/>
                <a:cs typeface="Arial" pitchFamily="34" charset="-120"/>
              </a:rPr>
              <a:t>THE PHYSICS</a:t>
            </a:r>
            <a:endParaRPr lang="en-US" sz="1250" dirty="0"/>
          </a:p>
        </p:txBody>
      </p:sp>
      <p:sp>
        <p:nvSpPr>
          <p:cNvPr id="35" name="Text 32"/>
          <p:cNvSpPr/>
          <p:nvPr/>
        </p:nvSpPr>
        <p:spPr>
          <a:xfrm>
            <a:off x="786384" y="4983480"/>
            <a:ext cx="3081528" cy="1005840"/>
          </a:xfrm>
          <a:prstGeom prst="rect">
            <a:avLst/>
          </a:prstGeom>
          <a:noFill/>
          <a:ln/>
        </p:spPr>
        <p:txBody>
          <a:bodyPr wrap="square" rtlCol="0" anchor="ctr"/>
          <a:lstStyle/>
          <a:p>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By forcing a </a:t>
            </a:r>
            <a:pPr indent="0" marL="0">
              <a:lnSpc>
                <a:spcPct val="125000"/>
              </a:lnSpc>
              <a:buNone/>
            </a:pPr>
            <a:r>
              <a:rPr lang="en-US" sz="1150" b="1" dirty="0">
                <a:solidFill>
                  <a:srgbClr val="00E5A0"/>
                </a:solidFill>
                <a:latin typeface="Calibri" pitchFamily="34" charset="0"/>
                <a:ea typeface="Calibri" pitchFamily="34" charset="-122"/>
                <a:cs typeface="Calibri" pitchFamily="34" charset="-120"/>
              </a:rPr>
              <a:t>Titanium-dominant solid solution</a:t>
            </a:r>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 we mathematically closed the CTE gap.</a:t>
            </a:r>
            <a:endParaRPr lang="en-US" sz="1150" dirty="0"/>
          </a:p>
        </p:txBody>
      </p:sp>
      <p:sp>
        <p:nvSpPr>
          <p:cNvPr id="36" name="Shape 33"/>
          <p:cNvSpPr/>
          <p:nvPr/>
        </p:nvSpPr>
        <p:spPr>
          <a:xfrm>
            <a:off x="4325112" y="4160520"/>
            <a:ext cx="3538728" cy="1965960"/>
          </a:xfrm>
          <a:prstGeom prst="roundRect">
            <a:avLst>
              <a:gd name="adj" fmla="val 4651"/>
            </a:avLst>
          </a:prstGeom>
          <a:solidFill>
            <a:srgbClr val="1A2338"/>
          </a:solidFill>
          <a:ln w="12700">
            <a:solidFill>
              <a:srgbClr val="2A3550"/>
            </a:solidFill>
            <a:prstDash val="solid"/>
          </a:ln>
        </p:spPr>
      </p:sp>
      <p:sp>
        <p:nvSpPr>
          <p:cNvPr id="37" name="Shape 34"/>
          <p:cNvSpPr/>
          <p:nvPr/>
        </p:nvSpPr>
        <p:spPr>
          <a:xfrm>
            <a:off x="4562856" y="4379976"/>
            <a:ext cx="457200" cy="457200"/>
          </a:xfrm>
          <a:prstGeom prst="ellipse">
            <a:avLst/>
          </a:prstGeom>
          <a:solidFill>
            <a:srgbClr val="141B2E"/>
          </a:solidFill>
          <a:ln w="15875">
            <a:solidFill>
              <a:srgbClr val="00E5A0"/>
            </a:solidFill>
            <a:prstDash val="solid"/>
          </a:ln>
        </p:spPr>
      </p:sp>
      <p:pic>
        <p:nvPicPr>
          <p:cNvPr id="38" name="Image 1" descr="assets/icon_layers.png">    </p:cNvPr>
          <p:cNvPicPr>
            <a:picLocks noChangeAspect="1"/>
          </p:cNvPicPr>
          <p:nvPr/>
        </p:nvPicPr>
        <p:blipFill>
          <a:blip r:embed="rId2"/>
          <a:stretch>
            <a:fillRect/>
          </a:stretch>
        </p:blipFill>
        <p:spPr>
          <a:xfrm>
            <a:off x="4672584" y="4489704"/>
            <a:ext cx="237744" cy="237744"/>
          </a:xfrm>
          <a:prstGeom prst="rect">
            <a:avLst/>
          </a:prstGeom>
        </p:spPr>
      </p:pic>
      <p:sp>
        <p:nvSpPr>
          <p:cNvPr id="39" name="Text 35"/>
          <p:cNvSpPr/>
          <p:nvPr/>
        </p:nvSpPr>
        <p:spPr>
          <a:xfrm>
            <a:off x="5148072" y="4379976"/>
            <a:ext cx="2532888" cy="457200"/>
          </a:xfrm>
          <a:prstGeom prst="rect">
            <a:avLst/>
          </a:prstGeom>
          <a:noFill/>
          <a:ln/>
        </p:spPr>
        <p:txBody>
          <a:bodyPr wrap="square" rtlCol="0" anchor="ctr"/>
          <a:lstStyle/>
          <a:p>
            <a:pPr indent="0" marL="0">
              <a:buNone/>
            </a:pPr>
            <a:r>
              <a:rPr lang="en-US" sz="1250" b="1" spc="50" kern="0" dirty="0">
                <a:solidFill>
                  <a:srgbClr val="F5F7FA"/>
                </a:solidFill>
                <a:latin typeface="Arial" pitchFamily="34" charset="0"/>
                <a:ea typeface="Arial" pitchFamily="34" charset="-122"/>
                <a:cs typeface="Arial" pitchFamily="34" charset="-120"/>
              </a:rPr>
              <a:t>THE MANUFACTURING</a:t>
            </a:r>
            <a:endParaRPr lang="en-US" sz="1250" dirty="0"/>
          </a:p>
        </p:txBody>
      </p:sp>
      <p:sp>
        <p:nvSpPr>
          <p:cNvPr id="40" name="Text 36"/>
          <p:cNvSpPr/>
          <p:nvPr/>
        </p:nvSpPr>
        <p:spPr>
          <a:xfrm>
            <a:off x="4562856" y="4983480"/>
            <a:ext cx="3081528" cy="1005840"/>
          </a:xfrm>
          <a:prstGeom prst="rect">
            <a:avLst/>
          </a:prstGeom>
          <a:noFill/>
          <a:ln/>
        </p:spPr>
        <p:txBody>
          <a:bodyPr wrap="square" rtlCol="0" anchor="ctr"/>
          <a:lstStyle/>
          <a:p>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We deployed an </a:t>
            </a:r>
            <a:pPr indent="0" marL="0">
              <a:lnSpc>
                <a:spcPct val="125000"/>
              </a:lnSpc>
              <a:buNone/>
            </a:pPr>
            <a:r>
              <a:rPr lang="en-US" sz="1150" b="1" dirty="0">
                <a:solidFill>
                  <a:srgbClr val="00E5A0"/>
                </a:solidFill>
                <a:latin typeface="Calibri" pitchFamily="34" charset="0"/>
                <a:ea typeface="Calibri" pitchFamily="34" charset="-122"/>
                <a:cs typeface="Calibri" pitchFamily="34" charset="-120"/>
              </a:rPr>
              <a:t>11-layer Functionally Graded Material (FGM)</a:t>
            </a:r>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 matrix using an exact </a:t>
            </a:r>
            <a:pPr indent="0" marL="0">
              <a:lnSpc>
                <a:spcPct val="125000"/>
              </a:lnSpc>
              <a:buNone/>
            </a:pPr>
            <a:r>
              <a:rPr lang="en-US" sz="1150" b="1" dirty="0">
                <a:solidFill>
                  <a:srgbClr val="00E5A0"/>
                </a:solidFill>
                <a:latin typeface="Calibri" pitchFamily="34" charset="0"/>
                <a:ea typeface="Calibri" pitchFamily="34" charset="-122"/>
                <a:cs typeface="Calibri" pitchFamily="34" charset="-120"/>
              </a:rPr>
              <a:t>n=1.1</a:t>
            </a:r>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 power-law gradient.</a:t>
            </a:r>
            <a:endParaRPr lang="en-US" sz="1150" dirty="0"/>
          </a:p>
        </p:txBody>
      </p:sp>
      <p:sp>
        <p:nvSpPr>
          <p:cNvPr id="41" name="Shape 37"/>
          <p:cNvSpPr/>
          <p:nvPr/>
        </p:nvSpPr>
        <p:spPr>
          <a:xfrm>
            <a:off x="8101584" y="4160520"/>
            <a:ext cx="3538728" cy="1965960"/>
          </a:xfrm>
          <a:prstGeom prst="roundRect">
            <a:avLst>
              <a:gd name="adj" fmla="val 4651"/>
            </a:avLst>
          </a:prstGeom>
          <a:solidFill>
            <a:srgbClr val="1A2338"/>
          </a:solidFill>
          <a:ln w="12700">
            <a:solidFill>
              <a:srgbClr val="2A3550"/>
            </a:solidFill>
            <a:prstDash val="solid"/>
          </a:ln>
        </p:spPr>
      </p:sp>
      <p:sp>
        <p:nvSpPr>
          <p:cNvPr id="42" name="Shape 38"/>
          <p:cNvSpPr/>
          <p:nvPr/>
        </p:nvSpPr>
        <p:spPr>
          <a:xfrm>
            <a:off x="8339328" y="4379976"/>
            <a:ext cx="457200" cy="457200"/>
          </a:xfrm>
          <a:prstGeom prst="ellipse">
            <a:avLst/>
          </a:prstGeom>
          <a:solidFill>
            <a:srgbClr val="141B2E"/>
          </a:solidFill>
          <a:ln w="15875">
            <a:solidFill>
              <a:srgbClr val="00E5A0"/>
            </a:solidFill>
            <a:prstDash val="solid"/>
          </a:ln>
        </p:spPr>
      </p:sp>
      <p:pic>
        <p:nvPicPr>
          <p:cNvPr id="43" name="Image 2" descr="assets/icon_check.png">    </p:cNvPr>
          <p:cNvPicPr>
            <a:picLocks noChangeAspect="1"/>
          </p:cNvPicPr>
          <p:nvPr/>
        </p:nvPicPr>
        <p:blipFill>
          <a:blip r:embed="rId3"/>
          <a:stretch>
            <a:fillRect/>
          </a:stretch>
        </p:blipFill>
        <p:spPr>
          <a:xfrm>
            <a:off x="8449056" y="4489704"/>
            <a:ext cx="237744" cy="237744"/>
          </a:xfrm>
          <a:prstGeom prst="rect">
            <a:avLst/>
          </a:prstGeom>
        </p:spPr>
      </p:pic>
      <p:sp>
        <p:nvSpPr>
          <p:cNvPr id="44" name="Text 39"/>
          <p:cNvSpPr/>
          <p:nvPr/>
        </p:nvSpPr>
        <p:spPr>
          <a:xfrm>
            <a:off x="8924544" y="4379976"/>
            <a:ext cx="2532888" cy="457200"/>
          </a:xfrm>
          <a:prstGeom prst="rect">
            <a:avLst/>
          </a:prstGeom>
          <a:noFill/>
          <a:ln/>
        </p:spPr>
        <p:txBody>
          <a:bodyPr wrap="square" rtlCol="0" anchor="ctr"/>
          <a:lstStyle/>
          <a:p>
            <a:pPr indent="0" marL="0">
              <a:buNone/>
            </a:pPr>
            <a:r>
              <a:rPr lang="en-US" sz="1250" b="1" spc="50" kern="0" dirty="0">
                <a:solidFill>
                  <a:srgbClr val="F5F7FA"/>
                </a:solidFill>
                <a:latin typeface="Arial" pitchFamily="34" charset="0"/>
                <a:ea typeface="Arial" pitchFamily="34" charset="-122"/>
                <a:cs typeface="Arial" pitchFamily="34" charset="-120"/>
              </a:rPr>
              <a:t>THE RESULT</a:t>
            </a:r>
            <a:endParaRPr lang="en-US" sz="1250" dirty="0"/>
          </a:p>
        </p:txBody>
      </p:sp>
      <p:sp>
        <p:nvSpPr>
          <p:cNvPr id="45" name="Text 40"/>
          <p:cNvSpPr/>
          <p:nvPr/>
        </p:nvSpPr>
        <p:spPr>
          <a:xfrm>
            <a:off x="8339328" y="4983480"/>
            <a:ext cx="3081528" cy="1005840"/>
          </a:xfrm>
          <a:prstGeom prst="rect">
            <a:avLst/>
          </a:prstGeom>
          <a:noFill/>
          <a:ln/>
        </p:spPr>
        <p:txBody>
          <a:bodyPr wrap="square" rtlCol="0" anchor="ctr"/>
          <a:lstStyle/>
          <a:p>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Interface shear stress was dropped to an ultra-low </a:t>
            </a:r>
            <a:pPr indent="0" marL="0">
              <a:lnSpc>
                <a:spcPct val="125000"/>
              </a:lnSpc>
              <a:buNone/>
            </a:pPr>
            <a:r>
              <a:rPr lang="en-US" sz="1150" b="1" dirty="0">
                <a:solidFill>
                  <a:srgbClr val="00E5A0"/>
                </a:solidFill>
                <a:latin typeface="Calibri" pitchFamily="34" charset="0"/>
                <a:ea typeface="Calibri" pitchFamily="34" charset="-122"/>
                <a:cs typeface="Calibri" pitchFamily="34" charset="-120"/>
              </a:rPr>
              <a:t>15.95 MPa</a:t>
            </a:r>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 completely eliminating delamination under extreme thermal shock.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3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FROM AEROSPACE TO MOBILITY</a:t>
            </a:r>
            <a:endParaRPr lang="en-US" sz="1200" dirty="0"/>
          </a:p>
        </p:txBody>
      </p:sp>
      <p:sp>
        <p:nvSpPr>
          <p:cNvPr id="5" name="Text 3"/>
          <p:cNvSpPr/>
          <p:nvPr/>
        </p:nvSpPr>
        <p:spPr>
          <a:xfrm>
            <a:off x="548640" y="658368"/>
            <a:ext cx="11064240" cy="640080"/>
          </a:xfrm>
          <a:prstGeom prst="rect">
            <a:avLst/>
          </a:prstGeom>
          <a:noFill/>
          <a:ln/>
        </p:spPr>
        <p:txBody>
          <a:bodyPr wrap="square" rtlCol="0" anchor="ctr"/>
          <a:lstStyle/>
          <a:p>
            <a:pPr algn="l" indent="0" marL="0">
              <a:lnSpc>
                <a:spcPct val="105000"/>
              </a:lnSpc>
              <a:buNone/>
            </a:pPr>
            <a:r>
              <a:rPr lang="en-US" sz="2400" b="1" spc="30" kern="0" dirty="0">
                <a:solidFill>
                  <a:srgbClr val="F5F7FA"/>
                </a:solidFill>
                <a:latin typeface="Arial" pitchFamily="34" charset="0"/>
                <a:ea typeface="Arial" pitchFamily="34" charset="-122"/>
                <a:cs typeface="Arial" pitchFamily="34" charset="-120"/>
              </a:rPr>
              <a:t>THE SCIDIP CROSSOVER: FROM AEROSPACE TO EPIC MOBILITY</a:t>
            </a:r>
            <a:endParaRPr lang="en-US" sz="2400" dirty="0"/>
          </a:p>
        </p:txBody>
      </p:sp>
      <p:sp>
        <p:nvSpPr>
          <p:cNvPr id="6" name="Text 4"/>
          <p:cNvSpPr/>
          <p:nvPr/>
        </p:nvSpPr>
        <p:spPr>
          <a:xfrm>
            <a:off x="548640" y="1298448"/>
            <a:ext cx="11091672" cy="457200"/>
          </a:xfrm>
          <a:prstGeom prst="rect">
            <a:avLst/>
          </a:prstGeom>
          <a:noFill/>
          <a:ln/>
        </p:spPr>
        <p:txBody>
          <a:bodyPr wrap="square" rtlCol="0" anchor="ctr"/>
          <a:lstStyle/>
          <a:p>
            <a:pPr indent="0" marL="0">
              <a:lnSpc>
                <a:spcPct val="120000"/>
              </a:lnSpc>
              <a:buNone/>
            </a:pPr>
            <a:r>
              <a:rPr lang="en-US" sz="1400" dirty="0">
                <a:solidFill>
                  <a:srgbClr val="AAB4C6"/>
                </a:solidFill>
                <a:latin typeface="Calibri" pitchFamily="34" charset="0"/>
                <a:ea typeface="Calibri" pitchFamily="34" charset="-122"/>
                <a:cs typeface="Calibri" pitchFamily="34" charset="-120"/>
              </a:rPr>
              <a:t>If our AI architecture can prevent a jet turbine from melting at </a:t>
            </a:r>
            <a:pPr indent="0" marL="0">
              <a:lnSpc>
                <a:spcPct val="120000"/>
              </a:lnSpc>
              <a:buNone/>
            </a:pPr>
            <a:r>
              <a:rPr lang="en-US" sz="1400" b="1" dirty="0">
                <a:solidFill>
                  <a:srgbClr val="00E5A0"/>
                </a:solidFill>
                <a:latin typeface="Calibri" pitchFamily="34" charset="0"/>
                <a:ea typeface="Calibri" pitchFamily="34" charset="-122"/>
                <a:cs typeface="Calibri" pitchFamily="34" charset="-120"/>
              </a:rPr>
              <a:t>1400°C</a:t>
            </a:r>
            <a:pPr indent="0" marL="0">
              <a:lnSpc>
                <a:spcPct val="120000"/>
              </a:lnSpc>
              <a:buNone/>
            </a:pPr>
            <a:r>
              <a:rPr lang="en-US" sz="1400" dirty="0">
                <a:solidFill>
                  <a:srgbClr val="AAB4C6"/>
                </a:solidFill>
                <a:latin typeface="Calibri" pitchFamily="34" charset="0"/>
                <a:ea typeface="Calibri" pitchFamily="34" charset="-122"/>
                <a:cs typeface="Calibri" pitchFamily="34" charset="-120"/>
              </a:rPr>
              <a:t>, it can revolutionize the thermal limits of terrestrial mobility.</a:t>
            </a:r>
            <a:endParaRPr lang="en-US" sz="1400" dirty="0"/>
          </a:p>
        </p:txBody>
      </p:sp>
      <p:sp>
        <p:nvSpPr>
          <p:cNvPr id="7" name="Shape 5"/>
          <p:cNvSpPr/>
          <p:nvPr/>
        </p:nvSpPr>
        <p:spPr>
          <a:xfrm>
            <a:off x="548640" y="1965960"/>
            <a:ext cx="4206240" cy="1143000"/>
          </a:xfrm>
          <a:prstGeom prst="roundRect">
            <a:avLst>
              <a:gd name="adj" fmla="val 8000"/>
            </a:avLst>
          </a:prstGeom>
          <a:solidFill>
            <a:srgbClr val="1A2338"/>
          </a:solidFill>
          <a:ln w="12700">
            <a:solidFill>
              <a:srgbClr val="FF5A5F"/>
            </a:solidFill>
            <a:prstDash val="solid"/>
          </a:ln>
        </p:spPr>
      </p:sp>
      <p:sp>
        <p:nvSpPr>
          <p:cNvPr id="8" name="Shape 6"/>
          <p:cNvSpPr/>
          <p:nvPr/>
        </p:nvSpPr>
        <p:spPr>
          <a:xfrm>
            <a:off x="804672" y="2295144"/>
            <a:ext cx="502920" cy="502920"/>
          </a:xfrm>
          <a:prstGeom prst="ellipse">
            <a:avLst/>
          </a:prstGeom>
          <a:solidFill>
            <a:srgbClr val="141B2E"/>
          </a:solidFill>
          <a:ln w="15875">
            <a:solidFill>
              <a:srgbClr val="FF5A5F"/>
            </a:solidFill>
            <a:prstDash val="solid"/>
          </a:ln>
        </p:spPr>
      </p:sp>
      <p:pic>
        <p:nvPicPr>
          <p:cNvPr id="9" name="Image 0" descr="assets/icon_rocket.png">    </p:cNvPr>
          <p:cNvPicPr>
            <a:picLocks noChangeAspect="1"/>
          </p:cNvPicPr>
          <p:nvPr/>
        </p:nvPicPr>
        <p:blipFill>
          <a:blip r:embed="rId1"/>
          <a:stretch>
            <a:fillRect/>
          </a:stretch>
        </p:blipFill>
        <p:spPr>
          <a:xfrm>
            <a:off x="925373" y="2415845"/>
            <a:ext cx="261518" cy="261518"/>
          </a:xfrm>
          <a:prstGeom prst="rect">
            <a:avLst/>
          </a:prstGeom>
        </p:spPr>
      </p:pic>
      <p:sp>
        <p:nvSpPr>
          <p:cNvPr id="10" name="Text 7"/>
          <p:cNvSpPr/>
          <p:nvPr/>
        </p:nvSpPr>
        <p:spPr>
          <a:xfrm>
            <a:off x="1463040" y="2185416"/>
            <a:ext cx="3108960" cy="320040"/>
          </a:xfrm>
          <a:prstGeom prst="rect">
            <a:avLst/>
          </a:prstGeom>
          <a:noFill/>
          <a:ln/>
        </p:spPr>
        <p:txBody>
          <a:bodyPr wrap="square" rtlCol="0" anchor="ctr"/>
          <a:lstStyle/>
          <a:p>
            <a:pPr indent="0" marL="0">
              <a:buNone/>
            </a:pPr>
            <a:r>
              <a:rPr lang="en-US" sz="1300" b="1" dirty="0">
                <a:solidFill>
                  <a:srgbClr val="F5F7FA"/>
                </a:solidFill>
                <a:latin typeface="Arial" pitchFamily="34" charset="0"/>
                <a:ea typeface="Arial" pitchFamily="34" charset="-122"/>
                <a:cs typeface="Arial" pitchFamily="34" charset="-120"/>
              </a:rPr>
              <a:t>AEROSPACE EXTREMES</a:t>
            </a:r>
            <a:endParaRPr lang="en-US" sz="1300" dirty="0"/>
          </a:p>
        </p:txBody>
      </p:sp>
      <p:sp>
        <p:nvSpPr>
          <p:cNvPr id="11" name="Text 8"/>
          <p:cNvSpPr/>
          <p:nvPr/>
        </p:nvSpPr>
        <p:spPr>
          <a:xfrm>
            <a:off x="1463040" y="2532888"/>
            <a:ext cx="3108960" cy="365760"/>
          </a:xfrm>
          <a:prstGeom prst="rect">
            <a:avLst/>
          </a:prstGeom>
          <a:noFill/>
          <a:ln/>
        </p:spPr>
        <p:txBody>
          <a:bodyPr wrap="square" rtlCol="0" anchor="ctr"/>
          <a:lstStyle/>
          <a:p>
            <a:pPr indent="0" marL="0">
              <a:buNone/>
            </a:pPr>
            <a:r>
              <a:rPr lang="en-US" sz="1100" dirty="0">
                <a:solidFill>
                  <a:srgbClr val="AAB4C6"/>
                </a:solidFill>
                <a:latin typeface="Calibri" pitchFamily="34" charset="0"/>
                <a:ea typeface="Calibri" pitchFamily="34" charset="-122"/>
                <a:cs typeface="Calibri" pitchFamily="34" charset="-120"/>
              </a:rPr>
              <a:t>1400°C Turbine Entry Temperature</a:t>
            </a:r>
            <a:endParaRPr lang="en-US" sz="1100" dirty="0"/>
          </a:p>
        </p:txBody>
      </p:sp>
      <p:sp>
        <p:nvSpPr>
          <p:cNvPr id="12" name="Shape 9"/>
          <p:cNvSpPr/>
          <p:nvPr/>
        </p:nvSpPr>
        <p:spPr>
          <a:xfrm>
            <a:off x="4983480" y="2295144"/>
            <a:ext cx="502920" cy="502920"/>
          </a:xfrm>
          <a:prstGeom prst="ellipse">
            <a:avLst/>
          </a:prstGeom>
          <a:solidFill>
            <a:srgbClr val="141B2E"/>
          </a:solidFill>
          <a:ln w="15875">
            <a:solidFill>
              <a:srgbClr val="00E5A0"/>
            </a:solidFill>
            <a:prstDash val="solid"/>
          </a:ln>
        </p:spPr>
      </p:sp>
      <p:pic>
        <p:nvPicPr>
          <p:cNvPr id="13" name="Image 1" descr="assets/icon_arrowright.png">    </p:cNvPr>
          <p:cNvPicPr>
            <a:picLocks noChangeAspect="1"/>
          </p:cNvPicPr>
          <p:nvPr/>
        </p:nvPicPr>
        <p:blipFill>
          <a:blip r:embed="rId2"/>
          <a:stretch>
            <a:fillRect/>
          </a:stretch>
        </p:blipFill>
        <p:spPr>
          <a:xfrm>
            <a:off x="5104181" y="2415845"/>
            <a:ext cx="261518" cy="261518"/>
          </a:xfrm>
          <a:prstGeom prst="rect">
            <a:avLst/>
          </a:prstGeom>
        </p:spPr>
      </p:pic>
      <p:sp>
        <p:nvSpPr>
          <p:cNvPr id="14" name="Shape 10"/>
          <p:cNvSpPr/>
          <p:nvPr/>
        </p:nvSpPr>
        <p:spPr>
          <a:xfrm>
            <a:off x="5715000" y="1965960"/>
            <a:ext cx="5925312" cy="1143000"/>
          </a:xfrm>
          <a:prstGeom prst="roundRect">
            <a:avLst>
              <a:gd name="adj" fmla="val 8000"/>
            </a:avLst>
          </a:prstGeom>
          <a:solidFill>
            <a:srgbClr val="1A2338"/>
          </a:solidFill>
          <a:ln w="12700">
            <a:solidFill>
              <a:srgbClr val="00E5A0"/>
            </a:solidFill>
            <a:prstDash val="solid"/>
          </a:ln>
        </p:spPr>
      </p:sp>
      <p:sp>
        <p:nvSpPr>
          <p:cNvPr id="15" name="Shape 11"/>
          <p:cNvSpPr/>
          <p:nvPr/>
        </p:nvSpPr>
        <p:spPr>
          <a:xfrm>
            <a:off x="5971032" y="2295144"/>
            <a:ext cx="502920" cy="502920"/>
          </a:xfrm>
          <a:prstGeom prst="ellipse">
            <a:avLst/>
          </a:prstGeom>
          <a:solidFill>
            <a:srgbClr val="141B2E"/>
          </a:solidFill>
          <a:ln w="15875">
            <a:solidFill>
              <a:srgbClr val="00E5A0"/>
            </a:solidFill>
            <a:prstDash val="solid"/>
          </a:ln>
        </p:spPr>
      </p:sp>
      <p:pic>
        <p:nvPicPr>
          <p:cNvPr id="16" name="Image 2" descr="assets/icon_car.png">    </p:cNvPr>
          <p:cNvPicPr>
            <a:picLocks noChangeAspect="1"/>
          </p:cNvPicPr>
          <p:nvPr/>
        </p:nvPicPr>
        <p:blipFill>
          <a:blip r:embed="rId3"/>
          <a:stretch>
            <a:fillRect/>
          </a:stretch>
        </p:blipFill>
        <p:spPr>
          <a:xfrm>
            <a:off x="6091733" y="2415845"/>
            <a:ext cx="261518" cy="261518"/>
          </a:xfrm>
          <a:prstGeom prst="rect">
            <a:avLst/>
          </a:prstGeom>
        </p:spPr>
      </p:pic>
      <p:sp>
        <p:nvSpPr>
          <p:cNvPr id="17" name="Text 12"/>
          <p:cNvSpPr/>
          <p:nvPr/>
        </p:nvSpPr>
        <p:spPr>
          <a:xfrm>
            <a:off x="6629400" y="2185416"/>
            <a:ext cx="4846320" cy="320040"/>
          </a:xfrm>
          <a:prstGeom prst="rect">
            <a:avLst/>
          </a:prstGeom>
          <a:noFill/>
          <a:ln/>
        </p:spPr>
        <p:txBody>
          <a:bodyPr wrap="square" rtlCol="0" anchor="ctr"/>
          <a:lstStyle/>
          <a:p>
            <a:pPr indent="0" marL="0">
              <a:buNone/>
            </a:pPr>
            <a:r>
              <a:rPr lang="en-US" sz="1300" b="1" dirty="0">
                <a:solidFill>
                  <a:srgbClr val="F5F7FA"/>
                </a:solidFill>
                <a:latin typeface="Arial" pitchFamily="34" charset="0"/>
                <a:ea typeface="Arial" pitchFamily="34" charset="-122"/>
                <a:cs typeface="Arial" pitchFamily="34" charset="-120"/>
              </a:rPr>
              <a:t>TERRESTRIAL MOBILITY</a:t>
            </a:r>
            <a:endParaRPr lang="en-US" sz="1300" dirty="0"/>
          </a:p>
        </p:txBody>
      </p:sp>
      <p:sp>
        <p:nvSpPr>
          <p:cNvPr id="18" name="Text 13"/>
          <p:cNvSpPr/>
          <p:nvPr/>
        </p:nvSpPr>
        <p:spPr>
          <a:xfrm>
            <a:off x="6629400" y="2532888"/>
            <a:ext cx="4846320" cy="365760"/>
          </a:xfrm>
          <a:prstGeom prst="rect">
            <a:avLst/>
          </a:prstGeom>
          <a:noFill/>
          <a:ln/>
        </p:spPr>
        <p:txBody>
          <a:bodyPr wrap="square" rtlCol="0" anchor="ctr"/>
          <a:lstStyle/>
          <a:p>
            <a:pPr indent="0" marL="0">
              <a:buNone/>
            </a:pPr>
            <a:r>
              <a:rPr lang="en-US" sz="1100" dirty="0">
                <a:solidFill>
                  <a:srgbClr val="AAB4C6"/>
                </a:solidFill>
                <a:latin typeface="Calibri" pitchFamily="34" charset="0"/>
                <a:ea typeface="Calibri" pitchFamily="34" charset="-122"/>
                <a:cs typeface="Calibri" pitchFamily="34" charset="-120"/>
              </a:rPr>
              <a:t>H13 Forging Dies &amp; EV Switched Reluctance Motors (SRMs)</a:t>
            </a:r>
            <a:endParaRPr lang="en-US" sz="1100" dirty="0"/>
          </a:p>
        </p:txBody>
      </p:sp>
      <p:sp>
        <p:nvSpPr>
          <p:cNvPr id="19" name="Text 14"/>
          <p:cNvSpPr/>
          <p:nvPr/>
        </p:nvSpPr>
        <p:spPr>
          <a:xfrm>
            <a:off x="548640" y="3337560"/>
            <a:ext cx="11091672" cy="502920"/>
          </a:xfrm>
          <a:prstGeom prst="rect">
            <a:avLst/>
          </a:prstGeom>
          <a:noFill/>
          <a:ln/>
        </p:spPr>
        <p:txBody>
          <a:bodyPr wrap="square" rtlCol="0" anchor="ctr"/>
          <a:lstStyle/>
          <a:p>
            <a:pPr indent="0" marL="0">
              <a:lnSpc>
                <a:spcPct val="120000"/>
              </a:lnSpc>
              <a:buNone/>
            </a:pPr>
            <a:r>
              <a:rPr lang="en-US" sz="1300" dirty="0">
                <a:solidFill>
                  <a:srgbClr val="AAB4C6"/>
                </a:solidFill>
                <a:latin typeface="Calibri" pitchFamily="34" charset="0"/>
                <a:ea typeface="Calibri" pitchFamily="34" charset="-122"/>
                <a:cs typeface="Calibri" pitchFamily="34" charset="-120"/>
              </a:rPr>
              <a:t>We are entering the IIT Delhi SCIDIP program under the </a:t>
            </a:r>
            <a:pPr indent="0" marL="0">
              <a:lnSpc>
                <a:spcPct val="120000"/>
              </a:lnSpc>
              <a:buNone/>
            </a:pPr>
            <a:r>
              <a:rPr lang="en-US" sz="1300" b="1" dirty="0">
                <a:solidFill>
                  <a:srgbClr val="00B8FF"/>
                </a:solidFill>
                <a:latin typeface="Calibri" pitchFamily="34" charset="0"/>
                <a:ea typeface="Calibri" pitchFamily="34" charset="-122"/>
                <a:cs typeface="Calibri" pitchFamily="34" charset="-120"/>
              </a:rPr>
              <a:t>Advanced Materials</a:t>
            </a:r>
            <a:pPr indent="0" marL="0">
              <a:lnSpc>
                <a:spcPct val="120000"/>
              </a:lnSpc>
              <a:buNone/>
            </a:pPr>
            <a:r>
              <a:rPr lang="en-US" sz="1300" dirty="0">
                <a:solidFill>
                  <a:srgbClr val="AAB4C6"/>
                </a:solidFill>
                <a:latin typeface="Calibri" pitchFamily="34" charset="0"/>
                <a:ea typeface="Calibri" pitchFamily="34" charset="-122"/>
                <a:cs typeface="Calibri" pitchFamily="34" charset="-120"/>
              </a:rPr>
              <a:t> category because the exact thermal bottlenecks throttling aerospace are actively capping Sona Comstar's "EPIC" mobility roadmap:</a:t>
            </a:r>
            <a:endParaRPr lang="en-US" sz="1300" dirty="0"/>
          </a:p>
        </p:txBody>
      </p:sp>
      <p:sp>
        <p:nvSpPr>
          <p:cNvPr id="20" name="Shape 15"/>
          <p:cNvSpPr/>
          <p:nvPr/>
        </p:nvSpPr>
        <p:spPr>
          <a:xfrm>
            <a:off x="548640" y="3931920"/>
            <a:ext cx="5394960" cy="2194560"/>
          </a:xfrm>
          <a:prstGeom prst="roundRect">
            <a:avLst>
              <a:gd name="adj" fmla="val 4167"/>
            </a:avLst>
          </a:prstGeom>
          <a:solidFill>
            <a:srgbClr val="141B2E"/>
          </a:solidFill>
          <a:ln w="12700">
            <a:solidFill>
              <a:srgbClr val="2A3550"/>
            </a:solidFill>
            <a:prstDash val="solid"/>
          </a:ln>
        </p:spPr>
      </p:sp>
      <p:sp>
        <p:nvSpPr>
          <p:cNvPr id="21" name="Shape 16"/>
          <p:cNvSpPr/>
          <p:nvPr/>
        </p:nvSpPr>
        <p:spPr>
          <a:xfrm>
            <a:off x="822960" y="4187952"/>
            <a:ext cx="548640" cy="548640"/>
          </a:xfrm>
          <a:prstGeom prst="ellipse">
            <a:avLst/>
          </a:prstGeom>
          <a:solidFill>
            <a:srgbClr val="1A2338"/>
          </a:solidFill>
          <a:ln w="15875">
            <a:solidFill>
              <a:srgbClr val="00B8FF"/>
            </a:solidFill>
            <a:prstDash val="solid"/>
          </a:ln>
        </p:spPr>
      </p:sp>
      <p:pic>
        <p:nvPicPr>
          <p:cNvPr id="22" name="Image 3" descr="assets/icon_gear.png">    </p:cNvPr>
          <p:cNvPicPr>
            <a:picLocks noChangeAspect="1"/>
          </p:cNvPicPr>
          <p:nvPr/>
        </p:nvPicPr>
        <p:blipFill>
          <a:blip r:embed="rId4"/>
          <a:stretch>
            <a:fillRect/>
          </a:stretch>
        </p:blipFill>
        <p:spPr>
          <a:xfrm>
            <a:off x="954634" y="4319626"/>
            <a:ext cx="285293" cy="285293"/>
          </a:xfrm>
          <a:prstGeom prst="rect">
            <a:avLst/>
          </a:prstGeom>
        </p:spPr>
      </p:pic>
      <p:sp>
        <p:nvSpPr>
          <p:cNvPr id="23" name="Text 17"/>
          <p:cNvSpPr/>
          <p:nvPr/>
        </p:nvSpPr>
        <p:spPr>
          <a:xfrm>
            <a:off x="1554480" y="4187952"/>
            <a:ext cx="4206240" cy="640080"/>
          </a:xfrm>
          <a:prstGeom prst="rect">
            <a:avLst/>
          </a:prstGeom>
          <a:noFill/>
          <a:ln/>
        </p:spPr>
        <p:txBody>
          <a:bodyPr wrap="square" rtlCol="0" anchor="ctr"/>
          <a:lstStyle/>
          <a:p>
            <a:pPr indent="0" marL="0">
              <a:lnSpc>
                <a:spcPct val="110000"/>
              </a:lnSpc>
              <a:buNone/>
            </a:pPr>
            <a:r>
              <a:rPr lang="en-US" sz="1350" b="1" dirty="0">
                <a:solidFill>
                  <a:srgbClr val="F5F7FA"/>
                </a:solidFill>
                <a:latin typeface="Arial" pitchFamily="34" charset="0"/>
                <a:ea typeface="Arial" pitchFamily="34" charset="-122"/>
                <a:cs typeface="Arial" pitchFamily="34" charset="-120"/>
              </a:rPr>
              <a:t>1. Precision Forging Dies (Driveline)</a:t>
            </a:r>
            <a:endParaRPr lang="en-US" sz="1350" dirty="0"/>
          </a:p>
        </p:txBody>
      </p:sp>
      <p:sp>
        <p:nvSpPr>
          <p:cNvPr id="24" name="Text 18"/>
          <p:cNvSpPr/>
          <p:nvPr/>
        </p:nvSpPr>
        <p:spPr>
          <a:xfrm>
            <a:off x="822960" y="4892040"/>
            <a:ext cx="4846320" cy="1097280"/>
          </a:xfrm>
          <a:prstGeom prst="rect">
            <a:avLst/>
          </a:prstGeom>
          <a:noFill/>
          <a:ln/>
        </p:spPr>
        <p:txBody>
          <a:bodyPr wrap="square" rtlCol="0" anchor="ctr"/>
          <a:lstStyle/>
          <a:p>
            <a:pPr indent="0" marL="0">
              <a:lnSpc>
                <a:spcPct val="128000"/>
              </a:lnSpc>
              <a:buNone/>
            </a:pPr>
            <a:r>
              <a:rPr lang="en-US" sz="1250" dirty="0">
                <a:solidFill>
                  <a:srgbClr val="AAB4C6"/>
                </a:solidFill>
                <a:latin typeface="Calibri" pitchFamily="34" charset="0"/>
                <a:ea typeface="Calibri" pitchFamily="34" charset="-122"/>
                <a:cs typeface="Calibri" pitchFamily="34" charset="-120"/>
              </a:rPr>
              <a:t>Sona Comstar's legacy H13 tool steel dies suffer from rapid thermal fatigue and yield strength collapse at 1200°C during high-speed gear forging. Our HEA architectures retain over </a:t>
            </a:r>
            <a:pPr indent="0" marL="0">
              <a:lnSpc>
                <a:spcPct val="128000"/>
              </a:lnSpc>
              <a:buNone/>
            </a:pPr>
            <a:r>
              <a:rPr lang="en-US" sz="1250" b="1" dirty="0">
                <a:solidFill>
                  <a:srgbClr val="00E5A0"/>
                </a:solidFill>
                <a:latin typeface="Calibri" pitchFamily="34" charset="0"/>
                <a:ea typeface="Calibri" pitchFamily="34" charset="-122"/>
                <a:cs typeface="Calibri" pitchFamily="34" charset="-120"/>
              </a:rPr>
              <a:t>917.7 MPa yield strength</a:t>
            </a:r>
            <a:pPr indent="0" marL="0">
              <a:lnSpc>
                <a:spcPct val="128000"/>
              </a:lnSpc>
              <a:buNone/>
            </a:pPr>
            <a:r>
              <a:rPr lang="en-US" sz="1250" dirty="0">
                <a:solidFill>
                  <a:srgbClr val="AAB4C6"/>
                </a:solidFill>
                <a:latin typeface="Calibri" pitchFamily="34" charset="0"/>
                <a:ea typeface="Calibri" pitchFamily="34" charset="-122"/>
                <a:cs typeface="Calibri" pitchFamily="34" charset="-120"/>
              </a:rPr>
              <a:t> at these exact temperatures.</a:t>
            </a:r>
            <a:endParaRPr lang="en-US" sz="1250" dirty="0"/>
          </a:p>
        </p:txBody>
      </p:sp>
      <p:sp>
        <p:nvSpPr>
          <p:cNvPr id="25" name="Shape 19"/>
          <p:cNvSpPr/>
          <p:nvPr/>
        </p:nvSpPr>
        <p:spPr>
          <a:xfrm>
            <a:off x="6245352" y="3931920"/>
            <a:ext cx="5394960" cy="2194560"/>
          </a:xfrm>
          <a:prstGeom prst="roundRect">
            <a:avLst>
              <a:gd name="adj" fmla="val 4167"/>
            </a:avLst>
          </a:prstGeom>
          <a:solidFill>
            <a:srgbClr val="141B2E"/>
          </a:solidFill>
          <a:ln w="12700">
            <a:solidFill>
              <a:srgbClr val="2A3550"/>
            </a:solidFill>
            <a:prstDash val="solid"/>
          </a:ln>
        </p:spPr>
      </p:sp>
      <p:sp>
        <p:nvSpPr>
          <p:cNvPr id="26" name="Shape 20"/>
          <p:cNvSpPr/>
          <p:nvPr/>
        </p:nvSpPr>
        <p:spPr>
          <a:xfrm>
            <a:off x="6519672" y="4187952"/>
            <a:ext cx="548640" cy="548640"/>
          </a:xfrm>
          <a:prstGeom prst="ellipse">
            <a:avLst/>
          </a:prstGeom>
          <a:solidFill>
            <a:srgbClr val="1A2338"/>
          </a:solidFill>
          <a:ln w="15875">
            <a:solidFill>
              <a:srgbClr val="00B8FF"/>
            </a:solidFill>
            <a:prstDash val="solid"/>
          </a:ln>
        </p:spPr>
      </p:sp>
      <p:pic>
        <p:nvPicPr>
          <p:cNvPr id="27" name="Image 4" descr="assets/icon_motor.png">    </p:cNvPr>
          <p:cNvPicPr>
            <a:picLocks noChangeAspect="1"/>
          </p:cNvPicPr>
          <p:nvPr/>
        </p:nvPicPr>
        <p:blipFill>
          <a:blip r:embed="rId5"/>
          <a:stretch>
            <a:fillRect/>
          </a:stretch>
        </p:blipFill>
        <p:spPr>
          <a:xfrm>
            <a:off x="6651346" y="4319626"/>
            <a:ext cx="285293" cy="285293"/>
          </a:xfrm>
          <a:prstGeom prst="rect">
            <a:avLst/>
          </a:prstGeom>
        </p:spPr>
      </p:pic>
      <p:sp>
        <p:nvSpPr>
          <p:cNvPr id="28" name="Text 21"/>
          <p:cNvSpPr/>
          <p:nvPr/>
        </p:nvSpPr>
        <p:spPr>
          <a:xfrm>
            <a:off x="7251192" y="4187952"/>
            <a:ext cx="4206240" cy="640080"/>
          </a:xfrm>
          <a:prstGeom prst="rect">
            <a:avLst/>
          </a:prstGeom>
          <a:noFill/>
          <a:ln/>
        </p:spPr>
        <p:txBody>
          <a:bodyPr wrap="square" rtlCol="0" anchor="ctr"/>
          <a:lstStyle/>
          <a:p>
            <a:pPr indent="0" marL="0">
              <a:lnSpc>
                <a:spcPct val="110000"/>
              </a:lnSpc>
              <a:buNone/>
            </a:pPr>
            <a:r>
              <a:rPr lang="en-US" sz="1350" b="1" dirty="0">
                <a:solidFill>
                  <a:srgbClr val="F5F7FA"/>
                </a:solidFill>
                <a:latin typeface="Arial" pitchFamily="34" charset="0"/>
                <a:ea typeface="Arial" pitchFamily="34" charset="-122"/>
                <a:cs typeface="Arial" pitchFamily="34" charset="-120"/>
              </a:rPr>
              <a:t>2. Next-Generation Traction Motors (Electric)</a:t>
            </a:r>
            <a:endParaRPr lang="en-US" sz="1350" dirty="0"/>
          </a:p>
        </p:txBody>
      </p:sp>
      <p:sp>
        <p:nvSpPr>
          <p:cNvPr id="29" name="Text 22"/>
          <p:cNvSpPr/>
          <p:nvPr/>
        </p:nvSpPr>
        <p:spPr>
          <a:xfrm>
            <a:off x="6519672" y="4892040"/>
            <a:ext cx="4846320" cy="1097280"/>
          </a:xfrm>
          <a:prstGeom prst="rect">
            <a:avLst/>
          </a:prstGeom>
          <a:noFill/>
          <a:ln/>
        </p:spPr>
        <p:txBody>
          <a:bodyPr wrap="square" rtlCol="0" anchor="ctr"/>
          <a:lstStyle/>
          <a:p>
            <a:pPr indent="0" marL="0">
              <a:lnSpc>
                <a:spcPct val="128000"/>
              </a:lnSpc>
              <a:buNone/>
            </a:pPr>
            <a:r>
              <a:rPr lang="en-US" sz="1250" dirty="0">
                <a:solidFill>
                  <a:srgbClr val="AAB4C6"/>
                </a:solidFill>
                <a:latin typeface="Calibri" pitchFamily="34" charset="0"/>
                <a:ea typeface="Calibri" pitchFamily="34" charset="-122"/>
                <a:cs typeface="Calibri" pitchFamily="34" charset="-120"/>
              </a:rPr>
              <a:t>As Sona Comstar scales magnet-less Switched Reluctance Motors (SRMs), traditional metals degrade under the severe localized thermal loads generated by extreme torque densities.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4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COMMERCIAL STRATEGY</a:t>
            </a:r>
            <a:endParaRPr lang="en-US" sz="1200" dirty="0"/>
          </a:p>
        </p:txBody>
      </p:sp>
      <p:sp>
        <p:nvSpPr>
          <p:cNvPr id="5" name="Text 3"/>
          <p:cNvSpPr/>
          <p:nvPr/>
        </p:nvSpPr>
        <p:spPr>
          <a:xfrm>
            <a:off x="548640" y="658368"/>
            <a:ext cx="11064240" cy="640080"/>
          </a:xfrm>
          <a:prstGeom prst="rect">
            <a:avLst/>
          </a:prstGeom>
          <a:noFill/>
          <a:ln/>
        </p:spPr>
        <p:txBody>
          <a:bodyPr wrap="square" rtlCol="0" anchor="ctr"/>
          <a:lstStyle/>
          <a:p>
            <a:pPr algn="l" indent="0" marL="0">
              <a:lnSpc>
                <a:spcPct val="105000"/>
              </a:lnSpc>
              <a:buNone/>
            </a:pPr>
            <a:r>
              <a:rPr lang="en-US" sz="2400" b="1" spc="30" kern="0" dirty="0">
                <a:solidFill>
                  <a:srgbClr val="F5F7FA"/>
                </a:solidFill>
                <a:latin typeface="Arial" pitchFamily="34" charset="0"/>
                <a:ea typeface="Arial" pitchFamily="34" charset="-122"/>
                <a:cs typeface="Arial" pitchFamily="34" charset="-120"/>
              </a:rPr>
              <a:t>DEPLOYING AEROSPACE GRADE MATERIALS AT COMMERCIAL SCALE</a:t>
            </a:r>
            <a:endParaRPr lang="en-US" sz="2400" dirty="0"/>
          </a:p>
        </p:txBody>
      </p:sp>
      <p:sp>
        <p:nvSpPr>
          <p:cNvPr id="6" name="Text 4"/>
          <p:cNvSpPr/>
          <p:nvPr/>
        </p:nvSpPr>
        <p:spPr>
          <a:xfrm>
            <a:off x="548640" y="1298448"/>
            <a:ext cx="11091672" cy="411480"/>
          </a:xfrm>
          <a:prstGeom prst="rect">
            <a:avLst/>
          </a:prstGeom>
          <a:noFill/>
          <a:ln/>
        </p:spPr>
        <p:txBody>
          <a:bodyPr wrap="square" rtlCol="0" anchor="ctr"/>
          <a:lstStyle/>
          <a:p>
            <a:pPr indent="0" marL="0">
              <a:buNone/>
            </a:pPr>
            <a:r>
              <a:rPr lang="en-US" sz="1400" dirty="0">
                <a:solidFill>
                  <a:srgbClr val="AAB4C6"/>
                </a:solidFill>
                <a:latin typeface="Calibri" pitchFamily="34" charset="0"/>
                <a:ea typeface="Calibri" pitchFamily="34" charset="-122"/>
                <a:cs typeface="Calibri" pitchFamily="34" charset="-120"/>
              </a:rPr>
              <a:t>Our AI engine does not just optimize for physics; it optimizes for the </a:t>
            </a:r>
            <a:pPr indent="0" marL="0">
              <a:buNone/>
            </a:pPr>
            <a:r>
              <a:rPr lang="en-US" sz="1400" b="1" dirty="0">
                <a:solidFill>
                  <a:srgbClr val="00E5A0"/>
                </a:solidFill>
                <a:latin typeface="Calibri" pitchFamily="34" charset="0"/>
                <a:ea typeface="Calibri" pitchFamily="34" charset="-122"/>
                <a:cs typeface="Calibri" pitchFamily="34" charset="-120"/>
              </a:rPr>
              <a:t>supply chain</a:t>
            </a:r>
            <a:pPr indent="0" marL="0">
              <a:buNone/>
            </a:pPr>
            <a:r>
              <a:rPr lang="en-US" sz="1400" dirty="0">
                <a:solidFill>
                  <a:srgbClr val="AAB4C6"/>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a:off x="548640" y="1965960"/>
            <a:ext cx="3538728" cy="4160520"/>
          </a:xfrm>
          <a:prstGeom prst="roundRect">
            <a:avLst>
              <a:gd name="adj" fmla="val 2584"/>
            </a:avLst>
          </a:prstGeom>
          <a:solidFill>
            <a:srgbClr val="141B2E"/>
          </a:solidFill>
          <a:ln w="12700">
            <a:solidFill>
              <a:srgbClr val="2A3550"/>
            </a:solidFill>
            <a:prstDash val="solid"/>
          </a:ln>
        </p:spPr>
      </p:sp>
      <p:sp>
        <p:nvSpPr>
          <p:cNvPr id="8" name="Shape 6"/>
          <p:cNvSpPr/>
          <p:nvPr/>
        </p:nvSpPr>
        <p:spPr>
          <a:xfrm>
            <a:off x="804672" y="2240280"/>
            <a:ext cx="566928" cy="566928"/>
          </a:xfrm>
          <a:prstGeom prst="ellipse">
            <a:avLst/>
          </a:prstGeom>
          <a:solidFill>
            <a:srgbClr val="1A2338"/>
          </a:solidFill>
          <a:ln w="15875">
            <a:solidFill>
              <a:srgbClr val="00E5A0"/>
            </a:solidFill>
            <a:prstDash val="solid"/>
          </a:ln>
        </p:spPr>
      </p:sp>
      <p:pic>
        <p:nvPicPr>
          <p:cNvPr id="9" name="Image 0" descr="assets/icon_dollar.png">    </p:cNvPr>
          <p:cNvPicPr>
            <a:picLocks noChangeAspect="1"/>
          </p:cNvPicPr>
          <p:nvPr/>
        </p:nvPicPr>
        <p:blipFill>
          <a:blip r:embed="rId1"/>
          <a:stretch>
            <a:fillRect/>
          </a:stretch>
        </p:blipFill>
        <p:spPr>
          <a:xfrm>
            <a:off x="940735" y="2376343"/>
            <a:ext cx="294803" cy="294803"/>
          </a:xfrm>
          <a:prstGeom prst="rect">
            <a:avLst/>
          </a:prstGeom>
        </p:spPr>
      </p:pic>
      <p:sp>
        <p:nvSpPr>
          <p:cNvPr id="10" name="Text 7"/>
          <p:cNvSpPr/>
          <p:nvPr/>
        </p:nvSpPr>
        <p:spPr>
          <a:xfrm>
            <a:off x="804672" y="2971800"/>
            <a:ext cx="3026664" cy="640080"/>
          </a:xfrm>
          <a:prstGeom prst="rect">
            <a:avLst/>
          </a:prstGeom>
          <a:noFill/>
          <a:ln/>
        </p:spPr>
        <p:txBody>
          <a:bodyPr wrap="square" rtlCol="0" anchor="ctr"/>
          <a:lstStyle/>
          <a:p>
            <a:pPr indent="0" marL="0">
              <a:lnSpc>
                <a:spcPct val="112000"/>
              </a:lnSpc>
              <a:buNone/>
            </a:pPr>
            <a:r>
              <a:rPr lang="en-US" sz="1400" b="1" dirty="0">
                <a:solidFill>
                  <a:srgbClr val="F5F7FA"/>
                </a:solidFill>
                <a:latin typeface="Arial" pitchFamily="34" charset="0"/>
                <a:ea typeface="Arial" pitchFamily="34" charset="-122"/>
                <a:cs typeface="Arial" pitchFamily="34" charset="-120"/>
              </a:rPr>
              <a:t>1. Raw Material Cost Reduction</a:t>
            </a:r>
            <a:endParaRPr lang="en-US" sz="1400" dirty="0"/>
          </a:p>
        </p:txBody>
      </p:sp>
      <p:sp>
        <p:nvSpPr>
          <p:cNvPr id="11" name="Text 8"/>
          <p:cNvSpPr/>
          <p:nvPr/>
        </p:nvSpPr>
        <p:spPr>
          <a:xfrm>
            <a:off x="804672" y="3657600"/>
            <a:ext cx="3026664" cy="2331720"/>
          </a:xfrm>
          <a:prstGeom prst="rect">
            <a:avLst/>
          </a:prstGeom>
          <a:noFill/>
          <a:ln/>
        </p:spPr>
        <p:txBody>
          <a:bodyPr wrap="square" rtlCol="0" anchor="ctr"/>
          <a:lstStyle/>
          <a:p>
            <a:pPr indent="0" marL="0">
              <a:lnSpc>
                <a:spcPct val="132000"/>
              </a:lnSpc>
              <a:buNone/>
            </a:pPr>
            <a:r>
              <a:rPr lang="en-US" sz="1250" dirty="0">
                <a:solidFill>
                  <a:srgbClr val="AAB4C6"/>
                </a:solidFill>
                <a:latin typeface="Calibri" pitchFamily="34" charset="0"/>
                <a:ea typeface="Calibri" pitchFamily="34" charset="-122"/>
                <a:cs typeface="Calibri" pitchFamily="34" charset="-120"/>
              </a:rPr>
              <a:t>By programmatically identifying that we could substitute highly expensive, supply-constrained Hafnium with optimized Titanium, our AI dropped the raw material cost of the alloy by </a:t>
            </a:r>
            <a:pPr indent="0" marL="0">
              <a:lnSpc>
                <a:spcPct val="132000"/>
              </a:lnSpc>
              <a:buNone/>
            </a:pPr>
            <a:r>
              <a:rPr lang="en-US" sz="1250" b="1" dirty="0">
                <a:solidFill>
                  <a:srgbClr val="00E5A0"/>
                </a:solidFill>
                <a:latin typeface="Calibri" pitchFamily="34" charset="0"/>
                <a:ea typeface="Calibri" pitchFamily="34" charset="-122"/>
                <a:cs typeface="Calibri" pitchFamily="34" charset="-120"/>
              </a:rPr>
              <a:t>15-20%</a:t>
            </a:r>
            <a:pPr indent="0" marL="0">
              <a:lnSpc>
                <a:spcPct val="132000"/>
              </a:lnSpc>
              <a:buNone/>
            </a:pPr>
            <a:r>
              <a:rPr lang="en-US" sz="1250" dirty="0">
                <a:solidFill>
                  <a:srgbClr val="AAB4C6"/>
                </a:solidFill>
                <a:latin typeface="Calibri" pitchFamily="34" charset="0"/>
                <a:ea typeface="Calibri" pitchFamily="34" charset="-122"/>
                <a:cs typeface="Calibri" pitchFamily="34" charset="-120"/>
              </a:rPr>
              <a:t> (achieving </a:t>
            </a:r>
            <a:pPr indent="0" marL="0">
              <a:lnSpc>
                <a:spcPct val="132000"/>
              </a:lnSpc>
              <a:buNone/>
            </a:pPr>
            <a:r>
              <a:rPr lang="en-US" sz="1250" b="1" dirty="0">
                <a:solidFill>
                  <a:srgbClr val="00E5A0"/>
                </a:solidFill>
                <a:latin typeface="Calibri" pitchFamily="34" charset="0"/>
                <a:ea typeface="Calibri" pitchFamily="34" charset="-122"/>
                <a:cs typeface="Calibri" pitchFamily="34" charset="-120"/>
              </a:rPr>
              <a:t>~$170/kg</a:t>
            </a:r>
            <a:pPr indent="0" marL="0">
              <a:lnSpc>
                <a:spcPct val="132000"/>
              </a:lnSpc>
              <a:buNone/>
            </a:pPr>
            <a:r>
              <a:rPr lang="en-US" sz="1250" dirty="0">
                <a:solidFill>
                  <a:srgbClr val="AAB4C6"/>
                </a:solidFill>
                <a:latin typeface="Calibri" pitchFamily="34" charset="0"/>
                <a:ea typeface="Calibri" pitchFamily="34" charset="-122"/>
                <a:cs typeface="Calibri" pitchFamily="34" charset="-120"/>
              </a:rPr>
              <a:t>), making aerospace-grade materials viable for commercial automotive forging.</a:t>
            </a:r>
            <a:endParaRPr lang="en-US" sz="1250" dirty="0"/>
          </a:p>
        </p:txBody>
      </p:sp>
      <p:sp>
        <p:nvSpPr>
          <p:cNvPr id="12" name="Shape 9"/>
          <p:cNvSpPr/>
          <p:nvPr/>
        </p:nvSpPr>
        <p:spPr>
          <a:xfrm>
            <a:off x="4325112" y="1965960"/>
            <a:ext cx="3538728" cy="4160520"/>
          </a:xfrm>
          <a:prstGeom prst="roundRect">
            <a:avLst>
              <a:gd name="adj" fmla="val 2584"/>
            </a:avLst>
          </a:prstGeom>
          <a:solidFill>
            <a:srgbClr val="141B2E"/>
          </a:solidFill>
          <a:ln w="12700">
            <a:solidFill>
              <a:srgbClr val="2A3550"/>
            </a:solidFill>
            <a:prstDash val="solid"/>
          </a:ln>
        </p:spPr>
      </p:sp>
      <p:sp>
        <p:nvSpPr>
          <p:cNvPr id="13" name="Shape 10"/>
          <p:cNvSpPr/>
          <p:nvPr/>
        </p:nvSpPr>
        <p:spPr>
          <a:xfrm>
            <a:off x="4581144" y="2240280"/>
            <a:ext cx="566928" cy="566928"/>
          </a:xfrm>
          <a:prstGeom prst="ellipse">
            <a:avLst/>
          </a:prstGeom>
          <a:solidFill>
            <a:srgbClr val="1A2338"/>
          </a:solidFill>
          <a:ln w="15875">
            <a:solidFill>
              <a:srgbClr val="00E5A0"/>
            </a:solidFill>
            <a:prstDash val="solid"/>
          </a:ln>
        </p:spPr>
      </p:sp>
      <p:pic>
        <p:nvPicPr>
          <p:cNvPr id="14" name="Image 1" descr="assets/icon_leaf.png">    </p:cNvPr>
          <p:cNvPicPr>
            <a:picLocks noChangeAspect="1"/>
          </p:cNvPicPr>
          <p:nvPr/>
        </p:nvPicPr>
        <p:blipFill>
          <a:blip r:embed="rId2"/>
          <a:stretch>
            <a:fillRect/>
          </a:stretch>
        </p:blipFill>
        <p:spPr>
          <a:xfrm>
            <a:off x="4717207" y="2376343"/>
            <a:ext cx="294803" cy="294803"/>
          </a:xfrm>
          <a:prstGeom prst="rect">
            <a:avLst/>
          </a:prstGeom>
        </p:spPr>
      </p:pic>
      <p:sp>
        <p:nvSpPr>
          <p:cNvPr id="15" name="Text 11"/>
          <p:cNvSpPr/>
          <p:nvPr/>
        </p:nvSpPr>
        <p:spPr>
          <a:xfrm>
            <a:off x="4581144" y="2971800"/>
            <a:ext cx="3026664" cy="640080"/>
          </a:xfrm>
          <a:prstGeom prst="rect">
            <a:avLst/>
          </a:prstGeom>
          <a:noFill/>
          <a:ln/>
        </p:spPr>
        <p:txBody>
          <a:bodyPr wrap="square" rtlCol="0" anchor="ctr"/>
          <a:lstStyle/>
          <a:p>
            <a:pPr indent="0" marL="0">
              <a:lnSpc>
                <a:spcPct val="112000"/>
              </a:lnSpc>
              <a:buNone/>
            </a:pPr>
            <a:r>
              <a:rPr lang="en-US" sz="1400" b="1" dirty="0">
                <a:solidFill>
                  <a:srgbClr val="F5F7FA"/>
                </a:solidFill>
                <a:latin typeface="Arial" pitchFamily="34" charset="0"/>
                <a:ea typeface="Arial" pitchFamily="34" charset="-122"/>
                <a:cs typeface="Arial" pitchFamily="34" charset="-120"/>
              </a:rPr>
              <a:t>2. ESG &amp; Sustainability</a:t>
            </a:r>
            <a:endParaRPr lang="en-US" sz="1400" dirty="0"/>
          </a:p>
        </p:txBody>
      </p:sp>
      <p:sp>
        <p:nvSpPr>
          <p:cNvPr id="16" name="Text 12"/>
          <p:cNvSpPr/>
          <p:nvPr/>
        </p:nvSpPr>
        <p:spPr>
          <a:xfrm>
            <a:off x="4581144" y="3657600"/>
            <a:ext cx="3026664" cy="2331720"/>
          </a:xfrm>
          <a:prstGeom prst="rect">
            <a:avLst/>
          </a:prstGeom>
          <a:noFill/>
          <a:ln/>
        </p:spPr>
        <p:txBody>
          <a:bodyPr wrap="square" rtlCol="0" anchor="ctr"/>
          <a:lstStyle/>
          <a:p>
            <a:pPr indent="0" marL="0">
              <a:lnSpc>
                <a:spcPct val="132000"/>
              </a:lnSpc>
              <a:buNone/>
            </a:pPr>
            <a:r>
              <a:rPr lang="en-US" sz="1250" dirty="0">
                <a:solidFill>
                  <a:srgbClr val="AAB4C6"/>
                </a:solidFill>
                <a:latin typeface="Calibri" pitchFamily="34" charset="0"/>
                <a:ea typeface="Calibri" pitchFamily="34" charset="-122"/>
                <a:cs typeface="Calibri" pitchFamily="34" charset="-120"/>
              </a:rPr>
              <a:t>Crystal Paradigm's Candidate C is fully quantified for environmental impact, capping Embodied Energy at a highly sustainable </a:t>
            </a:r>
            <a:pPr indent="0" marL="0">
              <a:lnSpc>
                <a:spcPct val="132000"/>
              </a:lnSpc>
              <a:buNone/>
            </a:pPr>
            <a:r>
              <a:rPr lang="en-US" sz="1250" b="1" dirty="0">
                <a:solidFill>
                  <a:srgbClr val="00E5A0"/>
                </a:solidFill>
                <a:latin typeface="Calibri" pitchFamily="34" charset="0"/>
                <a:ea typeface="Calibri" pitchFamily="34" charset="-122"/>
                <a:cs typeface="Calibri" pitchFamily="34" charset="-120"/>
              </a:rPr>
              <a:t>1680 MJ/kg</a:t>
            </a:r>
            <a:pPr indent="0" marL="0">
              <a:lnSpc>
                <a:spcPct val="132000"/>
              </a:lnSpc>
              <a:buNone/>
            </a:pPr>
            <a:r>
              <a:rPr lang="en-US" sz="1250" dirty="0">
                <a:solidFill>
                  <a:srgbClr val="AAB4C6"/>
                </a:solidFill>
                <a:latin typeface="Calibri" pitchFamily="34" charset="0"/>
                <a:ea typeface="Calibri" pitchFamily="34" charset="-122"/>
                <a:cs typeface="Calibri" pitchFamily="34" charset="-120"/>
              </a:rPr>
              <a:t>—directly supporting zero-emissions manufacturing goals.</a:t>
            </a:r>
            <a:endParaRPr lang="en-US" sz="1250" dirty="0"/>
          </a:p>
        </p:txBody>
      </p:sp>
      <p:sp>
        <p:nvSpPr>
          <p:cNvPr id="17" name="Shape 13"/>
          <p:cNvSpPr/>
          <p:nvPr/>
        </p:nvSpPr>
        <p:spPr>
          <a:xfrm>
            <a:off x="8101584" y="1965960"/>
            <a:ext cx="3538728" cy="4160520"/>
          </a:xfrm>
          <a:prstGeom prst="roundRect">
            <a:avLst>
              <a:gd name="adj" fmla="val 2584"/>
            </a:avLst>
          </a:prstGeom>
          <a:solidFill>
            <a:srgbClr val="141B2E"/>
          </a:solidFill>
          <a:ln w="12700">
            <a:solidFill>
              <a:srgbClr val="2A3550"/>
            </a:solidFill>
            <a:prstDash val="solid"/>
          </a:ln>
        </p:spPr>
      </p:sp>
      <p:sp>
        <p:nvSpPr>
          <p:cNvPr id="18" name="Shape 14"/>
          <p:cNvSpPr/>
          <p:nvPr/>
        </p:nvSpPr>
        <p:spPr>
          <a:xfrm>
            <a:off x="8357616" y="2240280"/>
            <a:ext cx="566928" cy="566928"/>
          </a:xfrm>
          <a:prstGeom prst="ellipse">
            <a:avLst/>
          </a:prstGeom>
          <a:solidFill>
            <a:srgbClr val="1A2338"/>
          </a:solidFill>
          <a:ln w="15875">
            <a:solidFill>
              <a:srgbClr val="00E5A0"/>
            </a:solidFill>
            <a:prstDash val="solid"/>
          </a:ln>
        </p:spPr>
      </p:sp>
      <p:pic>
        <p:nvPicPr>
          <p:cNvPr id="19" name="Image 2" descr="assets/icon_shield.png">    </p:cNvPr>
          <p:cNvPicPr>
            <a:picLocks noChangeAspect="1"/>
          </p:cNvPicPr>
          <p:nvPr/>
        </p:nvPicPr>
        <p:blipFill>
          <a:blip r:embed="rId3"/>
          <a:stretch>
            <a:fillRect/>
          </a:stretch>
        </p:blipFill>
        <p:spPr>
          <a:xfrm>
            <a:off x="8493679" y="2376343"/>
            <a:ext cx="294803" cy="294803"/>
          </a:xfrm>
          <a:prstGeom prst="rect">
            <a:avLst/>
          </a:prstGeom>
        </p:spPr>
      </p:pic>
      <p:sp>
        <p:nvSpPr>
          <p:cNvPr id="20" name="Text 15"/>
          <p:cNvSpPr/>
          <p:nvPr/>
        </p:nvSpPr>
        <p:spPr>
          <a:xfrm>
            <a:off x="8357616" y="2971800"/>
            <a:ext cx="3026664" cy="640080"/>
          </a:xfrm>
          <a:prstGeom prst="rect">
            <a:avLst/>
          </a:prstGeom>
          <a:noFill/>
          <a:ln/>
        </p:spPr>
        <p:txBody>
          <a:bodyPr wrap="square" rtlCol="0" anchor="ctr"/>
          <a:lstStyle/>
          <a:p>
            <a:pPr indent="0" marL="0">
              <a:lnSpc>
                <a:spcPct val="112000"/>
              </a:lnSpc>
              <a:buNone/>
            </a:pPr>
            <a:r>
              <a:rPr lang="en-US" sz="1400" b="1" dirty="0">
                <a:solidFill>
                  <a:srgbClr val="F5F7FA"/>
                </a:solidFill>
                <a:latin typeface="Arial" pitchFamily="34" charset="0"/>
                <a:ea typeface="Arial" pitchFamily="34" charset="-122"/>
                <a:cs typeface="Arial" pitchFamily="34" charset="-120"/>
              </a:rPr>
              <a:t>3. Supply Chain Resilience ("Make in India")</a:t>
            </a:r>
            <a:endParaRPr lang="en-US" sz="1400" dirty="0"/>
          </a:p>
        </p:txBody>
      </p:sp>
      <p:sp>
        <p:nvSpPr>
          <p:cNvPr id="21" name="Text 16"/>
          <p:cNvSpPr/>
          <p:nvPr/>
        </p:nvSpPr>
        <p:spPr>
          <a:xfrm>
            <a:off x="8357616" y="3657600"/>
            <a:ext cx="3026664" cy="2331720"/>
          </a:xfrm>
          <a:prstGeom prst="rect">
            <a:avLst/>
          </a:prstGeom>
          <a:noFill/>
          <a:ln/>
        </p:spPr>
        <p:txBody>
          <a:bodyPr wrap="square" rtlCol="0" anchor="ctr"/>
          <a:lstStyle/>
          <a:p>
            <a:pPr indent="0" marL="0">
              <a:lnSpc>
                <a:spcPct val="132000"/>
              </a:lnSpc>
              <a:buNone/>
            </a:pPr>
            <a:r>
              <a:rPr lang="en-US" sz="1250" dirty="0">
                <a:solidFill>
                  <a:srgbClr val="AAB4C6"/>
                </a:solidFill>
                <a:latin typeface="Calibri" pitchFamily="34" charset="0"/>
                <a:ea typeface="Calibri" pitchFamily="34" charset="-122"/>
                <a:cs typeface="Calibri" pitchFamily="34" charset="-120"/>
              </a:rPr>
              <a:t>By utilizing a </a:t>
            </a:r>
            <a:pPr indent="0" marL="0">
              <a:lnSpc>
                <a:spcPct val="132000"/>
              </a:lnSpc>
              <a:buNone/>
            </a:pPr>
            <a:r>
              <a:rPr lang="en-US" sz="1250" b="1" dirty="0">
                <a:solidFill>
                  <a:srgbClr val="00E5A0"/>
                </a:solidFill>
                <a:latin typeface="Calibri" pitchFamily="34" charset="0"/>
                <a:ea typeface="Calibri" pitchFamily="34" charset="-122"/>
                <a:cs typeface="Calibri" pitchFamily="34" charset="-120"/>
              </a:rPr>
              <a:t>9-element multi-principal matrix</a:t>
            </a:r>
            <a:pPr indent="0" marL="0">
              <a:lnSpc>
                <a:spcPct val="132000"/>
              </a:lnSpc>
              <a:buNone/>
            </a:pPr>
            <a:r>
              <a:rPr lang="en-US" sz="1250" dirty="0">
                <a:solidFill>
                  <a:srgbClr val="AAB4C6"/>
                </a:solidFill>
                <a:latin typeface="Calibri" pitchFamily="34" charset="0"/>
                <a:ea typeface="Calibri" pitchFamily="34" charset="-122"/>
                <a:cs typeface="Calibri" pitchFamily="34" charset="-120"/>
              </a:rPr>
              <a:t>, we drastically reduce reliance on single critical minerals (like Neodymium) controlled by volatile foreign supply chains. Our pipeline ensures true indigenous, self-reliant IP generation for the Indian mobility sector.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5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AI ENGINE · STEP 1</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400" b="1" spc="30" kern="0" dirty="0">
                <a:solidFill>
                  <a:srgbClr val="F5F7FA"/>
                </a:solidFill>
                <a:latin typeface="Arial" pitchFamily="34" charset="0"/>
                <a:ea typeface="Arial" pitchFamily="34" charset="-122"/>
                <a:cs typeface="Arial" pitchFamily="34" charset="-120"/>
              </a:rPr>
              <a:t>THE CRYSTAL PARADIGM AI ENGINE: STEP 1</a:t>
            </a:r>
            <a:endParaRPr lang="en-US" sz="24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600" b="1" dirty="0">
                <a:solidFill>
                  <a:srgbClr val="00B8FF"/>
                </a:solidFill>
                <a:latin typeface="Arial" pitchFamily="34" charset="0"/>
                <a:ea typeface="Arial" pitchFamily="34" charset="-122"/>
                <a:cs typeface="Arial" pitchFamily="34" charset="-120"/>
              </a:rPr>
              <a:t>Secure Ingestion &amp; Empirical Thermodynamic Gating</a:t>
            </a:r>
            <a:endParaRPr lang="en-US" sz="1600" dirty="0"/>
          </a:p>
        </p:txBody>
      </p:sp>
      <p:sp>
        <p:nvSpPr>
          <p:cNvPr id="7" name="Text 5"/>
          <p:cNvSpPr/>
          <p:nvPr/>
        </p:nvSpPr>
        <p:spPr>
          <a:xfrm>
            <a:off x="548640" y="1572768"/>
            <a:ext cx="11091672" cy="777240"/>
          </a:xfrm>
          <a:prstGeom prst="rect">
            <a:avLst/>
          </a:prstGeom>
          <a:noFill/>
          <a:ln/>
        </p:spPr>
        <p:txBody>
          <a:bodyPr wrap="square" rtlCol="0" anchor="ctr"/>
          <a:lstStyle/>
          <a:p>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Before a single machine learning model is trained, our pipeline strictly enforces the laws of physics and commercial viability. We ingest massive combinatorial spaces (</a:t>
            </a:r>
            <a:pPr indent="0" marL="0">
              <a:lnSpc>
                <a:spcPct val="125000"/>
              </a:lnSpc>
              <a:buNone/>
            </a:pPr>
            <a:r>
              <a:rPr lang="en-US" sz="1250" b="1" dirty="0">
                <a:solidFill>
                  <a:srgbClr val="00E5A0"/>
                </a:solidFill>
                <a:latin typeface="Calibri" pitchFamily="34" charset="0"/>
                <a:ea typeface="Calibri" pitchFamily="34" charset="-122"/>
                <a:cs typeface="Calibri" pitchFamily="34" charset="-120"/>
              </a:rPr>
              <a:t>Materials Project, AFLOW</a:t>
            </a:r>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 but ruthlessly filter out unstable or toxic formulations using </a:t>
            </a:r>
            <a:pPr indent="0" marL="0">
              <a:lnSpc>
                <a:spcPct val="125000"/>
              </a:lnSpc>
              <a:buNone/>
            </a:pPr>
            <a:r>
              <a:rPr lang="en-US" sz="1250" b="1" dirty="0">
                <a:solidFill>
                  <a:srgbClr val="00E5A0"/>
                </a:solidFill>
                <a:latin typeface="Calibri" pitchFamily="34" charset="0"/>
                <a:ea typeface="Calibri" pitchFamily="34" charset="-122"/>
                <a:cs typeface="Calibri" pitchFamily="34" charset="-120"/>
              </a:rPr>
              <a:t>Miedema's Empirical Rules</a:t>
            </a:r>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 to ensure day-one compliance with Sona Comstar's </a:t>
            </a:r>
            <a:pPr indent="0" marL="0">
              <a:lnSpc>
                <a:spcPct val="125000"/>
              </a:lnSpc>
              <a:buNone/>
            </a:pPr>
            <a:r>
              <a:rPr lang="en-US" sz="1250" b="1" dirty="0">
                <a:solidFill>
                  <a:srgbClr val="00E5A0"/>
                </a:solidFill>
                <a:latin typeface="Calibri" pitchFamily="34" charset="0"/>
                <a:ea typeface="Calibri" pitchFamily="34" charset="-122"/>
                <a:cs typeface="Calibri" pitchFamily="34" charset="-120"/>
              </a:rPr>
              <a:t>75% Supplier ESG mandate</a:t>
            </a:r>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a:t>
            </a:r>
            <a:endParaRPr lang="en-US" sz="1250" dirty="0"/>
          </a:p>
        </p:txBody>
      </p:sp>
      <p:sp>
        <p:nvSpPr>
          <p:cNvPr id="8" name="Shape 6"/>
          <p:cNvSpPr/>
          <p:nvPr/>
        </p:nvSpPr>
        <p:spPr>
          <a:xfrm>
            <a:off x="548640" y="2514600"/>
            <a:ext cx="3291840" cy="1005840"/>
          </a:xfrm>
          <a:prstGeom prst="roundRect">
            <a:avLst>
              <a:gd name="adj" fmla="val 9091"/>
            </a:avLst>
          </a:prstGeom>
          <a:solidFill>
            <a:srgbClr val="1A2338"/>
          </a:solidFill>
          <a:ln w="12700">
            <a:solidFill>
              <a:srgbClr val="2A3550"/>
            </a:solidFill>
            <a:prstDash val="solid"/>
          </a:ln>
        </p:spPr>
      </p:sp>
      <p:sp>
        <p:nvSpPr>
          <p:cNvPr id="9" name="Shape 7"/>
          <p:cNvSpPr/>
          <p:nvPr/>
        </p:nvSpPr>
        <p:spPr>
          <a:xfrm>
            <a:off x="768096" y="2770632"/>
            <a:ext cx="502920" cy="502920"/>
          </a:xfrm>
          <a:prstGeom prst="ellipse">
            <a:avLst/>
          </a:prstGeom>
          <a:solidFill>
            <a:srgbClr val="141B2E"/>
          </a:solidFill>
          <a:ln w="15875">
            <a:solidFill>
              <a:srgbClr val="00B8FF"/>
            </a:solidFill>
            <a:prstDash val="solid"/>
          </a:ln>
        </p:spPr>
      </p:sp>
      <p:pic>
        <p:nvPicPr>
          <p:cNvPr id="10" name="Image 0" descr="assets/icon_database.png">    </p:cNvPr>
          <p:cNvPicPr>
            <a:picLocks noChangeAspect="1"/>
          </p:cNvPicPr>
          <p:nvPr/>
        </p:nvPicPr>
        <p:blipFill>
          <a:blip r:embed="rId1"/>
          <a:stretch>
            <a:fillRect/>
          </a:stretch>
        </p:blipFill>
        <p:spPr>
          <a:xfrm>
            <a:off x="888797" y="2891333"/>
            <a:ext cx="261518" cy="261518"/>
          </a:xfrm>
          <a:prstGeom prst="rect">
            <a:avLst/>
          </a:prstGeom>
        </p:spPr>
      </p:pic>
      <p:sp>
        <p:nvSpPr>
          <p:cNvPr id="11" name="Text 8"/>
          <p:cNvSpPr/>
          <p:nvPr/>
        </p:nvSpPr>
        <p:spPr>
          <a:xfrm>
            <a:off x="1417320" y="2734056"/>
            <a:ext cx="2286000" cy="548640"/>
          </a:xfrm>
          <a:prstGeom prst="rect">
            <a:avLst/>
          </a:prstGeom>
          <a:noFill/>
          <a:ln/>
        </p:spPr>
        <p:txBody>
          <a:bodyPr wrap="square" rtlCol="0" anchor="ctr"/>
          <a:lstStyle/>
          <a:p>
            <a:pPr indent="0" marL="0">
              <a:lnSpc>
                <a:spcPct val="110000"/>
              </a:lnSpc>
              <a:buNone/>
            </a:pPr>
            <a:r>
              <a:rPr lang="en-US" sz="1200" b="1" dirty="0">
                <a:solidFill>
                  <a:srgbClr val="F5F7FA"/>
                </a:solidFill>
                <a:latin typeface="Calibri" pitchFamily="34" charset="0"/>
                <a:ea typeface="Calibri" pitchFamily="34" charset="-122"/>
                <a:cs typeface="Calibri" pitchFamily="34" charset="-120"/>
              </a:rPr>
              <a:t>Raw Combinatorial Database</a:t>
            </a:r>
            <a:endParaRPr lang="en-US" sz="1200" dirty="0"/>
          </a:p>
        </p:txBody>
      </p:sp>
      <p:sp>
        <p:nvSpPr>
          <p:cNvPr id="12" name="Shape 9"/>
          <p:cNvSpPr/>
          <p:nvPr/>
        </p:nvSpPr>
        <p:spPr>
          <a:xfrm>
            <a:off x="4069080" y="2770632"/>
            <a:ext cx="502920" cy="502920"/>
          </a:xfrm>
          <a:prstGeom prst="ellipse">
            <a:avLst/>
          </a:prstGeom>
          <a:solidFill>
            <a:srgbClr val="0A0E1A"/>
          </a:solidFill>
          <a:ln w="15875">
            <a:solidFill>
              <a:srgbClr val="00E5A0"/>
            </a:solidFill>
            <a:prstDash val="solid"/>
          </a:ln>
        </p:spPr>
      </p:sp>
      <p:pic>
        <p:nvPicPr>
          <p:cNvPr id="13" name="Image 1" descr="assets/icon_arrowright.png">    </p:cNvPr>
          <p:cNvPicPr>
            <a:picLocks noChangeAspect="1"/>
          </p:cNvPicPr>
          <p:nvPr/>
        </p:nvPicPr>
        <p:blipFill>
          <a:blip r:embed="rId2"/>
          <a:stretch>
            <a:fillRect/>
          </a:stretch>
        </p:blipFill>
        <p:spPr>
          <a:xfrm>
            <a:off x="4189781" y="2891333"/>
            <a:ext cx="261518" cy="261518"/>
          </a:xfrm>
          <a:prstGeom prst="rect">
            <a:avLst/>
          </a:prstGeom>
        </p:spPr>
      </p:pic>
      <p:sp>
        <p:nvSpPr>
          <p:cNvPr id="14" name="Shape 10"/>
          <p:cNvSpPr/>
          <p:nvPr/>
        </p:nvSpPr>
        <p:spPr>
          <a:xfrm>
            <a:off x="4800600" y="2514600"/>
            <a:ext cx="3291840" cy="1005840"/>
          </a:xfrm>
          <a:prstGeom prst="roundRect">
            <a:avLst>
              <a:gd name="adj" fmla="val 9091"/>
            </a:avLst>
          </a:prstGeom>
          <a:solidFill>
            <a:srgbClr val="0A3B2E"/>
          </a:solidFill>
          <a:ln w="15875">
            <a:solidFill>
              <a:srgbClr val="00E5A0"/>
            </a:solidFill>
            <a:prstDash val="solid"/>
          </a:ln>
        </p:spPr>
      </p:sp>
      <p:sp>
        <p:nvSpPr>
          <p:cNvPr id="15" name="Shape 11"/>
          <p:cNvSpPr/>
          <p:nvPr/>
        </p:nvSpPr>
        <p:spPr>
          <a:xfrm>
            <a:off x="5020056" y="2770632"/>
            <a:ext cx="502920" cy="502920"/>
          </a:xfrm>
          <a:prstGeom prst="ellipse">
            <a:avLst/>
          </a:prstGeom>
          <a:solidFill>
            <a:srgbClr val="141B2E"/>
          </a:solidFill>
          <a:ln w="15875">
            <a:solidFill>
              <a:srgbClr val="00E5A0"/>
            </a:solidFill>
            <a:prstDash val="solid"/>
          </a:ln>
        </p:spPr>
      </p:sp>
      <p:pic>
        <p:nvPicPr>
          <p:cNvPr id="16" name="Image 2" descr="assets/icon_filter.png">    </p:cNvPr>
          <p:cNvPicPr>
            <a:picLocks noChangeAspect="1"/>
          </p:cNvPicPr>
          <p:nvPr/>
        </p:nvPicPr>
        <p:blipFill>
          <a:blip r:embed="rId3"/>
          <a:stretch>
            <a:fillRect/>
          </a:stretch>
        </p:blipFill>
        <p:spPr>
          <a:xfrm>
            <a:off x="5140757" y="2891333"/>
            <a:ext cx="261518" cy="261518"/>
          </a:xfrm>
          <a:prstGeom prst="rect">
            <a:avLst/>
          </a:prstGeom>
        </p:spPr>
      </p:pic>
      <p:sp>
        <p:nvSpPr>
          <p:cNvPr id="17" name="Text 12"/>
          <p:cNvSpPr/>
          <p:nvPr/>
        </p:nvSpPr>
        <p:spPr>
          <a:xfrm>
            <a:off x="5669280" y="2734056"/>
            <a:ext cx="2286000" cy="548640"/>
          </a:xfrm>
          <a:prstGeom prst="rect">
            <a:avLst/>
          </a:prstGeom>
          <a:noFill/>
          <a:ln/>
        </p:spPr>
        <p:txBody>
          <a:bodyPr wrap="square" rtlCol="0" anchor="ctr"/>
          <a:lstStyle/>
          <a:p>
            <a:pPr indent="0" marL="0">
              <a:lnSpc>
                <a:spcPct val="110000"/>
              </a:lnSpc>
              <a:buNone/>
            </a:pPr>
            <a:r>
              <a:rPr lang="en-US" sz="1200" b="1" dirty="0">
                <a:solidFill>
                  <a:srgbClr val="F5F7FA"/>
                </a:solidFill>
                <a:latin typeface="Calibri" pitchFamily="34" charset="0"/>
                <a:ea typeface="Calibri" pitchFamily="34" charset="-122"/>
                <a:cs typeface="Calibri" pitchFamily="34" charset="-120"/>
              </a:rPr>
              <a:t>Thermodynamic Gating Filter</a:t>
            </a:r>
            <a:endParaRPr lang="en-US" sz="1200" dirty="0"/>
          </a:p>
        </p:txBody>
      </p:sp>
      <p:sp>
        <p:nvSpPr>
          <p:cNvPr id="18" name="Shape 13"/>
          <p:cNvSpPr/>
          <p:nvPr/>
        </p:nvSpPr>
        <p:spPr>
          <a:xfrm>
            <a:off x="8321040" y="2770632"/>
            <a:ext cx="502920" cy="502920"/>
          </a:xfrm>
          <a:prstGeom prst="ellipse">
            <a:avLst/>
          </a:prstGeom>
          <a:solidFill>
            <a:srgbClr val="0A0E1A"/>
          </a:solidFill>
          <a:ln w="15875">
            <a:solidFill>
              <a:srgbClr val="00E5A0"/>
            </a:solidFill>
            <a:prstDash val="solid"/>
          </a:ln>
        </p:spPr>
      </p:sp>
      <p:pic>
        <p:nvPicPr>
          <p:cNvPr id="19" name="Image 3" descr="assets/icon_arrowright.png">    </p:cNvPr>
          <p:cNvPicPr>
            <a:picLocks noChangeAspect="1"/>
          </p:cNvPicPr>
          <p:nvPr/>
        </p:nvPicPr>
        <p:blipFill>
          <a:blip r:embed="rId4"/>
          <a:stretch>
            <a:fillRect/>
          </a:stretch>
        </p:blipFill>
        <p:spPr>
          <a:xfrm>
            <a:off x="8441741" y="2891333"/>
            <a:ext cx="261518" cy="261518"/>
          </a:xfrm>
          <a:prstGeom prst="rect">
            <a:avLst/>
          </a:prstGeom>
        </p:spPr>
      </p:pic>
      <p:sp>
        <p:nvSpPr>
          <p:cNvPr id="20" name="Shape 14"/>
          <p:cNvSpPr/>
          <p:nvPr/>
        </p:nvSpPr>
        <p:spPr>
          <a:xfrm>
            <a:off x="9052560" y="2514600"/>
            <a:ext cx="2587752" cy="1005840"/>
          </a:xfrm>
          <a:prstGeom prst="roundRect">
            <a:avLst>
              <a:gd name="adj" fmla="val 9091"/>
            </a:avLst>
          </a:prstGeom>
          <a:solidFill>
            <a:srgbClr val="1A2338"/>
          </a:solidFill>
          <a:ln w="12700">
            <a:solidFill>
              <a:srgbClr val="00B8FF"/>
            </a:solidFill>
            <a:prstDash val="solid"/>
          </a:ln>
        </p:spPr>
      </p:sp>
      <p:sp>
        <p:nvSpPr>
          <p:cNvPr id="21" name="Shape 15"/>
          <p:cNvSpPr/>
          <p:nvPr/>
        </p:nvSpPr>
        <p:spPr>
          <a:xfrm>
            <a:off x="9272016" y="2770632"/>
            <a:ext cx="502920" cy="502920"/>
          </a:xfrm>
          <a:prstGeom prst="ellipse">
            <a:avLst/>
          </a:prstGeom>
          <a:solidFill>
            <a:srgbClr val="141B2E"/>
          </a:solidFill>
          <a:ln w="15875">
            <a:solidFill>
              <a:srgbClr val="00B8FF"/>
            </a:solidFill>
            <a:prstDash val="solid"/>
          </a:ln>
        </p:spPr>
      </p:sp>
      <p:pic>
        <p:nvPicPr>
          <p:cNvPr id="22" name="Image 4" descr="assets/icon_check.png">    </p:cNvPr>
          <p:cNvPicPr>
            <a:picLocks noChangeAspect="1"/>
          </p:cNvPicPr>
          <p:nvPr/>
        </p:nvPicPr>
        <p:blipFill>
          <a:blip r:embed="rId5"/>
          <a:stretch>
            <a:fillRect/>
          </a:stretch>
        </p:blipFill>
        <p:spPr>
          <a:xfrm>
            <a:off x="9392717" y="2891333"/>
            <a:ext cx="261518" cy="261518"/>
          </a:xfrm>
          <a:prstGeom prst="rect">
            <a:avLst/>
          </a:prstGeom>
        </p:spPr>
      </p:pic>
      <p:sp>
        <p:nvSpPr>
          <p:cNvPr id="23" name="Text 16"/>
          <p:cNvSpPr/>
          <p:nvPr/>
        </p:nvSpPr>
        <p:spPr>
          <a:xfrm>
            <a:off x="9921240" y="2734056"/>
            <a:ext cx="1691640" cy="548640"/>
          </a:xfrm>
          <a:prstGeom prst="rect">
            <a:avLst/>
          </a:prstGeom>
          <a:noFill/>
          <a:ln/>
        </p:spPr>
        <p:txBody>
          <a:bodyPr wrap="square" rtlCol="0" anchor="ctr"/>
          <a:lstStyle/>
          <a:p>
            <a:pPr indent="0" marL="0">
              <a:lnSpc>
                <a:spcPct val="110000"/>
              </a:lnSpc>
              <a:buNone/>
            </a:pPr>
            <a:r>
              <a:rPr lang="en-US" sz="1150" b="1" dirty="0">
                <a:solidFill>
                  <a:srgbClr val="F5F7FA"/>
                </a:solidFill>
                <a:latin typeface="Calibri" pitchFamily="34" charset="0"/>
                <a:ea typeface="Calibri" pitchFamily="34" charset="-122"/>
                <a:cs typeface="Calibri" pitchFamily="34" charset="-120"/>
              </a:rPr>
              <a:t>ESG-Compliant Candidates</a:t>
            </a:r>
            <a:endParaRPr lang="en-US" sz="1150" dirty="0"/>
          </a:p>
        </p:txBody>
      </p:sp>
      <p:sp>
        <p:nvSpPr>
          <p:cNvPr id="24" name="Shape 17"/>
          <p:cNvSpPr/>
          <p:nvPr/>
        </p:nvSpPr>
        <p:spPr>
          <a:xfrm>
            <a:off x="548640" y="3794760"/>
            <a:ext cx="11091672" cy="457200"/>
          </a:xfrm>
          <a:prstGeom prst="roundRect">
            <a:avLst>
              <a:gd name="adj" fmla="val 20000"/>
            </a:avLst>
          </a:prstGeom>
          <a:solidFill>
            <a:srgbClr val="141B2E"/>
          </a:solidFill>
          <a:ln w="12700">
            <a:solidFill>
              <a:srgbClr val="FFB020"/>
            </a:solidFill>
            <a:prstDash val="solid"/>
          </a:ln>
        </p:spPr>
      </p:sp>
      <p:sp>
        <p:nvSpPr>
          <p:cNvPr id="25" name="Text 18"/>
          <p:cNvSpPr/>
          <p:nvPr/>
        </p:nvSpPr>
        <p:spPr>
          <a:xfrm>
            <a:off x="548640" y="3794760"/>
            <a:ext cx="11091672" cy="457200"/>
          </a:xfrm>
          <a:prstGeom prst="rect">
            <a:avLst/>
          </a:prstGeom>
          <a:noFill/>
          <a:ln/>
        </p:spPr>
        <p:txBody>
          <a:bodyPr wrap="square" rtlCol="0" anchor="ctr"/>
          <a:lstStyle/>
          <a:p>
            <a:pPr algn="ctr" indent="0" marL="0">
              <a:buNone/>
            </a:pPr>
            <a:r>
              <a:rPr lang="en-US" b="1" dirty="0">
                <a:solidFill>
                  <a:srgbClr val="000000"/>
                </a:solidFill>
              </a:rPr>
              <a:t>✓  SONA COMSTAR 75% SUPPLIER ESG RULE — COMPLIANCE VERIFIED AT INGESTION</a:t>
            </a:r>
            <a:endParaRPr lang="en-US" dirty="0"/>
          </a:p>
        </p:txBody>
      </p:sp>
      <p:sp>
        <p:nvSpPr>
          <p:cNvPr id="26" name="Text 19"/>
          <p:cNvSpPr/>
          <p:nvPr/>
        </p:nvSpPr>
        <p:spPr>
          <a:xfrm>
            <a:off x="548640" y="4434840"/>
            <a:ext cx="11091672" cy="320040"/>
          </a:xfrm>
          <a:prstGeom prst="rect">
            <a:avLst/>
          </a:prstGeom>
          <a:noFill/>
          <a:ln/>
        </p:spPr>
        <p:txBody>
          <a:bodyPr wrap="square" rtlCol="0" anchor="ctr"/>
          <a:lstStyle/>
          <a:p>
            <a:pPr indent="0" marL="0">
              <a:buNone/>
            </a:pPr>
            <a:r>
              <a:rPr lang="en-US" sz="1300" b="1" spc="50" kern="0" dirty="0">
                <a:solidFill>
                  <a:srgbClr val="F5F7FA"/>
                </a:solidFill>
                <a:latin typeface="Arial" pitchFamily="34" charset="0"/>
                <a:ea typeface="Arial" pitchFamily="34" charset="-122"/>
                <a:cs typeface="Arial" pitchFamily="34" charset="-120"/>
              </a:rPr>
              <a:t>THE THERMODYNAMIC GATING PROTOCOL</a:t>
            </a:r>
            <a:endParaRPr lang="en-US" sz="1300" dirty="0"/>
          </a:p>
        </p:txBody>
      </p:sp>
      <p:sp>
        <p:nvSpPr>
          <p:cNvPr id="27" name="Shape 20"/>
          <p:cNvSpPr/>
          <p:nvPr/>
        </p:nvSpPr>
        <p:spPr>
          <a:xfrm>
            <a:off x="548640" y="4828032"/>
            <a:ext cx="2679192" cy="1417320"/>
          </a:xfrm>
          <a:prstGeom prst="roundRect">
            <a:avLst>
              <a:gd name="adj" fmla="val 6452"/>
            </a:avLst>
          </a:prstGeom>
          <a:solidFill>
            <a:srgbClr val="141B2E"/>
          </a:solidFill>
          <a:ln w="12700">
            <a:solidFill>
              <a:srgbClr val="2A3550"/>
            </a:solidFill>
            <a:prstDash val="solid"/>
          </a:ln>
        </p:spPr>
      </p:sp>
      <p:sp>
        <p:nvSpPr>
          <p:cNvPr id="28" name="Shape 21"/>
          <p:cNvSpPr/>
          <p:nvPr/>
        </p:nvSpPr>
        <p:spPr>
          <a:xfrm>
            <a:off x="749808" y="5010912"/>
            <a:ext cx="438912" cy="438912"/>
          </a:xfrm>
          <a:prstGeom prst="ellipse">
            <a:avLst/>
          </a:prstGeom>
          <a:solidFill>
            <a:srgbClr val="1A2338"/>
          </a:solidFill>
          <a:ln w="15875">
            <a:solidFill>
              <a:srgbClr val="00E5A0"/>
            </a:solidFill>
            <a:prstDash val="solid"/>
          </a:ln>
        </p:spPr>
      </p:sp>
      <p:pic>
        <p:nvPicPr>
          <p:cNvPr id="29" name="Image 5" descr="assets/icon_target.png">    </p:cNvPr>
          <p:cNvPicPr>
            <a:picLocks noChangeAspect="1"/>
          </p:cNvPicPr>
          <p:nvPr/>
        </p:nvPicPr>
        <p:blipFill>
          <a:blip r:embed="rId6"/>
          <a:stretch>
            <a:fillRect/>
          </a:stretch>
        </p:blipFill>
        <p:spPr>
          <a:xfrm>
            <a:off x="855147" y="5116251"/>
            <a:ext cx="228234" cy="228234"/>
          </a:xfrm>
          <a:prstGeom prst="rect">
            <a:avLst/>
          </a:prstGeom>
        </p:spPr>
      </p:pic>
      <p:sp>
        <p:nvSpPr>
          <p:cNvPr id="30" name="Text 22"/>
          <p:cNvSpPr/>
          <p:nvPr/>
        </p:nvSpPr>
        <p:spPr>
          <a:xfrm>
            <a:off x="731520" y="5541264"/>
            <a:ext cx="2313432" cy="365760"/>
          </a:xfrm>
          <a:prstGeom prst="rect">
            <a:avLst/>
          </a:prstGeom>
          <a:noFill/>
          <a:ln/>
        </p:spPr>
        <p:txBody>
          <a:bodyPr wrap="square" rtlCol="0" anchor="ctr"/>
          <a:lstStyle/>
          <a:p>
            <a:pPr indent="0" marL="0">
              <a:lnSpc>
                <a:spcPct val="110000"/>
              </a:lnSpc>
              <a:buNone/>
            </a:pPr>
            <a:r>
              <a:rPr lang="en-US" sz="1050" b="1" dirty="0">
                <a:solidFill>
                  <a:srgbClr val="AAB4C6"/>
                </a:solidFill>
                <a:latin typeface="Calibri" pitchFamily="34" charset="0"/>
                <a:ea typeface="Calibri" pitchFamily="34" charset="-122"/>
                <a:cs typeface="Calibri" pitchFamily="34" charset="-120"/>
              </a:rPr>
              <a:t>Atomic Size Mismatch (δ)</a:t>
            </a:r>
            <a:endParaRPr lang="en-US" sz="1050" dirty="0"/>
          </a:p>
        </p:txBody>
      </p:sp>
      <p:sp>
        <p:nvSpPr>
          <p:cNvPr id="31" name="Text 23"/>
          <p:cNvSpPr/>
          <p:nvPr/>
        </p:nvSpPr>
        <p:spPr>
          <a:xfrm>
            <a:off x="731520" y="5861304"/>
            <a:ext cx="2313432" cy="274320"/>
          </a:xfrm>
          <a:prstGeom prst="rect">
            <a:avLst/>
          </a:prstGeom>
          <a:noFill/>
          <a:ln/>
        </p:spPr>
        <p:txBody>
          <a:bodyPr wrap="square" rtlCol="0" anchor="ctr"/>
          <a:lstStyle/>
          <a:p>
            <a:pPr indent="0" marL="0">
              <a:buNone/>
            </a:pPr>
            <a:r>
              <a:rPr lang="en-US" sz="1500" b="1" dirty="0">
                <a:solidFill>
                  <a:srgbClr val="00E5A0"/>
                </a:solidFill>
                <a:latin typeface="Arial" pitchFamily="34" charset="0"/>
                <a:ea typeface="Arial" pitchFamily="34" charset="-122"/>
                <a:cs typeface="Arial" pitchFamily="34" charset="-120"/>
              </a:rPr>
              <a:t>≤ 6.6%</a:t>
            </a:r>
            <a:endParaRPr lang="en-US" sz="1500" dirty="0"/>
          </a:p>
        </p:txBody>
      </p:sp>
      <p:sp>
        <p:nvSpPr>
          <p:cNvPr id="32" name="Shape 24"/>
          <p:cNvSpPr/>
          <p:nvPr/>
        </p:nvSpPr>
        <p:spPr>
          <a:xfrm>
            <a:off x="3355848" y="4828032"/>
            <a:ext cx="2679192" cy="1417320"/>
          </a:xfrm>
          <a:prstGeom prst="roundRect">
            <a:avLst>
              <a:gd name="adj" fmla="val 6452"/>
            </a:avLst>
          </a:prstGeom>
          <a:solidFill>
            <a:srgbClr val="141B2E"/>
          </a:solidFill>
          <a:ln w="12700">
            <a:solidFill>
              <a:srgbClr val="2A3550"/>
            </a:solidFill>
            <a:prstDash val="solid"/>
          </a:ln>
        </p:spPr>
      </p:sp>
      <p:sp>
        <p:nvSpPr>
          <p:cNvPr id="33" name="Shape 25"/>
          <p:cNvSpPr/>
          <p:nvPr/>
        </p:nvSpPr>
        <p:spPr>
          <a:xfrm>
            <a:off x="3557016" y="5010912"/>
            <a:ext cx="438912" cy="438912"/>
          </a:xfrm>
          <a:prstGeom prst="ellipse">
            <a:avLst/>
          </a:prstGeom>
          <a:solidFill>
            <a:srgbClr val="1A2338"/>
          </a:solidFill>
          <a:ln w="15875">
            <a:solidFill>
              <a:srgbClr val="00E5A0"/>
            </a:solidFill>
            <a:prstDash val="solid"/>
          </a:ln>
        </p:spPr>
      </p:sp>
      <p:pic>
        <p:nvPicPr>
          <p:cNvPr id="34" name="Image 6" descr="assets/icon_thermometer.png">    </p:cNvPr>
          <p:cNvPicPr>
            <a:picLocks noChangeAspect="1"/>
          </p:cNvPicPr>
          <p:nvPr/>
        </p:nvPicPr>
        <p:blipFill>
          <a:blip r:embed="rId7"/>
          <a:stretch>
            <a:fillRect/>
          </a:stretch>
        </p:blipFill>
        <p:spPr>
          <a:xfrm>
            <a:off x="3662355" y="5116251"/>
            <a:ext cx="228234" cy="228234"/>
          </a:xfrm>
          <a:prstGeom prst="rect">
            <a:avLst/>
          </a:prstGeom>
        </p:spPr>
      </p:pic>
      <p:sp>
        <p:nvSpPr>
          <p:cNvPr id="35" name="Text 26"/>
          <p:cNvSpPr/>
          <p:nvPr/>
        </p:nvSpPr>
        <p:spPr>
          <a:xfrm>
            <a:off x="3538728" y="5541264"/>
            <a:ext cx="2313432" cy="365760"/>
          </a:xfrm>
          <a:prstGeom prst="rect">
            <a:avLst/>
          </a:prstGeom>
          <a:noFill/>
          <a:ln/>
        </p:spPr>
        <p:txBody>
          <a:bodyPr wrap="square" rtlCol="0" anchor="ctr"/>
          <a:lstStyle/>
          <a:p>
            <a:pPr indent="0" marL="0">
              <a:lnSpc>
                <a:spcPct val="110000"/>
              </a:lnSpc>
              <a:buNone/>
            </a:pPr>
            <a:r>
              <a:rPr lang="en-US" sz="1050" b="1" dirty="0">
                <a:solidFill>
                  <a:srgbClr val="AAB4C6"/>
                </a:solidFill>
                <a:latin typeface="Calibri" pitchFamily="34" charset="0"/>
                <a:ea typeface="Calibri" pitchFamily="34" charset="-122"/>
                <a:cs typeface="Calibri" pitchFamily="34" charset="-120"/>
              </a:rPr>
              <a:t>Enthalpy of Mixing (ΔH_mix)</a:t>
            </a:r>
            <a:endParaRPr lang="en-US" sz="1050" dirty="0"/>
          </a:p>
        </p:txBody>
      </p:sp>
      <p:sp>
        <p:nvSpPr>
          <p:cNvPr id="36" name="Text 27"/>
          <p:cNvSpPr/>
          <p:nvPr/>
        </p:nvSpPr>
        <p:spPr>
          <a:xfrm>
            <a:off x="3538728" y="5861304"/>
            <a:ext cx="2313432" cy="274320"/>
          </a:xfrm>
          <a:prstGeom prst="rect">
            <a:avLst/>
          </a:prstGeom>
          <a:noFill/>
          <a:ln/>
        </p:spPr>
        <p:txBody>
          <a:bodyPr wrap="square" rtlCol="0" anchor="ctr"/>
          <a:lstStyle/>
          <a:p>
            <a:pPr indent="0" marL="0">
              <a:buNone/>
            </a:pPr>
            <a:r>
              <a:rPr lang="en-US" sz="1500" b="1" dirty="0">
                <a:solidFill>
                  <a:srgbClr val="00E5A0"/>
                </a:solidFill>
                <a:latin typeface="Arial" pitchFamily="34" charset="0"/>
                <a:ea typeface="Arial" pitchFamily="34" charset="-122"/>
                <a:cs typeface="Arial" pitchFamily="34" charset="-120"/>
              </a:rPr>
              <a:t>-15 to +5 kJ/mol</a:t>
            </a:r>
            <a:endParaRPr lang="en-US" sz="1500" dirty="0"/>
          </a:p>
        </p:txBody>
      </p:sp>
      <p:sp>
        <p:nvSpPr>
          <p:cNvPr id="37" name="Shape 28"/>
          <p:cNvSpPr/>
          <p:nvPr/>
        </p:nvSpPr>
        <p:spPr>
          <a:xfrm>
            <a:off x="6163056" y="4828032"/>
            <a:ext cx="2679192" cy="1417320"/>
          </a:xfrm>
          <a:prstGeom prst="roundRect">
            <a:avLst>
              <a:gd name="adj" fmla="val 6452"/>
            </a:avLst>
          </a:prstGeom>
          <a:solidFill>
            <a:srgbClr val="141B2E"/>
          </a:solidFill>
          <a:ln w="12700">
            <a:solidFill>
              <a:srgbClr val="2A3550"/>
            </a:solidFill>
            <a:prstDash val="solid"/>
          </a:ln>
        </p:spPr>
      </p:sp>
      <p:sp>
        <p:nvSpPr>
          <p:cNvPr id="38" name="Shape 29"/>
          <p:cNvSpPr/>
          <p:nvPr/>
        </p:nvSpPr>
        <p:spPr>
          <a:xfrm>
            <a:off x="6364224" y="5010912"/>
            <a:ext cx="438912" cy="438912"/>
          </a:xfrm>
          <a:prstGeom prst="ellipse">
            <a:avLst/>
          </a:prstGeom>
          <a:solidFill>
            <a:srgbClr val="1A2338"/>
          </a:solidFill>
          <a:ln w="15875">
            <a:solidFill>
              <a:srgbClr val="00E5A0"/>
            </a:solidFill>
            <a:prstDash val="solid"/>
          </a:ln>
        </p:spPr>
      </p:sp>
      <p:pic>
        <p:nvPicPr>
          <p:cNvPr id="39" name="Image 7" descr="assets/icon_cpu.png">    </p:cNvPr>
          <p:cNvPicPr>
            <a:picLocks noChangeAspect="1"/>
          </p:cNvPicPr>
          <p:nvPr/>
        </p:nvPicPr>
        <p:blipFill>
          <a:blip r:embed="rId8"/>
          <a:stretch>
            <a:fillRect/>
          </a:stretch>
        </p:blipFill>
        <p:spPr>
          <a:xfrm>
            <a:off x="6469563" y="5116251"/>
            <a:ext cx="228234" cy="228234"/>
          </a:xfrm>
          <a:prstGeom prst="rect">
            <a:avLst/>
          </a:prstGeom>
        </p:spPr>
      </p:pic>
      <p:sp>
        <p:nvSpPr>
          <p:cNvPr id="40" name="Text 30"/>
          <p:cNvSpPr/>
          <p:nvPr/>
        </p:nvSpPr>
        <p:spPr>
          <a:xfrm>
            <a:off x="6345936" y="5541264"/>
            <a:ext cx="2313432" cy="365760"/>
          </a:xfrm>
          <a:prstGeom prst="rect">
            <a:avLst/>
          </a:prstGeom>
          <a:noFill/>
          <a:ln/>
        </p:spPr>
        <p:txBody>
          <a:bodyPr wrap="square" rtlCol="0" anchor="ctr"/>
          <a:lstStyle/>
          <a:p>
            <a:pPr indent="0" marL="0">
              <a:lnSpc>
                <a:spcPct val="110000"/>
              </a:lnSpc>
              <a:buNone/>
            </a:pPr>
            <a:r>
              <a:rPr lang="en-US" sz="1050" b="1" dirty="0">
                <a:solidFill>
                  <a:srgbClr val="AAB4C6"/>
                </a:solidFill>
                <a:latin typeface="Calibri" pitchFamily="34" charset="0"/>
                <a:ea typeface="Calibri" pitchFamily="34" charset="-122"/>
                <a:cs typeface="Calibri" pitchFamily="34" charset="-120"/>
              </a:rPr>
              <a:t>Valence Electron Conc. (VEC)</a:t>
            </a:r>
            <a:endParaRPr lang="en-US" sz="1050" dirty="0"/>
          </a:p>
        </p:txBody>
      </p:sp>
      <p:sp>
        <p:nvSpPr>
          <p:cNvPr id="41" name="Text 31"/>
          <p:cNvSpPr/>
          <p:nvPr/>
        </p:nvSpPr>
        <p:spPr>
          <a:xfrm>
            <a:off x="6345936" y="5861304"/>
            <a:ext cx="2313432" cy="274320"/>
          </a:xfrm>
          <a:prstGeom prst="rect">
            <a:avLst/>
          </a:prstGeom>
          <a:noFill/>
          <a:ln/>
        </p:spPr>
        <p:txBody>
          <a:bodyPr wrap="square" rtlCol="0" anchor="ctr"/>
          <a:lstStyle/>
          <a:p>
            <a:pPr indent="0" marL="0">
              <a:buNone/>
            </a:pPr>
            <a:r>
              <a:rPr lang="en-US" sz="1500" b="1" dirty="0">
                <a:solidFill>
                  <a:srgbClr val="00E5A0"/>
                </a:solidFill>
                <a:latin typeface="Arial" pitchFamily="34" charset="0"/>
                <a:ea typeface="Arial" pitchFamily="34" charset="-122"/>
                <a:cs typeface="Arial" pitchFamily="34" charset="-120"/>
              </a:rPr>
              <a:t>4.0 – 6.8</a:t>
            </a:r>
            <a:endParaRPr lang="en-US" sz="1500" dirty="0"/>
          </a:p>
        </p:txBody>
      </p:sp>
      <p:sp>
        <p:nvSpPr>
          <p:cNvPr id="42" name="Shape 32"/>
          <p:cNvSpPr/>
          <p:nvPr/>
        </p:nvSpPr>
        <p:spPr>
          <a:xfrm>
            <a:off x="8970264" y="4828032"/>
            <a:ext cx="2679192" cy="1417320"/>
          </a:xfrm>
          <a:prstGeom prst="roundRect">
            <a:avLst>
              <a:gd name="adj" fmla="val 6452"/>
            </a:avLst>
          </a:prstGeom>
          <a:solidFill>
            <a:srgbClr val="141B2E"/>
          </a:solidFill>
          <a:ln w="12700">
            <a:solidFill>
              <a:srgbClr val="2A3550"/>
            </a:solidFill>
            <a:prstDash val="solid"/>
          </a:ln>
        </p:spPr>
      </p:sp>
      <p:sp>
        <p:nvSpPr>
          <p:cNvPr id="43" name="Shape 33"/>
          <p:cNvSpPr/>
          <p:nvPr/>
        </p:nvSpPr>
        <p:spPr>
          <a:xfrm>
            <a:off x="9171432" y="5010912"/>
            <a:ext cx="438912" cy="438912"/>
          </a:xfrm>
          <a:prstGeom prst="ellipse">
            <a:avLst/>
          </a:prstGeom>
          <a:solidFill>
            <a:srgbClr val="1A2338"/>
          </a:solidFill>
          <a:ln w="15875">
            <a:solidFill>
              <a:srgbClr val="00E5A0"/>
            </a:solidFill>
            <a:prstDash val="solid"/>
          </a:ln>
        </p:spPr>
      </p:sp>
      <p:pic>
        <p:nvPicPr>
          <p:cNvPr id="44" name="Image 8" descr="assets/icon_award.png">    </p:cNvPr>
          <p:cNvPicPr>
            <a:picLocks noChangeAspect="1"/>
          </p:cNvPicPr>
          <p:nvPr/>
        </p:nvPicPr>
        <p:blipFill>
          <a:blip r:embed="rId9"/>
          <a:stretch>
            <a:fillRect/>
          </a:stretch>
        </p:blipFill>
        <p:spPr>
          <a:xfrm>
            <a:off x="9276771" y="5116251"/>
            <a:ext cx="228234" cy="228234"/>
          </a:xfrm>
          <a:prstGeom prst="rect">
            <a:avLst/>
          </a:prstGeom>
        </p:spPr>
      </p:pic>
      <p:sp>
        <p:nvSpPr>
          <p:cNvPr id="45" name="Text 34"/>
          <p:cNvSpPr/>
          <p:nvPr/>
        </p:nvSpPr>
        <p:spPr>
          <a:xfrm>
            <a:off x="9153144" y="5541264"/>
            <a:ext cx="2313432" cy="365760"/>
          </a:xfrm>
          <a:prstGeom prst="rect">
            <a:avLst/>
          </a:prstGeom>
          <a:noFill/>
          <a:ln/>
        </p:spPr>
        <p:txBody>
          <a:bodyPr wrap="square" rtlCol="0" anchor="ctr"/>
          <a:lstStyle/>
          <a:p>
            <a:pPr indent="0" marL="0">
              <a:lnSpc>
                <a:spcPct val="110000"/>
              </a:lnSpc>
              <a:buNone/>
            </a:pPr>
            <a:r>
              <a:rPr lang="en-US" sz="1050" b="1" dirty="0">
                <a:solidFill>
                  <a:srgbClr val="AAB4C6"/>
                </a:solidFill>
                <a:latin typeface="Calibri" pitchFamily="34" charset="0"/>
                <a:ea typeface="Calibri" pitchFamily="34" charset="-122"/>
                <a:cs typeface="Calibri" pitchFamily="34" charset="-120"/>
              </a:rPr>
              <a:t>Omega Parameter (Ω)</a:t>
            </a:r>
            <a:endParaRPr lang="en-US" sz="1050" dirty="0"/>
          </a:p>
        </p:txBody>
      </p:sp>
      <p:sp>
        <p:nvSpPr>
          <p:cNvPr id="46" name="Text 35"/>
          <p:cNvSpPr/>
          <p:nvPr/>
        </p:nvSpPr>
        <p:spPr>
          <a:xfrm>
            <a:off x="9153144" y="5861304"/>
            <a:ext cx="2313432" cy="274320"/>
          </a:xfrm>
          <a:prstGeom prst="rect">
            <a:avLst/>
          </a:prstGeom>
          <a:noFill/>
          <a:ln/>
        </p:spPr>
        <p:txBody>
          <a:bodyPr wrap="square" rtlCol="0" anchor="ctr"/>
          <a:lstStyle/>
          <a:p>
            <a:pPr indent="0" marL="0">
              <a:buNone/>
            </a:pPr>
            <a:r>
              <a:rPr lang="en-US" sz="1500" b="1" dirty="0">
                <a:solidFill>
                  <a:srgbClr val="00E5A0"/>
                </a:solidFill>
                <a:latin typeface="Arial" pitchFamily="34" charset="0"/>
                <a:ea typeface="Arial" pitchFamily="34" charset="-122"/>
                <a:cs typeface="Arial" pitchFamily="34" charset="-120"/>
              </a:rPr>
              <a:t>≥ 1.1</a:t>
            </a:r>
            <a:endParaRPr lang="en-US" sz="1500" dirty="0"/>
          </a:p>
        </p:txBody>
      </p:sp>
      <p:sp>
        <p:nvSpPr>
          <p:cNvPr id="47" name="Text 36"/>
          <p:cNvSpPr/>
          <p:nvPr/>
        </p:nvSpPr>
        <p:spPr>
          <a:xfrm>
            <a:off x="548640" y="6355080"/>
            <a:ext cx="11091672" cy="274320"/>
          </a:xfrm>
          <a:prstGeom prst="rect">
            <a:avLst/>
          </a:prstGeom>
          <a:noFill/>
          <a:ln/>
        </p:spPr>
        <p:txBody>
          <a:bodyPr wrap="square" rtlCol="0" anchor="ctr"/>
          <a:lstStyle/>
          <a:p>
            <a:pPr indent="0" marL="0">
              <a:buNone/>
            </a:pPr>
            <a:r>
              <a:rPr lang="en-US" sz="950" i="1" dirty="0">
                <a:solidFill>
                  <a:srgbClr val="6E7A90"/>
                </a:solidFill>
                <a:latin typeface="Calibri" pitchFamily="34" charset="0"/>
                <a:ea typeface="Calibri" pitchFamily="34" charset="-122"/>
                <a:cs typeface="Calibri" pitchFamily="34" charset="-120"/>
              </a:rPr>
              <a:t>This is critical: A VEC &lt; 6.8 mathematically guarantees a stable Body-Centered Cubic (BCC) matrix and explicitly eliminates the risk of brittle Sigma phase formation.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6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AI ENGINE · STEP 2</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400" b="1" spc="30" kern="0" dirty="0">
                <a:solidFill>
                  <a:srgbClr val="F5F7FA"/>
                </a:solidFill>
                <a:latin typeface="Arial" pitchFamily="34" charset="0"/>
                <a:ea typeface="Arial" pitchFamily="34" charset="-122"/>
                <a:cs typeface="Arial" pitchFamily="34" charset="-120"/>
              </a:rPr>
              <a:t>THE CRYSTAL PARADIGM AI ENGINE: STEP 2</a:t>
            </a:r>
            <a:endParaRPr lang="en-US" sz="24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600" b="1" dirty="0">
                <a:solidFill>
                  <a:srgbClr val="00B8FF"/>
                </a:solidFill>
                <a:latin typeface="Arial" pitchFamily="34" charset="0"/>
                <a:ea typeface="Arial" pitchFamily="34" charset="-122"/>
                <a:cs typeface="Arial" pitchFamily="34" charset="-120"/>
              </a:rPr>
              <a:t>Dual-Stream Machine Learning Surrogates</a:t>
            </a:r>
            <a:endParaRPr lang="en-US" sz="1600" dirty="0"/>
          </a:p>
        </p:txBody>
      </p:sp>
      <p:sp>
        <p:nvSpPr>
          <p:cNvPr id="7" name="Text 5"/>
          <p:cNvSpPr/>
          <p:nvPr/>
        </p:nvSpPr>
        <p:spPr>
          <a:xfrm>
            <a:off x="548640" y="1572768"/>
            <a:ext cx="11091672" cy="502920"/>
          </a:xfrm>
          <a:prstGeom prst="rect">
            <a:avLst/>
          </a:prstGeom>
          <a:noFill/>
          <a:ln/>
        </p:spPr>
        <p:txBody>
          <a:bodyPr wrap="square" rtlCol="0" anchor="ctr"/>
          <a:lstStyle/>
          <a:p>
            <a:pPr indent="0" marL="0">
              <a:lnSpc>
                <a:spcPct val="122000"/>
              </a:lnSpc>
              <a:buNone/>
            </a:pPr>
            <a:r>
              <a:rPr lang="en-US" sz="1250" dirty="0">
                <a:solidFill>
                  <a:srgbClr val="AAB4C6"/>
                </a:solidFill>
                <a:latin typeface="Calibri" pitchFamily="34" charset="0"/>
                <a:ea typeface="Calibri" pitchFamily="34" charset="-122"/>
                <a:cs typeface="Calibri" pitchFamily="34" charset="-120"/>
              </a:rPr>
              <a:t>To predict material behavior for Sona Comstar's extreme-environment SRMs and H13 forging dies, we engineered a dual-stream surrogate architecture mapping both theoretical physics and real-world variance.</a:t>
            </a:r>
            <a:endParaRPr lang="en-US" sz="1250" dirty="0"/>
          </a:p>
        </p:txBody>
      </p:sp>
      <p:sp>
        <p:nvSpPr>
          <p:cNvPr id="8" name="Shape 6"/>
          <p:cNvSpPr/>
          <p:nvPr/>
        </p:nvSpPr>
        <p:spPr>
          <a:xfrm>
            <a:off x="548640" y="2240280"/>
            <a:ext cx="5349240" cy="3977640"/>
          </a:xfrm>
          <a:prstGeom prst="roundRect">
            <a:avLst>
              <a:gd name="adj" fmla="val 2299"/>
            </a:avLst>
          </a:prstGeom>
          <a:solidFill>
            <a:srgbClr val="141B2E"/>
          </a:solidFill>
          <a:ln w="12700">
            <a:solidFill>
              <a:srgbClr val="2A3550"/>
            </a:solidFill>
            <a:prstDash val="solid"/>
          </a:ln>
        </p:spPr>
      </p:sp>
      <p:sp>
        <p:nvSpPr>
          <p:cNvPr id="9" name="Shape 7"/>
          <p:cNvSpPr/>
          <p:nvPr/>
        </p:nvSpPr>
        <p:spPr>
          <a:xfrm>
            <a:off x="804672" y="2478024"/>
            <a:ext cx="502920" cy="502920"/>
          </a:xfrm>
          <a:prstGeom prst="ellipse">
            <a:avLst/>
          </a:prstGeom>
          <a:solidFill>
            <a:srgbClr val="1A2338"/>
          </a:solidFill>
          <a:ln w="15875">
            <a:solidFill>
              <a:srgbClr val="00B8FF"/>
            </a:solidFill>
            <a:prstDash val="solid"/>
          </a:ln>
        </p:spPr>
      </p:sp>
      <p:pic>
        <p:nvPicPr>
          <p:cNvPr id="10" name="Image 0" descr="assets/icon_cpu.png">    </p:cNvPr>
          <p:cNvPicPr>
            <a:picLocks noChangeAspect="1"/>
          </p:cNvPicPr>
          <p:nvPr/>
        </p:nvPicPr>
        <p:blipFill>
          <a:blip r:embed="rId1"/>
          <a:stretch>
            <a:fillRect/>
          </a:stretch>
        </p:blipFill>
        <p:spPr>
          <a:xfrm>
            <a:off x="925373" y="2598725"/>
            <a:ext cx="261518" cy="261518"/>
          </a:xfrm>
          <a:prstGeom prst="rect">
            <a:avLst/>
          </a:prstGeom>
        </p:spPr>
      </p:pic>
      <p:sp>
        <p:nvSpPr>
          <p:cNvPr id="11" name="Text 8"/>
          <p:cNvSpPr/>
          <p:nvPr/>
        </p:nvSpPr>
        <p:spPr>
          <a:xfrm>
            <a:off x="1444752" y="2478024"/>
            <a:ext cx="4251960" cy="274320"/>
          </a:xfrm>
          <a:prstGeom prst="rect">
            <a:avLst/>
          </a:prstGeom>
          <a:noFill/>
          <a:ln/>
        </p:spPr>
        <p:txBody>
          <a:bodyPr wrap="square" rtlCol="0" anchor="ctr"/>
          <a:lstStyle/>
          <a:p>
            <a:pPr indent="0" marL="0">
              <a:buNone/>
            </a:pPr>
            <a:r>
              <a:rPr lang="en-US" sz="1200" b="1" spc="30" kern="0" dirty="0">
                <a:solidFill>
                  <a:srgbClr val="F5F7FA"/>
                </a:solidFill>
                <a:latin typeface="Arial" pitchFamily="34" charset="0"/>
                <a:ea typeface="Arial" pitchFamily="34" charset="-122"/>
                <a:cs typeface="Arial" pitchFamily="34" charset="-120"/>
              </a:rPr>
              <a:t>MODEL 1 — THEORETICAL BULK MODULUS</a:t>
            </a:r>
            <a:endParaRPr lang="en-US" sz="1200" dirty="0"/>
          </a:p>
        </p:txBody>
      </p:sp>
      <p:sp>
        <p:nvSpPr>
          <p:cNvPr id="12" name="Text 9"/>
          <p:cNvSpPr/>
          <p:nvPr/>
        </p:nvSpPr>
        <p:spPr>
          <a:xfrm>
            <a:off x="1444752" y="2752344"/>
            <a:ext cx="4251960" cy="256032"/>
          </a:xfrm>
          <a:prstGeom prst="rect">
            <a:avLst/>
          </a:prstGeom>
          <a:noFill/>
          <a:ln/>
        </p:spPr>
        <p:txBody>
          <a:bodyPr wrap="square" rtlCol="0" anchor="ctr"/>
          <a:lstStyle/>
          <a:p>
            <a:pPr indent="0" marL="0">
              <a:buNone/>
            </a:pPr>
            <a:r>
              <a:rPr lang="en-US" sz="1150" i="1" dirty="0">
                <a:solidFill>
                  <a:srgbClr val="6E7A90"/>
                </a:solidFill>
                <a:latin typeface="Calibri" pitchFamily="34" charset="0"/>
                <a:ea typeface="Calibri" pitchFamily="34" charset="-122"/>
                <a:cs typeface="Calibri" pitchFamily="34" charset="-120"/>
              </a:rPr>
              <a:t>Random Forest</a:t>
            </a:r>
            <a:endParaRPr lang="en-US" sz="1150" dirty="0"/>
          </a:p>
        </p:txBody>
      </p:sp>
      <p:sp>
        <p:nvSpPr>
          <p:cNvPr id="13" name="Shape 10"/>
          <p:cNvSpPr/>
          <p:nvPr/>
        </p:nvSpPr>
        <p:spPr>
          <a:xfrm>
            <a:off x="804672" y="3136392"/>
            <a:ext cx="2331720" cy="1234440"/>
          </a:xfrm>
          <a:prstGeom prst="roundRect">
            <a:avLst>
              <a:gd name="adj" fmla="val 7407"/>
            </a:avLst>
          </a:prstGeom>
          <a:solidFill>
            <a:srgbClr val="0A2A40"/>
          </a:solidFill>
          <a:ln w="12700">
            <a:solidFill>
              <a:srgbClr val="00B8FF"/>
            </a:solidFill>
            <a:prstDash val="solid"/>
          </a:ln>
        </p:spPr>
      </p:sp>
      <p:sp>
        <p:nvSpPr>
          <p:cNvPr id="14" name="Text 11"/>
          <p:cNvSpPr/>
          <p:nvPr/>
        </p:nvSpPr>
        <p:spPr>
          <a:xfrm>
            <a:off x="804672" y="3172968"/>
            <a:ext cx="2331720" cy="640080"/>
          </a:xfrm>
          <a:prstGeom prst="rect">
            <a:avLst/>
          </a:prstGeom>
          <a:noFill/>
          <a:ln/>
        </p:spPr>
        <p:txBody>
          <a:bodyPr wrap="square" rtlCol="0" anchor="ctr"/>
          <a:lstStyle/>
          <a:p>
            <a:pPr algn="ctr" indent="0" marL="0">
              <a:buNone/>
            </a:pPr>
            <a:r>
              <a:rPr lang="en-US" sz="3400" b="1" dirty="0">
                <a:solidFill>
                  <a:srgbClr val="00B8FF"/>
                </a:solidFill>
                <a:latin typeface="Arial" pitchFamily="34" charset="0"/>
                <a:ea typeface="Arial" pitchFamily="34" charset="-122"/>
                <a:cs typeface="Arial" pitchFamily="34" charset="-120"/>
              </a:rPr>
              <a:t>0.977</a:t>
            </a:r>
            <a:endParaRPr lang="en-US" sz="3400" dirty="0"/>
          </a:p>
        </p:txBody>
      </p:sp>
      <p:sp>
        <p:nvSpPr>
          <p:cNvPr id="15" name="Text 12"/>
          <p:cNvSpPr/>
          <p:nvPr/>
        </p:nvSpPr>
        <p:spPr>
          <a:xfrm>
            <a:off x="804672" y="3813048"/>
            <a:ext cx="2331720" cy="274320"/>
          </a:xfrm>
          <a:prstGeom prst="rect">
            <a:avLst/>
          </a:prstGeom>
          <a:noFill/>
          <a:ln/>
        </p:spPr>
        <p:txBody>
          <a:bodyPr wrap="square" rtlCol="0" anchor="ctr"/>
          <a:lstStyle/>
          <a:p>
            <a:pPr algn="ctr" indent="0" marL="0">
              <a:buNone/>
            </a:pPr>
            <a:r>
              <a:rPr lang="en-US" sz="1000" spc="50" kern="0" dirty="0">
                <a:solidFill>
                  <a:srgbClr val="AAB4C6"/>
                </a:solidFill>
                <a:latin typeface="Calibri" pitchFamily="34" charset="0"/>
                <a:ea typeface="Calibri" pitchFamily="34" charset="-122"/>
                <a:cs typeface="Calibri" pitchFamily="34" charset="-120"/>
              </a:rPr>
              <a:t>AUDITED TEST R²</a:t>
            </a:r>
            <a:endParaRPr lang="en-US" sz="1000" dirty="0"/>
          </a:p>
        </p:txBody>
      </p:sp>
      <p:sp>
        <p:nvSpPr>
          <p:cNvPr id="16" name="Shape 13"/>
          <p:cNvSpPr/>
          <p:nvPr/>
        </p:nvSpPr>
        <p:spPr>
          <a:xfrm>
            <a:off x="3291840" y="3136392"/>
            <a:ext cx="2350008" cy="1234440"/>
          </a:xfrm>
          <a:prstGeom prst="roundRect">
            <a:avLst>
              <a:gd name="adj" fmla="val 7407"/>
            </a:avLst>
          </a:prstGeom>
          <a:solidFill>
            <a:srgbClr val="1A2338"/>
          </a:solidFill>
          <a:ln w="12700">
            <a:solidFill>
              <a:srgbClr val="2A3550"/>
            </a:solidFill>
            <a:prstDash val="solid"/>
          </a:ln>
        </p:spPr>
      </p:sp>
      <p:sp>
        <p:nvSpPr>
          <p:cNvPr id="17" name="Text 14"/>
          <p:cNvSpPr/>
          <p:nvPr/>
        </p:nvSpPr>
        <p:spPr>
          <a:xfrm>
            <a:off x="3291840" y="3172968"/>
            <a:ext cx="2350008" cy="640080"/>
          </a:xfrm>
          <a:prstGeom prst="rect">
            <a:avLst/>
          </a:prstGeom>
          <a:noFill/>
          <a:ln/>
        </p:spPr>
        <p:txBody>
          <a:bodyPr wrap="square" rtlCol="0" anchor="ctr"/>
          <a:lstStyle/>
          <a:p>
            <a:pPr algn="ctr" indent="0" marL="0">
              <a:buNone/>
            </a:pPr>
            <a:r>
              <a:rPr lang="en-US" sz="3000" b="1" dirty="0">
                <a:solidFill>
                  <a:srgbClr val="F5F7FA"/>
                </a:solidFill>
                <a:latin typeface="Arial" pitchFamily="34" charset="0"/>
                <a:ea typeface="Arial" pitchFamily="34" charset="-122"/>
                <a:cs typeface="Arial" pitchFamily="34" charset="-120"/>
              </a:rPr>
              <a:t>8.11 GPa</a:t>
            </a:r>
            <a:endParaRPr lang="en-US" sz="3000" dirty="0"/>
          </a:p>
        </p:txBody>
      </p:sp>
      <p:sp>
        <p:nvSpPr>
          <p:cNvPr id="18" name="Text 15"/>
          <p:cNvSpPr/>
          <p:nvPr/>
        </p:nvSpPr>
        <p:spPr>
          <a:xfrm>
            <a:off x="3291840" y="3813048"/>
            <a:ext cx="2350008" cy="274320"/>
          </a:xfrm>
          <a:prstGeom prst="rect">
            <a:avLst/>
          </a:prstGeom>
          <a:noFill/>
          <a:ln/>
        </p:spPr>
        <p:txBody>
          <a:bodyPr wrap="square" rtlCol="0" anchor="ctr"/>
          <a:lstStyle/>
          <a:p>
            <a:pPr algn="ctr" indent="0" marL="0">
              <a:buNone/>
            </a:pPr>
            <a:r>
              <a:rPr lang="en-US" sz="1000" spc="50" kern="0" dirty="0">
                <a:solidFill>
                  <a:srgbClr val="AAB4C6"/>
                </a:solidFill>
                <a:latin typeface="Calibri" pitchFamily="34" charset="0"/>
                <a:ea typeface="Calibri" pitchFamily="34" charset="-122"/>
                <a:cs typeface="Calibri" pitchFamily="34" charset="-120"/>
              </a:rPr>
              <a:t>MEAN ABSOLUTE ERROR</a:t>
            </a:r>
            <a:endParaRPr lang="en-US" sz="1000" dirty="0"/>
          </a:p>
        </p:txBody>
      </p:sp>
      <p:sp>
        <p:nvSpPr>
          <p:cNvPr id="19" name="Text 16"/>
          <p:cNvSpPr/>
          <p:nvPr/>
        </p:nvSpPr>
        <p:spPr>
          <a:xfrm>
            <a:off x="804672" y="4572000"/>
            <a:ext cx="4837176" cy="1463040"/>
          </a:xfrm>
          <a:prstGeom prst="rect">
            <a:avLst/>
          </a:prstGeom>
          <a:noFill/>
          <a:ln/>
        </p:spPr>
        <p:txBody>
          <a:bodyPr wrap="square" rtlCol="0" anchor="ctr"/>
          <a:lstStyle/>
          <a:p>
            <a:pPr indent="0" marL="0">
              <a:lnSpc>
                <a:spcPct val="130000"/>
              </a:lnSpc>
              <a:buNone/>
            </a:pPr>
            <a:r>
              <a:rPr lang="en-US" sz="1150" b="1" dirty="0">
                <a:solidFill>
                  <a:srgbClr val="00B8FF"/>
                </a:solidFill>
                <a:latin typeface="Calibri" pitchFamily="34" charset="0"/>
                <a:ea typeface="Calibri" pitchFamily="34" charset="-122"/>
                <a:cs typeface="Calibri" pitchFamily="34" charset="-120"/>
              </a:rPr>
              <a:t>Architecture &amp; Features:</a:t>
            </a:r>
            <a:pPr indent="0" marL="0">
              <a:lnSpc>
                <a:spcPct val="130000"/>
              </a:lnSpc>
              <a:buNone/>
            </a:pPr>
            <a:r>
              <a:rPr lang="en-US" sz="1150" dirty="0">
                <a:solidFill>
                  <a:srgbClr val="AAB4C6"/>
                </a:solidFill>
                <a:latin typeface="Calibri" pitchFamily="34" charset="0"/>
                <a:ea typeface="Calibri" pitchFamily="34" charset="-122"/>
                <a:cs typeface="Calibri" pitchFamily="34" charset="-120"/>
              </a:rPr>
              <a:t> 100 Estimators predicting across atomic radius (r), electronegativity (X), VEC, melting temp (Tm), and mass standard deviations.</a:t>
            </a:r>
            <a:endParaRPr lang="en-US" sz="1150" dirty="0"/>
          </a:p>
        </p:txBody>
      </p:sp>
      <p:sp>
        <p:nvSpPr>
          <p:cNvPr id="20" name="Shape 17"/>
          <p:cNvSpPr/>
          <p:nvPr/>
        </p:nvSpPr>
        <p:spPr>
          <a:xfrm>
            <a:off x="6263640" y="2240280"/>
            <a:ext cx="5349240" cy="3977640"/>
          </a:xfrm>
          <a:prstGeom prst="roundRect">
            <a:avLst>
              <a:gd name="adj" fmla="val 2299"/>
            </a:avLst>
          </a:prstGeom>
          <a:solidFill>
            <a:srgbClr val="141B2E"/>
          </a:solidFill>
          <a:ln w="12700">
            <a:solidFill>
              <a:srgbClr val="2A3550"/>
            </a:solidFill>
            <a:prstDash val="solid"/>
          </a:ln>
        </p:spPr>
      </p:sp>
      <p:sp>
        <p:nvSpPr>
          <p:cNvPr id="21" name="Shape 18"/>
          <p:cNvSpPr/>
          <p:nvPr/>
        </p:nvSpPr>
        <p:spPr>
          <a:xfrm>
            <a:off x="6519672" y="2478024"/>
            <a:ext cx="502920" cy="502920"/>
          </a:xfrm>
          <a:prstGeom prst="ellipse">
            <a:avLst/>
          </a:prstGeom>
          <a:solidFill>
            <a:srgbClr val="1A2338"/>
          </a:solidFill>
          <a:ln w="15875">
            <a:solidFill>
              <a:srgbClr val="FFB020"/>
            </a:solidFill>
            <a:prstDash val="solid"/>
          </a:ln>
        </p:spPr>
      </p:sp>
      <p:pic>
        <p:nvPicPr>
          <p:cNvPr id="22" name="Image 1" descr="assets/icon_thermometer.png">    </p:cNvPr>
          <p:cNvPicPr>
            <a:picLocks noChangeAspect="1"/>
          </p:cNvPicPr>
          <p:nvPr/>
        </p:nvPicPr>
        <p:blipFill>
          <a:blip r:embed="rId2"/>
          <a:stretch>
            <a:fillRect/>
          </a:stretch>
        </p:blipFill>
        <p:spPr>
          <a:xfrm>
            <a:off x="6640373" y="2598725"/>
            <a:ext cx="261518" cy="261518"/>
          </a:xfrm>
          <a:prstGeom prst="rect">
            <a:avLst/>
          </a:prstGeom>
        </p:spPr>
      </p:pic>
      <p:sp>
        <p:nvSpPr>
          <p:cNvPr id="23" name="Text 19"/>
          <p:cNvSpPr/>
          <p:nvPr/>
        </p:nvSpPr>
        <p:spPr>
          <a:xfrm>
            <a:off x="7159752" y="2478024"/>
            <a:ext cx="4251960" cy="274320"/>
          </a:xfrm>
          <a:prstGeom prst="rect">
            <a:avLst/>
          </a:prstGeom>
          <a:noFill/>
          <a:ln/>
        </p:spPr>
        <p:txBody>
          <a:bodyPr wrap="square" rtlCol="0" anchor="ctr"/>
          <a:lstStyle/>
          <a:p>
            <a:pPr indent="0" marL="0">
              <a:buNone/>
            </a:pPr>
            <a:r>
              <a:rPr lang="en-US" sz="1200" b="1" spc="30" kern="0" dirty="0">
                <a:solidFill>
                  <a:srgbClr val="F5F7FA"/>
                </a:solidFill>
                <a:latin typeface="Arial" pitchFamily="34" charset="0"/>
                <a:ea typeface="Arial" pitchFamily="34" charset="-122"/>
                <a:cs typeface="Arial" pitchFamily="34" charset="-120"/>
              </a:rPr>
              <a:t>MODEL 2 — EXPERIMENTAL YIELD STRENGTH</a:t>
            </a:r>
            <a:endParaRPr lang="en-US" sz="1200" dirty="0"/>
          </a:p>
        </p:txBody>
      </p:sp>
      <p:sp>
        <p:nvSpPr>
          <p:cNvPr id="24" name="Text 20"/>
          <p:cNvSpPr/>
          <p:nvPr/>
        </p:nvSpPr>
        <p:spPr>
          <a:xfrm>
            <a:off x="7159752" y="2752344"/>
            <a:ext cx="4251960" cy="256032"/>
          </a:xfrm>
          <a:prstGeom prst="rect">
            <a:avLst/>
          </a:prstGeom>
          <a:noFill/>
          <a:ln/>
        </p:spPr>
        <p:txBody>
          <a:bodyPr wrap="square" rtlCol="0" anchor="ctr"/>
          <a:lstStyle/>
          <a:p>
            <a:pPr indent="0" marL="0">
              <a:buNone/>
            </a:pPr>
            <a:r>
              <a:rPr lang="en-US" sz="1150" i="1" dirty="0">
                <a:solidFill>
                  <a:srgbClr val="6E7A90"/>
                </a:solidFill>
                <a:latin typeface="Calibri" pitchFamily="34" charset="0"/>
                <a:ea typeface="Calibri" pitchFamily="34" charset="-122"/>
                <a:cs typeface="Calibri" pitchFamily="34" charset="-120"/>
              </a:rPr>
              <a:t>Gradient Boosting</a:t>
            </a:r>
            <a:endParaRPr lang="en-US" sz="1150" dirty="0"/>
          </a:p>
        </p:txBody>
      </p:sp>
      <p:sp>
        <p:nvSpPr>
          <p:cNvPr id="25" name="Shape 21"/>
          <p:cNvSpPr/>
          <p:nvPr/>
        </p:nvSpPr>
        <p:spPr>
          <a:xfrm>
            <a:off x="6519672" y="3136392"/>
            <a:ext cx="2331720" cy="1234440"/>
          </a:xfrm>
          <a:prstGeom prst="roundRect">
            <a:avLst>
              <a:gd name="adj" fmla="val 7407"/>
            </a:avLst>
          </a:prstGeom>
          <a:solidFill>
            <a:srgbClr val="3D2E0A"/>
          </a:solidFill>
          <a:ln w="12700">
            <a:solidFill>
              <a:srgbClr val="FFB020"/>
            </a:solidFill>
            <a:prstDash val="solid"/>
          </a:ln>
        </p:spPr>
      </p:sp>
      <p:sp>
        <p:nvSpPr>
          <p:cNvPr id="26" name="Text 22"/>
          <p:cNvSpPr/>
          <p:nvPr/>
        </p:nvSpPr>
        <p:spPr>
          <a:xfrm>
            <a:off x="6519672" y="3172968"/>
            <a:ext cx="2331720" cy="640080"/>
          </a:xfrm>
          <a:prstGeom prst="rect">
            <a:avLst/>
          </a:prstGeom>
          <a:noFill/>
          <a:ln/>
        </p:spPr>
        <p:txBody>
          <a:bodyPr wrap="square" rtlCol="0" anchor="ctr"/>
          <a:lstStyle/>
          <a:p>
            <a:pPr algn="ctr" indent="0" marL="0">
              <a:buNone/>
            </a:pPr>
            <a:r>
              <a:rPr lang="en-US" sz="3400" b="1" dirty="0">
                <a:solidFill>
                  <a:srgbClr val="FFB020"/>
                </a:solidFill>
                <a:latin typeface="Arial" pitchFamily="34" charset="0"/>
                <a:ea typeface="Arial" pitchFamily="34" charset="-122"/>
                <a:cs typeface="Arial" pitchFamily="34" charset="-120"/>
              </a:rPr>
              <a:t>0.45×</a:t>
            </a:r>
            <a:endParaRPr lang="en-US" sz="3400" dirty="0"/>
          </a:p>
        </p:txBody>
      </p:sp>
      <p:sp>
        <p:nvSpPr>
          <p:cNvPr id="27" name="Text 23"/>
          <p:cNvSpPr/>
          <p:nvPr/>
        </p:nvSpPr>
        <p:spPr>
          <a:xfrm>
            <a:off x="6519672" y="3813048"/>
            <a:ext cx="2331720" cy="274320"/>
          </a:xfrm>
          <a:prstGeom prst="rect">
            <a:avLst/>
          </a:prstGeom>
          <a:noFill/>
          <a:ln/>
        </p:spPr>
        <p:txBody>
          <a:bodyPr wrap="square" rtlCol="0" anchor="ctr"/>
          <a:lstStyle/>
          <a:p>
            <a:pPr algn="ctr" indent="0" marL="0">
              <a:buNone/>
            </a:pPr>
            <a:r>
              <a:rPr lang="en-US" sz="950" spc="30" kern="0" dirty="0">
                <a:solidFill>
                  <a:srgbClr val="AAB4C6"/>
                </a:solidFill>
                <a:latin typeface="Calibri" pitchFamily="34" charset="0"/>
                <a:ea typeface="Calibri" pitchFamily="34" charset="-122"/>
                <a:cs typeface="Calibri" pitchFamily="34" charset="-120"/>
              </a:rPr>
              <a:t>THERMAL KNOCKDOWN FACTOR</a:t>
            </a:r>
            <a:endParaRPr lang="en-US" sz="950" dirty="0"/>
          </a:p>
        </p:txBody>
      </p:sp>
      <p:sp>
        <p:nvSpPr>
          <p:cNvPr id="28" name="Shape 24"/>
          <p:cNvSpPr/>
          <p:nvPr/>
        </p:nvSpPr>
        <p:spPr>
          <a:xfrm>
            <a:off x="9006840" y="3136392"/>
            <a:ext cx="2350008" cy="1234440"/>
          </a:xfrm>
          <a:prstGeom prst="roundRect">
            <a:avLst>
              <a:gd name="adj" fmla="val 7407"/>
            </a:avLst>
          </a:prstGeom>
          <a:solidFill>
            <a:srgbClr val="1A2338"/>
          </a:solidFill>
          <a:ln w="12700">
            <a:solidFill>
              <a:srgbClr val="2A3550"/>
            </a:solidFill>
            <a:prstDash val="solid"/>
          </a:ln>
        </p:spPr>
      </p:sp>
      <p:sp>
        <p:nvSpPr>
          <p:cNvPr id="29" name="Text 25"/>
          <p:cNvSpPr/>
          <p:nvPr/>
        </p:nvSpPr>
        <p:spPr>
          <a:xfrm>
            <a:off x="9006840" y="3172968"/>
            <a:ext cx="2350008" cy="640080"/>
          </a:xfrm>
          <a:prstGeom prst="rect">
            <a:avLst/>
          </a:prstGeom>
          <a:noFill/>
          <a:ln/>
        </p:spPr>
        <p:txBody>
          <a:bodyPr wrap="square" rtlCol="0" anchor="ctr"/>
          <a:lstStyle/>
          <a:p>
            <a:pPr algn="ctr" indent="0" marL="0">
              <a:buNone/>
            </a:pPr>
            <a:r>
              <a:rPr lang="en-US" sz="3000" b="1" dirty="0">
                <a:solidFill>
                  <a:srgbClr val="F5F7FA"/>
                </a:solidFill>
                <a:latin typeface="Arial" pitchFamily="34" charset="0"/>
                <a:ea typeface="Arial" pitchFamily="34" charset="-122"/>
                <a:cs typeface="Arial" pitchFamily="34" charset="-120"/>
              </a:rPr>
              <a:t>~1200°C</a:t>
            </a:r>
            <a:endParaRPr lang="en-US" sz="3000" dirty="0"/>
          </a:p>
        </p:txBody>
      </p:sp>
      <p:sp>
        <p:nvSpPr>
          <p:cNvPr id="30" name="Text 26"/>
          <p:cNvSpPr/>
          <p:nvPr/>
        </p:nvSpPr>
        <p:spPr>
          <a:xfrm>
            <a:off x="9006840" y="3813048"/>
            <a:ext cx="2350008" cy="274320"/>
          </a:xfrm>
          <a:prstGeom prst="rect">
            <a:avLst/>
          </a:prstGeom>
          <a:noFill/>
          <a:ln/>
        </p:spPr>
        <p:txBody>
          <a:bodyPr wrap="square" rtlCol="0" anchor="ctr"/>
          <a:lstStyle/>
          <a:p>
            <a:pPr algn="ctr" indent="0" marL="0">
              <a:buNone/>
            </a:pPr>
            <a:r>
              <a:rPr lang="en-US" sz="950" spc="30" kern="0" dirty="0">
                <a:solidFill>
                  <a:srgbClr val="AAB4C6"/>
                </a:solidFill>
                <a:latin typeface="Calibri" pitchFamily="34" charset="0"/>
                <a:ea typeface="Calibri" pitchFamily="34" charset="-122"/>
                <a:cs typeface="Calibri" pitchFamily="34" charset="-120"/>
              </a:rPr>
              <a:t>FORGING DIE OPERATING TEMP</a:t>
            </a:r>
            <a:endParaRPr lang="en-US" sz="950" dirty="0"/>
          </a:p>
        </p:txBody>
      </p:sp>
      <p:sp>
        <p:nvSpPr>
          <p:cNvPr id="31" name="Text 27"/>
          <p:cNvSpPr/>
          <p:nvPr/>
        </p:nvSpPr>
        <p:spPr>
          <a:xfrm>
            <a:off x="6519672" y="4572000"/>
            <a:ext cx="4837176" cy="1600200"/>
          </a:xfrm>
          <a:prstGeom prst="rect">
            <a:avLst/>
          </a:prstGeom>
          <a:noFill/>
          <a:ln/>
        </p:spPr>
        <p:txBody>
          <a:bodyPr wrap="square" rtlCol="0" anchor="ctr"/>
          <a:lstStyle/>
          <a:p>
            <a:pPr indent="0" marL="0">
              <a:lnSpc>
                <a:spcPct val="125000"/>
              </a:lnSpc>
              <a:buNone/>
            </a:pPr>
            <a:r>
              <a:rPr lang="en-US" sz="1100" b="1" dirty="0">
                <a:solidFill>
                  <a:srgbClr val="FFB020"/>
                </a:solidFill>
                <a:latin typeface="Calibri" pitchFamily="34" charset="0"/>
                <a:ea typeface="Calibri" pitchFamily="34" charset="-122"/>
                <a:cs typeface="Calibri" pitchFamily="34" charset="-120"/>
              </a:rPr>
              <a:t>Transfer Learning Logic:</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Trained on an experimental MPEA dataset. We heavily weighted exact 5-element target alloys (</a:t>
            </a:r>
            <a:pPr indent="0" marL="0">
              <a:lnSpc>
                <a:spcPct val="125000"/>
              </a:lnSpc>
              <a:buNone/>
            </a:pPr>
            <a:r>
              <a:rPr lang="en-US" sz="1100" b="1" dirty="0">
                <a:solidFill>
                  <a:srgbClr val="FFB020"/>
                </a:solidFill>
                <a:latin typeface="Calibri" pitchFamily="34" charset="0"/>
                <a:ea typeface="Calibri" pitchFamily="34" charset="-122"/>
                <a:cs typeface="Calibri" pitchFamily="34" charset="-120"/>
              </a:rPr>
              <a:t>Weight=10</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while leveraging broader refractory alloys (</a:t>
            </a:r>
            <a:pPr indent="0" marL="0">
              <a:lnSpc>
                <a:spcPct val="125000"/>
              </a:lnSpc>
              <a:buNone/>
            </a:pPr>
            <a:r>
              <a:rPr lang="en-US" sz="1100" b="1" dirty="0">
                <a:solidFill>
                  <a:srgbClr val="FFB020"/>
                </a:solidFill>
                <a:latin typeface="Calibri" pitchFamily="34" charset="0"/>
                <a:ea typeface="Calibri" pitchFamily="34" charset="-122"/>
                <a:cs typeface="Calibri" pitchFamily="34" charset="-120"/>
              </a:rPr>
              <a:t>Weight=1</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to extract underlying high-temperature physics. </a:t>
            </a:r>
            <a:pPr indent="0" marL="0">
              <a:lnSpc>
                <a:spcPct val="125000"/>
              </a:lnSpc>
              <a:buNone/>
            </a:pPr>
            <a:r>
              <a:rPr lang="en-US" sz="1100" b="1" dirty="0">
                <a:solidFill>
                  <a:srgbClr val="FFB020"/>
                </a:solidFill>
                <a:latin typeface="Calibri" pitchFamily="34" charset="0"/>
                <a:ea typeface="Calibri" pitchFamily="34" charset="-122"/>
                <a:cs typeface="Calibri" pitchFamily="34" charset="-120"/>
              </a:rPr>
              <a:t>The Thermal Knockdown Penalty:</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Because forging dies operate near 1200°C, we enforce a severe homologous temperature knockdown factor (</a:t>
            </a:r>
            <a:pPr indent="0" marL="0">
              <a:lnSpc>
                <a:spcPct val="125000"/>
              </a:lnSpc>
              <a:buNone/>
            </a:pPr>
            <a:r>
              <a:rPr lang="en-US" sz="1100" b="1" dirty="0">
                <a:solidFill>
                  <a:srgbClr val="FFB020"/>
                </a:solidFill>
                <a:latin typeface="Calibri" pitchFamily="34" charset="0"/>
                <a:ea typeface="Calibri" pitchFamily="34" charset="-122"/>
                <a:cs typeface="Calibri" pitchFamily="34" charset="-120"/>
              </a:rPr>
              <a:t>0.45</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)—assuming the alloy retains only </a:t>
            </a:r>
            <a:pPr indent="0" marL="0">
              <a:lnSpc>
                <a:spcPct val="125000"/>
              </a:lnSpc>
              <a:buNone/>
            </a:pPr>
            <a:r>
              <a:rPr lang="en-US" sz="1100" b="1" dirty="0">
                <a:solidFill>
                  <a:srgbClr val="FFB020"/>
                </a:solidFill>
                <a:latin typeface="Calibri" pitchFamily="34" charset="0"/>
                <a:ea typeface="Calibri" pitchFamily="34" charset="-122"/>
                <a:cs typeface="Calibri" pitchFamily="34" charset="-120"/>
              </a:rPr>
              <a:t>45%</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of its Room Temperature yield strength.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7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AI ENGINE · STEP 3</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400" b="1" spc="30" kern="0" dirty="0">
                <a:solidFill>
                  <a:srgbClr val="F5F7FA"/>
                </a:solidFill>
                <a:latin typeface="Arial" pitchFamily="34" charset="0"/>
                <a:ea typeface="Arial" pitchFamily="34" charset="-122"/>
                <a:cs typeface="Arial" pitchFamily="34" charset="-120"/>
              </a:rPr>
              <a:t>THE CRYSTAL PARADIGM AI ENGINE: STEP 3</a:t>
            </a:r>
            <a:endParaRPr lang="en-US" sz="24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600" b="1" dirty="0">
                <a:solidFill>
                  <a:srgbClr val="00B8FF"/>
                </a:solidFill>
                <a:latin typeface="Arial" pitchFamily="34" charset="0"/>
                <a:ea typeface="Arial" pitchFamily="34" charset="-122"/>
                <a:cs typeface="Arial" pitchFamily="34" charset="-120"/>
              </a:rPr>
              <a:t>Constrained Differential Evolution (DE)</a:t>
            </a:r>
            <a:endParaRPr lang="en-US" sz="1600" dirty="0"/>
          </a:p>
        </p:txBody>
      </p:sp>
      <p:sp>
        <p:nvSpPr>
          <p:cNvPr id="7" name="Text 5"/>
          <p:cNvSpPr/>
          <p:nvPr/>
        </p:nvSpPr>
        <p:spPr>
          <a:xfrm>
            <a:off x="548640" y="1572768"/>
            <a:ext cx="11091672" cy="502920"/>
          </a:xfrm>
          <a:prstGeom prst="rect">
            <a:avLst/>
          </a:prstGeom>
          <a:noFill/>
          <a:ln/>
        </p:spPr>
        <p:txBody>
          <a:bodyPr wrap="square" rtlCol="0" anchor="ctr"/>
          <a:lstStyle/>
          <a:p>
            <a:pPr indent="0" marL="0">
              <a:lnSpc>
                <a:spcPct val="122000"/>
              </a:lnSpc>
              <a:buNone/>
            </a:pPr>
            <a:r>
              <a:rPr lang="en-US" sz="1250" dirty="0">
                <a:solidFill>
                  <a:srgbClr val="AAB4C6"/>
                </a:solidFill>
                <a:latin typeface="Calibri" pitchFamily="34" charset="0"/>
                <a:ea typeface="Calibri" pitchFamily="34" charset="-122"/>
                <a:cs typeface="Calibri" pitchFamily="34" charset="-120"/>
              </a:rPr>
              <a:t>To discover completely novel alloys, our AI sweeps a continuous </a:t>
            </a:r>
            <a:pPr indent="0" marL="0">
              <a:lnSpc>
                <a:spcPct val="122000"/>
              </a:lnSpc>
              <a:buNone/>
            </a:pPr>
            <a:r>
              <a:rPr lang="en-US" sz="1250" b="1" dirty="0">
                <a:solidFill>
                  <a:srgbClr val="00E5A0"/>
                </a:solidFill>
                <a:latin typeface="Calibri" pitchFamily="34" charset="0"/>
                <a:ea typeface="Calibri" pitchFamily="34" charset="-122"/>
                <a:cs typeface="Calibri" pitchFamily="34" charset="-120"/>
              </a:rPr>
              <a:t>9-element space</a:t>
            </a:r>
            <a:pPr indent="0" marL="0">
              <a:lnSpc>
                <a:spcPct val="122000"/>
              </a:lnSpc>
              <a:buNone/>
            </a:pPr>
            <a:r>
              <a:rPr lang="en-US" sz="1250" dirty="0">
                <a:solidFill>
                  <a:srgbClr val="AAB4C6"/>
                </a:solidFill>
                <a:latin typeface="Calibri" pitchFamily="34" charset="0"/>
                <a:ea typeface="Calibri" pitchFamily="34" charset="-122"/>
                <a:cs typeface="Calibri" pitchFamily="34" charset="-120"/>
              </a:rPr>
              <a:t> using a </a:t>
            </a:r>
            <a:pPr indent="0" marL="0">
              <a:lnSpc>
                <a:spcPct val="122000"/>
              </a:lnSpc>
              <a:buNone/>
            </a:pPr>
            <a:r>
              <a:rPr lang="en-US" sz="1250" b="1" dirty="0">
                <a:solidFill>
                  <a:srgbClr val="00E5A0"/>
                </a:solidFill>
                <a:latin typeface="Calibri" pitchFamily="34" charset="0"/>
                <a:ea typeface="Calibri" pitchFamily="34" charset="-122"/>
                <a:cs typeface="Calibri" pitchFamily="34" charset="-120"/>
              </a:rPr>
              <a:t>Softmax activation function</a:t>
            </a:r>
            <a:pPr indent="0" marL="0">
              <a:lnSpc>
                <a:spcPct val="122000"/>
              </a:lnSpc>
              <a:buNone/>
            </a:pPr>
            <a:r>
              <a:rPr lang="en-US" sz="1250" dirty="0">
                <a:solidFill>
                  <a:srgbClr val="AAB4C6"/>
                </a:solidFill>
                <a:latin typeface="Calibri" pitchFamily="34" charset="0"/>
                <a:ea typeface="Calibri" pitchFamily="34" charset="-122"/>
                <a:cs typeface="Calibri" pitchFamily="34" charset="-120"/>
              </a:rPr>
              <a:t> to generate perfect sum-to-one fractional matrices.</a:t>
            </a:r>
            <a:endParaRPr lang="en-US" sz="1250" dirty="0"/>
          </a:p>
        </p:txBody>
      </p:sp>
      <p:sp>
        <p:nvSpPr>
          <p:cNvPr id="8" name="Shape 6"/>
          <p:cNvSpPr/>
          <p:nvPr/>
        </p:nvSpPr>
        <p:spPr>
          <a:xfrm>
            <a:off x="548640" y="2194560"/>
            <a:ext cx="5120640" cy="2743200"/>
          </a:xfrm>
          <a:prstGeom prst="roundRect">
            <a:avLst>
              <a:gd name="adj" fmla="val 3333"/>
            </a:avLst>
          </a:prstGeom>
          <a:solidFill>
            <a:srgbClr val="141B2E"/>
          </a:solidFill>
          <a:ln w="12700">
            <a:solidFill>
              <a:srgbClr val="2A3550"/>
            </a:solidFill>
            <a:prstDash val="solid"/>
          </a:ln>
        </p:spPr>
      </p:sp>
      <p:sp>
        <p:nvSpPr>
          <p:cNvPr id="9" name="Shape 7"/>
          <p:cNvSpPr/>
          <p:nvPr/>
        </p:nvSpPr>
        <p:spPr>
          <a:xfrm>
            <a:off x="138989" y="2743200"/>
            <a:ext cx="5120640" cy="1920240"/>
          </a:xfrm>
          <a:prstGeom prst="ellipse">
            <a:avLst/>
          </a:prstGeom>
          <a:solidFill>
            <a:srgbClr val="1A2338"/>
          </a:solidFill>
          <a:ln w="6350">
            <a:solidFill>
              <a:srgbClr val="2A3550"/>
            </a:solidFill>
            <a:prstDash val="solid"/>
          </a:ln>
        </p:spPr>
      </p:sp>
      <p:sp>
        <p:nvSpPr>
          <p:cNvPr id="10" name="Shape 8"/>
          <p:cNvSpPr/>
          <p:nvPr/>
        </p:nvSpPr>
        <p:spPr>
          <a:xfrm>
            <a:off x="753466" y="2973629"/>
            <a:ext cx="3891686" cy="1459382"/>
          </a:xfrm>
          <a:prstGeom prst="ellipse">
            <a:avLst/>
          </a:prstGeom>
          <a:solidFill>
            <a:srgbClr val="163326"/>
          </a:solidFill>
          <a:ln w="6350">
            <a:solidFill>
              <a:srgbClr val="2A3550"/>
            </a:solidFill>
            <a:prstDash val="solid"/>
          </a:ln>
        </p:spPr>
      </p:sp>
      <p:sp>
        <p:nvSpPr>
          <p:cNvPr id="11" name="Shape 9"/>
          <p:cNvSpPr/>
          <p:nvPr/>
        </p:nvSpPr>
        <p:spPr>
          <a:xfrm>
            <a:off x="1316736" y="3184855"/>
            <a:ext cx="2765146" cy="1036930"/>
          </a:xfrm>
          <a:prstGeom prst="ellipse">
            <a:avLst/>
          </a:prstGeom>
          <a:solidFill>
            <a:srgbClr val="0F4530"/>
          </a:solidFill>
          <a:ln w="6350">
            <a:solidFill>
              <a:srgbClr val="2A3550"/>
            </a:solidFill>
            <a:prstDash val="solid"/>
          </a:ln>
        </p:spPr>
      </p:sp>
      <p:sp>
        <p:nvSpPr>
          <p:cNvPr id="12" name="Shape 10"/>
          <p:cNvSpPr/>
          <p:nvPr/>
        </p:nvSpPr>
        <p:spPr>
          <a:xfrm>
            <a:off x="1880006" y="3396082"/>
            <a:ext cx="1638605" cy="614477"/>
          </a:xfrm>
          <a:prstGeom prst="ellipse">
            <a:avLst/>
          </a:prstGeom>
          <a:solidFill>
            <a:srgbClr val="00E5A0"/>
          </a:solidFill>
          <a:ln w="6350">
            <a:solidFill>
              <a:srgbClr val="2A3550"/>
            </a:solidFill>
            <a:prstDash val="solid"/>
          </a:ln>
        </p:spPr>
      </p:sp>
      <p:sp>
        <p:nvSpPr>
          <p:cNvPr id="13" name="Shape 11"/>
          <p:cNvSpPr/>
          <p:nvPr/>
        </p:nvSpPr>
        <p:spPr>
          <a:xfrm>
            <a:off x="2617013" y="3621024"/>
            <a:ext cx="164592" cy="164592"/>
          </a:xfrm>
          <a:prstGeom prst="ellipse">
            <a:avLst/>
          </a:prstGeom>
          <a:solidFill>
            <a:srgbClr val="FFFFFF"/>
          </a:solidFill>
          <a:ln w="25400">
            <a:solidFill>
              <a:srgbClr val="00E5A0"/>
            </a:solidFill>
            <a:prstDash val="solid"/>
          </a:ln>
        </p:spPr>
      </p:sp>
      <p:sp>
        <p:nvSpPr>
          <p:cNvPr id="14" name="Text 12"/>
          <p:cNvSpPr/>
          <p:nvPr/>
        </p:nvSpPr>
        <p:spPr>
          <a:xfrm>
            <a:off x="1876349" y="3831336"/>
            <a:ext cx="1828800" cy="228600"/>
          </a:xfrm>
          <a:prstGeom prst="rect">
            <a:avLst/>
          </a:prstGeom>
          <a:noFill/>
          <a:ln/>
        </p:spPr>
        <p:txBody>
          <a:bodyPr wrap="square" rtlCol="0" anchor="ctr"/>
          <a:lstStyle/>
          <a:p>
            <a:pPr indent="0" marL="0">
              <a:buNone/>
            </a:pPr>
            <a:r>
              <a:rPr lang="en-US" sz="1000" b="1" spc="50" kern="0" dirty="0">
                <a:solidFill>
                  <a:srgbClr val="F5F7FA"/>
                </a:solidFill>
                <a:latin typeface="Arial" pitchFamily="34" charset="0"/>
                <a:ea typeface="Arial" pitchFamily="34" charset="-122"/>
                <a:cs typeface="Arial" pitchFamily="34" charset="-120"/>
              </a:rPr>
              <a:t>GLOBAL OPTIMUM</a:t>
            </a:r>
            <a:endParaRPr lang="en-US" sz="1000" dirty="0"/>
          </a:p>
        </p:txBody>
      </p:sp>
      <p:sp>
        <p:nvSpPr>
          <p:cNvPr id="15" name="Text 13"/>
          <p:cNvSpPr/>
          <p:nvPr/>
        </p:nvSpPr>
        <p:spPr>
          <a:xfrm>
            <a:off x="777240" y="2359152"/>
            <a:ext cx="4663440" cy="274320"/>
          </a:xfrm>
          <a:prstGeom prst="rect">
            <a:avLst/>
          </a:prstGeom>
          <a:noFill/>
          <a:ln/>
        </p:spPr>
        <p:txBody>
          <a:bodyPr wrap="square" rtlCol="0" anchor="ctr"/>
          <a:lstStyle/>
          <a:p>
            <a:pPr indent="0" marL="0">
              <a:buNone/>
            </a:pPr>
            <a:r>
              <a:rPr lang="en-US" sz="1100" b="1" spc="50" kern="0" dirty="0">
                <a:solidFill>
                  <a:srgbClr val="AAB4C6"/>
                </a:solidFill>
                <a:latin typeface="Arial" pitchFamily="34" charset="0"/>
                <a:ea typeface="Arial" pitchFamily="34" charset="-122"/>
                <a:cs typeface="Arial" pitchFamily="34" charset="-120"/>
              </a:rPr>
              <a:t>SAFETY-FACTOR OPTIMIZATION LANDSCAPE</a:t>
            </a:r>
            <a:endParaRPr lang="en-US" sz="1100" dirty="0"/>
          </a:p>
        </p:txBody>
      </p:sp>
      <p:sp>
        <p:nvSpPr>
          <p:cNvPr id="16" name="Text 14"/>
          <p:cNvSpPr/>
          <p:nvPr/>
        </p:nvSpPr>
        <p:spPr>
          <a:xfrm>
            <a:off x="548640" y="5074920"/>
            <a:ext cx="5120640" cy="777240"/>
          </a:xfrm>
          <a:prstGeom prst="rect">
            <a:avLst/>
          </a:prstGeom>
          <a:noFill/>
          <a:ln/>
        </p:spPr>
        <p:txBody>
          <a:bodyPr wrap="square" rtlCol="0" anchor="ctr"/>
          <a:lstStyle/>
          <a:p>
            <a:pPr indent="0" marL="0">
              <a:lnSpc>
                <a:spcPct val="125000"/>
              </a:lnSpc>
              <a:buNone/>
            </a:pPr>
            <a:r>
              <a:rPr lang="en-US" sz="1150" i="1" dirty="0">
                <a:solidFill>
                  <a:srgbClr val="AAB4C6"/>
                </a:solidFill>
                <a:latin typeface="Calibri" pitchFamily="34" charset="0"/>
                <a:ea typeface="Calibri" pitchFamily="34" charset="-122"/>
                <a:cs typeface="Calibri" pitchFamily="34" charset="-120"/>
              </a:rPr>
              <a:t>*Result (Candidate C):* The DE optimizer found a globally optimal solution (</a:t>
            </a:r>
            <a:pPr indent="0" marL="0">
              <a:lnSpc>
                <a:spcPct val="125000"/>
              </a:lnSpc>
              <a:buNone/>
            </a:pPr>
            <a:r>
              <a:rPr lang="en-US" sz="1150" b="1" i="1" dirty="0">
                <a:solidFill>
                  <a:srgbClr val="00E5A0"/>
                </a:solidFill>
                <a:latin typeface="Calibri" pitchFamily="34" charset="0"/>
                <a:ea typeface="Calibri" pitchFamily="34" charset="-122"/>
                <a:cs typeface="Calibri" pitchFamily="34" charset="-120"/>
              </a:rPr>
              <a:t>Titanium 21.7%</a:t>
            </a:r>
            <a:pPr indent="0" marL="0">
              <a:lnSpc>
                <a:spcPct val="125000"/>
              </a:lnSpc>
              <a:buNone/>
            </a:pPr>
            <a:r>
              <a:rPr lang="en-US" sz="1150" i="1" dirty="0">
                <a:solidFill>
                  <a:srgbClr val="AAB4C6"/>
                </a:solidFill>
                <a:latin typeface="Calibri" pitchFamily="34" charset="0"/>
                <a:ea typeface="Calibri" pitchFamily="34" charset="-122"/>
                <a:cs typeface="Calibri" pitchFamily="34" charset="-120"/>
              </a:rPr>
              <a:t>) that cleared every penalty and dropped the CTE mismatch to an unprecedented </a:t>
            </a:r>
            <a:pPr indent="0" marL="0">
              <a:lnSpc>
                <a:spcPct val="125000"/>
              </a:lnSpc>
              <a:buNone/>
            </a:pPr>
            <a:r>
              <a:rPr lang="en-US" sz="1150" b="1" i="1" dirty="0">
                <a:solidFill>
                  <a:srgbClr val="00E5A0"/>
                </a:solidFill>
                <a:latin typeface="Calibri" pitchFamily="34" charset="0"/>
                <a:ea typeface="Calibri" pitchFamily="34" charset="-122"/>
                <a:cs typeface="Calibri" pitchFamily="34" charset="-120"/>
              </a:rPr>
              <a:t>2.66 μm/mK</a:t>
            </a:r>
            <a:pPr indent="0" marL="0">
              <a:lnSpc>
                <a:spcPct val="125000"/>
              </a:lnSpc>
              <a:buNone/>
            </a:pPr>
            <a:r>
              <a:rPr lang="en-US" sz="1150" i="1" dirty="0">
                <a:solidFill>
                  <a:srgbClr val="AAB4C6"/>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6035040" y="2176272"/>
            <a:ext cx="5349240" cy="274320"/>
          </a:xfrm>
          <a:prstGeom prst="rect">
            <a:avLst/>
          </a:prstGeom>
          <a:noFill/>
          <a:ln/>
        </p:spPr>
        <p:txBody>
          <a:bodyPr wrap="square" rtlCol="0" anchor="ctr"/>
          <a:lstStyle/>
          <a:p>
            <a:pPr indent="0" marL="0">
              <a:buNone/>
            </a:pPr>
            <a:r>
              <a:rPr lang="en-US" sz="1150" b="1" spc="40" kern="0" dirty="0">
                <a:solidFill>
                  <a:srgbClr val="F5F7FA"/>
                </a:solidFill>
                <a:latin typeface="Arial" pitchFamily="34" charset="0"/>
                <a:ea typeface="Arial" pitchFamily="34" charset="-122"/>
                <a:cs typeface="Arial" pitchFamily="34" charset="-120"/>
              </a:rPr>
              <a:t>OBJECTIVE PENALTIES — SONA COMSTAR COMMERCIAL LIMITS</a:t>
            </a:r>
            <a:endParaRPr lang="en-US" sz="1150" dirty="0"/>
          </a:p>
        </p:txBody>
      </p:sp>
      <p:sp>
        <p:nvSpPr>
          <p:cNvPr id="18" name="Shape 16"/>
          <p:cNvSpPr/>
          <p:nvPr/>
        </p:nvSpPr>
        <p:spPr>
          <a:xfrm>
            <a:off x="6035040" y="2194560"/>
            <a:ext cx="5349240" cy="758952"/>
          </a:xfrm>
          <a:prstGeom prst="roundRect">
            <a:avLst>
              <a:gd name="adj" fmla="val 12048"/>
            </a:avLst>
          </a:prstGeom>
          <a:solidFill>
            <a:srgbClr val="1A2338"/>
          </a:solidFill>
          <a:ln w="12700">
            <a:solidFill>
              <a:srgbClr val="2A3550"/>
            </a:solidFill>
            <a:prstDash val="solid"/>
          </a:ln>
        </p:spPr>
      </p:sp>
      <p:sp>
        <p:nvSpPr>
          <p:cNvPr id="19" name="Shape 17"/>
          <p:cNvSpPr/>
          <p:nvPr/>
        </p:nvSpPr>
        <p:spPr>
          <a:xfrm>
            <a:off x="6199632" y="2359152"/>
            <a:ext cx="420624" cy="420624"/>
          </a:xfrm>
          <a:prstGeom prst="ellipse">
            <a:avLst/>
          </a:prstGeom>
          <a:solidFill>
            <a:srgbClr val="0A3B2E"/>
          </a:solidFill>
          <a:ln w="12700">
            <a:solidFill>
              <a:srgbClr val="00E5A0"/>
            </a:solidFill>
            <a:prstDash val="solid"/>
          </a:ln>
        </p:spPr>
      </p:sp>
      <p:sp>
        <p:nvSpPr>
          <p:cNvPr id="20" name="Text 18"/>
          <p:cNvSpPr/>
          <p:nvPr/>
        </p:nvSpPr>
        <p:spPr>
          <a:xfrm>
            <a:off x="6199632" y="2359152"/>
            <a:ext cx="420624" cy="420624"/>
          </a:xfrm>
          <a:prstGeom prst="rect">
            <a:avLst/>
          </a:prstGeom>
          <a:noFill/>
          <a:ln/>
        </p:spPr>
        <p:txBody>
          <a:bodyPr wrap="square" rtlCol="0" anchor="ctr"/>
          <a:lstStyle/>
          <a:p>
            <a:pPr algn="ctr" indent="0" marL="0">
              <a:buNone/>
            </a:pPr>
            <a:r>
              <a:rPr lang="en-US" sz="1500" b="1" dirty="0">
                <a:solidFill>
                  <a:srgbClr val="00E5A0"/>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6748272" y="2286000"/>
            <a:ext cx="3337560" cy="274320"/>
          </a:xfrm>
          <a:prstGeom prst="rect">
            <a:avLst/>
          </a:prstGeom>
          <a:noFill/>
          <a:ln/>
        </p:spPr>
        <p:txBody>
          <a:bodyPr wrap="square"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Sigma Phase Mitigation</a:t>
            </a:r>
            <a:endParaRPr lang="en-US" sz="1200" dirty="0"/>
          </a:p>
        </p:txBody>
      </p:sp>
      <p:sp>
        <p:nvSpPr>
          <p:cNvPr id="22" name="Text 20"/>
          <p:cNvSpPr/>
          <p:nvPr/>
        </p:nvSpPr>
        <p:spPr>
          <a:xfrm>
            <a:off x="6748272" y="2560320"/>
            <a:ext cx="3337560" cy="347472"/>
          </a:xfrm>
          <a:prstGeom prst="rect">
            <a:avLst/>
          </a:prstGeom>
          <a:noFill/>
          <a:ln/>
        </p:spPr>
        <p:txBody>
          <a:bodyPr wrap="square" rtlCol="0" anchor="ctr"/>
          <a:lstStyle/>
          <a:p>
            <a:pPr indent="0" marL="0">
              <a:lnSpc>
                <a:spcPct val="110000"/>
              </a:lnSpc>
              <a:buNone/>
            </a:pPr>
            <a:r>
              <a:rPr lang="en-US" sz="1000" dirty="0">
                <a:solidFill>
                  <a:srgbClr val="AAB4C6"/>
                </a:solidFill>
                <a:latin typeface="Calibri" pitchFamily="34" charset="0"/>
                <a:ea typeface="Calibri" pitchFamily="34" charset="-122"/>
                <a:cs typeface="Calibri" pitchFamily="34" charset="-120"/>
              </a:rPr>
              <a:t>if "Sigma Formers" (W + Cr + Mo) exceed 50%</a:t>
            </a:r>
            <a:endParaRPr lang="en-US" sz="1000" dirty="0"/>
          </a:p>
        </p:txBody>
      </p:sp>
      <p:sp>
        <p:nvSpPr>
          <p:cNvPr id="23" name="Text 21"/>
          <p:cNvSpPr/>
          <p:nvPr/>
        </p:nvSpPr>
        <p:spPr>
          <a:xfrm>
            <a:off x="10012680" y="2194560"/>
            <a:ext cx="1234440" cy="758952"/>
          </a:xfrm>
          <a:prstGeom prst="rect">
            <a:avLst/>
          </a:prstGeom>
          <a:noFill/>
          <a:ln/>
        </p:spPr>
        <p:txBody>
          <a:bodyPr wrap="square" rtlCol="0" anchor="ctr"/>
          <a:lstStyle/>
          <a:p>
            <a:pPr algn="ctr" indent="0" marL="0">
              <a:buNone/>
            </a:pPr>
            <a:r>
              <a:rPr lang="en-US" sz="1300" b="1" dirty="0">
                <a:solidFill>
                  <a:srgbClr val="FFB020"/>
                </a:solidFill>
                <a:latin typeface="Arial" pitchFamily="34" charset="0"/>
                <a:ea typeface="Arial" pitchFamily="34" charset="-122"/>
                <a:cs typeface="Arial" pitchFamily="34" charset="-120"/>
              </a:rPr>
              <a:t>Penalty 5.0</a:t>
            </a:r>
            <a:endParaRPr lang="en-US" sz="1300" dirty="0"/>
          </a:p>
        </p:txBody>
      </p:sp>
      <p:sp>
        <p:nvSpPr>
          <p:cNvPr id="24" name="Shape 22"/>
          <p:cNvSpPr/>
          <p:nvPr/>
        </p:nvSpPr>
        <p:spPr>
          <a:xfrm>
            <a:off x="6035040" y="3044952"/>
            <a:ext cx="5349240" cy="758952"/>
          </a:xfrm>
          <a:prstGeom prst="roundRect">
            <a:avLst>
              <a:gd name="adj" fmla="val 12048"/>
            </a:avLst>
          </a:prstGeom>
          <a:solidFill>
            <a:srgbClr val="1A2338"/>
          </a:solidFill>
          <a:ln w="12700">
            <a:solidFill>
              <a:srgbClr val="2A3550"/>
            </a:solidFill>
            <a:prstDash val="solid"/>
          </a:ln>
        </p:spPr>
      </p:sp>
      <p:sp>
        <p:nvSpPr>
          <p:cNvPr id="25" name="Shape 23"/>
          <p:cNvSpPr/>
          <p:nvPr/>
        </p:nvSpPr>
        <p:spPr>
          <a:xfrm>
            <a:off x="6199632" y="3209544"/>
            <a:ext cx="420624" cy="420624"/>
          </a:xfrm>
          <a:prstGeom prst="ellipse">
            <a:avLst/>
          </a:prstGeom>
          <a:solidFill>
            <a:srgbClr val="0A3B2E"/>
          </a:solidFill>
          <a:ln w="12700">
            <a:solidFill>
              <a:srgbClr val="00E5A0"/>
            </a:solidFill>
            <a:prstDash val="solid"/>
          </a:ln>
        </p:spPr>
      </p:sp>
      <p:sp>
        <p:nvSpPr>
          <p:cNvPr id="26" name="Text 24"/>
          <p:cNvSpPr/>
          <p:nvPr/>
        </p:nvSpPr>
        <p:spPr>
          <a:xfrm>
            <a:off x="6199632" y="3209544"/>
            <a:ext cx="420624" cy="420624"/>
          </a:xfrm>
          <a:prstGeom prst="rect">
            <a:avLst/>
          </a:prstGeom>
          <a:noFill/>
          <a:ln/>
        </p:spPr>
        <p:txBody>
          <a:bodyPr wrap="square" rtlCol="0" anchor="ctr"/>
          <a:lstStyle/>
          <a:p>
            <a:pPr algn="ctr" indent="0" marL="0">
              <a:buNone/>
            </a:pPr>
            <a:r>
              <a:rPr lang="en-US" sz="1500" b="1" dirty="0">
                <a:solidFill>
                  <a:srgbClr val="00E5A0"/>
                </a:solidFill>
                <a:latin typeface="Arial" pitchFamily="34" charset="0"/>
                <a:ea typeface="Arial" pitchFamily="34" charset="-122"/>
                <a:cs typeface="Arial" pitchFamily="34" charset="-120"/>
              </a:rPr>
              <a:t>2</a:t>
            </a:r>
            <a:endParaRPr lang="en-US" sz="1500" dirty="0"/>
          </a:p>
        </p:txBody>
      </p:sp>
      <p:sp>
        <p:nvSpPr>
          <p:cNvPr id="27" name="Text 25"/>
          <p:cNvSpPr/>
          <p:nvPr/>
        </p:nvSpPr>
        <p:spPr>
          <a:xfrm>
            <a:off x="6748272" y="3136392"/>
            <a:ext cx="3337560" cy="274320"/>
          </a:xfrm>
          <a:prstGeom prst="rect">
            <a:avLst/>
          </a:prstGeom>
          <a:noFill/>
          <a:ln/>
        </p:spPr>
        <p:txBody>
          <a:bodyPr wrap="square"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Vanadium Volatility</a:t>
            </a:r>
            <a:endParaRPr lang="en-US" sz="1200" dirty="0"/>
          </a:p>
        </p:txBody>
      </p:sp>
      <p:sp>
        <p:nvSpPr>
          <p:cNvPr id="28" name="Text 26"/>
          <p:cNvSpPr/>
          <p:nvPr/>
        </p:nvSpPr>
        <p:spPr>
          <a:xfrm>
            <a:off x="6748272" y="3410712"/>
            <a:ext cx="3337560" cy="347472"/>
          </a:xfrm>
          <a:prstGeom prst="rect">
            <a:avLst/>
          </a:prstGeom>
          <a:noFill/>
          <a:ln/>
        </p:spPr>
        <p:txBody>
          <a:bodyPr wrap="square" rtlCol="0" anchor="ctr"/>
          <a:lstStyle/>
          <a:p>
            <a:pPr indent="0" marL="0">
              <a:lnSpc>
                <a:spcPct val="110000"/>
              </a:lnSpc>
              <a:buNone/>
            </a:pPr>
            <a:r>
              <a:rPr lang="en-US" sz="1000" dirty="0">
                <a:solidFill>
                  <a:srgbClr val="AAB4C6"/>
                </a:solidFill>
                <a:latin typeface="Calibri" pitchFamily="34" charset="0"/>
                <a:ea typeface="Calibri" pitchFamily="34" charset="-122"/>
                <a:cs typeface="Calibri" pitchFamily="34" charset="-120"/>
              </a:rPr>
              <a:t>prevents toxic outgassing during high-temp operation</a:t>
            </a:r>
            <a:endParaRPr lang="en-US" sz="1000" dirty="0"/>
          </a:p>
        </p:txBody>
      </p:sp>
      <p:sp>
        <p:nvSpPr>
          <p:cNvPr id="29" name="Text 27"/>
          <p:cNvSpPr/>
          <p:nvPr/>
        </p:nvSpPr>
        <p:spPr>
          <a:xfrm>
            <a:off x="10012680" y="3044952"/>
            <a:ext cx="1234440" cy="758952"/>
          </a:xfrm>
          <a:prstGeom prst="rect">
            <a:avLst/>
          </a:prstGeom>
          <a:noFill/>
          <a:ln/>
        </p:spPr>
        <p:txBody>
          <a:bodyPr wrap="square" rtlCol="0" anchor="ctr"/>
          <a:lstStyle/>
          <a:p>
            <a:pPr algn="ctr" indent="0" marL="0">
              <a:buNone/>
            </a:pPr>
            <a:r>
              <a:rPr lang="en-US" sz="1300" b="1" dirty="0">
                <a:solidFill>
                  <a:srgbClr val="FFB020"/>
                </a:solidFill>
                <a:latin typeface="Arial" pitchFamily="34" charset="0"/>
                <a:ea typeface="Arial" pitchFamily="34" charset="-122"/>
                <a:cs typeface="Arial" pitchFamily="34" charset="-120"/>
              </a:rPr>
              <a:t>V ≤ 20%</a:t>
            </a:r>
            <a:endParaRPr lang="en-US" sz="1300" dirty="0"/>
          </a:p>
        </p:txBody>
      </p:sp>
      <p:sp>
        <p:nvSpPr>
          <p:cNvPr id="30" name="Shape 28"/>
          <p:cNvSpPr/>
          <p:nvPr/>
        </p:nvSpPr>
        <p:spPr>
          <a:xfrm>
            <a:off x="6035040" y="3895344"/>
            <a:ext cx="5349240" cy="758952"/>
          </a:xfrm>
          <a:prstGeom prst="roundRect">
            <a:avLst>
              <a:gd name="adj" fmla="val 12048"/>
            </a:avLst>
          </a:prstGeom>
          <a:solidFill>
            <a:srgbClr val="1A2338"/>
          </a:solidFill>
          <a:ln w="12700">
            <a:solidFill>
              <a:srgbClr val="2A3550"/>
            </a:solidFill>
            <a:prstDash val="solid"/>
          </a:ln>
        </p:spPr>
      </p:sp>
      <p:sp>
        <p:nvSpPr>
          <p:cNvPr id="31" name="Shape 29"/>
          <p:cNvSpPr/>
          <p:nvPr/>
        </p:nvSpPr>
        <p:spPr>
          <a:xfrm>
            <a:off x="6199632" y="4059936"/>
            <a:ext cx="420624" cy="420624"/>
          </a:xfrm>
          <a:prstGeom prst="ellipse">
            <a:avLst/>
          </a:prstGeom>
          <a:solidFill>
            <a:srgbClr val="0A3B2E"/>
          </a:solidFill>
          <a:ln w="12700">
            <a:solidFill>
              <a:srgbClr val="00E5A0"/>
            </a:solidFill>
            <a:prstDash val="solid"/>
          </a:ln>
        </p:spPr>
      </p:sp>
      <p:sp>
        <p:nvSpPr>
          <p:cNvPr id="32" name="Text 30"/>
          <p:cNvSpPr/>
          <p:nvPr/>
        </p:nvSpPr>
        <p:spPr>
          <a:xfrm>
            <a:off x="6199632" y="4059936"/>
            <a:ext cx="420624" cy="420624"/>
          </a:xfrm>
          <a:prstGeom prst="rect">
            <a:avLst/>
          </a:prstGeom>
          <a:noFill/>
          <a:ln/>
        </p:spPr>
        <p:txBody>
          <a:bodyPr wrap="square" rtlCol="0" anchor="ctr"/>
          <a:lstStyle/>
          <a:p>
            <a:pPr algn="ctr" indent="0" marL="0">
              <a:buNone/>
            </a:pPr>
            <a:r>
              <a:rPr lang="en-US" sz="1500" b="1" dirty="0">
                <a:solidFill>
                  <a:srgbClr val="00E5A0"/>
                </a:solidFill>
                <a:latin typeface="Arial" pitchFamily="34" charset="0"/>
                <a:ea typeface="Arial" pitchFamily="34" charset="-122"/>
                <a:cs typeface="Arial" pitchFamily="34" charset="-120"/>
              </a:rPr>
              <a:t>3</a:t>
            </a:r>
            <a:endParaRPr lang="en-US" sz="1500" dirty="0"/>
          </a:p>
        </p:txBody>
      </p:sp>
      <p:sp>
        <p:nvSpPr>
          <p:cNvPr id="33" name="Text 31"/>
          <p:cNvSpPr/>
          <p:nvPr/>
        </p:nvSpPr>
        <p:spPr>
          <a:xfrm>
            <a:off x="6748272" y="3986784"/>
            <a:ext cx="3337560" cy="274320"/>
          </a:xfrm>
          <a:prstGeom prst="rect">
            <a:avLst/>
          </a:prstGeom>
          <a:noFill/>
          <a:ln/>
        </p:spPr>
        <p:txBody>
          <a:bodyPr wrap="square"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ESG Weight Budget</a:t>
            </a:r>
            <a:endParaRPr lang="en-US" sz="1200" dirty="0"/>
          </a:p>
        </p:txBody>
      </p:sp>
      <p:sp>
        <p:nvSpPr>
          <p:cNvPr id="34" name="Text 32"/>
          <p:cNvSpPr/>
          <p:nvPr/>
        </p:nvSpPr>
        <p:spPr>
          <a:xfrm>
            <a:off x="6748272" y="4261104"/>
            <a:ext cx="3337560" cy="347472"/>
          </a:xfrm>
          <a:prstGeom prst="rect">
            <a:avLst/>
          </a:prstGeom>
          <a:noFill/>
          <a:ln/>
        </p:spPr>
        <p:txBody>
          <a:bodyPr wrap="square" rtlCol="0" anchor="ctr"/>
          <a:lstStyle/>
          <a:p>
            <a:pPr indent="0" marL="0">
              <a:lnSpc>
                <a:spcPct val="110000"/>
              </a:lnSpc>
              <a:buNone/>
            </a:pPr>
            <a:r>
              <a:rPr lang="en-US" sz="1000" dirty="0">
                <a:solidFill>
                  <a:srgbClr val="AAB4C6"/>
                </a:solidFill>
                <a:latin typeface="Calibri" pitchFamily="34" charset="0"/>
                <a:ea typeface="Calibri" pitchFamily="34" charset="-122"/>
                <a:cs typeface="Calibri" pitchFamily="34" charset="-120"/>
              </a:rPr>
              <a:t>hard penalty above this density; aligns with EV lightweighting</a:t>
            </a:r>
            <a:endParaRPr lang="en-US" sz="1000" dirty="0"/>
          </a:p>
        </p:txBody>
      </p:sp>
      <p:sp>
        <p:nvSpPr>
          <p:cNvPr id="35" name="Text 33"/>
          <p:cNvSpPr/>
          <p:nvPr/>
        </p:nvSpPr>
        <p:spPr>
          <a:xfrm>
            <a:off x="10012680" y="3895344"/>
            <a:ext cx="1234440" cy="758952"/>
          </a:xfrm>
          <a:prstGeom prst="rect">
            <a:avLst/>
          </a:prstGeom>
          <a:noFill/>
          <a:ln/>
        </p:spPr>
        <p:txBody>
          <a:bodyPr wrap="square" rtlCol="0" anchor="ctr"/>
          <a:lstStyle/>
          <a:p>
            <a:pPr algn="ctr" indent="0" marL="0">
              <a:buNone/>
            </a:pPr>
            <a:r>
              <a:rPr lang="en-US" sz="1300" b="1" dirty="0">
                <a:solidFill>
                  <a:srgbClr val="FFB020"/>
                </a:solidFill>
                <a:latin typeface="Arial" pitchFamily="34" charset="0"/>
                <a:ea typeface="Arial" pitchFamily="34" charset="-122"/>
                <a:cs typeface="Arial" pitchFamily="34" charset="-120"/>
              </a:rPr>
              <a:t>≤ 11.0 g/cm³</a:t>
            </a:r>
            <a:endParaRPr lang="en-US" sz="1300" dirty="0"/>
          </a:p>
        </p:txBody>
      </p:sp>
      <p:sp>
        <p:nvSpPr>
          <p:cNvPr id="36" name="Shape 34"/>
          <p:cNvSpPr/>
          <p:nvPr/>
        </p:nvSpPr>
        <p:spPr>
          <a:xfrm>
            <a:off x="6035040" y="4745736"/>
            <a:ext cx="5349240" cy="758952"/>
          </a:xfrm>
          <a:prstGeom prst="roundRect">
            <a:avLst>
              <a:gd name="adj" fmla="val 12048"/>
            </a:avLst>
          </a:prstGeom>
          <a:solidFill>
            <a:srgbClr val="1A2338"/>
          </a:solidFill>
          <a:ln w="12700">
            <a:solidFill>
              <a:srgbClr val="2A3550"/>
            </a:solidFill>
            <a:prstDash val="solid"/>
          </a:ln>
        </p:spPr>
      </p:sp>
      <p:sp>
        <p:nvSpPr>
          <p:cNvPr id="37" name="Shape 35"/>
          <p:cNvSpPr/>
          <p:nvPr/>
        </p:nvSpPr>
        <p:spPr>
          <a:xfrm>
            <a:off x="6199632" y="4910328"/>
            <a:ext cx="420624" cy="420624"/>
          </a:xfrm>
          <a:prstGeom prst="ellipse">
            <a:avLst/>
          </a:prstGeom>
          <a:solidFill>
            <a:srgbClr val="0A3B2E"/>
          </a:solidFill>
          <a:ln w="12700">
            <a:solidFill>
              <a:srgbClr val="00E5A0"/>
            </a:solidFill>
            <a:prstDash val="solid"/>
          </a:ln>
        </p:spPr>
      </p:sp>
      <p:sp>
        <p:nvSpPr>
          <p:cNvPr id="38" name="Text 36"/>
          <p:cNvSpPr/>
          <p:nvPr/>
        </p:nvSpPr>
        <p:spPr>
          <a:xfrm>
            <a:off x="6199632" y="4910328"/>
            <a:ext cx="420624" cy="420624"/>
          </a:xfrm>
          <a:prstGeom prst="rect">
            <a:avLst/>
          </a:prstGeom>
          <a:noFill/>
          <a:ln/>
        </p:spPr>
        <p:txBody>
          <a:bodyPr wrap="square" rtlCol="0" anchor="ctr"/>
          <a:lstStyle/>
          <a:p>
            <a:pPr algn="ctr" indent="0" marL="0">
              <a:buNone/>
            </a:pPr>
            <a:r>
              <a:rPr lang="en-US" sz="1500" b="1" dirty="0">
                <a:solidFill>
                  <a:srgbClr val="00E5A0"/>
                </a:solidFill>
                <a:latin typeface="Arial" pitchFamily="34" charset="0"/>
                <a:ea typeface="Arial" pitchFamily="34" charset="-122"/>
                <a:cs typeface="Arial" pitchFamily="34" charset="-120"/>
              </a:rPr>
              <a:t>4</a:t>
            </a:r>
            <a:endParaRPr lang="en-US" sz="1500" dirty="0"/>
          </a:p>
        </p:txBody>
      </p:sp>
      <p:sp>
        <p:nvSpPr>
          <p:cNvPr id="39" name="Text 37"/>
          <p:cNvSpPr/>
          <p:nvPr/>
        </p:nvSpPr>
        <p:spPr>
          <a:xfrm>
            <a:off x="6748272" y="4837176"/>
            <a:ext cx="3337560" cy="274320"/>
          </a:xfrm>
          <a:prstGeom prst="rect">
            <a:avLst/>
          </a:prstGeom>
          <a:noFill/>
          <a:ln/>
        </p:spPr>
        <p:txBody>
          <a:bodyPr wrap="square"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Oxidation Barrier</a:t>
            </a:r>
            <a:endParaRPr lang="en-US" sz="1200" dirty="0"/>
          </a:p>
        </p:txBody>
      </p:sp>
      <p:sp>
        <p:nvSpPr>
          <p:cNvPr id="40" name="Text 38"/>
          <p:cNvSpPr/>
          <p:nvPr/>
        </p:nvSpPr>
        <p:spPr>
          <a:xfrm>
            <a:off x="6748272" y="5111496"/>
            <a:ext cx="3337560" cy="347472"/>
          </a:xfrm>
          <a:prstGeom prst="rect">
            <a:avLst/>
          </a:prstGeom>
          <a:noFill/>
          <a:ln/>
        </p:spPr>
        <p:txBody>
          <a:bodyPr wrap="square" rtlCol="0" anchor="ctr"/>
          <a:lstStyle/>
          <a:p>
            <a:pPr indent="0" marL="0">
              <a:lnSpc>
                <a:spcPct val="110000"/>
              </a:lnSpc>
              <a:buNone/>
            </a:pPr>
            <a:r>
              <a:rPr lang="en-US" sz="1000" dirty="0">
                <a:solidFill>
                  <a:srgbClr val="AAB4C6"/>
                </a:solidFill>
                <a:latin typeface="Calibri" pitchFamily="34" charset="0"/>
                <a:ea typeface="Calibri" pitchFamily="34" charset="-122"/>
                <a:cs typeface="Calibri" pitchFamily="34" charset="-120"/>
              </a:rPr>
              <a:t>minimum chromium requirement</a:t>
            </a:r>
            <a:endParaRPr lang="en-US" sz="1000" dirty="0"/>
          </a:p>
        </p:txBody>
      </p:sp>
      <p:sp>
        <p:nvSpPr>
          <p:cNvPr id="41" name="Text 39"/>
          <p:cNvSpPr/>
          <p:nvPr/>
        </p:nvSpPr>
        <p:spPr>
          <a:xfrm>
            <a:off x="10012680" y="4745736"/>
            <a:ext cx="1234440" cy="758952"/>
          </a:xfrm>
          <a:prstGeom prst="rect">
            <a:avLst/>
          </a:prstGeom>
          <a:noFill/>
          <a:ln/>
        </p:spPr>
        <p:txBody>
          <a:bodyPr wrap="square" rtlCol="0" anchor="ctr"/>
          <a:lstStyle/>
          <a:p>
            <a:pPr algn="ctr" indent="0" marL="0">
              <a:buNone/>
            </a:pPr>
            <a:r>
              <a:rPr lang="en-US" sz="1300" b="1" dirty="0">
                <a:solidFill>
                  <a:srgbClr val="FFB020"/>
                </a:solidFill>
                <a:latin typeface="Arial" pitchFamily="34" charset="0"/>
                <a:ea typeface="Arial" pitchFamily="34" charset="-122"/>
                <a:cs typeface="Arial" pitchFamily="34" charset="-120"/>
              </a:rPr>
              <a:t>≥ 15% Cr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8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VERIFICATION &amp; TRL STATUS</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400" b="1" spc="30" kern="0" dirty="0">
                <a:solidFill>
                  <a:srgbClr val="F5F7FA"/>
                </a:solidFill>
                <a:latin typeface="Arial" pitchFamily="34" charset="0"/>
                <a:ea typeface="Arial" pitchFamily="34" charset="-122"/>
                <a:cs typeface="Arial" pitchFamily="34" charset="-120"/>
              </a:rPr>
              <a:t>WHAT IS PROVEN TODAY AND WHAT IS NOT</a:t>
            </a:r>
            <a:endParaRPr lang="en-US" sz="24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High-Fidelity Verification Metrics and TRL Maturity Status</a:t>
            </a:r>
            <a:endParaRPr lang="en-US" sz="1500" dirty="0"/>
          </a:p>
        </p:txBody>
      </p:sp>
      <p:sp>
        <p:nvSpPr>
          <p:cNvPr id="7" name="Text 5"/>
          <p:cNvSpPr/>
          <p:nvPr/>
        </p:nvSpPr>
        <p:spPr>
          <a:xfrm>
            <a:off x="548640" y="1536192"/>
            <a:ext cx="11091672" cy="685800"/>
          </a:xfrm>
          <a:prstGeom prst="rect">
            <a:avLst/>
          </a:prstGeom>
          <a:noFill/>
          <a:ln/>
        </p:spPr>
        <p:txBody>
          <a:bodyPr wrap="square" rtlCol="0" anchor="ctr"/>
          <a:lstStyle/>
          <a:p>
            <a:pPr indent="0" marL="0">
              <a:lnSpc>
                <a:spcPct val="125000"/>
              </a:lnSpc>
              <a:buNone/>
            </a:pPr>
            <a:r>
              <a:rPr lang="en-US" sz="1200" dirty="0">
                <a:solidFill>
                  <a:srgbClr val="AAB4C6"/>
                </a:solidFill>
                <a:latin typeface="Calibri" pitchFamily="34" charset="0"/>
                <a:ea typeface="Calibri" pitchFamily="34" charset="-122"/>
                <a:cs typeface="Calibri" pitchFamily="34" charset="-120"/>
              </a:rPr>
              <a:t>Our platform is currently at </a:t>
            </a:r>
            <a:pPr indent="0" marL="0">
              <a:lnSpc>
                <a:spcPct val="125000"/>
              </a:lnSpc>
              <a:buNone/>
            </a:pPr>
            <a:r>
              <a:rPr lang="en-US" sz="1200" b="1" dirty="0">
                <a:solidFill>
                  <a:srgbClr val="00E5A0"/>
                </a:solidFill>
                <a:latin typeface="Calibri" pitchFamily="34" charset="0"/>
                <a:ea typeface="Calibri" pitchFamily="34" charset="-122"/>
                <a:cs typeface="Calibri" pitchFamily="34" charset="-120"/>
              </a:rPr>
              <a:t>TRL 3+</a:t>
            </a:r>
            <a:pPr indent="0" marL="0">
              <a:lnSpc>
                <a:spcPct val="125000"/>
              </a:lnSpc>
              <a:buNone/>
            </a:pPr>
            <a:r>
              <a:rPr lang="en-US" sz="1200" dirty="0">
                <a:solidFill>
                  <a:srgbClr val="AAB4C6"/>
                </a:solidFill>
                <a:latin typeface="Calibri" pitchFamily="34" charset="0"/>
                <a:ea typeface="Calibri" pitchFamily="34" charset="-122"/>
                <a:cs typeface="Calibri" pitchFamily="34" charset="-120"/>
              </a:rPr>
              <a:t>. All computational physics and validations are fully confirmed in-silico via </a:t>
            </a:r>
            <a:pPr indent="0" marL="0">
              <a:lnSpc>
                <a:spcPct val="125000"/>
              </a:lnSpc>
              <a:buNone/>
            </a:pPr>
            <a:r>
              <a:rPr lang="en-US" sz="1200" b="1" dirty="0">
                <a:solidFill>
                  <a:srgbClr val="00E5A0"/>
                </a:solidFill>
                <a:latin typeface="Calibri" pitchFamily="34" charset="0"/>
                <a:ea typeface="Calibri" pitchFamily="34" charset="-122"/>
                <a:cs typeface="Calibri" pitchFamily="34" charset="-120"/>
              </a:rPr>
              <a:t>PyCalphad, 1D/3D FEA, and MACE MD</a:t>
            </a:r>
            <a:pPr indent="0" marL="0">
              <a:lnSpc>
                <a:spcPct val="125000"/>
              </a:lnSpc>
              <a:buNone/>
            </a:pPr>
            <a:r>
              <a:rPr lang="en-US" sz="1200" dirty="0">
                <a:solidFill>
                  <a:srgbClr val="AAB4C6"/>
                </a:solidFill>
                <a:latin typeface="Calibri" pitchFamily="34" charset="0"/>
                <a:ea typeface="Calibri" pitchFamily="34" charset="-122"/>
                <a:cs typeface="Calibri" pitchFamily="34" charset="-120"/>
              </a:rPr>
              <a:t>. We are applying to SCIDIP to execute physical TRL 4 lab validation utilizing IIT Delhi's </a:t>
            </a:r>
            <a:pPr indent="0" marL="0">
              <a:lnSpc>
                <a:spcPct val="125000"/>
              </a:lnSpc>
              <a:buNone/>
            </a:pPr>
            <a:r>
              <a:rPr lang="en-US" sz="1200" b="1" dirty="0">
                <a:solidFill>
                  <a:srgbClr val="00E5A0"/>
                </a:solidFill>
                <a:latin typeface="Calibri" pitchFamily="34" charset="0"/>
                <a:ea typeface="Calibri" pitchFamily="34" charset="-122"/>
                <a:cs typeface="Calibri" pitchFamily="34" charset="-120"/>
              </a:rPr>
              <a:t>Central Research Facility (CRF)</a:t>
            </a:r>
            <a:pPr indent="0" marL="0">
              <a:lnSpc>
                <a:spcPct val="125000"/>
              </a:lnSpc>
              <a:buNone/>
            </a:pPr>
            <a:r>
              <a:rPr lang="en-US" sz="1200" dirty="0">
                <a:solidFill>
                  <a:srgbClr val="AAB4C6"/>
                </a:solidFill>
                <a:latin typeface="Calibri" pitchFamily="34" charset="0"/>
                <a:ea typeface="Calibri" pitchFamily="34" charset="-122"/>
                <a:cs typeface="Calibri" pitchFamily="34" charset="-120"/>
              </a:rPr>
              <a:t> and </a:t>
            </a:r>
            <a:pPr indent="0" marL="0">
              <a:lnSpc>
                <a:spcPct val="125000"/>
              </a:lnSpc>
              <a:buNone/>
            </a:pPr>
            <a:r>
              <a:rPr lang="en-US" sz="1200" b="1" dirty="0">
                <a:solidFill>
                  <a:srgbClr val="00E5A0"/>
                </a:solidFill>
                <a:latin typeface="Calibri" pitchFamily="34" charset="0"/>
                <a:ea typeface="Calibri" pitchFamily="34" charset="-122"/>
                <a:cs typeface="Calibri" pitchFamily="34" charset="-120"/>
              </a:rPr>
              <a:t>NIDHI-CoE</a:t>
            </a:r>
            <a:pPr indent="0" marL="0">
              <a:lnSpc>
                <a:spcPct val="125000"/>
              </a:lnSpc>
              <a:buNone/>
            </a:pPr>
            <a:r>
              <a:rPr lang="en-US" sz="1200" dirty="0">
                <a:solidFill>
                  <a:srgbClr val="AAB4C6"/>
                </a:solidFill>
                <a:latin typeface="Calibri" pitchFamily="34" charset="0"/>
                <a:ea typeface="Calibri" pitchFamily="34" charset="-122"/>
                <a:cs typeface="Calibri" pitchFamily="34" charset="-120"/>
              </a:rPr>
              <a: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1672" cy="914400"/>
        </p:xfrm>
        <a:graphic>
          <a:graphicData uri="http://schemas.openxmlformats.org/drawingml/2006/table">
            <a:tbl>
              <a:tblPr/>
              <a:tblGrid>
                <a:gridCol w="2377440"/>
                <a:gridCol w="2286000"/>
                <a:gridCol w="2788920"/>
                <a:gridCol w="2286000"/>
                <a:gridCol w="1353312"/>
              </a:tblGrid>
              <a:tr h="457200">
                <a:tc>
                  <a:txBody>
                    <a:bodyPr/>
                    <a:lstStyle/>
                    <a:p>
                      <a:pPr algn="l" indent="0" marL="0">
                        <a:buNone/>
                      </a:pPr>
                      <a:r>
                        <a:rPr lang="en-US" sz="1100" b="1" dirty="0">
                          <a:solidFill>
                            <a:srgbClr val="F5F7FA"/>
                          </a:solidFill>
                          <a:latin typeface="Calibri" pitchFamily="34" charset="0"/>
                          <a:ea typeface="Calibri" pitchFamily="34" charset="-122"/>
                          <a:cs typeface="Calibri" pitchFamily="34" charset="-120"/>
                        </a:rPr>
                        <a:t>Evaluation Vector</a:t>
                      </a:r>
                      <a:endParaRPr lang="en-US" sz="11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A2338"/>
                    </a:solidFill>
                  </a:tcPr>
                </a:tc>
                <a:tc>
                  <a:txBody>
                    <a:bodyPr/>
                    <a:lstStyle/>
                    <a:p>
                      <a:pPr algn="l" indent="0" marL="0">
                        <a:buNone/>
                      </a:pPr>
                      <a:r>
                        <a:rPr lang="en-US" sz="1100" b="1" dirty="0">
                          <a:solidFill>
                            <a:srgbClr val="F5F7FA"/>
                          </a:solidFill>
                          <a:latin typeface="Calibri" pitchFamily="34" charset="0"/>
                          <a:ea typeface="Calibri" pitchFamily="34" charset="-122"/>
                          <a:cs typeface="Calibri" pitchFamily="34" charset="-120"/>
                        </a:rPr>
                        <a:t>Model / In Silico Status</a:t>
                      </a:r>
                      <a:endParaRPr lang="en-US" sz="11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A2338"/>
                    </a:solidFill>
                  </a:tcPr>
                </a:tc>
                <a:tc>
                  <a:txBody>
                    <a:bodyPr/>
                    <a:lstStyle/>
                    <a:p>
                      <a:pPr algn="l" indent="0" marL="0">
                        <a:buNone/>
                      </a:pPr>
                      <a:r>
                        <a:rPr lang="en-US" sz="1100" b="1" dirty="0">
                          <a:solidFill>
                            <a:srgbClr val="F5F7FA"/>
                          </a:solidFill>
                          <a:latin typeface="Calibri" pitchFamily="34" charset="0"/>
                          <a:ea typeface="Calibri" pitchFamily="34" charset="-122"/>
                          <a:cs typeface="Calibri" pitchFamily="34" charset="-120"/>
                        </a:rPr>
                        <a:t>Experimental Lab Status</a:t>
                      </a:r>
                      <a:endParaRPr lang="en-US" sz="11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A2338"/>
                    </a:solidFill>
                  </a:tcPr>
                </a:tc>
                <a:tc>
                  <a:txBody>
                    <a:bodyPr/>
                    <a:lstStyle/>
                    <a:p>
                      <a:pPr algn="l" indent="0" marL="0">
                        <a:buNone/>
                      </a:pPr>
                      <a:r>
                        <a:rPr lang="en-US" sz="1100" b="1" dirty="0">
                          <a:solidFill>
                            <a:srgbClr val="F5F7FA"/>
                          </a:solidFill>
                          <a:latin typeface="Calibri" pitchFamily="34" charset="0"/>
                          <a:ea typeface="Calibri" pitchFamily="34" charset="-122"/>
                          <a:cs typeface="Calibri" pitchFamily="34" charset="-120"/>
                        </a:rPr>
                        <a:t>Validation Target</a:t>
                      </a:r>
                      <a:endParaRPr lang="en-US" sz="11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A2338"/>
                    </a:solidFill>
                  </a:tcPr>
                </a:tc>
                <a:tc>
                  <a:txBody>
                    <a:bodyPr/>
                    <a:lstStyle/>
                    <a:p>
                      <a:pPr algn="l" indent="0" marL="0">
                        <a:buNone/>
                      </a:pPr>
                      <a:r>
                        <a:rPr lang="en-US" sz="1100" b="1" dirty="0">
                          <a:solidFill>
                            <a:srgbClr val="F5F7FA"/>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A2338"/>
                    </a:solidFill>
                  </a:tcPr>
                </a:tc>
              </a:tr>
              <a:tr h="658368">
                <a:tc>
                  <a:txBody>
                    <a:bodyPr/>
                    <a:lstStyle/>
                    <a:p>
                      <a:pPr algn="l" indent="0" marL="0">
                        <a:buNone/>
                      </a:pPr>
                      <a:r>
                        <a:rPr lang="en-US" sz="1050" b="1" dirty="0">
                          <a:solidFill>
                            <a:srgbClr val="F5F7FA"/>
                          </a:solidFill>
                          <a:latin typeface="Calibri" pitchFamily="34" charset="0"/>
                          <a:ea typeface="Calibri" pitchFamily="34" charset="-122"/>
                          <a:cs typeface="Calibri" pitchFamily="34" charset="-120"/>
                        </a:rPr>
                        <a:t>BCC Phase Security</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Verified (CALPHAD)</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Pending High-Temp XRD (IIT Delhi CRF)</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0% Brittle Sigma Phase</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ctr" indent="0" marL="0">
                        <a:buNone/>
                      </a:pPr>
                      <a:r>
                        <a:rPr lang="en-US" sz="1050" b="1" dirty="0">
                          <a:solidFill>
                            <a:srgbClr val="00E5A0"/>
                          </a:solidFill>
                          <a:latin typeface="Calibri" pitchFamily="34" charset="0"/>
                          <a:ea typeface="Calibri" pitchFamily="34" charset="-122"/>
                          <a:cs typeface="Calibri" pitchFamily="34" charset="-120"/>
                        </a:rPr>
                        <a:t>● VERIFIED</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A3B2E"/>
                    </a:solidFill>
                  </a:tcPr>
                </a:tc>
              </a:tr>
              <a:tr h="658368">
                <a:tc>
                  <a:txBody>
                    <a:bodyPr/>
                    <a:lstStyle/>
                    <a:p>
                      <a:pPr algn="l" indent="0" marL="0">
                        <a:buNone/>
                      </a:pPr>
                      <a:r>
                        <a:rPr lang="en-US" sz="1050" b="1" dirty="0">
                          <a:solidFill>
                            <a:srgbClr val="F5F7FA"/>
                          </a:solidFill>
                          <a:latin typeface="Calibri" pitchFamily="34" charset="0"/>
                          <a:ea typeface="Calibri" pitchFamily="34" charset="-122"/>
                          <a:cs typeface="Calibri" pitchFamily="34" charset="-120"/>
                        </a:rPr>
                        <a:t>Elastic Modulus Surface</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Audited (Test R²=0.977)</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Pending NIDHI-CoE Tensile</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MAE ≤ 8.11 GPa</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ctr" indent="0" marL="0">
                        <a:buNone/>
                      </a:pPr>
                      <a:r>
                        <a:rPr lang="en-US" sz="1050" b="1" dirty="0">
                          <a:solidFill>
                            <a:srgbClr val="00E5A0"/>
                          </a:solidFill>
                          <a:latin typeface="Calibri" pitchFamily="34" charset="0"/>
                          <a:ea typeface="Calibri" pitchFamily="34" charset="-122"/>
                          <a:cs typeface="Calibri" pitchFamily="34" charset="-120"/>
                        </a:rPr>
                        <a:t>● VERIFIED</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A3B2E"/>
                    </a:solidFill>
                  </a:tcPr>
                </a:tc>
              </a:tr>
              <a:tr h="658368">
                <a:tc>
                  <a:txBody>
                    <a:bodyPr/>
                    <a:lstStyle/>
                    <a:p>
                      <a:pPr algn="l" indent="0" marL="0">
                        <a:buNone/>
                      </a:pPr>
                      <a:r>
                        <a:rPr lang="en-US" sz="1050" b="1" dirty="0">
                          <a:solidFill>
                            <a:srgbClr val="F5F7FA"/>
                          </a:solidFill>
                          <a:latin typeface="Calibri" pitchFamily="34" charset="0"/>
                          <a:ea typeface="Calibri" pitchFamily="34" charset="-122"/>
                          <a:cs typeface="Calibri" pitchFamily="34" charset="-120"/>
                        </a:rPr>
                        <a:t>Oxidation Scale Kinetics</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Verified (2.8% Al Pivot)</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Pending STA/TGA Weight (IIT Delhi)</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Mass Gain &lt; 10 mg/cm²</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ctr" indent="0" marL="0">
                        <a:buNone/>
                      </a:pPr>
                      <a:r>
                        <a:rPr lang="en-US" sz="1050" b="1" dirty="0">
                          <a:solidFill>
                            <a:srgbClr val="00E5A0"/>
                          </a:solidFill>
                          <a:latin typeface="Calibri" pitchFamily="34" charset="0"/>
                          <a:ea typeface="Calibri" pitchFamily="34" charset="-122"/>
                          <a:cs typeface="Calibri" pitchFamily="34" charset="-120"/>
                        </a:rPr>
                        <a:t>● VERIFIED</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A3B2E"/>
                    </a:solidFill>
                  </a:tcPr>
                </a:tc>
              </a:tr>
              <a:tr h="658368">
                <a:tc>
                  <a:txBody>
                    <a:bodyPr/>
                    <a:lstStyle/>
                    <a:p>
                      <a:pPr algn="l" indent="0" marL="0">
                        <a:buNone/>
                      </a:pPr>
                      <a:r>
                        <a:rPr lang="en-US" sz="1050" b="1" dirty="0">
                          <a:solidFill>
                            <a:srgbClr val="F5F7FA"/>
                          </a:solidFill>
                          <a:latin typeface="Calibri" pitchFamily="34" charset="0"/>
                          <a:ea typeface="Calibri" pitchFamily="34" charset="-122"/>
                          <a:cs typeface="Calibri" pitchFamily="34" charset="-120"/>
                        </a:rPr>
                        <a:t>Interfacial Bond Safety</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Verified (1D/3D FEA)</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Pending Burner Rig Adhesion Test</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Safety Factor ≥ 1.50</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141B2E"/>
                    </a:solidFill>
                  </a:tcPr>
                </a:tc>
                <a:tc>
                  <a:txBody>
                    <a:bodyPr/>
                    <a:lstStyle/>
                    <a:p>
                      <a:pPr algn="ctr" indent="0" marL="0">
                        <a:buNone/>
                      </a:pPr>
                      <a:r>
                        <a:rPr lang="en-US" sz="1050" b="1" dirty="0">
                          <a:solidFill>
                            <a:srgbClr val="00E5A0"/>
                          </a:solidFill>
                          <a:latin typeface="Calibri" pitchFamily="34" charset="0"/>
                          <a:ea typeface="Calibri" pitchFamily="34" charset="-122"/>
                          <a:cs typeface="Calibri" pitchFamily="34" charset="-120"/>
                        </a:rPr>
                        <a:t>● VERIFIED</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A3B2E"/>
                    </a:solidFill>
                  </a:tcPr>
                </a:tc>
              </a:tr>
              <a:tr h="548640">
                <a:tc>
                  <a:txBody>
                    <a:bodyPr/>
                    <a:lstStyle/>
                    <a:p>
                      <a:pPr algn="l" indent="0" marL="0">
                        <a:buNone/>
                      </a:pPr>
                      <a:r>
                        <a:rPr lang="en-US" sz="1050" b="1" dirty="0">
                          <a:solidFill>
                            <a:srgbClr val="F5F7FA"/>
                          </a:solidFill>
                          <a:latin typeface="Calibri" pitchFamily="34" charset="0"/>
                          <a:ea typeface="Calibri" pitchFamily="34" charset="-122"/>
                          <a:cs typeface="Calibri" pitchFamily="34" charset="-120"/>
                        </a:rPr>
                        <a:t>Physical Prototyping</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Fully Formulated</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Not Yet Tested</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l" indent="0" marL="0">
                        <a:buNone/>
                      </a:pPr>
                      <a:r>
                        <a:rPr lang="en-US" sz="1050" dirty="0">
                          <a:solidFill>
                            <a:srgbClr val="AAB4C6"/>
                          </a:solidFill>
                          <a:latin typeface="Calibri" pitchFamily="34" charset="0"/>
                          <a:ea typeface="Calibri" pitchFamily="34" charset="-122"/>
                          <a:cs typeface="Calibri" pitchFamily="34" charset="-120"/>
                        </a:rPr>
                        <a:t>TRL 4 Coupon Assembly</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0F1526"/>
                    </a:solidFill>
                  </a:tcPr>
                </a:tc>
                <a:tc>
                  <a:txBody>
                    <a:bodyPr/>
                    <a:lstStyle/>
                    <a:p>
                      <a:pPr algn="ctr" indent="0" marL="0">
                        <a:buNone/>
                      </a:pPr>
                      <a:r>
                        <a:rPr lang="en-US" sz="1050" b="1" dirty="0">
                          <a:solidFill>
                            <a:srgbClr val="FFB020"/>
                          </a:solidFill>
                          <a:latin typeface="Calibri" pitchFamily="34" charset="0"/>
                          <a:ea typeface="Calibri" pitchFamily="34" charset="-122"/>
                          <a:cs typeface="Calibri" pitchFamily="34" charset="-120"/>
                        </a:rPr>
                        <a:t>● PENDING</a:t>
                      </a:r>
                      <a:endParaRPr lang="en-US" sz="1050" dirty="0">
                        <a:latin typeface="Calibri" charset="0"/>
                        <a:ea typeface="Calibri" charset="0"/>
                        <a:cs typeface="Calibri" charset="0"/>
                      </a:endParaRPr>
                    </a:p>
                  </a:txBody>
                  <a:tcPr marL="91440" marR="91440" marT="45720" marB="45720" anchor="ctr">
                    <a:lnL w="9525" cap="flat" cmpd="sng" algn="ctr">
                      <a:solidFill>
                        <a:srgbClr val="2A3550"/>
                      </a:solidFill>
                      <a:prstDash val="solid"/>
                      <a:round/>
                      <a:headEnd type="none" w="med" len="med"/>
                      <a:tailEnd type="none" w="med" len="med"/>
                    </a:lnL>
                    <a:lnR w="9525" cap="flat" cmpd="sng" algn="ctr">
                      <a:solidFill>
                        <a:srgbClr val="2A3550"/>
                      </a:solidFill>
                      <a:prstDash val="solid"/>
                      <a:round/>
                      <a:headEnd type="none" w="med" len="med"/>
                      <a:tailEnd type="none" w="med" len="med"/>
                    </a:lnR>
                    <a:lnT w="9525" cap="flat" cmpd="sng" algn="ctr">
                      <a:solidFill>
                        <a:srgbClr val="2A3550"/>
                      </a:solidFill>
                      <a:prstDash val="solid"/>
                      <a:round/>
                      <a:headEnd type="none" w="med" len="med"/>
                      <a:tailEnd type="none" w="med" len="med"/>
                    </a:lnT>
                    <a:lnB w="9525" cap="flat" cmpd="sng" algn="ctr">
                      <a:solidFill>
                        <a:srgbClr val="2A3550"/>
                      </a:solidFill>
                      <a:prstDash val="solid"/>
                      <a:round/>
                      <a:headEnd type="none" w="med" len="med"/>
                      <a:tailEnd type="none" w="med" len="med"/>
                    </a:lnB>
                    <a:solidFill>
                      <a:srgbClr val="3D2E0A"/>
                    </a:solidFill>
                  </a:tcPr>
                </a:tc>
              </a:tr>
            </a:tbl>
          </a:graphicData>
        </a:graphic>
      </p:graphicFrame>
      <p:sp>
        <p:nvSpPr>
          <p:cNvPr id="9" name="Text 6"/>
          <p:cNvSpPr/>
          <p:nvPr/>
        </p:nvSpPr>
        <p:spPr>
          <a:xfrm>
            <a:off x="548640" y="6510528"/>
            <a:ext cx="9601200" cy="256032"/>
          </a:xfrm>
          <a:prstGeom prst="rect">
            <a:avLst/>
          </a:prstGeom>
          <a:noFill/>
          <a:ln/>
        </p:spPr>
        <p:txBody>
          <a:bodyPr wrap="square" rtlCol="0" anchor="ctr"/>
          <a:lstStyle/>
          <a:p>
            <a:pPr algn="l" indent="0" marL="0">
              <a:buNone/>
            </a:pPr>
            <a:r>
              <a:rPr lang="en-US" sz="900" dirty="0">
                <a:solidFill>
                  <a:srgbClr val="6E7A90"/>
                </a:solidFill>
                <a:latin typeface="Calibri" pitchFamily="34" charset="0"/>
                <a:ea typeface="Calibri" pitchFamily="34" charset="-122"/>
                <a:cs typeface="Calibri" pitchFamily="34" charset="-120"/>
              </a:rPr>
              <a:t>PyCalphad · 1D/3D FEA · MACE MD  —  IIT Delhi CRF &amp; NIDHI-CoE for physical TRL 4 validation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9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FROM CHEMISTRY TO MANUFACTURING</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500" b="1" spc="30" kern="0" dirty="0">
                <a:solidFill>
                  <a:srgbClr val="F5F7FA"/>
                </a:solidFill>
                <a:latin typeface="Arial" pitchFamily="34" charset="0"/>
                <a:ea typeface="Arial" pitchFamily="34" charset="-122"/>
                <a:cs typeface="Arial" pitchFamily="34" charset="-120"/>
              </a:rPr>
              <a:t>THE FINAL ARCHITECTURE (CANDIDATE C)</a:t>
            </a:r>
            <a:endParaRPr lang="en-US" sz="25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From In-Silico Chemistry to Print-Ready Manufacturing</a:t>
            </a:r>
            <a:endParaRPr lang="en-US" sz="1500" dirty="0"/>
          </a:p>
        </p:txBody>
      </p:sp>
      <p:sp>
        <p:nvSpPr>
          <p:cNvPr id="7" name="Text 5"/>
          <p:cNvSpPr/>
          <p:nvPr/>
        </p:nvSpPr>
        <p:spPr>
          <a:xfrm>
            <a:off x="548640" y="1536192"/>
            <a:ext cx="11091672" cy="502920"/>
          </a:xfrm>
          <a:prstGeom prst="rect">
            <a:avLst/>
          </a:prstGeom>
          <a:noFill/>
          <a:ln/>
        </p:spPr>
        <p:txBody>
          <a:bodyPr wrap="square" rtlCol="0" anchor="ctr"/>
          <a:lstStyle/>
          <a:p>
            <a:pPr indent="0" marL="0">
              <a:lnSpc>
                <a:spcPct val="122000"/>
              </a:lnSpc>
              <a:buNone/>
            </a:pPr>
            <a:r>
              <a:rPr lang="en-US" sz="1250" dirty="0">
                <a:solidFill>
                  <a:srgbClr val="AAB4C6"/>
                </a:solidFill>
                <a:latin typeface="Calibri" pitchFamily="34" charset="0"/>
                <a:ea typeface="Calibri" pitchFamily="34" charset="-122"/>
                <a:cs typeface="Calibri" pitchFamily="34" charset="-120"/>
              </a:rPr>
              <a:t>Through 11 phases of autonomous generation, our AI produced </a:t>
            </a:r>
            <a:pPr indent="0" marL="0">
              <a:lnSpc>
                <a:spcPct val="122000"/>
              </a:lnSpc>
              <a:buNone/>
            </a:pPr>
            <a:r>
              <a:rPr lang="en-US" sz="1250" b="1" dirty="0">
                <a:solidFill>
                  <a:srgbClr val="00E5A0"/>
                </a:solidFill>
                <a:latin typeface="Calibri" pitchFamily="34" charset="0"/>
                <a:ea typeface="Calibri" pitchFamily="34" charset="-122"/>
                <a:cs typeface="Calibri" pitchFamily="34" charset="-120"/>
              </a:rPr>
              <a:t>Candidate C</a:t>
            </a:r>
            <a:pPr indent="0" marL="0">
              <a:lnSpc>
                <a:spcPct val="122000"/>
              </a:lnSpc>
              <a:buNone/>
            </a:pPr>
            <a:r>
              <a:rPr lang="en-US" sz="1250" dirty="0">
                <a:solidFill>
                  <a:srgbClr val="AAB4C6"/>
                </a:solidFill>
                <a:latin typeface="Calibri" pitchFamily="34" charset="0"/>
                <a:ea typeface="Calibri" pitchFamily="34" charset="-122"/>
                <a:cs typeface="Calibri" pitchFamily="34" charset="-120"/>
              </a:rPr>
              <a:t>, a hyper-optimized Refractory High-Entropy Alloy designed specifically for extreme thermal shock.</a:t>
            </a:r>
            <a:endParaRPr lang="en-US" sz="1250" dirty="0"/>
          </a:p>
        </p:txBody>
      </p:sp>
      <p:sp>
        <p:nvSpPr>
          <p:cNvPr id="8" name="Shape 6"/>
          <p:cNvSpPr/>
          <p:nvPr/>
        </p:nvSpPr>
        <p:spPr>
          <a:xfrm>
            <a:off x="7772400" y="2148840"/>
            <a:ext cx="3867912" cy="3931920"/>
          </a:xfrm>
          <a:prstGeom prst="roundRect">
            <a:avLst>
              <a:gd name="adj" fmla="val 2364"/>
            </a:avLst>
          </a:prstGeom>
          <a:solidFill>
            <a:srgbClr val="141B2E"/>
          </a:solidFill>
          <a:ln w="12700">
            <a:solidFill>
              <a:srgbClr val="2A3550"/>
            </a:solidFill>
            <a:prstDash val="solid"/>
          </a:ln>
        </p:spPr>
      </p:sp>
      <p:sp>
        <p:nvSpPr>
          <p:cNvPr id="9" name="Text 7"/>
          <p:cNvSpPr/>
          <p:nvPr/>
        </p:nvSpPr>
        <p:spPr>
          <a:xfrm>
            <a:off x="8001000" y="2313432"/>
            <a:ext cx="3410712" cy="274320"/>
          </a:xfrm>
          <a:prstGeom prst="rect">
            <a:avLst/>
          </a:prstGeom>
          <a:noFill/>
          <a:ln/>
        </p:spPr>
        <p:txBody>
          <a:bodyPr wrap="square" rtlCol="0" anchor="ctr"/>
          <a:lstStyle/>
          <a:p>
            <a:pPr indent="0" marL="0">
              <a:buNone/>
            </a:pPr>
            <a:r>
              <a:rPr lang="en-US" sz="1150" b="1" spc="40" kern="0" dirty="0">
                <a:solidFill>
                  <a:srgbClr val="F5F7FA"/>
                </a:solidFill>
                <a:latin typeface="Arial" pitchFamily="34" charset="0"/>
                <a:ea typeface="Arial" pitchFamily="34" charset="-122"/>
                <a:cs typeface="Arial" pitchFamily="34" charset="-120"/>
              </a:rPr>
              <a:t>11-LAYER PRINT MATRIX</a:t>
            </a:r>
            <a:endParaRPr lang="en-US" sz="1150" dirty="0"/>
          </a:p>
        </p:txBody>
      </p:sp>
      <p:sp>
        <p:nvSpPr>
          <p:cNvPr id="10" name="Text 8"/>
          <p:cNvSpPr/>
          <p:nvPr/>
        </p:nvSpPr>
        <p:spPr>
          <a:xfrm>
            <a:off x="8001000" y="2624328"/>
            <a:ext cx="3410712" cy="219456"/>
          </a:xfrm>
          <a:prstGeom prst="rect">
            <a:avLst/>
          </a:prstGeom>
          <a:noFill/>
          <a:ln/>
        </p:spPr>
        <p:txBody>
          <a:bodyPr wrap="square" rtlCol="0" anchor="ctr"/>
          <a:lstStyle/>
          <a:p>
            <a:pPr indent="0" marL="0">
              <a:buNone/>
            </a:pPr>
            <a:r>
              <a:rPr lang="en-US" sz="950" i="1" dirty="0">
                <a:solidFill>
                  <a:srgbClr val="6E7A90"/>
                </a:solidFill>
                <a:latin typeface="Calibri" pitchFamily="34" charset="0"/>
                <a:ea typeface="Calibri" pitchFamily="34" charset="-122"/>
                <a:cs typeface="Calibri" pitchFamily="34" charset="-120"/>
              </a:rPr>
              <a:t>cross-section, 0.0mm → 5.0mm</a:t>
            </a:r>
            <a:endParaRPr lang="en-US" sz="950" dirty="0"/>
          </a:p>
        </p:txBody>
      </p:sp>
      <p:sp>
        <p:nvSpPr>
          <p:cNvPr id="11" name="Shape 9"/>
          <p:cNvSpPr/>
          <p:nvPr/>
        </p:nvSpPr>
        <p:spPr>
          <a:xfrm>
            <a:off x="8229600" y="3017520"/>
            <a:ext cx="2953512" cy="193687"/>
          </a:xfrm>
          <a:prstGeom prst="rect">
            <a:avLst/>
          </a:prstGeom>
          <a:solidFill>
            <a:srgbClr val="00E5A0"/>
          </a:solidFill>
          <a:ln/>
        </p:spPr>
      </p:sp>
      <p:sp>
        <p:nvSpPr>
          <p:cNvPr id="12" name="Shape 10"/>
          <p:cNvSpPr/>
          <p:nvPr/>
        </p:nvSpPr>
        <p:spPr>
          <a:xfrm>
            <a:off x="8229600" y="3229495"/>
            <a:ext cx="2953512" cy="193687"/>
          </a:xfrm>
          <a:prstGeom prst="rect">
            <a:avLst/>
          </a:prstGeom>
          <a:solidFill>
            <a:srgbClr val="17E6A8"/>
          </a:solidFill>
          <a:ln/>
        </p:spPr>
      </p:sp>
      <p:sp>
        <p:nvSpPr>
          <p:cNvPr id="13" name="Shape 11"/>
          <p:cNvSpPr/>
          <p:nvPr/>
        </p:nvSpPr>
        <p:spPr>
          <a:xfrm>
            <a:off x="8229600" y="3441469"/>
            <a:ext cx="2953512" cy="193687"/>
          </a:xfrm>
          <a:prstGeom prst="rect">
            <a:avLst/>
          </a:prstGeom>
          <a:solidFill>
            <a:srgbClr val="2EE6B1"/>
          </a:solidFill>
          <a:ln/>
        </p:spPr>
      </p:sp>
      <p:sp>
        <p:nvSpPr>
          <p:cNvPr id="14" name="Shape 12"/>
          <p:cNvSpPr/>
          <p:nvPr/>
        </p:nvSpPr>
        <p:spPr>
          <a:xfrm>
            <a:off x="8229600" y="3653444"/>
            <a:ext cx="2953512" cy="193687"/>
          </a:xfrm>
          <a:prstGeom prst="rect">
            <a:avLst/>
          </a:prstGeom>
          <a:solidFill>
            <a:srgbClr val="46E7B9"/>
          </a:solidFill>
          <a:ln/>
        </p:spPr>
      </p:sp>
      <p:sp>
        <p:nvSpPr>
          <p:cNvPr id="15" name="Shape 13"/>
          <p:cNvSpPr/>
          <p:nvPr/>
        </p:nvSpPr>
        <p:spPr>
          <a:xfrm>
            <a:off x="8229600" y="3865418"/>
            <a:ext cx="2953512" cy="193687"/>
          </a:xfrm>
          <a:prstGeom prst="rect">
            <a:avLst/>
          </a:prstGeom>
          <a:solidFill>
            <a:srgbClr val="5DE8C1"/>
          </a:solidFill>
          <a:ln/>
        </p:spPr>
      </p:sp>
      <p:sp>
        <p:nvSpPr>
          <p:cNvPr id="16" name="Shape 14"/>
          <p:cNvSpPr/>
          <p:nvPr/>
        </p:nvSpPr>
        <p:spPr>
          <a:xfrm>
            <a:off x="8229600" y="4077393"/>
            <a:ext cx="2953512" cy="193687"/>
          </a:xfrm>
          <a:prstGeom prst="rect">
            <a:avLst/>
          </a:prstGeom>
          <a:solidFill>
            <a:srgbClr val="74E9CA"/>
          </a:solidFill>
          <a:ln/>
        </p:spPr>
      </p:sp>
      <p:sp>
        <p:nvSpPr>
          <p:cNvPr id="17" name="Shape 15"/>
          <p:cNvSpPr/>
          <p:nvPr/>
        </p:nvSpPr>
        <p:spPr>
          <a:xfrm>
            <a:off x="8229600" y="4289367"/>
            <a:ext cx="2953512" cy="193687"/>
          </a:xfrm>
          <a:prstGeom prst="rect">
            <a:avLst/>
          </a:prstGeom>
          <a:solidFill>
            <a:srgbClr val="8BE9D2"/>
          </a:solidFill>
          <a:ln/>
        </p:spPr>
      </p:sp>
      <p:sp>
        <p:nvSpPr>
          <p:cNvPr id="18" name="Shape 16"/>
          <p:cNvSpPr/>
          <p:nvPr/>
        </p:nvSpPr>
        <p:spPr>
          <a:xfrm>
            <a:off x="8229600" y="4501342"/>
            <a:ext cx="2953512" cy="193687"/>
          </a:xfrm>
          <a:prstGeom prst="rect">
            <a:avLst/>
          </a:prstGeom>
          <a:solidFill>
            <a:srgbClr val="A2EADA"/>
          </a:solidFill>
          <a:ln/>
        </p:spPr>
      </p:sp>
      <p:sp>
        <p:nvSpPr>
          <p:cNvPr id="19" name="Shape 17"/>
          <p:cNvSpPr/>
          <p:nvPr/>
        </p:nvSpPr>
        <p:spPr>
          <a:xfrm>
            <a:off x="8229600" y="4713316"/>
            <a:ext cx="2953512" cy="193687"/>
          </a:xfrm>
          <a:prstGeom prst="rect">
            <a:avLst/>
          </a:prstGeom>
          <a:solidFill>
            <a:srgbClr val="BAEBE2"/>
          </a:solidFill>
          <a:ln/>
        </p:spPr>
      </p:sp>
      <p:sp>
        <p:nvSpPr>
          <p:cNvPr id="20" name="Shape 18"/>
          <p:cNvSpPr/>
          <p:nvPr/>
        </p:nvSpPr>
        <p:spPr>
          <a:xfrm>
            <a:off x="8229600" y="4925291"/>
            <a:ext cx="2953512" cy="193687"/>
          </a:xfrm>
          <a:prstGeom prst="rect">
            <a:avLst/>
          </a:prstGeom>
          <a:solidFill>
            <a:srgbClr val="D1EBEB"/>
          </a:solidFill>
          <a:ln/>
        </p:spPr>
      </p:sp>
      <p:sp>
        <p:nvSpPr>
          <p:cNvPr id="21" name="Shape 19"/>
          <p:cNvSpPr/>
          <p:nvPr/>
        </p:nvSpPr>
        <p:spPr>
          <a:xfrm>
            <a:off x="8229600" y="5137265"/>
            <a:ext cx="2953512" cy="193687"/>
          </a:xfrm>
          <a:prstGeom prst="rect">
            <a:avLst/>
          </a:prstGeom>
          <a:solidFill>
            <a:srgbClr val="E8ECF3"/>
          </a:solidFill>
          <a:ln/>
        </p:spPr>
      </p:sp>
      <p:sp>
        <p:nvSpPr>
          <p:cNvPr id="22" name="Text 20"/>
          <p:cNvSpPr/>
          <p:nvPr/>
        </p:nvSpPr>
        <p:spPr>
          <a:xfrm>
            <a:off x="8001000" y="5440680"/>
            <a:ext cx="3410712" cy="274320"/>
          </a:xfrm>
          <a:prstGeom prst="rect">
            <a:avLst/>
          </a:prstGeom>
          <a:noFill/>
          <a:ln/>
        </p:spPr>
        <p:txBody>
          <a:bodyPr wrap="square" rtlCol="0" anchor="ctr"/>
          <a:lstStyle/>
          <a:p>
            <a:pPr indent="0" marL="0">
              <a:lnSpc>
                <a:spcPct val="110000"/>
              </a:lnSpc>
              <a:buNone/>
            </a:pPr>
            <a:r>
              <a:rPr lang="en-US" sz="850" dirty="0">
                <a:solidFill>
                  <a:srgbClr val="6E7A90"/>
                </a:solidFill>
                <a:latin typeface="Calibri" pitchFamily="34" charset="0"/>
                <a:ea typeface="Calibri" pitchFamily="34" charset="-122"/>
                <a:cs typeface="Calibri" pitchFamily="34" charset="-120"/>
              </a:rPr>
              <a:t>Layer 1 (100% Alloy)  →  Layer 11 (100% LZO Ceramic)</a:t>
            </a:r>
            <a:endParaRPr lang="en-US" sz="850" dirty="0"/>
          </a:p>
        </p:txBody>
      </p:sp>
      <p:sp>
        <p:nvSpPr>
          <p:cNvPr id="23" name="Text 21"/>
          <p:cNvSpPr/>
          <p:nvPr/>
        </p:nvSpPr>
        <p:spPr>
          <a:xfrm>
            <a:off x="8001000" y="5733288"/>
            <a:ext cx="3410712" cy="256032"/>
          </a:xfrm>
          <a:prstGeom prst="rect">
            <a:avLst/>
          </a:prstGeom>
          <a:noFill/>
          <a:ln/>
        </p:spPr>
        <p:txBody>
          <a:bodyPr wrap="square" rtlCol="0" anchor="ctr"/>
          <a:lstStyle/>
          <a:p>
            <a:pPr indent="0" marL="0">
              <a:buNone/>
            </a:pPr>
            <a:r>
              <a:rPr lang="en-US" sz="950" dirty="0">
                <a:solidFill>
                  <a:srgbClr val="00B8FF"/>
                </a:solidFill>
                <a:latin typeface="Courier New" pitchFamily="34" charset="0"/>
                <a:ea typeface="Courier New" pitchFamily="34" charset="-122"/>
                <a:cs typeface="Courier New" pitchFamily="34" charset="-120"/>
              </a:rPr>
              <a:t>manufacturing_recipe.csv</a:t>
            </a:r>
            <a:endParaRPr lang="en-US" sz="950" dirty="0"/>
          </a:p>
        </p:txBody>
      </p:sp>
      <p:sp>
        <p:nvSpPr>
          <p:cNvPr id="24" name="Shape 22"/>
          <p:cNvSpPr/>
          <p:nvPr/>
        </p:nvSpPr>
        <p:spPr>
          <a:xfrm>
            <a:off x="548640" y="2148840"/>
            <a:ext cx="6492240" cy="1261872"/>
          </a:xfrm>
          <a:prstGeom prst="roundRect">
            <a:avLst>
              <a:gd name="adj" fmla="val 7246"/>
            </a:avLst>
          </a:prstGeom>
          <a:solidFill>
            <a:srgbClr val="1A2338"/>
          </a:solidFill>
          <a:ln w="12700">
            <a:solidFill>
              <a:srgbClr val="2A3550"/>
            </a:solidFill>
            <a:prstDash val="solid"/>
          </a:ln>
        </p:spPr>
      </p:sp>
      <p:sp>
        <p:nvSpPr>
          <p:cNvPr id="25" name="Shape 23"/>
          <p:cNvSpPr/>
          <p:nvPr/>
        </p:nvSpPr>
        <p:spPr>
          <a:xfrm>
            <a:off x="749808" y="2331720"/>
            <a:ext cx="457200" cy="457200"/>
          </a:xfrm>
          <a:prstGeom prst="ellipse">
            <a:avLst/>
          </a:prstGeom>
          <a:solidFill>
            <a:srgbClr val="141B2E"/>
          </a:solidFill>
          <a:ln w="15875">
            <a:solidFill>
              <a:srgbClr val="00E5A0"/>
            </a:solidFill>
            <a:prstDash val="solid"/>
          </a:ln>
        </p:spPr>
      </p:sp>
      <p:pic>
        <p:nvPicPr>
          <p:cNvPr id="26" name="Image 0" descr="assets/icon_target.png">    </p:cNvPr>
          <p:cNvPicPr>
            <a:picLocks noChangeAspect="1"/>
          </p:cNvPicPr>
          <p:nvPr/>
        </p:nvPicPr>
        <p:blipFill>
          <a:blip r:embed="rId1"/>
          <a:stretch>
            <a:fillRect/>
          </a:stretch>
        </p:blipFill>
        <p:spPr>
          <a:xfrm>
            <a:off x="859536" y="2441448"/>
            <a:ext cx="237744" cy="237744"/>
          </a:xfrm>
          <a:prstGeom prst="rect">
            <a:avLst/>
          </a:prstGeom>
        </p:spPr>
      </p:pic>
      <p:sp>
        <p:nvSpPr>
          <p:cNvPr id="27" name="Text 24"/>
          <p:cNvSpPr/>
          <p:nvPr/>
        </p:nvSpPr>
        <p:spPr>
          <a:xfrm>
            <a:off x="1325880" y="2276856"/>
            <a:ext cx="5532120" cy="320040"/>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1. The Titanium Pivot (CTE Matching)</a:t>
            </a:r>
            <a:endParaRPr lang="en-US" sz="1250" dirty="0"/>
          </a:p>
        </p:txBody>
      </p:sp>
      <p:sp>
        <p:nvSpPr>
          <p:cNvPr id="28" name="Text 25"/>
          <p:cNvSpPr/>
          <p:nvPr/>
        </p:nvSpPr>
        <p:spPr>
          <a:xfrm>
            <a:off x="749808" y="2642616"/>
            <a:ext cx="6089904" cy="731520"/>
          </a:xfrm>
          <a:prstGeom prst="rect">
            <a:avLst/>
          </a:prstGeom>
          <a:noFill/>
          <a:ln/>
        </p:spPr>
        <p:txBody>
          <a:bodyPr wrap="square" rtlCol="0" anchor="ctr"/>
          <a:lstStyle/>
          <a:p>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Our AI intentionally substituted heavy Hafnium for Titanium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21.7%</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 Because Titanium has the highest Coefficient of Thermal Expansion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8.6 µm/mK</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 in the refractory space, it aggressively closed the CTE mismatch with the ceramic coating, dropping the gap to just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2.66 μm/mK</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a:t>
            </a:r>
            <a:endParaRPr lang="en-US" sz="1070" dirty="0"/>
          </a:p>
        </p:txBody>
      </p:sp>
      <p:sp>
        <p:nvSpPr>
          <p:cNvPr id="29" name="Shape 26"/>
          <p:cNvSpPr/>
          <p:nvPr/>
        </p:nvSpPr>
        <p:spPr>
          <a:xfrm>
            <a:off x="548640" y="3538728"/>
            <a:ext cx="6492240" cy="1261872"/>
          </a:xfrm>
          <a:prstGeom prst="roundRect">
            <a:avLst>
              <a:gd name="adj" fmla="val 7246"/>
            </a:avLst>
          </a:prstGeom>
          <a:solidFill>
            <a:srgbClr val="1A2338"/>
          </a:solidFill>
          <a:ln w="12700">
            <a:solidFill>
              <a:srgbClr val="2A3550"/>
            </a:solidFill>
            <a:prstDash val="solid"/>
          </a:ln>
        </p:spPr>
      </p:sp>
      <p:sp>
        <p:nvSpPr>
          <p:cNvPr id="30" name="Shape 27"/>
          <p:cNvSpPr/>
          <p:nvPr/>
        </p:nvSpPr>
        <p:spPr>
          <a:xfrm>
            <a:off x="749808" y="3721608"/>
            <a:ext cx="457200" cy="457200"/>
          </a:xfrm>
          <a:prstGeom prst="ellipse">
            <a:avLst/>
          </a:prstGeom>
          <a:solidFill>
            <a:srgbClr val="141B2E"/>
          </a:solidFill>
          <a:ln w="15875">
            <a:solidFill>
              <a:srgbClr val="00E5A0"/>
            </a:solidFill>
            <a:prstDash val="solid"/>
          </a:ln>
        </p:spPr>
      </p:sp>
      <p:pic>
        <p:nvPicPr>
          <p:cNvPr id="31" name="Image 1" descr="assets/icon_shield.png">    </p:cNvPr>
          <p:cNvPicPr>
            <a:picLocks noChangeAspect="1"/>
          </p:cNvPicPr>
          <p:nvPr/>
        </p:nvPicPr>
        <p:blipFill>
          <a:blip r:embed="rId2"/>
          <a:stretch>
            <a:fillRect/>
          </a:stretch>
        </p:blipFill>
        <p:spPr>
          <a:xfrm>
            <a:off x="859536" y="3831336"/>
            <a:ext cx="237744" cy="237744"/>
          </a:xfrm>
          <a:prstGeom prst="rect">
            <a:avLst/>
          </a:prstGeom>
        </p:spPr>
      </p:pic>
      <p:sp>
        <p:nvSpPr>
          <p:cNvPr id="32" name="Text 28"/>
          <p:cNvSpPr/>
          <p:nvPr/>
        </p:nvSpPr>
        <p:spPr>
          <a:xfrm>
            <a:off x="1325880" y="3666744"/>
            <a:ext cx="5532120" cy="320040"/>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2. The Aluminum Armor (Oxidation Resistance)</a:t>
            </a:r>
            <a:endParaRPr lang="en-US" sz="1250" dirty="0"/>
          </a:p>
        </p:txBody>
      </p:sp>
      <p:sp>
        <p:nvSpPr>
          <p:cNvPr id="33" name="Text 29"/>
          <p:cNvSpPr/>
          <p:nvPr/>
        </p:nvSpPr>
        <p:spPr>
          <a:xfrm>
            <a:off x="749808" y="4032504"/>
            <a:ext cx="6089904" cy="731520"/>
          </a:xfrm>
          <a:prstGeom prst="rect">
            <a:avLst/>
          </a:prstGeom>
          <a:noFill/>
          <a:ln/>
        </p:spPr>
        <p:txBody>
          <a:bodyPr wrap="square" rtlCol="0" anchor="ctr"/>
          <a:lstStyle/>
          <a:p>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The AI identified that standard Chromium oxidizes and sublimates above 1100°C. We executed a micro-addition of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2.8 at% Aluminum</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 to force the formation of a highly stable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α-Al₂O₃</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 protective armor scale, capping mass gain at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7.5 mg/cm²</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a:t>
            </a:r>
            <a:endParaRPr lang="en-US" sz="1070" dirty="0"/>
          </a:p>
        </p:txBody>
      </p:sp>
      <p:sp>
        <p:nvSpPr>
          <p:cNvPr id="34" name="Shape 30"/>
          <p:cNvSpPr/>
          <p:nvPr/>
        </p:nvSpPr>
        <p:spPr>
          <a:xfrm>
            <a:off x="548640" y="4928616"/>
            <a:ext cx="6492240" cy="1261872"/>
          </a:xfrm>
          <a:prstGeom prst="roundRect">
            <a:avLst>
              <a:gd name="adj" fmla="val 7246"/>
            </a:avLst>
          </a:prstGeom>
          <a:solidFill>
            <a:srgbClr val="1A2338"/>
          </a:solidFill>
          <a:ln w="12700">
            <a:solidFill>
              <a:srgbClr val="2A3550"/>
            </a:solidFill>
            <a:prstDash val="solid"/>
          </a:ln>
        </p:spPr>
      </p:sp>
      <p:sp>
        <p:nvSpPr>
          <p:cNvPr id="35" name="Shape 31"/>
          <p:cNvSpPr/>
          <p:nvPr/>
        </p:nvSpPr>
        <p:spPr>
          <a:xfrm>
            <a:off x="749808" y="5111496"/>
            <a:ext cx="457200" cy="457200"/>
          </a:xfrm>
          <a:prstGeom prst="ellipse">
            <a:avLst/>
          </a:prstGeom>
          <a:solidFill>
            <a:srgbClr val="141B2E"/>
          </a:solidFill>
          <a:ln w="15875">
            <a:solidFill>
              <a:srgbClr val="00E5A0"/>
            </a:solidFill>
            <a:prstDash val="solid"/>
          </a:ln>
        </p:spPr>
      </p:sp>
      <p:pic>
        <p:nvPicPr>
          <p:cNvPr id="36" name="Image 2" descr="assets/icon_file.png">    </p:cNvPr>
          <p:cNvPicPr>
            <a:picLocks noChangeAspect="1"/>
          </p:cNvPicPr>
          <p:nvPr/>
        </p:nvPicPr>
        <p:blipFill>
          <a:blip r:embed="rId3"/>
          <a:stretch>
            <a:fillRect/>
          </a:stretch>
        </p:blipFill>
        <p:spPr>
          <a:xfrm>
            <a:off x="859536" y="5221224"/>
            <a:ext cx="237744" cy="237744"/>
          </a:xfrm>
          <a:prstGeom prst="rect">
            <a:avLst/>
          </a:prstGeom>
        </p:spPr>
      </p:pic>
      <p:sp>
        <p:nvSpPr>
          <p:cNvPr id="37" name="Text 32"/>
          <p:cNvSpPr/>
          <p:nvPr/>
        </p:nvSpPr>
        <p:spPr>
          <a:xfrm>
            <a:off x="1325880" y="5056632"/>
            <a:ext cx="5532120" cy="320040"/>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3. The Manufacturing Recipe</a:t>
            </a:r>
            <a:endParaRPr lang="en-US" sz="1250" dirty="0"/>
          </a:p>
        </p:txBody>
      </p:sp>
      <p:sp>
        <p:nvSpPr>
          <p:cNvPr id="38" name="Text 33"/>
          <p:cNvSpPr/>
          <p:nvPr/>
        </p:nvSpPr>
        <p:spPr>
          <a:xfrm>
            <a:off x="749808" y="5422392"/>
            <a:ext cx="6089904" cy="731520"/>
          </a:xfrm>
          <a:prstGeom prst="rect">
            <a:avLst/>
          </a:prstGeom>
          <a:noFill/>
          <a:ln/>
        </p:spPr>
        <p:txBody>
          <a:bodyPr wrap="square" rtlCol="0" anchor="ctr"/>
          <a:lstStyle/>
          <a:p>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We have directly exported the continuous FGM physics curves into a discrete, print-ready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11-layer manufacturing_recipe.csv</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 (ranging from 0.0mm 100% alloy to 5.0mm 100% LZO ceramic). This is ready for immediate Multi-Hopper Directed Energy Deposition (DED) 3D printing.</a:t>
            </a:r>
            <a:endParaRPr lang="en-US" sz="10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10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COMMERCIAL IMPACT</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500" b="1" spc="30" kern="0" dirty="0">
                <a:solidFill>
                  <a:srgbClr val="F5F7FA"/>
                </a:solidFill>
                <a:latin typeface="Arial" pitchFamily="34" charset="0"/>
                <a:ea typeface="Arial" pitchFamily="34" charset="-122"/>
                <a:cs typeface="Arial" pitchFamily="34" charset="-120"/>
              </a:rPr>
              <a:t>THE COMMERCIAL IMPACT FOR SONA COMSTAR</a:t>
            </a:r>
            <a:endParaRPr lang="en-US" sz="25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Fleet Scalability and Direct Operating Cost Reductions</a:t>
            </a:r>
            <a:endParaRPr lang="en-US" sz="1500" dirty="0"/>
          </a:p>
        </p:txBody>
      </p:sp>
      <p:sp>
        <p:nvSpPr>
          <p:cNvPr id="7" name="Text 5"/>
          <p:cNvSpPr/>
          <p:nvPr/>
        </p:nvSpPr>
        <p:spPr>
          <a:xfrm>
            <a:off x="548640" y="1536192"/>
            <a:ext cx="11091672" cy="365760"/>
          </a:xfrm>
          <a:prstGeom prst="rect">
            <a:avLst/>
          </a:prstGeom>
          <a:noFill/>
          <a:ln/>
        </p:spPr>
        <p:txBody>
          <a:bodyPr wrap="square" rtlCol="0" anchor="ctr"/>
          <a:lstStyle/>
          <a:p>
            <a:pPr indent="0" marL="0">
              <a:buNone/>
            </a:pPr>
            <a:r>
              <a:rPr lang="en-US" sz="1250" dirty="0">
                <a:solidFill>
                  <a:srgbClr val="AAB4C6"/>
                </a:solidFill>
                <a:latin typeface="Calibri" pitchFamily="34" charset="0"/>
                <a:ea typeface="Calibri" pitchFamily="34" charset="-122"/>
                <a:cs typeface="Calibri" pitchFamily="34" charset="-120"/>
              </a:rPr>
              <a:t>By bridging aerospace materials into Sona Comstar's EPIC mobility framework, we generate massive downstream financial returns.</a:t>
            </a:r>
            <a:endParaRPr lang="en-US" sz="1250" dirty="0"/>
          </a:p>
        </p:txBody>
      </p:sp>
      <p:sp>
        <p:nvSpPr>
          <p:cNvPr id="8" name="Shape 6"/>
          <p:cNvSpPr/>
          <p:nvPr/>
        </p:nvSpPr>
        <p:spPr>
          <a:xfrm>
            <a:off x="548640" y="2057400"/>
            <a:ext cx="11091672" cy="18288"/>
          </a:xfrm>
          <a:prstGeom prst="roundRect">
            <a:avLst/>
          </a:prstGeom>
          <a:solidFill>
            <a:srgbClr val="2A3550"/>
          </a:solidFill>
          <a:ln w="12700">
            <a:solidFill>
              <a:srgbClr val="2A3550"/>
            </a:solidFill>
            <a:prstDash val="solid"/>
          </a:ln>
        </p:spPr>
      </p:sp>
      <p:sp>
        <p:nvSpPr>
          <p:cNvPr id="9" name="Text 7"/>
          <p:cNvSpPr/>
          <p:nvPr/>
        </p:nvSpPr>
        <p:spPr>
          <a:xfrm>
            <a:off x="731520" y="1719072"/>
            <a:ext cx="2743200" cy="274320"/>
          </a:xfrm>
          <a:prstGeom prst="rect">
            <a:avLst/>
          </a:prstGeom>
          <a:noFill/>
          <a:ln/>
        </p:spPr>
        <p:txBody>
          <a:bodyPr wrap="square" rtlCol="0" anchor="ctr"/>
          <a:lstStyle/>
          <a:p>
            <a:pPr indent="0" marL="0">
              <a:buNone/>
            </a:pPr>
            <a:r>
              <a:rPr lang="en-US" sz="1050" b="1" spc="50" kern="0" dirty="0">
                <a:solidFill>
                  <a:srgbClr val="6E7A90"/>
                </a:solidFill>
                <a:latin typeface="Arial" pitchFamily="34" charset="0"/>
                <a:ea typeface="Arial" pitchFamily="34" charset="-122"/>
                <a:cs typeface="Arial" pitchFamily="34" charset="-120"/>
              </a:rPr>
              <a:t>IMPACT AREA</a:t>
            </a:r>
            <a:endParaRPr lang="en-US" sz="1050" dirty="0"/>
          </a:p>
        </p:txBody>
      </p:sp>
      <p:sp>
        <p:nvSpPr>
          <p:cNvPr id="10" name="Text 8"/>
          <p:cNvSpPr/>
          <p:nvPr/>
        </p:nvSpPr>
        <p:spPr>
          <a:xfrm>
            <a:off x="3657600" y="1719072"/>
            <a:ext cx="3566160" cy="274320"/>
          </a:xfrm>
          <a:prstGeom prst="rect">
            <a:avLst/>
          </a:prstGeom>
          <a:noFill/>
          <a:ln/>
        </p:spPr>
        <p:txBody>
          <a:bodyPr wrap="square" rtlCol="0" anchor="ctr"/>
          <a:lstStyle/>
          <a:p>
            <a:pPr indent="0" marL="0">
              <a:buNone/>
            </a:pPr>
            <a:r>
              <a:rPr lang="en-US" sz="1050" b="1" spc="50" kern="0" dirty="0">
                <a:solidFill>
                  <a:srgbClr val="6E7A90"/>
                </a:solidFill>
                <a:latin typeface="Arial" pitchFamily="34" charset="0"/>
                <a:ea typeface="Arial" pitchFamily="34" charset="-122"/>
                <a:cs typeface="Arial" pitchFamily="34" charset="-120"/>
              </a:rPr>
              <a:t>THE PHYSICS TRIGGER</a:t>
            </a:r>
            <a:endParaRPr lang="en-US" sz="1050" dirty="0"/>
          </a:p>
        </p:txBody>
      </p:sp>
      <p:sp>
        <p:nvSpPr>
          <p:cNvPr id="11" name="Text 9"/>
          <p:cNvSpPr/>
          <p:nvPr/>
        </p:nvSpPr>
        <p:spPr>
          <a:xfrm>
            <a:off x="7406640" y="1719072"/>
            <a:ext cx="4206240" cy="274320"/>
          </a:xfrm>
          <a:prstGeom prst="rect">
            <a:avLst/>
          </a:prstGeom>
          <a:noFill/>
          <a:ln/>
        </p:spPr>
        <p:txBody>
          <a:bodyPr wrap="square" rtlCol="0" anchor="ctr"/>
          <a:lstStyle/>
          <a:p>
            <a:pPr indent="0" marL="0">
              <a:buNone/>
            </a:pPr>
            <a:r>
              <a:rPr lang="en-US" sz="1050" b="1" spc="50" kern="0" dirty="0">
                <a:solidFill>
                  <a:srgbClr val="6E7A90"/>
                </a:solidFill>
                <a:latin typeface="Arial" pitchFamily="34" charset="0"/>
                <a:ea typeface="Arial" pitchFamily="34" charset="-122"/>
                <a:cs typeface="Arial" pitchFamily="34" charset="-120"/>
              </a:rPr>
              <a:t>THE COMMERCIAL RESULT</a:t>
            </a:r>
            <a:endParaRPr lang="en-US" sz="1050" dirty="0"/>
          </a:p>
        </p:txBody>
      </p:sp>
      <p:sp>
        <p:nvSpPr>
          <p:cNvPr id="12" name="Shape 10"/>
          <p:cNvSpPr/>
          <p:nvPr/>
        </p:nvSpPr>
        <p:spPr>
          <a:xfrm>
            <a:off x="548640" y="2103120"/>
            <a:ext cx="11091672" cy="1298448"/>
          </a:xfrm>
          <a:prstGeom prst="roundRect">
            <a:avLst>
              <a:gd name="adj" fmla="val 7042"/>
            </a:avLst>
          </a:prstGeom>
          <a:solidFill>
            <a:srgbClr val="141B2E"/>
          </a:solidFill>
          <a:ln w="12700">
            <a:solidFill>
              <a:srgbClr val="2A3550"/>
            </a:solidFill>
            <a:prstDash val="solid"/>
          </a:ln>
        </p:spPr>
      </p:sp>
      <p:sp>
        <p:nvSpPr>
          <p:cNvPr id="13" name="Shape 11"/>
          <p:cNvSpPr/>
          <p:nvPr/>
        </p:nvSpPr>
        <p:spPr>
          <a:xfrm>
            <a:off x="731520" y="2500884"/>
            <a:ext cx="502920" cy="502920"/>
          </a:xfrm>
          <a:prstGeom prst="ellipse">
            <a:avLst/>
          </a:prstGeom>
          <a:solidFill>
            <a:srgbClr val="1A2338"/>
          </a:solidFill>
          <a:ln w="15875">
            <a:solidFill>
              <a:srgbClr val="00E5A0"/>
            </a:solidFill>
            <a:prstDash val="solid"/>
          </a:ln>
        </p:spPr>
      </p:sp>
      <p:pic>
        <p:nvPicPr>
          <p:cNvPr id="14" name="Image 0" descr="assets/icon_dollar.png">    </p:cNvPr>
          <p:cNvPicPr>
            <a:picLocks noChangeAspect="1"/>
          </p:cNvPicPr>
          <p:nvPr/>
        </p:nvPicPr>
        <p:blipFill>
          <a:blip r:embed="rId1"/>
          <a:stretch>
            <a:fillRect/>
          </a:stretch>
        </p:blipFill>
        <p:spPr>
          <a:xfrm>
            <a:off x="852221" y="2621585"/>
            <a:ext cx="261518" cy="261518"/>
          </a:xfrm>
          <a:prstGeom prst="rect">
            <a:avLst/>
          </a:prstGeom>
        </p:spPr>
      </p:pic>
      <p:sp>
        <p:nvSpPr>
          <p:cNvPr id="15" name="Text 12"/>
          <p:cNvSpPr/>
          <p:nvPr/>
        </p:nvSpPr>
        <p:spPr>
          <a:xfrm>
            <a:off x="1417320" y="2103120"/>
            <a:ext cx="2103120" cy="1298448"/>
          </a:xfrm>
          <a:prstGeom prst="rect">
            <a:avLst/>
          </a:prstGeom>
          <a:noFill/>
          <a:ln/>
        </p:spPr>
        <p:txBody>
          <a:bodyPr wrap="square" rtlCol="0" anchor="ctr"/>
          <a:lstStyle/>
          <a:p>
            <a:pPr indent="0" marL="0">
              <a:lnSpc>
                <a:spcPct val="115000"/>
              </a:lnSpc>
              <a:buNone/>
            </a:pPr>
            <a:r>
              <a:rPr lang="en-US" sz="1250" b="1" dirty="0">
                <a:solidFill>
                  <a:srgbClr val="F5F7FA"/>
                </a:solidFill>
                <a:latin typeface="Calibri" pitchFamily="34" charset="0"/>
                <a:ea typeface="Calibri" pitchFamily="34" charset="-122"/>
                <a:cs typeface="Calibri" pitchFamily="34" charset="-120"/>
              </a:rPr>
              <a:t>Raw Material Procurement</a:t>
            </a:r>
            <a:endParaRPr lang="en-US" sz="1250" dirty="0"/>
          </a:p>
        </p:txBody>
      </p:sp>
      <p:sp>
        <p:nvSpPr>
          <p:cNvPr id="16" name="Shape 13"/>
          <p:cNvSpPr/>
          <p:nvPr/>
        </p:nvSpPr>
        <p:spPr>
          <a:xfrm>
            <a:off x="3657600" y="2240280"/>
            <a:ext cx="0" cy="1024128"/>
          </a:xfrm>
          <a:prstGeom prst="line">
            <a:avLst/>
          </a:prstGeom>
          <a:noFill/>
          <a:ln w="9525">
            <a:solidFill>
              <a:srgbClr val="2A3550"/>
            </a:solidFill>
            <a:prstDash val="solid"/>
          </a:ln>
        </p:spPr>
      </p:sp>
      <p:sp>
        <p:nvSpPr>
          <p:cNvPr id="17" name="Text 14"/>
          <p:cNvSpPr/>
          <p:nvPr/>
        </p:nvSpPr>
        <p:spPr>
          <a:xfrm>
            <a:off x="3840480" y="2103120"/>
            <a:ext cx="3383280" cy="1298448"/>
          </a:xfrm>
          <a:prstGeom prst="rect">
            <a:avLst/>
          </a:prstGeom>
          <a:noFill/>
          <a:ln/>
        </p:spPr>
        <p:txBody>
          <a:bodyPr wrap="square" rtlCol="0" anchor="ctr"/>
          <a:lstStyle/>
          <a:p>
            <a:pPr indent="0" marL="0">
              <a:lnSpc>
                <a:spcPct val="120000"/>
              </a:lnSpc>
              <a:buNone/>
            </a:pPr>
            <a:r>
              <a:rPr lang="en-US" sz="1150" dirty="0">
                <a:solidFill>
                  <a:srgbClr val="AAB4C6"/>
                </a:solidFill>
                <a:latin typeface="Calibri" pitchFamily="34" charset="0"/>
                <a:ea typeface="Calibri" pitchFamily="34" charset="-122"/>
                <a:cs typeface="Calibri" pitchFamily="34" charset="-120"/>
              </a:rPr>
              <a:t>75% reduction in Hafnium, substituted with Titanium.</a:t>
            </a:r>
            <a:endParaRPr lang="en-US" sz="1150" dirty="0"/>
          </a:p>
        </p:txBody>
      </p:sp>
      <p:sp>
        <p:nvSpPr>
          <p:cNvPr id="18" name="Shape 15"/>
          <p:cNvSpPr/>
          <p:nvPr/>
        </p:nvSpPr>
        <p:spPr>
          <a:xfrm>
            <a:off x="7406640" y="2240280"/>
            <a:ext cx="0" cy="1024128"/>
          </a:xfrm>
          <a:prstGeom prst="line">
            <a:avLst/>
          </a:prstGeom>
          <a:noFill/>
          <a:ln w="9525">
            <a:solidFill>
              <a:srgbClr val="2A3550"/>
            </a:solidFill>
            <a:prstDash val="solid"/>
          </a:ln>
        </p:spPr>
      </p:sp>
      <p:sp>
        <p:nvSpPr>
          <p:cNvPr id="19" name="Text 16"/>
          <p:cNvSpPr/>
          <p:nvPr/>
        </p:nvSpPr>
        <p:spPr>
          <a:xfrm>
            <a:off x="7589520" y="2103120"/>
            <a:ext cx="3931920" cy="1298448"/>
          </a:xfrm>
          <a:prstGeom prst="rect">
            <a:avLst/>
          </a:prstGeom>
          <a:noFill/>
          <a:ln/>
        </p:spPr>
        <p:txBody>
          <a:bodyPr wrap="square" rtlCol="0" anchor="ctr"/>
          <a:lstStyle/>
          <a:p>
            <a:pPr indent="0" marL="0">
              <a:lnSpc>
                <a:spcPct val="120000"/>
              </a:lnSpc>
              <a:buNone/>
            </a:pPr>
            <a:r>
              <a:rPr lang="en-US" sz="1150" b="1" dirty="0">
                <a:solidFill>
                  <a:srgbClr val="00E5A0"/>
                </a:solidFill>
                <a:latin typeface="Calibri" pitchFamily="34" charset="0"/>
                <a:ea typeface="Calibri" pitchFamily="34" charset="-122"/>
                <a:cs typeface="Calibri" pitchFamily="34" charset="-120"/>
              </a:rPr>
              <a:t>15-20% Drop in Alloy Cost:</a:t>
            </a:r>
            <a:pPr indent="0" marL="0">
              <a:lnSpc>
                <a:spcPct val="120000"/>
              </a:lnSpc>
              <a:buNone/>
            </a:pPr>
            <a:r>
              <a:rPr lang="en-US" sz="1150" dirty="0">
                <a:solidFill>
                  <a:srgbClr val="AAB4C6"/>
                </a:solidFill>
                <a:latin typeface="Calibri" pitchFamily="34" charset="0"/>
                <a:ea typeface="Calibri" pitchFamily="34" charset="-122"/>
                <a:cs typeface="Calibri" pitchFamily="34" charset="-120"/>
              </a:rPr>
              <a:t> Achieves ~$170/kg, enabling high-volume EV commercialization.</a:t>
            </a:r>
            <a:endParaRPr lang="en-US" sz="1150" dirty="0"/>
          </a:p>
        </p:txBody>
      </p:sp>
      <p:sp>
        <p:nvSpPr>
          <p:cNvPr id="20" name="Shape 17"/>
          <p:cNvSpPr/>
          <p:nvPr/>
        </p:nvSpPr>
        <p:spPr>
          <a:xfrm>
            <a:off x="548640" y="3566160"/>
            <a:ext cx="11091672" cy="1298448"/>
          </a:xfrm>
          <a:prstGeom prst="roundRect">
            <a:avLst>
              <a:gd name="adj" fmla="val 7042"/>
            </a:avLst>
          </a:prstGeom>
          <a:solidFill>
            <a:srgbClr val="141B2E"/>
          </a:solidFill>
          <a:ln w="12700">
            <a:solidFill>
              <a:srgbClr val="2A3550"/>
            </a:solidFill>
            <a:prstDash val="solid"/>
          </a:ln>
        </p:spPr>
      </p:sp>
      <p:sp>
        <p:nvSpPr>
          <p:cNvPr id="21" name="Shape 18"/>
          <p:cNvSpPr/>
          <p:nvPr/>
        </p:nvSpPr>
        <p:spPr>
          <a:xfrm>
            <a:off x="731520" y="3963924"/>
            <a:ext cx="502920" cy="502920"/>
          </a:xfrm>
          <a:prstGeom prst="ellipse">
            <a:avLst/>
          </a:prstGeom>
          <a:solidFill>
            <a:srgbClr val="1A2338"/>
          </a:solidFill>
          <a:ln w="15875">
            <a:solidFill>
              <a:srgbClr val="00E5A0"/>
            </a:solidFill>
            <a:prstDash val="solid"/>
          </a:ln>
        </p:spPr>
      </p:sp>
      <p:pic>
        <p:nvPicPr>
          <p:cNvPr id="22" name="Image 1" descr="assets/icon_tool.png">    </p:cNvPr>
          <p:cNvPicPr>
            <a:picLocks noChangeAspect="1"/>
          </p:cNvPicPr>
          <p:nvPr/>
        </p:nvPicPr>
        <p:blipFill>
          <a:blip r:embed="rId2"/>
          <a:stretch>
            <a:fillRect/>
          </a:stretch>
        </p:blipFill>
        <p:spPr>
          <a:xfrm>
            <a:off x="852221" y="4084625"/>
            <a:ext cx="261518" cy="261518"/>
          </a:xfrm>
          <a:prstGeom prst="rect">
            <a:avLst/>
          </a:prstGeom>
        </p:spPr>
      </p:pic>
      <p:sp>
        <p:nvSpPr>
          <p:cNvPr id="23" name="Text 19"/>
          <p:cNvSpPr/>
          <p:nvPr/>
        </p:nvSpPr>
        <p:spPr>
          <a:xfrm>
            <a:off x="1417320" y="3566160"/>
            <a:ext cx="2103120" cy="1298448"/>
          </a:xfrm>
          <a:prstGeom prst="rect">
            <a:avLst/>
          </a:prstGeom>
          <a:noFill/>
          <a:ln/>
        </p:spPr>
        <p:txBody>
          <a:bodyPr wrap="square" rtlCol="0" anchor="ctr"/>
          <a:lstStyle/>
          <a:p>
            <a:pPr indent="0" marL="0">
              <a:lnSpc>
                <a:spcPct val="115000"/>
              </a:lnSpc>
              <a:buNone/>
            </a:pPr>
            <a:r>
              <a:rPr lang="en-US" sz="1250" b="1" dirty="0">
                <a:solidFill>
                  <a:srgbClr val="F5F7FA"/>
                </a:solidFill>
                <a:latin typeface="Calibri" pitchFamily="34" charset="0"/>
                <a:ea typeface="Calibri" pitchFamily="34" charset="-122"/>
                <a:cs typeface="Calibri" pitchFamily="34" charset="-120"/>
              </a:rPr>
              <a:t>Tooling &amp; Forging Uptime</a:t>
            </a:r>
            <a:endParaRPr lang="en-US" sz="1250" dirty="0"/>
          </a:p>
        </p:txBody>
      </p:sp>
      <p:sp>
        <p:nvSpPr>
          <p:cNvPr id="24" name="Shape 20"/>
          <p:cNvSpPr/>
          <p:nvPr/>
        </p:nvSpPr>
        <p:spPr>
          <a:xfrm>
            <a:off x="3657600" y="3703320"/>
            <a:ext cx="0" cy="1024128"/>
          </a:xfrm>
          <a:prstGeom prst="line">
            <a:avLst/>
          </a:prstGeom>
          <a:noFill/>
          <a:ln w="9525">
            <a:solidFill>
              <a:srgbClr val="2A3550"/>
            </a:solidFill>
            <a:prstDash val="solid"/>
          </a:ln>
        </p:spPr>
      </p:sp>
      <p:sp>
        <p:nvSpPr>
          <p:cNvPr id="25" name="Text 21"/>
          <p:cNvSpPr/>
          <p:nvPr/>
        </p:nvSpPr>
        <p:spPr>
          <a:xfrm>
            <a:off x="3840480" y="3566160"/>
            <a:ext cx="3383280" cy="1298448"/>
          </a:xfrm>
          <a:prstGeom prst="rect">
            <a:avLst/>
          </a:prstGeom>
          <a:noFill/>
          <a:ln/>
        </p:spPr>
        <p:txBody>
          <a:bodyPr wrap="square" rtlCol="0" anchor="ctr"/>
          <a:lstStyle/>
          <a:p>
            <a:pPr indent="0" marL="0">
              <a:lnSpc>
                <a:spcPct val="120000"/>
              </a:lnSpc>
              <a:buNone/>
            </a:pPr>
            <a:r>
              <a:rPr lang="en-US" sz="1150" dirty="0">
                <a:solidFill>
                  <a:srgbClr val="AAB4C6"/>
                </a:solidFill>
                <a:latin typeface="Calibri" pitchFamily="34" charset="0"/>
                <a:ea typeface="Calibri" pitchFamily="34" charset="-122"/>
                <a:cs typeface="Calibri" pitchFamily="34" charset="-120"/>
              </a:rPr>
              <a:t>H13 Dies retain 917.7 MPa yield strength at 1200°C.</a:t>
            </a:r>
            <a:endParaRPr lang="en-US" sz="1150" dirty="0"/>
          </a:p>
        </p:txBody>
      </p:sp>
      <p:sp>
        <p:nvSpPr>
          <p:cNvPr id="26" name="Shape 22"/>
          <p:cNvSpPr/>
          <p:nvPr/>
        </p:nvSpPr>
        <p:spPr>
          <a:xfrm>
            <a:off x="7406640" y="3703320"/>
            <a:ext cx="0" cy="1024128"/>
          </a:xfrm>
          <a:prstGeom prst="line">
            <a:avLst/>
          </a:prstGeom>
          <a:noFill/>
          <a:ln w="9525">
            <a:solidFill>
              <a:srgbClr val="2A3550"/>
            </a:solidFill>
            <a:prstDash val="solid"/>
          </a:ln>
        </p:spPr>
      </p:sp>
      <p:sp>
        <p:nvSpPr>
          <p:cNvPr id="27" name="Text 23"/>
          <p:cNvSpPr/>
          <p:nvPr/>
        </p:nvSpPr>
        <p:spPr>
          <a:xfrm>
            <a:off x="7589520" y="3566160"/>
            <a:ext cx="3931920" cy="1298448"/>
          </a:xfrm>
          <a:prstGeom prst="rect">
            <a:avLst/>
          </a:prstGeom>
          <a:noFill/>
          <a:ln/>
        </p:spPr>
        <p:txBody>
          <a:bodyPr wrap="square" rtlCol="0" anchor="ctr"/>
          <a:lstStyle/>
          <a:p>
            <a:pPr indent="0" marL="0">
              <a:lnSpc>
                <a:spcPct val="120000"/>
              </a:lnSpc>
              <a:buNone/>
            </a:pPr>
            <a:r>
              <a:rPr lang="en-US" sz="1150" b="1" dirty="0">
                <a:solidFill>
                  <a:srgbClr val="00E5A0"/>
                </a:solidFill>
                <a:latin typeface="Calibri" pitchFamily="34" charset="0"/>
                <a:ea typeface="Calibri" pitchFamily="34" charset="-122"/>
                <a:cs typeface="Calibri" pitchFamily="34" charset="-120"/>
              </a:rPr>
              <a:t>Drastic MRO Reduction:</a:t>
            </a:r>
            <a:pPr indent="0" marL="0">
              <a:lnSpc>
                <a:spcPct val="120000"/>
              </a:lnSpc>
              <a:buNone/>
            </a:pPr>
            <a:r>
              <a:rPr lang="en-US" sz="1150" dirty="0">
                <a:solidFill>
                  <a:srgbClr val="AAB4C6"/>
                </a:solidFill>
                <a:latin typeface="Calibri" pitchFamily="34" charset="0"/>
                <a:ea typeface="Calibri" pitchFamily="34" charset="-122"/>
                <a:cs typeface="Calibri" pitchFamily="34" charset="-120"/>
              </a:rPr>
              <a:t> Eliminates thermal fatigue cracking, vastly extending tooling life and manufacturing throughput.</a:t>
            </a:r>
            <a:endParaRPr lang="en-US" sz="1150" dirty="0"/>
          </a:p>
        </p:txBody>
      </p:sp>
      <p:sp>
        <p:nvSpPr>
          <p:cNvPr id="28" name="Shape 24"/>
          <p:cNvSpPr/>
          <p:nvPr/>
        </p:nvSpPr>
        <p:spPr>
          <a:xfrm>
            <a:off x="548640" y="5029200"/>
            <a:ext cx="11091672" cy="1298448"/>
          </a:xfrm>
          <a:prstGeom prst="roundRect">
            <a:avLst>
              <a:gd name="adj" fmla="val 7042"/>
            </a:avLst>
          </a:prstGeom>
          <a:solidFill>
            <a:srgbClr val="141B2E"/>
          </a:solidFill>
          <a:ln w="12700">
            <a:solidFill>
              <a:srgbClr val="2A3550"/>
            </a:solidFill>
            <a:prstDash val="solid"/>
          </a:ln>
        </p:spPr>
      </p:sp>
      <p:sp>
        <p:nvSpPr>
          <p:cNvPr id="29" name="Shape 25"/>
          <p:cNvSpPr/>
          <p:nvPr/>
        </p:nvSpPr>
        <p:spPr>
          <a:xfrm>
            <a:off x="731520" y="5426964"/>
            <a:ext cx="502920" cy="502920"/>
          </a:xfrm>
          <a:prstGeom prst="ellipse">
            <a:avLst/>
          </a:prstGeom>
          <a:solidFill>
            <a:srgbClr val="1A2338"/>
          </a:solidFill>
          <a:ln w="15875">
            <a:solidFill>
              <a:srgbClr val="00E5A0"/>
            </a:solidFill>
            <a:prstDash val="solid"/>
          </a:ln>
        </p:spPr>
      </p:sp>
      <p:pic>
        <p:nvPicPr>
          <p:cNvPr id="30" name="Image 2" descr="assets/icon_motor.png">    </p:cNvPr>
          <p:cNvPicPr>
            <a:picLocks noChangeAspect="1"/>
          </p:cNvPicPr>
          <p:nvPr/>
        </p:nvPicPr>
        <p:blipFill>
          <a:blip r:embed="rId3"/>
          <a:stretch>
            <a:fillRect/>
          </a:stretch>
        </p:blipFill>
        <p:spPr>
          <a:xfrm>
            <a:off x="852221" y="5547665"/>
            <a:ext cx="261518" cy="261518"/>
          </a:xfrm>
          <a:prstGeom prst="rect">
            <a:avLst/>
          </a:prstGeom>
        </p:spPr>
      </p:pic>
      <p:sp>
        <p:nvSpPr>
          <p:cNvPr id="31" name="Text 26"/>
          <p:cNvSpPr/>
          <p:nvPr/>
        </p:nvSpPr>
        <p:spPr>
          <a:xfrm>
            <a:off x="1417320" y="5029200"/>
            <a:ext cx="2103120" cy="1298448"/>
          </a:xfrm>
          <a:prstGeom prst="rect">
            <a:avLst/>
          </a:prstGeom>
          <a:noFill/>
          <a:ln/>
        </p:spPr>
        <p:txBody>
          <a:bodyPr wrap="square" rtlCol="0" anchor="ctr"/>
          <a:lstStyle/>
          <a:p>
            <a:pPr indent="0" marL="0">
              <a:lnSpc>
                <a:spcPct val="115000"/>
              </a:lnSpc>
              <a:buNone/>
            </a:pPr>
            <a:r>
              <a:rPr lang="en-US" sz="1250" b="1" dirty="0">
                <a:solidFill>
                  <a:srgbClr val="F5F7FA"/>
                </a:solidFill>
                <a:latin typeface="Calibri" pitchFamily="34" charset="0"/>
                <a:ea typeface="Calibri" pitchFamily="34" charset="-122"/>
                <a:cs typeface="Calibri" pitchFamily="34" charset="-120"/>
              </a:rPr>
              <a:t>Next-Gen EV Motors</a:t>
            </a:r>
            <a:endParaRPr lang="en-US" sz="1250" dirty="0"/>
          </a:p>
        </p:txBody>
      </p:sp>
      <p:sp>
        <p:nvSpPr>
          <p:cNvPr id="32" name="Shape 27"/>
          <p:cNvSpPr/>
          <p:nvPr/>
        </p:nvSpPr>
        <p:spPr>
          <a:xfrm>
            <a:off x="3657600" y="5166360"/>
            <a:ext cx="0" cy="1024128"/>
          </a:xfrm>
          <a:prstGeom prst="line">
            <a:avLst/>
          </a:prstGeom>
          <a:noFill/>
          <a:ln w="9525">
            <a:solidFill>
              <a:srgbClr val="2A3550"/>
            </a:solidFill>
            <a:prstDash val="solid"/>
          </a:ln>
        </p:spPr>
      </p:sp>
      <p:sp>
        <p:nvSpPr>
          <p:cNvPr id="33" name="Text 28"/>
          <p:cNvSpPr/>
          <p:nvPr/>
        </p:nvSpPr>
        <p:spPr>
          <a:xfrm>
            <a:off x="3840480" y="5029200"/>
            <a:ext cx="3383280" cy="1298448"/>
          </a:xfrm>
          <a:prstGeom prst="rect">
            <a:avLst/>
          </a:prstGeom>
          <a:noFill/>
          <a:ln/>
        </p:spPr>
        <p:txBody>
          <a:bodyPr wrap="square" rtlCol="0" anchor="ctr"/>
          <a:lstStyle/>
          <a:p>
            <a:pPr indent="0" marL="0">
              <a:lnSpc>
                <a:spcPct val="120000"/>
              </a:lnSpc>
              <a:buNone/>
            </a:pPr>
            <a:r>
              <a:rPr lang="en-US" sz="1150" dirty="0">
                <a:solidFill>
                  <a:srgbClr val="AAB4C6"/>
                </a:solidFill>
                <a:latin typeface="Calibri" pitchFamily="34" charset="0"/>
                <a:ea typeface="Calibri" pitchFamily="34" charset="-122"/>
                <a:cs typeface="Calibri" pitchFamily="34" charset="-120"/>
              </a:rPr>
              <a:t>Elimination of localized thermal hotspots in SRMs.</a:t>
            </a:r>
            <a:endParaRPr lang="en-US" sz="1150" dirty="0"/>
          </a:p>
        </p:txBody>
      </p:sp>
      <p:sp>
        <p:nvSpPr>
          <p:cNvPr id="34" name="Shape 29"/>
          <p:cNvSpPr/>
          <p:nvPr/>
        </p:nvSpPr>
        <p:spPr>
          <a:xfrm>
            <a:off x="7406640" y="5166360"/>
            <a:ext cx="0" cy="1024128"/>
          </a:xfrm>
          <a:prstGeom prst="line">
            <a:avLst/>
          </a:prstGeom>
          <a:noFill/>
          <a:ln w="9525">
            <a:solidFill>
              <a:srgbClr val="2A3550"/>
            </a:solidFill>
            <a:prstDash val="solid"/>
          </a:ln>
        </p:spPr>
      </p:sp>
      <p:sp>
        <p:nvSpPr>
          <p:cNvPr id="35" name="Text 30"/>
          <p:cNvSpPr/>
          <p:nvPr/>
        </p:nvSpPr>
        <p:spPr>
          <a:xfrm>
            <a:off x="7589520" y="5029200"/>
            <a:ext cx="3931920" cy="1298448"/>
          </a:xfrm>
          <a:prstGeom prst="rect">
            <a:avLst/>
          </a:prstGeom>
          <a:noFill/>
          <a:ln/>
        </p:spPr>
        <p:txBody>
          <a:bodyPr wrap="square" rtlCol="0" anchor="ctr"/>
          <a:lstStyle/>
          <a:p>
            <a:pPr indent="0" marL="0">
              <a:lnSpc>
                <a:spcPct val="120000"/>
              </a:lnSpc>
              <a:buNone/>
            </a:pPr>
            <a:r>
              <a:rPr lang="en-US" sz="1150" b="1" dirty="0">
                <a:solidFill>
                  <a:srgbClr val="00E5A0"/>
                </a:solidFill>
                <a:latin typeface="Calibri" pitchFamily="34" charset="0"/>
                <a:ea typeface="Calibri" pitchFamily="34" charset="-122"/>
                <a:cs typeface="Calibri" pitchFamily="34" charset="-120"/>
              </a:rPr>
              <a:t>Rare-Earth Independence:</a:t>
            </a:r>
            <a:pPr indent="0" marL="0">
              <a:lnSpc>
                <a:spcPct val="120000"/>
              </a:lnSpc>
              <a:buNone/>
            </a:pPr>
            <a:r>
              <a:rPr lang="en-US" sz="1150" dirty="0">
                <a:solidFill>
                  <a:srgbClr val="AAB4C6"/>
                </a:solidFill>
                <a:latin typeface="Calibri" pitchFamily="34" charset="0"/>
                <a:ea typeface="Calibri" pitchFamily="34" charset="-122"/>
                <a:cs typeface="Calibri" pitchFamily="34" charset="-120"/>
              </a:rPr>
              <a:t> Enables high-power magnet-less motors without thermal degradation.</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11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SCIDIP DEPLOYMENT 1</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500" b="1" spc="30" kern="0" dirty="0">
                <a:solidFill>
                  <a:srgbClr val="F5F7FA"/>
                </a:solidFill>
                <a:latin typeface="Arial" pitchFamily="34" charset="0"/>
                <a:ea typeface="Arial" pitchFamily="34" charset="-122"/>
                <a:cs typeface="Arial" pitchFamily="34" charset="-120"/>
              </a:rPr>
              <a:t>SCIDIP DEPLOYMENT 1: NEXT-GEN FORGING DIES</a:t>
            </a:r>
            <a:endParaRPr lang="en-US" sz="25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Solving Sona Comstar's Differential Gear Bottleneck</a:t>
            </a:r>
            <a:endParaRPr lang="en-US" sz="1500" dirty="0"/>
          </a:p>
        </p:txBody>
      </p:sp>
      <p:sp>
        <p:nvSpPr>
          <p:cNvPr id="7" name="Text 5"/>
          <p:cNvSpPr/>
          <p:nvPr/>
        </p:nvSpPr>
        <p:spPr>
          <a:xfrm>
            <a:off x="548640" y="1536192"/>
            <a:ext cx="11091672" cy="685800"/>
          </a:xfrm>
          <a:prstGeom prst="rect">
            <a:avLst/>
          </a:prstGeom>
          <a:noFill/>
          <a:ln/>
        </p:spPr>
        <p:txBody>
          <a:bodyPr wrap="square" rtlCol="0" anchor="ctr"/>
          <a:lstStyle/>
          <a:p>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Sona Comstar's core competitive advantage lies in precision forging of differential bevel gears. However, legacy H13 tool steel dies suffer massive yield strength collapse and thermal fatigue when operating near 1200°C, causing costly manufacturing downtime.</a:t>
            </a:r>
            <a:endParaRPr lang="en-US" sz="1250" dirty="0"/>
          </a:p>
        </p:txBody>
      </p:sp>
      <p:sp>
        <p:nvSpPr>
          <p:cNvPr id="8" name="Shape 6"/>
          <p:cNvSpPr/>
          <p:nvPr/>
        </p:nvSpPr>
        <p:spPr>
          <a:xfrm>
            <a:off x="548640" y="2423160"/>
            <a:ext cx="5349240" cy="1828800"/>
          </a:xfrm>
          <a:prstGeom prst="roundRect">
            <a:avLst>
              <a:gd name="adj" fmla="val 5000"/>
            </a:avLst>
          </a:prstGeom>
          <a:solidFill>
            <a:srgbClr val="1A2338"/>
          </a:solidFill>
          <a:ln w="12700">
            <a:solidFill>
              <a:srgbClr val="FF5A5F"/>
            </a:solidFill>
            <a:prstDash val="solid"/>
          </a:ln>
        </p:spPr>
      </p:sp>
      <p:sp>
        <p:nvSpPr>
          <p:cNvPr id="9" name="Shape 7"/>
          <p:cNvSpPr/>
          <p:nvPr/>
        </p:nvSpPr>
        <p:spPr>
          <a:xfrm>
            <a:off x="777240" y="2624328"/>
            <a:ext cx="502920" cy="502920"/>
          </a:xfrm>
          <a:prstGeom prst="ellipse">
            <a:avLst/>
          </a:prstGeom>
          <a:solidFill>
            <a:srgbClr val="141B2E"/>
          </a:solidFill>
          <a:ln w="15875">
            <a:solidFill>
              <a:srgbClr val="FF5A5F"/>
            </a:solidFill>
            <a:prstDash val="solid"/>
          </a:ln>
        </p:spPr>
      </p:sp>
      <p:pic>
        <p:nvPicPr>
          <p:cNvPr id="10" name="Image 0" descr="assets/icon_thermometer.png">    </p:cNvPr>
          <p:cNvPicPr>
            <a:picLocks noChangeAspect="1"/>
          </p:cNvPicPr>
          <p:nvPr/>
        </p:nvPicPr>
        <p:blipFill>
          <a:blip r:embed="rId1"/>
          <a:stretch>
            <a:fillRect/>
          </a:stretch>
        </p:blipFill>
        <p:spPr>
          <a:xfrm>
            <a:off x="897941" y="2745029"/>
            <a:ext cx="261518" cy="261518"/>
          </a:xfrm>
          <a:prstGeom prst="rect">
            <a:avLst/>
          </a:prstGeom>
        </p:spPr>
      </p:pic>
      <p:sp>
        <p:nvSpPr>
          <p:cNvPr id="11" name="Text 8"/>
          <p:cNvSpPr/>
          <p:nvPr/>
        </p:nvSpPr>
        <p:spPr>
          <a:xfrm>
            <a:off x="1417320" y="2697480"/>
            <a:ext cx="4251960" cy="365760"/>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LEGACY H13 TOOL STEEL DIE</a:t>
            </a:r>
            <a:endParaRPr lang="en-US" sz="1250" dirty="0"/>
          </a:p>
        </p:txBody>
      </p:sp>
      <p:sp>
        <p:nvSpPr>
          <p:cNvPr id="12" name="Text 9"/>
          <p:cNvSpPr/>
          <p:nvPr/>
        </p:nvSpPr>
        <p:spPr>
          <a:xfrm>
            <a:off x="822960" y="3246120"/>
            <a:ext cx="4800600" cy="914400"/>
          </a:xfrm>
          <a:prstGeom prst="rect">
            <a:avLst/>
          </a:prstGeom>
          <a:noFill/>
          <a:ln/>
        </p:spPr>
        <p:txBody>
          <a:bodyPr wrap="square" rtlCol="0" anchor="ctr"/>
          <a:lstStyle/>
          <a:p>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Rapid thermal fatigue &amp; yield strength collapse at 1200°C during high-speed gear forging → cracking, downtime.</a:t>
            </a:r>
            <a:endParaRPr lang="en-US" sz="1150" dirty="0"/>
          </a:p>
        </p:txBody>
      </p:sp>
      <p:sp>
        <p:nvSpPr>
          <p:cNvPr id="13" name="Shape 10"/>
          <p:cNvSpPr/>
          <p:nvPr/>
        </p:nvSpPr>
        <p:spPr>
          <a:xfrm>
            <a:off x="6263640" y="2423160"/>
            <a:ext cx="5349240" cy="1828800"/>
          </a:xfrm>
          <a:prstGeom prst="roundRect">
            <a:avLst>
              <a:gd name="adj" fmla="val 5000"/>
            </a:avLst>
          </a:prstGeom>
          <a:solidFill>
            <a:srgbClr val="141B2E"/>
          </a:solidFill>
          <a:ln w="15875">
            <a:solidFill>
              <a:srgbClr val="00E5A0"/>
            </a:solidFill>
            <a:prstDash val="solid"/>
          </a:ln>
        </p:spPr>
      </p:sp>
      <p:sp>
        <p:nvSpPr>
          <p:cNvPr id="14" name="Shape 11"/>
          <p:cNvSpPr/>
          <p:nvPr/>
        </p:nvSpPr>
        <p:spPr>
          <a:xfrm>
            <a:off x="6492240" y="2624328"/>
            <a:ext cx="502920" cy="502920"/>
          </a:xfrm>
          <a:prstGeom prst="ellipse">
            <a:avLst/>
          </a:prstGeom>
          <a:solidFill>
            <a:srgbClr val="1A2338"/>
          </a:solidFill>
          <a:ln w="15875">
            <a:solidFill>
              <a:srgbClr val="00E5A0"/>
            </a:solidFill>
            <a:prstDash val="solid"/>
          </a:ln>
        </p:spPr>
      </p:sp>
      <p:pic>
        <p:nvPicPr>
          <p:cNvPr id="15" name="Image 1" descr="assets/icon_check.png">    </p:cNvPr>
          <p:cNvPicPr>
            <a:picLocks noChangeAspect="1"/>
          </p:cNvPicPr>
          <p:nvPr/>
        </p:nvPicPr>
        <p:blipFill>
          <a:blip r:embed="rId2"/>
          <a:stretch>
            <a:fillRect/>
          </a:stretch>
        </p:blipFill>
        <p:spPr>
          <a:xfrm>
            <a:off x="6612941" y="2745029"/>
            <a:ext cx="261518" cy="261518"/>
          </a:xfrm>
          <a:prstGeom prst="rect">
            <a:avLst/>
          </a:prstGeom>
        </p:spPr>
      </p:pic>
      <p:sp>
        <p:nvSpPr>
          <p:cNvPr id="16" name="Text 12"/>
          <p:cNvSpPr/>
          <p:nvPr/>
        </p:nvSpPr>
        <p:spPr>
          <a:xfrm>
            <a:off x="7132320" y="2697480"/>
            <a:ext cx="4251960" cy="365760"/>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CANDIDATE C FGM FORGING DIE</a:t>
            </a:r>
            <a:endParaRPr lang="en-US" sz="1250" dirty="0"/>
          </a:p>
        </p:txBody>
      </p:sp>
      <p:sp>
        <p:nvSpPr>
          <p:cNvPr id="17" name="Text 13"/>
          <p:cNvSpPr/>
          <p:nvPr/>
        </p:nvSpPr>
        <p:spPr>
          <a:xfrm>
            <a:off x="6537960" y="3246120"/>
            <a:ext cx="4800600" cy="914400"/>
          </a:xfrm>
          <a:prstGeom prst="rect">
            <a:avLst/>
          </a:prstGeom>
          <a:noFill/>
          <a:ln/>
        </p:spPr>
        <p:txBody>
          <a:bodyPr wrap="square" rtlCol="0" anchor="ctr"/>
          <a:lstStyle/>
          <a:p>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Operates smoothly at 1200°C — retains </a:t>
            </a:r>
            <a:pPr indent="0" marL="0">
              <a:lnSpc>
                <a:spcPct val="125000"/>
              </a:lnSpc>
              <a:buNone/>
            </a:pPr>
            <a:r>
              <a:rPr lang="en-US" sz="1150" b="1" dirty="0">
                <a:solidFill>
                  <a:srgbClr val="00E5A0"/>
                </a:solidFill>
                <a:latin typeface="Calibri" pitchFamily="34" charset="0"/>
                <a:ea typeface="Calibri" pitchFamily="34" charset="-122"/>
                <a:cs typeface="Calibri" pitchFamily="34" charset="-120"/>
              </a:rPr>
              <a:t>917.7 MPa</a:t>
            </a:r>
            <a:pPr indent="0" marL="0">
              <a:lnSpc>
                <a:spcPct val="125000"/>
              </a:lnSpc>
              <a:buNone/>
            </a:pPr>
            <a:r>
              <a:rPr lang="en-US" sz="1150" dirty="0">
                <a:solidFill>
                  <a:srgbClr val="AAB4C6"/>
                </a:solidFill>
                <a:latin typeface="Calibri" pitchFamily="34" charset="0"/>
                <a:ea typeface="Calibri" pitchFamily="34" charset="-122"/>
                <a:cs typeface="Calibri" pitchFamily="34" charset="-120"/>
              </a:rPr>
              <a:t> yield strength, no delamination.</a:t>
            </a:r>
            <a:endParaRPr lang="en-US" sz="1150" dirty="0"/>
          </a:p>
        </p:txBody>
      </p:sp>
      <p:sp>
        <p:nvSpPr>
          <p:cNvPr id="18" name="Text 14"/>
          <p:cNvSpPr/>
          <p:nvPr/>
        </p:nvSpPr>
        <p:spPr>
          <a:xfrm>
            <a:off x="548640" y="4434840"/>
            <a:ext cx="11091672" cy="320040"/>
          </a:xfrm>
          <a:prstGeom prst="rect">
            <a:avLst/>
          </a:prstGeom>
          <a:noFill/>
          <a:ln/>
        </p:spPr>
        <p:txBody>
          <a:bodyPr wrap="square" rtlCol="0" anchor="ctr"/>
          <a:lstStyle/>
          <a:p>
            <a:pPr indent="0" marL="0">
              <a:buNone/>
            </a:pPr>
            <a:r>
              <a:rPr lang="en-US" sz="1300" b="1" dirty="0">
                <a:solidFill>
                  <a:srgbClr val="F5F7FA"/>
                </a:solidFill>
                <a:latin typeface="Arial" pitchFamily="34" charset="0"/>
                <a:ea typeface="Arial" pitchFamily="34" charset="-122"/>
                <a:cs typeface="Arial" pitchFamily="34" charset="-120"/>
              </a:rPr>
              <a:t>THE CRYSTAL PARADIGM UPGRADE: Our </a:t>
            </a:r>
            <a:pPr indent="0" marL="0">
              <a:buNone/>
            </a:pPr>
            <a:r>
              <a:rPr lang="en-US" sz="1300" b="1" dirty="0">
                <a:solidFill>
                  <a:srgbClr val="00E5A0"/>
                </a:solidFill>
                <a:latin typeface="Arial" pitchFamily="34" charset="0"/>
                <a:ea typeface="Arial" pitchFamily="34" charset="-122"/>
                <a:cs typeface="Arial" pitchFamily="34" charset="-120"/>
              </a:rPr>
              <a:t>11-layer FGM architecture</a:t>
            </a:r>
            <a:pPr indent="0" marL="0">
              <a:buNone/>
            </a:pPr>
            <a:r>
              <a:rPr lang="en-US" sz="1300" b="1" dirty="0">
                <a:solidFill>
                  <a:srgbClr val="F5F7FA"/>
                </a:solidFill>
                <a:latin typeface="Arial" pitchFamily="34" charset="0"/>
                <a:ea typeface="Arial" pitchFamily="34" charset="-122"/>
                <a:cs typeface="Arial" pitchFamily="34" charset="-120"/>
              </a:rPr>
              <a:t> replaces the traditional monolithic die.</a:t>
            </a:r>
            <a:endParaRPr lang="en-US" sz="1300" dirty="0"/>
          </a:p>
        </p:txBody>
      </p:sp>
      <p:sp>
        <p:nvSpPr>
          <p:cNvPr id="19" name="Shape 15"/>
          <p:cNvSpPr/>
          <p:nvPr/>
        </p:nvSpPr>
        <p:spPr>
          <a:xfrm>
            <a:off x="548640" y="4800600"/>
            <a:ext cx="3538728" cy="1463040"/>
          </a:xfrm>
          <a:prstGeom prst="roundRect">
            <a:avLst>
              <a:gd name="adj" fmla="val 6250"/>
            </a:avLst>
          </a:prstGeom>
          <a:solidFill>
            <a:srgbClr val="141B2E"/>
          </a:solidFill>
          <a:ln w="12700">
            <a:solidFill>
              <a:srgbClr val="2A3550"/>
            </a:solidFill>
            <a:prstDash val="solid"/>
          </a:ln>
        </p:spPr>
      </p:sp>
      <p:sp>
        <p:nvSpPr>
          <p:cNvPr id="20" name="Shape 16"/>
          <p:cNvSpPr/>
          <p:nvPr/>
        </p:nvSpPr>
        <p:spPr>
          <a:xfrm>
            <a:off x="749808" y="4983480"/>
            <a:ext cx="420624" cy="420624"/>
          </a:xfrm>
          <a:prstGeom prst="ellipse">
            <a:avLst/>
          </a:prstGeom>
          <a:solidFill>
            <a:srgbClr val="1A2338"/>
          </a:solidFill>
          <a:ln w="15875">
            <a:solidFill>
              <a:srgbClr val="00B8FF"/>
            </a:solidFill>
            <a:prstDash val="solid"/>
          </a:ln>
        </p:spPr>
      </p:sp>
      <p:pic>
        <p:nvPicPr>
          <p:cNvPr id="21" name="Image 2" descr="assets/icon_layers.png">    </p:cNvPr>
          <p:cNvPicPr>
            <a:picLocks noChangeAspect="1"/>
          </p:cNvPicPr>
          <p:nvPr/>
        </p:nvPicPr>
        <p:blipFill>
          <a:blip r:embed="rId3"/>
          <a:stretch>
            <a:fillRect/>
          </a:stretch>
        </p:blipFill>
        <p:spPr>
          <a:xfrm>
            <a:off x="850758" y="5084430"/>
            <a:ext cx="218724" cy="218724"/>
          </a:xfrm>
          <a:prstGeom prst="rect">
            <a:avLst/>
          </a:prstGeom>
        </p:spPr>
      </p:pic>
      <p:sp>
        <p:nvSpPr>
          <p:cNvPr id="22" name="Text 17"/>
          <p:cNvSpPr/>
          <p:nvPr/>
        </p:nvSpPr>
        <p:spPr>
          <a:xfrm>
            <a:off x="1280160" y="4983480"/>
            <a:ext cx="2624328" cy="420624"/>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The Core</a:t>
            </a:r>
            <a:endParaRPr lang="en-US" sz="1250" dirty="0"/>
          </a:p>
        </p:txBody>
      </p:sp>
      <p:sp>
        <p:nvSpPr>
          <p:cNvPr id="23" name="Text 18"/>
          <p:cNvSpPr/>
          <p:nvPr/>
        </p:nvSpPr>
        <p:spPr>
          <a:xfrm>
            <a:off x="749808" y="5458968"/>
            <a:ext cx="3136392" cy="749808"/>
          </a:xfrm>
          <a:prstGeom prst="rect">
            <a:avLst/>
          </a:prstGeom>
          <a:noFill/>
          <a:ln/>
        </p:spPr>
        <p:txBody>
          <a:bodyPr wrap="square" rtlCol="0" anchor="ctr"/>
          <a:lstStyle/>
          <a:p>
            <a:pPr indent="0" marL="0">
              <a:lnSpc>
                <a:spcPct val="120000"/>
              </a:lnSpc>
              <a:buNone/>
            </a:pPr>
            <a:r>
              <a:rPr lang="en-US" sz="1030" dirty="0">
                <a:solidFill>
                  <a:srgbClr val="AAB4C6"/>
                </a:solidFill>
                <a:latin typeface="Calibri" pitchFamily="34" charset="0"/>
                <a:ea typeface="Calibri" pitchFamily="34" charset="-122"/>
                <a:cs typeface="Calibri" pitchFamily="34" charset="-120"/>
              </a:rPr>
              <a:t>The Ta-W-Cr-V-Ti-Zr-Hf alloy retains </a:t>
            </a:r>
            <a:pPr indent="0" marL="0">
              <a:lnSpc>
                <a:spcPct val="120000"/>
              </a:lnSpc>
              <a:buNone/>
            </a:pPr>
            <a:r>
              <a:rPr lang="en-US" sz="1030" b="1" dirty="0">
                <a:solidFill>
                  <a:srgbClr val="00E5A0"/>
                </a:solidFill>
                <a:latin typeface="Calibri" pitchFamily="34" charset="0"/>
                <a:ea typeface="Calibri" pitchFamily="34" charset="-122"/>
                <a:cs typeface="Calibri" pitchFamily="34" charset="-120"/>
              </a:rPr>
              <a:t>&gt;917.7 MPa yield strength</a:t>
            </a:r>
            <a:pPr indent="0" marL="0">
              <a:lnSpc>
                <a:spcPct val="120000"/>
              </a:lnSpc>
              <a:buNone/>
            </a:pPr>
            <a:r>
              <a:rPr lang="en-US" sz="1030" dirty="0">
                <a:solidFill>
                  <a:srgbClr val="AAB4C6"/>
                </a:solidFill>
                <a:latin typeface="Calibri" pitchFamily="34" charset="0"/>
                <a:ea typeface="Calibri" pitchFamily="34" charset="-122"/>
                <a:cs typeface="Calibri" pitchFamily="34" charset="-120"/>
              </a:rPr>
              <a:t> at 1200°C, preventing mechanical deformation under massive forging pressures.</a:t>
            </a:r>
            <a:endParaRPr lang="en-US" sz="1030" dirty="0"/>
          </a:p>
        </p:txBody>
      </p:sp>
      <p:sp>
        <p:nvSpPr>
          <p:cNvPr id="24" name="Shape 19"/>
          <p:cNvSpPr/>
          <p:nvPr/>
        </p:nvSpPr>
        <p:spPr>
          <a:xfrm>
            <a:off x="4325112" y="4800600"/>
            <a:ext cx="3538728" cy="1463040"/>
          </a:xfrm>
          <a:prstGeom prst="roundRect">
            <a:avLst>
              <a:gd name="adj" fmla="val 6250"/>
            </a:avLst>
          </a:prstGeom>
          <a:solidFill>
            <a:srgbClr val="141B2E"/>
          </a:solidFill>
          <a:ln w="12700">
            <a:solidFill>
              <a:srgbClr val="2A3550"/>
            </a:solidFill>
            <a:prstDash val="solid"/>
          </a:ln>
        </p:spPr>
      </p:sp>
      <p:sp>
        <p:nvSpPr>
          <p:cNvPr id="25" name="Shape 20"/>
          <p:cNvSpPr/>
          <p:nvPr/>
        </p:nvSpPr>
        <p:spPr>
          <a:xfrm>
            <a:off x="4526280" y="4983480"/>
            <a:ext cx="420624" cy="420624"/>
          </a:xfrm>
          <a:prstGeom prst="ellipse">
            <a:avLst/>
          </a:prstGeom>
          <a:solidFill>
            <a:srgbClr val="1A2338"/>
          </a:solidFill>
          <a:ln w="15875">
            <a:solidFill>
              <a:srgbClr val="00B8FF"/>
            </a:solidFill>
            <a:prstDash val="solid"/>
          </a:ln>
        </p:spPr>
      </p:sp>
      <p:pic>
        <p:nvPicPr>
          <p:cNvPr id="26" name="Image 3" descr="assets/icon_shield.png">    </p:cNvPr>
          <p:cNvPicPr>
            <a:picLocks noChangeAspect="1"/>
          </p:cNvPicPr>
          <p:nvPr/>
        </p:nvPicPr>
        <p:blipFill>
          <a:blip r:embed="rId4"/>
          <a:stretch>
            <a:fillRect/>
          </a:stretch>
        </p:blipFill>
        <p:spPr>
          <a:xfrm>
            <a:off x="4627230" y="5084430"/>
            <a:ext cx="218724" cy="218724"/>
          </a:xfrm>
          <a:prstGeom prst="rect">
            <a:avLst/>
          </a:prstGeom>
        </p:spPr>
      </p:pic>
      <p:sp>
        <p:nvSpPr>
          <p:cNvPr id="27" name="Text 21"/>
          <p:cNvSpPr/>
          <p:nvPr/>
        </p:nvSpPr>
        <p:spPr>
          <a:xfrm>
            <a:off x="5056632" y="4983480"/>
            <a:ext cx="2624328" cy="420624"/>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The Surface</a:t>
            </a:r>
            <a:endParaRPr lang="en-US" sz="1250" dirty="0"/>
          </a:p>
        </p:txBody>
      </p:sp>
      <p:sp>
        <p:nvSpPr>
          <p:cNvPr id="28" name="Text 22"/>
          <p:cNvSpPr/>
          <p:nvPr/>
        </p:nvSpPr>
        <p:spPr>
          <a:xfrm>
            <a:off x="4526280" y="5458968"/>
            <a:ext cx="3136392" cy="749808"/>
          </a:xfrm>
          <a:prstGeom prst="rect">
            <a:avLst/>
          </a:prstGeom>
          <a:noFill/>
          <a:ln/>
        </p:spPr>
        <p:txBody>
          <a:bodyPr wrap="square" rtlCol="0" anchor="ctr"/>
          <a:lstStyle/>
          <a:p>
            <a:pPr indent="0" marL="0">
              <a:lnSpc>
                <a:spcPct val="120000"/>
              </a:lnSpc>
              <a:buNone/>
            </a:pPr>
            <a:r>
              <a:rPr lang="en-US" sz="1030" dirty="0">
                <a:solidFill>
                  <a:srgbClr val="AAB4C6"/>
                </a:solidFill>
                <a:latin typeface="Calibri" pitchFamily="34" charset="0"/>
                <a:ea typeface="Calibri" pitchFamily="34" charset="-122"/>
                <a:cs typeface="Calibri" pitchFamily="34" charset="-120"/>
              </a:rPr>
              <a:t>The LZO (Lanthanum Zirconate) ceramic outer layer acts as a supreme thermal barrier, preventing heat transfer from the hot-forged blank into the die infrastructure.</a:t>
            </a:r>
            <a:endParaRPr lang="en-US" sz="1030" dirty="0"/>
          </a:p>
        </p:txBody>
      </p:sp>
      <p:sp>
        <p:nvSpPr>
          <p:cNvPr id="29" name="Shape 23"/>
          <p:cNvSpPr/>
          <p:nvPr/>
        </p:nvSpPr>
        <p:spPr>
          <a:xfrm>
            <a:off x="8101584" y="4800600"/>
            <a:ext cx="3538728" cy="1463040"/>
          </a:xfrm>
          <a:prstGeom prst="roundRect">
            <a:avLst>
              <a:gd name="adj" fmla="val 6250"/>
            </a:avLst>
          </a:prstGeom>
          <a:solidFill>
            <a:srgbClr val="141B2E"/>
          </a:solidFill>
          <a:ln w="12700">
            <a:solidFill>
              <a:srgbClr val="2A3550"/>
            </a:solidFill>
            <a:prstDash val="solid"/>
          </a:ln>
        </p:spPr>
      </p:sp>
      <p:sp>
        <p:nvSpPr>
          <p:cNvPr id="30" name="Shape 24"/>
          <p:cNvSpPr/>
          <p:nvPr/>
        </p:nvSpPr>
        <p:spPr>
          <a:xfrm>
            <a:off x="8302752" y="4983480"/>
            <a:ext cx="420624" cy="420624"/>
          </a:xfrm>
          <a:prstGeom prst="ellipse">
            <a:avLst/>
          </a:prstGeom>
          <a:solidFill>
            <a:srgbClr val="1A2338"/>
          </a:solidFill>
          <a:ln w="15875">
            <a:solidFill>
              <a:srgbClr val="00B8FF"/>
            </a:solidFill>
            <a:prstDash val="solid"/>
          </a:ln>
        </p:spPr>
      </p:sp>
      <p:pic>
        <p:nvPicPr>
          <p:cNvPr id="31" name="Image 4" descr="assets/icon_trending.png">    </p:cNvPr>
          <p:cNvPicPr>
            <a:picLocks noChangeAspect="1"/>
          </p:cNvPicPr>
          <p:nvPr/>
        </p:nvPicPr>
        <p:blipFill>
          <a:blip r:embed="rId5"/>
          <a:stretch>
            <a:fillRect/>
          </a:stretch>
        </p:blipFill>
        <p:spPr>
          <a:xfrm>
            <a:off x="8403702" y="5084430"/>
            <a:ext cx="218724" cy="218724"/>
          </a:xfrm>
          <a:prstGeom prst="rect">
            <a:avLst/>
          </a:prstGeom>
        </p:spPr>
      </p:pic>
      <p:sp>
        <p:nvSpPr>
          <p:cNvPr id="32" name="Text 25"/>
          <p:cNvSpPr/>
          <p:nvPr/>
        </p:nvSpPr>
        <p:spPr>
          <a:xfrm>
            <a:off x="8833104" y="4983480"/>
            <a:ext cx="2624328" cy="420624"/>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The Result</a:t>
            </a:r>
            <a:endParaRPr lang="en-US" sz="1250" dirty="0"/>
          </a:p>
        </p:txBody>
      </p:sp>
      <p:sp>
        <p:nvSpPr>
          <p:cNvPr id="33" name="Text 26"/>
          <p:cNvSpPr/>
          <p:nvPr/>
        </p:nvSpPr>
        <p:spPr>
          <a:xfrm>
            <a:off x="8302752" y="5458968"/>
            <a:ext cx="3136392" cy="749808"/>
          </a:xfrm>
          <a:prstGeom prst="rect">
            <a:avLst/>
          </a:prstGeom>
          <a:noFill/>
          <a:ln/>
        </p:spPr>
        <p:txBody>
          <a:bodyPr wrap="square" rtlCol="0" anchor="ctr"/>
          <a:lstStyle/>
          <a:p>
            <a:pPr indent="0" marL="0">
              <a:lnSpc>
                <a:spcPct val="120000"/>
              </a:lnSpc>
              <a:buNone/>
            </a:pPr>
            <a:r>
              <a:rPr lang="en-US" sz="1030" dirty="0">
                <a:solidFill>
                  <a:srgbClr val="AAB4C6"/>
                </a:solidFill>
                <a:latin typeface="Calibri" pitchFamily="34" charset="0"/>
                <a:ea typeface="Calibri" pitchFamily="34" charset="-122"/>
                <a:cs typeface="Calibri" pitchFamily="34" charset="-120"/>
              </a:rPr>
              <a:t>Elimination of rapid thermal fatigue cracking, vastly extending tooling life and accelerating manufacturing throughput.</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12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SCIDIP DEPLOYMENT 2</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500" b="1" spc="30" kern="0" dirty="0">
                <a:solidFill>
                  <a:srgbClr val="F5F7FA"/>
                </a:solidFill>
                <a:latin typeface="Arial" pitchFamily="34" charset="0"/>
                <a:ea typeface="Arial" pitchFamily="34" charset="-122"/>
                <a:cs typeface="Arial" pitchFamily="34" charset="-120"/>
              </a:rPr>
              <a:t>SCIDIP DEPLOYMENT 2: MAGNET-LESS EV MOTORS</a:t>
            </a:r>
            <a:endParaRPr lang="en-US" sz="25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Enabling Rare-Earth Independence in Traction Motors</a:t>
            </a:r>
            <a:endParaRPr lang="en-US" sz="1500" dirty="0"/>
          </a:p>
        </p:txBody>
      </p:sp>
      <p:sp>
        <p:nvSpPr>
          <p:cNvPr id="7" name="Text 5"/>
          <p:cNvSpPr/>
          <p:nvPr/>
        </p:nvSpPr>
        <p:spPr>
          <a:xfrm>
            <a:off x="548640" y="1536192"/>
            <a:ext cx="11091672" cy="731520"/>
          </a:xfrm>
          <a:prstGeom prst="rect">
            <a:avLst/>
          </a:prstGeom>
          <a:noFill/>
          <a:ln/>
        </p:spPr>
        <p:txBody>
          <a:bodyPr wrap="square" rtlCol="0" anchor="ctr"/>
          <a:lstStyle/>
          <a:p>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As part of the "EPIC" roadmap, Sona Comstar is heavily investing in Switched Reluctance Motors (SRMs) to eliminate reliance on imported Neodymium magnets. The engineering bottleneck? SRMs generate extreme, localized thermal hotspots that degrade traditional stator/rotor metals.</a:t>
            </a:r>
            <a:endParaRPr lang="en-US" sz="1250" dirty="0"/>
          </a:p>
        </p:txBody>
      </p:sp>
      <p:sp>
        <p:nvSpPr>
          <p:cNvPr id="8" name="Shape 6"/>
          <p:cNvSpPr/>
          <p:nvPr/>
        </p:nvSpPr>
        <p:spPr>
          <a:xfrm>
            <a:off x="548640" y="2514600"/>
            <a:ext cx="5349240" cy="3566160"/>
          </a:xfrm>
          <a:prstGeom prst="roundRect">
            <a:avLst>
              <a:gd name="adj" fmla="val 2564"/>
            </a:avLst>
          </a:prstGeom>
          <a:solidFill>
            <a:srgbClr val="1A2338"/>
          </a:solidFill>
          <a:ln w="12700">
            <a:solidFill>
              <a:srgbClr val="00B8FF"/>
            </a:solidFill>
            <a:prstDash val="solid"/>
          </a:ln>
        </p:spPr>
      </p:sp>
      <p:sp>
        <p:nvSpPr>
          <p:cNvPr id="9" name="Text 7"/>
          <p:cNvSpPr/>
          <p:nvPr/>
        </p:nvSpPr>
        <p:spPr>
          <a:xfrm>
            <a:off x="777240" y="2697480"/>
            <a:ext cx="4892040" cy="274320"/>
          </a:xfrm>
          <a:prstGeom prst="rect">
            <a:avLst/>
          </a:prstGeom>
          <a:noFill/>
          <a:ln/>
        </p:spPr>
        <p:txBody>
          <a:bodyPr wrap="square" rtlCol="0" anchor="ctr"/>
          <a:lstStyle/>
          <a:p>
            <a:pPr indent="0" marL="0">
              <a:buNone/>
            </a:pPr>
            <a:r>
              <a:rPr lang="en-US" sz="1100" b="1" spc="40" kern="0" dirty="0">
                <a:solidFill>
                  <a:srgbClr val="00B8FF"/>
                </a:solidFill>
                <a:latin typeface="Arial" pitchFamily="34" charset="0"/>
                <a:ea typeface="Arial" pitchFamily="34" charset="-122"/>
                <a:cs typeface="Arial" pitchFamily="34" charset="-120"/>
              </a:rPr>
              <a:t>SRM STATOR — SCHEMATIC</a:t>
            </a:r>
            <a:endParaRPr lang="en-US" sz="1100" dirty="0"/>
          </a:p>
        </p:txBody>
      </p:sp>
      <p:sp>
        <p:nvSpPr>
          <p:cNvPr id="10" name="Shape 8"/>
          <p:cNvSpPr/>
          <p:nvPr/>
        </p:nvSpPr>
        <p:spPr>
          <a:xfrm>
            <a:off x="1988820" y="3200400"/>
            <a:ext cx="2468880" cy="2468880"/>
          </a:xfrm>
          <a:prstGeom prst="ellipse">
            <a:avLst/>
          </a:prstGeom>
          <a:ln w="25400">
            <a:solidFill>
              <a:srgbClr val="00B8FF"/>
            </a:solidFill>
            <a:prstDash val="solid"/>
          </a:ln>
        </p:spPr>
      </p:sp>
      <p:sp>
        <p:nvSpPr>
          <p:cNvPr id="11" name="Shape 9"/>
          <p:cNvSpPr/>
          <p:nvPr/>
        </p:nvSpPr>
        <p:spPr>
          <a:xfrm>
            <a:off x="2704795" y="3916375"/>
            <a:ext cx="1036930" cy="1036930"/>
          </a:xfrm>
          <a:prstGeom prst="ellipse">
            <a:avLst/>
          </a:prstGeom>
          <a:solidFill>
            <a:srgbClr val="141B2E"/>
          </a:solidFill>
          <a:ln w="19050">
            <a:solidFill>
              <a:srgbClr val="6E7A90"/>
            </a:solidFill>
            <a:prstDash val="solid"/>
          </a:ln>
        </p:spPr>
      </p:sp>
      <p:sp>
        <p:nvSpPr>
          <p:cNvPr id="12" name="Shape 10"/>
          <p:cNvSpPr/>
          <p:nvPr/>
        </p:nvSpPr>
        <p:spPr>
          <a:xfrm>
            <a:off x="3984041" y="4306824"/>
            <a:ext cx="256032" cy="256032"/>
          </a:xfrm>
          <a:prstGeom prst="ellipse">
            <a:avLst/>
          </a:prstGeom>
          <a:solidFill>
            <a:srgbClr val="FF5A5F"/>
          </a:solidFill>
          <a:ln/>
        </p:spPr>
      </p:sp>
      <p:sp>
        <p:nvSpPr>
          <p:cNvPr id="13" name="Shape 11"/>
          <p:cNvSpPr/>
          <p:nvPr/>
        </p:nvSpPr>
        <p:spPr>
          <a:xfrm>
            <a:off x="3539642" y="5076545"/>
            <a:ext cx="256032" cy="256032"/>
          </a:xfrm>
          <a:prstGeom prst="ellipse">
            <a:avLst/>
          </a:prstGeom>
          <a:solidFill>
            <a:srgbClr val="00E5A0"/>
          </a:solidFill>
          <a:ln/>
        </p:spPr>
      </p:sp>
      <p:sp>
        <p:nvSpPr>
          <p:cNvPr id="14" name="Shape 12"/>
          <p:cNvSpPr/>
          <p:nvPr/>
        </p:nvSpPr>
        <p:spPr>
          <a:xfrm>
            <a:off x="2650846" y="5076545"/>
            <a:ext cx="256032" cy="256032"/>
          </a:xfrm>
          <a:prstGeom prst="ellipse">
            <a:avLst/>
          </a:prstGeom>
          <a:solidFill>
            <a:srgbClr val="FF5A5F"/>
          </a:solidFill>
          <a:ln/>
        </p:spPr>
      </p:sp>
      <p:sp>
        <p:nvSpPr>
          <p:cNvPr id="15" name="Shape 13"/>
          <p:cNvSpPr/>
          <p:nvPr/>
        </p:nvSpPr>
        <p:spPr>
          <a:xfrm>
            <a:off x="2206447" y="4306824"/>
            <a:ext cx="256032" cy="256032"/>
          </a:xfrm>
          <a:prstGeom prst="ellipse">
            <a:avLst/>
          </a:prstGeom>
          <a:solidFill>
            <a:srgbClr val="00E5A0"/>
          </a:solidFill>
          <a:ln/>
        </p:spPr>
      </p:sp>
      <p:sp>
        <p:nvSpPr>
          <p:cNvPr id="16" name="Shape 14"/>
          <p:cNvSpPr/>
          <p:nvPr/>
        </p:nvSpPr>
        <p:spPr>
          <a:xfrm>
            <a:off x="2650846" y="3537103"/>
            <a:ext cx="256032" cy="256032"/>
          </a:xfrm>
          <a:prstGeom prst="ellipse">
            <a:avLst/>
          </a:prstGeom>
          <a:solidFill>
            <a:srgbClr val="FF5A5F"/>
          </a:solidFill>
          <a:ln/>
        </p:spPr>
      </p:sp>
      <p:sp>
        <p:nvSpPr>
          <p:cNvPr id="17" name="Shape 15"/>
          <p:cNvSpPr/>
          <p:nvPr/>
        </p:nvSpPr>
        <p:spPr>
          <a:xfrm>
            <a:off x="3539642" y="3537103"/>
            <a:ext cx="256032" cy="256032"/>
          </a:xfrm>
          <a:prstGeom prst="ellipse">
            <a:avLst/>
          </a:prstGeom>
          <a:solidFill>
            <a:srgbClr val="00E5A0"/>
          </a:solidFill>
          <a:ln/>
        </p:spPr>
      </p:sp>
      <p:sp>
        <p:nvSpPr>
          <p:cNvPr id="18" name="Text 16"/>
          <p:cNvSpPr/>
          <p:nvPr/>
        </p:nvSpPr>
        <p:spPr>
          <a:xfrm>
            <a:off x="2704795" y="4325112"/>
            <a:ext cx="1036930" cy="219456"/>
          </a:xfrm>
          <a:prstGeom prst="rect">
            <a:avLst/>
          </a:prstGeom>
          <a:noFill/>
          <a:ln/>
        </p:spPr>
        <p:txBody>
          <a:bodyPr wrap="square" rtlCol="0" anchor="ctr"/>
          <a:lstStyle/>
          <a:p>
            <a:pPr algn="ctr" indent="0" marL="0">
              <a:buNone/>
            </a:pPr>
            <a:r>
              <a:rPr lang="en-US" sz="800" dirty="0">
                <a:solidFill>
                  <a:srgbClr val="6E7A90"/>
                </a:solidFill>
                <a:latin typeface="Calibri" pitchFamily="34" charset="0"/>
                <a:ea typeface="Calibri" pitchFamily="34" charset="-122"/>
                <a:cs typeface="Calibri" pitchFamily="34" charset="-120"/>
              </a:rPr>
              <a:t>rotor</a:t>
            </a:r>
            <a:endParaRPr lang="en-US" sz="800" dirty="0"/>
          </a:p>
        </p:txBody>
      </p:sp>
      <p:sp>
        <p:nvSpPr>
          <p:cNvPr id="19" name="Text 17"/>
          <p:cNvSpPr/>
          <p:nvPr/>
        </p:nvSpPr>
        <p:spPr>
          <a:xfrm>
            <a:off x="777240" y="5715000"/>
            <a:ext cx="4892040" cy="256032"/>
          </a:xfrm>
          <a:prstGeom prst="rect">
            <a:avLst/>
          </a:prstGeom>
          <a:noFill/>
          <a:ln/>
        </p:spPr>
        <p:txBody>
          <a:bodyPr wrap="square" rtlCol="0" anchor="ctr"/>
          <a:lstStyle/>
          <a:p>
            <a:pPr indent="0" marL="0">
              <a:buNone/>
            </a:pPr>
            <a:r>
              <a:rPr lang="en-US" sz="900" dirty="0">
                <a:solidFill>
                  <a:srgbClr val="AAB4C6"/>
                </a:solidFill>
                <a:latin typeface="Calibri" pitchFamily="34" charset="0"/>
                <a:ea typeface="Calibri" pitchFamily="34" charset="-122"/>
                <a:cs typeface="Calibri" pitchFamily="34" charset="-120"/>
              </a:rPr>
              <a:t>●  localized thermal hotspot     ●  Candidate C thermal shielding</a:t>
            </a:r>
            <a:endParaRPr lang="en-US" sz="900" dirty="0"/>
          </a:p>
        </p:txBody>
      </p:sp>
      <p:sp>
        <p:nvSpPr>
          <p:cNvPr id="20" name="Text 18"/>
          <p:cNvSpPr/>
          <p:nvPr/>
        </p:nvSpPr>
        <p:spPr>
          <a:xfrm>
            <a:off x="6263640" y="2514600"/>
            <a:ext cx="5349240" cy="960120"/>
          </a:xfrm>
          <a:prstGeom prst="rect">
            <a:avLst/>
          </a:prstGeom>
          <a:noFill/>
          <a:ln/>
        </p:spPr>
        <p:txBody>
          <a:bodyPr wrap="square" rtlCol="0" anchor="ctr"/>
          <a:lstStyle/>
          <a:p>
            <a:pPr indent="0" marL="0">
              <a:lnSpc>
                <a:spcPct val="125000"/>
              </a:lnSpc>
              <a:buNone/>
            </a:pPr>
            <a:r>
              <a:rPr lang="en-US" sz="1200" dirty="0">
                <a:solidFill>
                  <a:srgbClr val="AAB4C6"/>
                </a:solidFill>
                <a:latin typeface="Calibri" pitchFamily="34" charset="0"/>
                <a:ea typeface="Calibri" pitchFamily="34" charset="-122"/>
                <a:cs typeface="Calibri" pitchFamily="34" charset="-120"/>
              </a:rPr>
              <a:t>THE CRYSTAL PARADIGM UPGRADE: By deploying our aerospace-derived Candidate C, we provide Sona Comstar with a structural material capable of surviving localized high-temperature spikes without compromising mechanical integrity.</a:t>
            </a:r>
            <a:endParaRPr lang="en-US" sz="1200" dirty="0"/>
          </a:p>
        </p:txBody>
      </p:sp>
      <p:sp>
        <p:nvSpPr>
          <p:cNvPr id="21" name="Shape 19"/>
          <p:cNvSpPr/>
          <p:nvPr/>
        </p:nvSpPr>
        <p:spPr>
          <a:xfrm>
            <a:off x="6263640" y="3611880"/>
            <a:ext cx="5349240" cy="1188720"/>
          </a:xfrm>
          <a:prstGeom prst="roundRect">
            <a:avLst>
              <a:gd name="adj" fmla="val 7692"/>
            </a:avLst>
          </a:prstGeom>
          <a:solidFill>
            <a:srgbClr val="141B2E"/>
          </a:solidFill>
          <a:ln w="12700">
            <a:solidFill>
              <a:srgbClr val="2A3550"/>
            </a:solidFill>
            <a:prstDash val="solid"/>
          </a:ln>
        </p:spPr>
      </p:sp>
      <p:sp>
        <p:nvSpPr>
          <p:cNvPr id="22" name="Shape 20"/>
          <p:cNvSpPr/>
          <p:nvPr/>
        </p:nvSpPr>
        <p:spPr>
          <a:xfrm>
            <a:off x="6464808" y="3794760"/>
            <a:ext cx="457200" cy="457200"/>
          </a:xfrm>
          <a:prstGeom prst="ellipse">
            <a:avLst/>
          </a:prstGeom>
          <a:solidFill>
            <a:srgbClr val="1A2338"/>
          </a:solidFill>
          <a:ln w="15875">
            <a:solidFill>
              <a:srgbClr val="00B8FF"/>
            </a:solidFill>
            <a:prstDash val="solid"/>
          </a:ln>
        </p:spPr>
      </p:sp>
      <p:pic>
        <p:nvPicPr>
          <p:cNvPr id="23" name="Image 0" descr="assets/icon_shield.png">    </p:cNvPr>
          <p:cNvPicPr>
            <a:picLocks noChangeAspect="1"/>
          </p:cNvPicPr>
          <p:nvPr/>
        </p:nvPicPr>
        <p:blipFill>
          <a:blip r:embed="rId1"/>
          <a:stretch>
            <a:fillRect/>
          </a:stretch>
        </p:blipFill>
        <p:spPr>
          <a:xfrm>
            <a:off x="6574536" y="3904488"/>
            <a:ext cx="237744" cy="237744"/>
          </a:xfrm>
          <a:prstGeom prst="rect">
            <a:avLst/>
          </a:prstGeom>
        </p:spPr>
      </p:pic>
      <p:sp>
        <p:nvSpPr>
          <p:cNvPr id="24" name="Text 21"/>
          <p:cNvSpPr/>
          <p:nvPr/>
        </p:nvSpPr>
        <p:spPr>
          <a:xfrm>
            <a:off x="7068312" y="3776472"/>
            <a:ext cx="4343400" cy="292608"/>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Thermal Shielding</a:t>
            </a:r>
            <a:endParaRPr lang="en-US" sz="1250" dirty="0"/>
          </a:p>
        </p:txBody>
      </p:sp>
      <p:sp>
        <p:nvSpPr>
          <p:cNvPr id="25" name="Text 22"/>
          <p:cNvSpPr/>
          <p:nvPr/>
        </p:nvSpPr>
        <p:spPr>
          <a:xfrm>
            <a:off x="6464808" y="4114800"/>
            <a:ext cx="4946904" cy="640080"/>
          </a:xfrm>
          <a:prstGeom prst="rect">
            <a:avLst/>
          </a:prstGeom>
          <a:noFill/>
          <a:ln/>
        </p:spPr>
        <p:txBody>
          <a:bodyPr wrap="square" rtlCol="0" anchor="ctr"/>
          <a:lstStyle/>
          <a:p>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The FGM gradient handles rapid thermal cycling without delamination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15.95 MPa</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 interface shear stress), acting as a physical shield for sensitive copper windings.</a:t>
            </a:r>
            <a:endParaRPr lang="en-US" sz="1070" dirty="0"/>
          </a:p>
        </p:txBody>
      </p:sp>
      <p:sp>
        <p:nvSpPr>
          <p:cNvPr id="26" name="Shape 23"/>
          <p:cNvSpPr/>
          <p:nvPr/>
        </p:nvSpPr>
        <p:spPr>
          <a:xfrm>
            <a:off x="6263640" y="4937760"/>
            <a:ext cx="5349240" cy="1188720"/>
          </a:xfrm>
          <a:prstGeom prst="roundRect">
            <a:avLst>
              <a:gd name="adj" fmla="val 7692"/>
            </a:avLst>
          </a:prstGeom>
          <a:solidFill>
            <a:srgbClr val="141B2E"/>
          </a:solidFill>
          <a:ln w="12700">
            <a:solidFill>
              <a:srgbClr val="2A3550"/>
            </a:solidFill>
            <a:prstDash val="solid"/>
          </a:ln>
        </p:spPr>
      </p:sp>
      <p:sp>
        <p:nvSpPr>
          <p:cNvPr id="27" name="Shape 24"/>
          <p:cNvSpPr/>
          <p:nvPr/>
        </p:nvSpPr>
        <p:spPr>
          <a:xfrm>
            <a:off x="6464808" y="5120640"/>
            <a:ext cx="457200" cy="457200"/>
          </a:xfrm>
          <a:prstGeom prst="ellipse">
            <a:avLst/>
          </a:prstGeom>
          <a:solidFill>
            <a:srgbClr val="1A2338"/>
          </a:solidFill>
          <a:ln w="15875">
            <a:solidFill>
              <a:srgbClr val="FFB020"/>
            </a:solidFill>
            <a:prstDash val="solid"/>
          </a:ln>
        </p:spPr>
      </p:sp>
      <p:pic>
        <p:nvPicPr>
          <p:cNvPr id="28" name="Image 1" descr="assets/icon_magnet.png">    </p:cNvPr>
          <p:cNvPicPr>
            <a:picLocks noChangeAspect="1"/>
          </p:cNvPicPr>
          <p:nvPr/>
        </p:nvPicPr>
        <p:blipFill>
          <a:blip r:embed="rId2"/>
          <a:stretch>
            <a:fillRect/>
          </a:stretch>
        </p:blipFill>
        <p:spPr>
          <a:xfrm>
            <a:off x="6574536" y="5230368"/>
            <a:ext cx="237744" cy="237744"/>
          </a:xfrm>
          <a:prstGeom prst="rect">
            <a:avLst/>
          </a:prstGeom>
        </p:spPr>
      </p:pic>
      <p:sp>
        <p:nvSpPr>
          <p:cNvPr id="29" name="Text 25"/>
          <p:cNvSpPr/>
          <p:nvPr/>
        </p:nvSpPr>
        <p:spPr>
          <a:xfrm>
            <a:off x="7068312" y="5102352"/>
            <a:ext cx="4343400" cy="292608"/>
          </a:xfrm>
          <a:prstGeom prst="rect">
            <a:avLst/>
          </a:prstGeom>
          <a:noFill/>
          <a:ln/>
        </p:spPr>
        <p:txBody>
          <a:bodyPr wrap="square" rtlCol="0" anchor="ctr"/>
          <a:lstStyle/>
          <a:p>
            <a:pPr indent="0" marL="0">
              <a:buNone/>
            </a:pPr>
            <a:r>
              <a:rPr lang="en-US" sz="1250" b="1" dirty="0">
                <a:solidFill>
                  <a:srgbClr val="F5F7FA"/>
                </a:solidFill>
                <a:latin typeface="Arial" pitchFamily="34" charset="0"/>
                <a:ea typeface="Arial" pitchFamily="34" charset="-122"/>
                <a:cs typeface="Arial" pitchFamily="34" charset="-120"/>
              </a:rPr>
              <a:t>Make-In-India Supply Chain</a:t>
            </a:r>
            <a:endParaRPr lang="en-US" sz="1250" dirty="0"/>
          </a:p>
        </p:txBody>
      </p:sp>
      <p:sp>
        <p:nvSpPr>
          <p:cNvPr id="30" name="Text 26"/>
          <p:cNvSpPr/>
          <p:nvPr/>
        </p:nvSpPr>
        <p:spPr>
          <a:xfrm>
            <a:off x="6464808" y="5440680"/>
            <a:ext cx="4946904" cy="640080"/>
          </a:xfrm>
          <a:prstGeom prst="rect">
            <a:avLst/>
          </a:prstGeom>
          <a:noFill/>
          <a:ln/>
        </p:spPr>
        <p:txBody>
          <a:bodyPr wrap="square" rtlCol="0" anchor="ctr"/>
          <a:lstStyle/>
          <a:p>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By substituting Hafnium for Titanium, we drastically drop the alloy cost to </a:t>
            </a:r>
            <a:pPr indent="0" marL="0">
              <a:lnSpc>
                <a:spcPct val="120000"/>
              </a:lnSpc>
              <a:buNone/>
            </a:pPr>
            <a:r>
              <a:rPr lang="en-US" sz="1070" b="1" dirty="0">
                <a:solidFill>
                  <a:srgbClr val="00E5A0"/>
                </a:solidFill>
                <a:latin typeface="Calibri" pitchFamily="34" charset="0"/>
                <a:ea typeface="Calibri" pitchFamily="34" charset="-122"/>
                <a:cs typeface="Calibri" pitchFamily="34" charset="-120"/>
              </a:rPr>
              <a:t>~$170/kg</a:t>
            </a:r>
            <a:pPr indent="0" marL="0">
              <a:lnSpc>
                <a:spcPct val="120000"/>
              </a:lnSpc>
              <a:buNone/>
            </a:pPr>
            <a:r>
              <a:rPr lang="en-US" sz="1070" dirty="0">
                <a:solidFill>
                  <a:srgbClr val="AAB4C6"/>
                </a:solidFill>
                <a:latin typeface="Calibri" pitchFamily="34" charset="0"/>
                <a:ea typeface="Calibri" pitchFamily="34" charset="-122"/>
                <a:cs typeface="Calibri" pitchFamily="34" charset="-120"/>
              </a:rPr>
              <a:t>, making aerospace-grade thermal protection economically viable for high-volume Indian EV manufacturing.</a:t>
            </a:r>
            <a:endParaRPr lang="en-US" sz="10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13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DE-RISKING THE SUPPLY CHAIN</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300" b="1" spc="30" kern="0" dirty="0">
                <a:solidFill>
                  <a:srgbClr val="F5F7FA"/>
                </a:solidFill>
                <a:latin typeface="Arial" pitchFamily="34" charset="0"/>
                <a:ea typeface="Arial" pitchFamily="34" charset="-122"/>
                <a:cs typeface="Arial" pitchFamily="34" charset="-120"/>
              </a:rPr>
              <a:t>INTELLECTUAL PROPERTY &amp; DE-RISKING THE SUPPLY CHAIN</a:t>
            </a:r>
            <a:endParaRPr lang="en-US" sz="23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True Aatmanirbharta for the Indian Mobility Sector</a:t>
            </a:r>
            <a:endParaRPr lang="en-US" sz="1500" dirty="0"/>
          </a:p>
        </p:txBody>
      </p:sp>
      <p:sp>
        <p:nvSpPr>
          <p:cNvPr id="7" name="Text 5"/>
          <p:cNvSpPr/>
          <p:nvPr/>
        </p:nvSpPr>
        <p:spPr>
          <a:xfrm>
            <a:off x="548640" y="1536192"/>
            <a:ext cx="11091672" cy="502920"/>
          </a:xfrm>
          <a:prstGeom prst="rect">
            <a:avLst/>
          </a:prstGeom>
          <a:noFill/>
          <a:ln/>
        </p:spPr>
        <p:txBody>
          <a:bodyPr wrap="square" rtlCol="0" anchor="ctr"/>
          <a:lstStyle/>
          <a:p>
            <a:pPr indent="0" marL="0">
              <a:lnSpc>
                <a:spcPct val="122000"/>
              </a:lnSpc>
              <a:buNone/>
            </a:pPr>
            <a:r>
              <a:rPr lang="en-US" sz="1250" dirty="0">
                <a:solidFill>
                  <a:srgbClr val="AAB4C6"/>
                </a:solidFill>
                <a:latin typeface="Calibri" pitchFamily="34" charset="0"/>
                <a:ea typeface="Calibri" pitchFamily="34" charset="-122"/>
                <a:cs typeface="Calibri" pitchFamily="34" charset="-120"/>
              </a:rPr>
              <a:t>Sona Comstar's strategic reliance on rare-earth elements for EV motors is a massive supply chain vulnerability. Crystal Paradigm offers a computational pathway to complete import substitution.</a:t>
            </a:r>
            <a:endParaRPr lang="en-US" sz="1250" dirty="0"/>
          </a:p>
        </p:txBody>
      </p:sp>
      <p:sp>
        <p:nvSpPr>
          <p:cNvPr id="8" name="Shape 6"/>
          <p:cNvSpPr/>
          <p:nvPr/>
        </p:nvSpPr>
        <p:spPr>
          <a:xfrm>
            <a:off x="548640" y="2194560"/>
            <a:ext cx="4206240" cy="1737360"/>
          </a:xfrm>
          <a:prstGeom prst="roundRect">
            <a:avLst>
              <a:gd name="adj" fmla="val 5263"/>
            </a:avLst>
          </a:prstGeom>
          <a:solidFill>
            <a:srgbClr val="1A2338"/>
          </a:solidFill>
          <a:ln w="12700">
            <a:solidFill>
              <a:srgbClr val="FF5A5F"/>
            </a:solidFill>
            <a:prstDash val="solid"/>
          </a:ln>
        </p:spPr>
      </p:sp>
      <p:sp>
        <p:nvSpPr>
          <p:cNvPr id="9" name="Shape 7"/>
          <p:cNvSpPr/>
          <p:nvPr/>
        </p:nvSpPr>
        <p:spPr>
          <a:xfrm>
            <a:off x="804672" y="2450592"/>
            <a:ext cx="548640" cy="548640"/>
          </a:xfrm>
          <a:prstGeom prst="ellipse">
            <a:avLst/>
          </a:prstGeom>
          <a:solidFill>
            <a:srgbClr val="141B2E"/>
          </a:solidFill>
          <a:ln w="15875">
            <a:solidFill>
              <a:srgbClr val="FF5A5F"/>
            </a:solidFill>
            <a:prstDash val="solid"/>
          </a:ln>
        </p:spPr>
      </p:sp>
      <p:pic>
        <p:nvPicPr>
          <p:cNvPr id="10" name="Image 0" descr="assets/icon_globe.png">    </p:cNvPr>
          <p:cNvPicPr>
            <a:picLocks noChangeAspect="1"/>
          </p:cNvPicPr>
          <p:nvPr/>
        </p:nvPicPr>
        <p:blipFill>
          <a:blip r:embed="rId1"/>
          <a:stretch>
            <a:fillRect/>
          </a:stretch>
        </p:blipFill>
        <p:spPr>
          <a:xfrm>
            <a:off x="936346" y="2582266"/>
            <a:ext cx="285293" cy="285293"/>
          </a:xfrm>
          <a:prstGeom prst="rect">
            <a:avLst/>
          </a:prstGeom>
        </p:spPr>
      </p:pic>
      <p:sp>
        <p:nvSpPr>
          <p:cNvPr id="11" name="Text 8"/>
          <p:cNvSpPr/>
          <p:nvPr/>
        </p:nvSpPr>
        <p:spPr>
          <a:xfrm>
            <a:off x="804672" y="3108960"/>
            <a:ext cx="3703320" cy="274320"/>
          </a:xfrm>
          <a:prstGeom prst="rect">
            <a:avLst/>
          </a:prstGeom>
          <a:noFill/>
          <a:ln/>
        </p:spPr>
        <p:txBody>
          <a:bodyPr wrap="square" rtlCol="0" anchor="ctr"/>
          <a:lstStyle/>
          <a:p>
            <a:pPr indent="0" marL="0">
              <a:buNone/>
            </a:pPr>
            <a:r>
              <a:rPr lang="en-US" sz="1100" b="1" spc="40" kern="0" dirty="0">
                <a:solidFill>
                  <a:srgbClr val="FF5A5F"/>
                </a:solidFill>
                <a:latin typeface="Arial" pitchFamily="34" charset="0"/>
                <a:ea typeface="Arial" pitchFamily="34" charset="-122"/>
                <a:cs typeface="Arial" pitchFamily="34" charset="-120"/>
              </a:rPr>
              <a:t>CURRENT DEPENDENCY</a:t>
            </a:r>
            <a:endParaRPr lang="en-US" sz="1100" dirty="0"/>
          </a:p>
        </p:txBody>
      </p:sp>
      <p:sp>
        <p:nvSpPr>
          <p:cNvPr id="12" name="Text 9"/>
          <p:cNvSpPr/>
          <p:nvPr/>
        </p:nvSpPr>
        <p:spPr>
          <a:xfrm>
            <a:off x="804672" y="3401568"/>
            <a:ext cx="3703320" cy="457200"/>
          </a:xfrm>
          <a:prstGeom prst="rect">
            <a:avLst/>
          </a:prstGeom>
          <a:noFill/>
          <a:ln/>
        </p:spPr>
        <p:txBody>
          <a:bodyPr wrap="square" rtlCol="0" anchor="ctr"/>
          <a:lstStyle/>
          <a:p>
            <a:pPr indent="0" marL="0">
              <a:lnSpc>
                <a:spcPct val="120000"/>
              </a:lnSpc>
              <a:buNone/>
            </a:pPr>
            <a:r>
              <a:rPr lang="en-US" sz="1050" dirty="0">
                <a:solidFill>
                  <a:srgbClr val="AAB4C6"/>
                </a:solidFill>
                <a:latin typeface="Calibri" pitchFamily="34" charset="0"/>
                <a:ea typeface="Calibri" pitchFamily="34" charset="-122"/>
                <a:cs typeface="Calibri" pitchFamily="34" charset="-120"/>
              </a:rPr>
              <a:t>Foreign-controlled Neodymium &amp; Rare-Earth imports for EV motor magnets</a:t>
            </a:r>
            <a:endParaRPr lang="en-US" sz="1050" dirty="0"/>
          </a:p>
        </p:txBody>
      </p:sp>
      <p:sp>
        <p:nvSpPr>
          <p:cNvPr id="13" name="Shape 10"/>
          <p:cNvSpPr/>
          <p:nvPr/>
        </p:nvSpPr>
        <p:spPr>
          <a:xfrm>
            <a:off x="4983480" y="2816352"/>
            <a:ext cx="502920" cy="502920"/>
          </a:xfrm>
          <a:prstGeom prst="ellipse">
            <a:avLst/>
          </a:prstGeom>
          <a:solidFill>
            <a:srgbClr val="0A0E1A"/>
          </a:solidFill>
          <a:ln w="15875">
            <a:solidFill>
              <a:srgbClr val="00E5A0"/>
            </a:solidFill>
            <a:prstDash val="solid"/>
          </a:ln>
        </p:spPr>
      </p:sp>
      <p:pic>
        <p:nvPicPr>
          <p:cNvPr id="14" name="Image 1" descr="assets/icon_arrowright.png">    </p:cNvPr>
          <p:cNvPicPr>
            <a:picLocks noChangeAspect="1"/>
          </p:cNvPicPr>
          <p:nvPr/>
        </p:nvPicPr>
        <p:blipFill>
          <a:blip r:embed="rId2"/>
          <a:stretch>
            <a:fillRect/>
          </a:stretch>
        </p:blipFill>
        <p:spPr>
          <a:xfrm>
            <a:off x="5104181" y="2937053"/>
            <a:ext cx="261518" cy="261518"/>
          </a:xfrm>
          <a:prstGeom prst="rect">
            <a:avLst/>
          </a:prstGeom>
        </p:spPr>
      </p:pic>
      <p:sp>
        <p:nvSpPr>
          <p:cNvPr id="15" name="Shape 11"/>
          <p:cNvSpPr/>
          <p:nvPr/>
        </p:nvSpPr>
        <p:spPr>
          <a:xfrm>
            <a:off x="5715000" y="2194560"/>
            <a:ext cx="5925312" cy="1737360"/>
          </a:xfrm>
          <a:prstGeom prst="roundRect">
            <a:avLst>
              <a:gd name="adj" fmla="val 5263"/>
            </a:avLst>
          </a:prstGeom>
          <a:solidFill>
            <a:srgbClr val="0A3B2E"/>
          </a:solidFill>
          <a:ln w="15875">
            <a:solidFill>
              <a:srgbClr val="00E5A0"/>
            </a:solidFill>
            <a:prstDash val="solid"/>
          </a:ln>
        </p:spPr>
      </p:sp>
      <p:sp>
        <p:nvSpPr>
          <p:cNvPr id="16" name="Shape 12"/>
          <p:cNvSpPr/>
          <p:nvPr/>
        </p:nvSpPr>
        <p:spPr>
          <a:xfrm>
            <a:off x="5971032" y="2450592"/>
            <a:ext cx="548640" cy="548640"/>
          </a:xfrm>
          <a:prstGeom prst="ellipse">
            <a:avLst/>
          </a:prstGeom>
          <a:solidFill>
            <a:srgbClr val="141B2E"/>
          </a:solidFill>
          <a:ln w="15875">
            <a:solidFill>
              <a:srgbClr val="00E5A0"/>
            </a:solidFill>
            <a:prstDash val="solid"/>
          </a:ln>
        </p:spPr>
      </p:sp>
      <p:pic>
        <p:nvPicPr>
          <p:cNvPr id="17" name="Image 2" descr="assets/icon_mappin.png">    </p:cNvPr>
          <p:cNvPicPr>
            <a:picLocks noChangeAspect="1"/>
          </p:cNvPicPr>
          <p:nvPr/>
        </p:nvPicPr>
        <p:blipFill>
          <a:blip r:embed="rId3"/>
          <a:stretch>
            <a:fillRect/>
          </a:stretch>
        </p:blipFill>
        <p:spPr>
          <a:xfrm>
            <a:off x="6102706" y="2582266"/>
            <a:ext cx="285293" cy="285293"/>
          </a:xfrm>
          <a:prstGeom prst="rect">
            <a:avLst/>
          </a:prstGeom>
        </p:spPr>
      </p:pic>
      <p:sp>
        <p:nvSpPr>
          <p:cNvPr id="18" name="Text 13"/>
          <p:cNvSpPr/>
          <p:nvPr/>
        </p:nvSpPr>
        <p:spPr>
          <a:xfrm>
            <a:off x="5971032" y="3108960"/>
            <a:ext cx="5486400" cy="274320"/>
          </a:xfrm>
          <a:prstGeom prst="rect">
            <a:avLst/>
          </a:prstGeom>
          <a:noFill/>
          <a:ln/>
        </p:spPr>
        <p:txBody>
          <a:bodyPr wrap="square" rtlCol="0" anchor="ctr"/>
          <a:lstStyle/>
          <a:p>
            <a:pPr indent="0" marL="0">
              <a:buNone/>
            </a:pPr>
            <a:r>
              <a:rPr lang="en-US" sz="1100" b="1" spc="40" kern="0" dirty="0">
                <a:solidFill>
                  <a:srgbClr val="00E5A0"/>
                </a:solidFill>
                <a:latin typeface="Arial" pitchFamily="34" charset="0"/>
                <a:ea typeface="Arial" pitchFamily="34" charset="-122"/>
                <a:cs typeface="Arial" pitchFamily="34" charset="-120"/>
              </a:rPr>
              <a:t>INDIGENOUS INDIAN INNOVATION</a:t>
            </a:r>
            <a:endParaRPr lang="en-US" sz="1100" dirty="0"/>
          </a:p>
        </p:txBody>
      </p:sp>
      <p:sp>
        <p:nvSpPr>
          <p:cNvPr id="19" name="Text 14"/>
          <p:cNvSpPr/>
          <p:nvPr/>
        </p:nvSpPr>
        <p:spPr>
          <a:xfrm>
            <a:off x="5971032" y="3401568"/>
            <a:ext cx="5486400" cy="457200"/>
          </a:xfrm>
          <a:prstGeom prst="rect">
            <a:avLst/>
          </a:prstGeom>
          <a:noFill/>
          <a:ln/>
        </p:spPr>
        <p:txBody>
          <a:bodyPr wrap="square" rtlCol="0" anchor="ctr"/>
          <a:lstStyle/>
          <a:p>
            <a:pPr indent="0" marL="0">
              <a:lnSpc>
                <a:spcPct val="120000"/>
              </a:lnSpc>
              <a:buNone/>
            </a:pPr>
            <a:r>
              <a:rPr lang="en-US" sz="1050" dirty="0">
                <a:solidFill>
                  <a:srgbClr val="AAB4C6"/>
                </a:solidFill>
                <a:latin typeface="Calibri" pitchFamily="34" charset="0"/>
                <a:ea typeface="Calibri" pitchFamily="34" charset="-122"/>
                <a:cs typeface="Calibri" pitchFamily="34" charset="-120"/>
              </a:rPr>
              <a:t>Powered by Crystal Paradigm AI + IIT Delhi — built on globally abundant Titanium &amp; Chromium</a:t>
            </a:r>
            <a:endParaRPr lang="en-US" sz="1050" dirty="0"/>
          </a:p>
        </p:txBody>
      </p:sp>
      <p:sp>
        <p:nvSpPr>
          <p:cNvPr id="20" name="Shape 15"/>
          <p:cNvSpPr/>
          <p:nvPr/>
        </p:nvSpPr>
        <p:spPr>
          <a:xfrm>
            <a:off x="548640" y="4160520"/>
            <a:ext cx="3538728" cy="1965960"/>
          </a:xfrm>
          <a:prstGeom prst="roundRect">
            <a:avLst>
              <a:gd name="adj" fmla="val 4651"/>
            </a:avLst>
          </a:prstGeom>
          <a:solidFill>
            <a:srgbClr val="141B2E"/>
          </a:solidFill>
          <a:ln w="12700">
            <a:solidFill>
              <a:srgbClr val="2A3550"/>
            </a:solidFill>
            <a:prstDash val="solid"/>
          </a:ln>
        </p:spPr>
      </p:sp>
      <p:sp>
        <p:nvSpPr>
          <p:cNvPr id="21" name="Shape 16"/>
          <p:cNvSpPr/>
          <p:nvPr/>
        </p:nvSpPr>
        <p:spPr>
          <a:xfrm>
            <a:off x="777240" y="4379976"/>
            <a:ext cx="502920" cy="502920"/>
          </a:xfrm>
          <a:prstGeom prst="ellipse">
            <a:avLst/>
          </a:prstGeom>
          <a:solidFill>
            <a:srgbClr val="1A2338"/>
          </a:solidFill>
          <a:ln w="15875">
            <a:solidFill>
              <a:srgbClr val="00E5A0"/>
            </a:solidFill>
            <a:prstDash val="solid"/>
          </a:ln>
        </p:spPr>
      </p:sp>
      <p:pic>
        <p:nvPicPr>
          <p:cNvPr id="22" name="Image 3" descr="assets/icon_flask.png">    </p:cNvPr>
          <p:cNvPicPr>
            <a:picLocks noChangeAspect="1"/>
          </p:cNvPicPr>
          <p:nvPr/>
        </p:nvPicPr>
        <p:blipFill>
          <a:blip r:embed="rId4"/>
          <a:stretch>
            <a:fillRect/>
          </a:stretch>
        </p:blipFill>
        <p:spPr>
          <a:xfrm>
            <a:off x="897941" y="4500677"/>
            <a:ext cx="261518" cy="261518"/>
          </a:xfrm>
          <a:prstGeom prst="rect">
            <a:avLst/>
          </a:prstGeom>
        </p:spPr>
      </p:pic>
      <p:sp>
        <p:nvSpPr>
          <p:cNvPr id="23" name="Text 17"/>
          <p:cNvSpPr/>
          <p:nvPr/>
        </p:nvSpPr>
        <p:spPr>
          <a:xfrm>
            <a:off x="1408176" y="4379976"/>
            <a:ext cx="2487168" cy="502920"/>
          </a:xfrm>
          <a:prstGeom prst="rect">
            <a:avLst/>
          </a:prstGeom>
          <a:noFill/>
          <a:ln/>
        </p:spPr>
        <p:txBody>
          <a:bodyPr wrap="square" rtlCol="0" anchor="ctr"/>
          <a:lstStyle/>
          <a:p>
            <a:pPr indent="0" marL="0">
              <a:lnSpc>
                <a:spcPct val="110000"/>
              </a:lnSpc>
              <a:buNone/>
            </a:pPr>
            <a:r>
              <a:rPr lang="en-US" sz="1300" b="1" dirty="0">
                <a:solidFill>
                  <a:srgbClr val="F5F7FA"/>
                </a:solidFill>
                <a:latin typeface="Arial" pitchFamily="34" charset="0"/>
                <a:ea typeface="Arial" pitchFamily="34" charset="-122"/>
                <a:cs typeface="Arial" pitchFamily="34" charset="-120"/>
              </a:rPr>
              <a:t>1. The IP Moat</a:t>
            </a:r>
            <a:endParaRPr lang="en-US" sz="1300" dirty="0"/>
          </a:p>
        </p:txBody>
      </p:sp>
      <p:sp>
        <p:nvSpPr>
          <p:cNvPr id="24" name="Text 18"/>
          <p:cNvSpPr/>
          <p:nvPr/>
        </p:nvSpPr>
        <p:spPr>
          <a:xfrm>
            <a:off x="777240" y="4983480"/>
            <a:ext cx="3081528" cy="1097280"/>
          </a:xfrm>
          <a:prstGeom prst="rect">
            <a:avLst/>
          </a:prstGeom>
          <a:noFill/>
          <a:ln/>
        </p:spPr>
        <p:txBody>
          <a:bodyPr wrap="square" rtlCol="0" anchor="ctr"/>
          <a:lstStyle/>
          <a:p>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Our proprietary </a:t>
            </a:r>
            <a:pPr indent="0" marL="0">
              <a:lnSpc>
                <a:spcPct val="125000"/>
              </a:lnSpc>
              <a:buNone/>
            </a:pPr>
            <a:r>
              <a:rPr lang="en-US" sz="1100" b="1" dirty="0">
                <a:solidFill>
                  <a:srgbClr val="00E5A0"/>
                </a:solidFill>
                <a:latin typeface="Calibri" pitchFamily="34" charset="0"/>
                <a:ea typeface="Calibri" pitchFamily="34" charset="-122"/>
                <a:cs typeface="Calibri" pitchFamily="34" charset="-120"/>
              </a:rPr>
              <a:t>11-phase AI architecture</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is a continuous IP generation engine. Candidate C is merely our first output; we can computationally generate bespoke materials for any thermal bottleneck Sona Comstar faces.</a:t>
            </a:r>
            <a:endParaRPr lang="en-US" sz="1100" dirty="0"/>
          </a:p>
        </p:txBody>
      </p:sp>
      <p:sp>
        <p:nvSpPr>
          <p:cNvPr id="25" name="Shape 19"/>
          <p:cNvSpPr/>
          <p:nvPr/>
        </p:nvSpPr>
        <p:spPr>
          <a:xfrm>
            <a:off x="4325112" y="4160520"/>
            <a:ext cx="3538728" cy="1965960"/>
          </a:xfrm>
          <a:prstGeom prst="roundRect">
            <a:avLst>
              <a:gd name="adj" fmla="val 4651"/>
            </a:avLst>
          </a:prstGeom>
          <a:solidFill>
            <a:srgbClr val="141B2E"/>
          </a:solidFill>
          <a:ln w="12700">
            <a:solidFill>
              <a:srgbClr val="2A3550"/>
            </a:solidFill>
            <a:prstDash val="solid"/>
          </a:ln>
        </p:spPr>
      </p:sp>
      <p:sp>
        <p:nvSpPr>
          <p:cNvPr id="26" name="Shape 20"/>
          <p:cNvSpPr/>
          <p:nvPr/>
        </p:nvSpPr>
        <p:spPr>
          <a:xfrm>
            <a:off x="4553712" y="4379976"/>
            <a:ext cx="502920" cy="502920"/>
          </a:xfrm>
          <a:prstGeom prst="ellipse">
            <a:avLst/>
          </a:prstGeom>
          <a:solidFill>
            <a:srgbClr val="1A2338"/>
          </a:solidFill>
          <a:ln w="15875">
            <a:solidFill>
              <a:srgbClr val="00E5A0"/>
            </a:solidFill>
            <a:prstDash val="solid"/>
          </a:ln>
        </p:spPr>
      </p:sp>
      <p:pic>
        <p:nvPicPr>
          <p:cNvPr id="27" name="Image 4" descr="assets/icon_factory.png">    </p:cNvPr>
          <p:cNvPicPr>
            <a:picLocks noChangeAspect="1"/>
          </p:cNvPicPr>
          <p:nvPr/>
        </p:nvPicPr>
        <p:blipFill>
          <a:blip r:embed="rId5"/>
          <a:stretch>
            <a:fillRect/>
          </a:stretch>
        </p:blipFill>
        <p:spPr>
          <a:xfrm>
            <a:off x="4674413" y="4500677"/>
            <a:ext cx="261518" cy="261518"/>
          </a:xfrm>
          <a:prstGeom prst="rect">
            <a:avLst/>
          </a:prstGeom>
        </p:spPr>
      </p:pic>
      <p:sp>
        <p:nvSpPr>
          <p:cNvPr id="28" name="Text 21"/>
          <p:cNvSpPr/>
          <p:nvPr/>
        </p:nvSpPr>
        <p:spPr>
          <a:xfrm>
            <a:off x="5184648" y="4379976"/>
            <a:ext cx="2487168" cy="502920"/>
          </a:xfrm>
          <a:prstGeom prst="rect">
            <a:avLst/>
          </a:prstGeom>
          <a:noFill/>
          <a:ln/>
        </p:spPr>
        <p:txBody>
          <a:bodyPr wrap="square" rtlCol="0" anchor="ctr"/>
          <a:lstStyle/>
          <a:p>
            <a:pPr indent="0" marL="0">
              <a:lnSpc>
                <a:spcPct val="110000"/>
              </a:lnSpc>
              <a:buNone/>
            </a:pPr>
            <a:r>
              <a:rPr lang="en-US" sz="1300" b="1" dirty="0">
                <a:solidFill>
                  <a:srgbClr val="F5F7FA"/>
                </a:solidFill>
                <a:latin typeface="Arial" pitchFamily="34" charset="0"/>
                <a:ea typeface="Arial" pitchFamily="34" charset="-122"/>
                <a:cs typeface="Arial" pitchFamily="34" charset="-120"/>
              </a:rPr>
              <a:t>2. Make-in-India Reality</a:t>
            </a:r>
            <a:endParaRPr lang="en-US" sz="1300" dirty="0"/>
          </a:p>
        </p:txBody>
      </p:sp>
      <p:sp>
        <p:nvSpPr>
          <p:cNvPr id="29" name="Text 22"/>
          <p:cNvSpPr/>
          <p:nvPr/>
        </p:nvSpPr>
        <p:spPr>
          <a:xfrm>
            <a:off x="4553712" y="4983480"/>
            <a:ext cx="3081528" cy="1097280"/>
          </a:xfrm>
          <a:prstGeom prst="rect">
            <a:avLst/>
          </a:prstGeom>
          <a:noFill/>
          <a:ln/>
        </p:spPr>
        <p:txBody>
          <a:bodyPr wrap="square" rtlCol="0" anchor="ctr"/>
          <a:lstStyle/>
          <a:p>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By engineering out exotic, foreign-controlled minerals and optimizing around globally abundant </a:t>
            </a:r>
            <a:pPr indent="0" marL="0">
              <a:lnSpc>
                <a:spcPct val="125000"/>
              </a:lnSpc>
              <a:buNone/>
            </a:pPr>
            <a:r>
              <a:rPr lang="en-US" sz="1100" b="1" dirty="0">
                <a:solidFill>
                  <a:srgbClr val="00E5A0"/>
                </a:solidFill>
                <a:latin typeface="Calibri" pitchFamily="34" charset="0"/>
                <a:ea typeface="Calibri" pitchFamily="34" charset="-122"/>
                <a:cs typeface="Calibri" pitchFamily="34" charset="-120"/>
              </a:rPr>
              <a:t>Titanium and Chromium</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we guarantee a secure, indigenous supply chain for Sona Comstar's next-gen components.</a:t>
            </a:r>
            <a:endParaRPr lang="en-US" sz="1100" dirty="0"/>
          </a:p>
        </p:txBody>
      </p:sp>
      <p:sp>
        <p:nvSpPr>
          <p:cNvPr id="30" name="Shape 23"/>
          <p:cNvSpPr/>
          <p:nvPr/>
        </p:nvSpPr>
        <p:spPr>
          <a:xfrm>
            <a:off x="8101584" y="4160520"/>
            <a:ext cx="3538728" cy="1965960"/>
          </a:xfrm>
          <a:prstGeom prst="roundRect">
            <a:avLst>
              <a:gd name="adj" fmla="val 4651"/>
            </a:avLst>
          </a:prstGeom>
          <a:solidFill>
            <a:srgbClr val="141B2E"/>
          </a:solidFill>
          <a:ln w="12700">
            <a:solidFill>
              <a:srgbClr val="2A3550"/>
            </a:solidFill>
            <a:prstDash val="solid"/>
          </a:ln>
        </p:spPr>
      </p:sp>
      <p:sp>
        <p:nvSpPr>
          <p:cNvPr id="31" name="Shape 24"/>
          <p:cNvSpPr/>
          <p:nvPr/>
        </p:nvSpPr>
        <p:spPr>
          <a:xfrm>
            <a:off x="8330184" y="4379976"/>
            <a:ext cx="502920" cy="502920"/>
          </a:xfrm>
          <a:prstGeom prst="ellipse">
            <a:avLst/>
          </a:prstGeom>
          <a:solidFill>
            <a:srgbClr val="1A2338"/>
          </a:solidFill>
          <a:ln w="15875">
            <a:solidFill>
              <a:srgbClr val="00E5A0"/>
            </a:solidFill>
            <a:prstDash val="solid"/>
          </a:ln>
        </p:spPr>
      </p:sp>
      <p:pic>
        <p:nvPicPr>
          <p:cNvPr id="32" name="Image 5" descr="assets/icon_book.png">    </p:cNvPr>
          <p:cNvPicPr>
            <a:picLocks noChangeAspect="1"/>
          </p:cNvPicPr>
          <p:nvPr/>
        </p:nvPicPr>
        <p:blipFill>
          <a:blip r:embed="rId6"/>
          <a:stretch>
            <a:fillRect/>
          </a:stretch>
        </p:blipFill>
        <p:spPr>
          <a:xfrm>
            <a:off x="8450885" y="4500677"/>
            <a:ext cx="261518" cy="261518"/>
          </a:xfrm>
          <a:prstGeom prst="rect">
            <a:avLst/>
          </a:prstGeom>
        </p:spPr>
      </p:pic>
      <p:sp>
        <p:nvSpPr>
          <p:cNvPr id="33" name="Text 25"/>
          <p:cNvSpPr/>
          <p:nvPr/>
        </p:nvSpPr>
        <p:spPr>
          <a:xfrm>
            <a:off x="8961120" y="4379976"/>
            <a:ext cx="2487168" cy="502920"/>
          </a:xfrm>
          <a:prstGeom prst="rect">
            <a:avLst/>
          </a:prstGeom>
          <a:noFill/>
          <a:ln/>
        </p:spPr>
        <p:txBody>
          <a:bodyPr wrap="square" rtlCol="0" anchor="ctr"/>
          <a:lstStyle/>
          <a:p>
            <a:pPr indent="0" marL="0">
              <a:lnSpc>
                <a:spcPct val="110000"/>
              </a:lnSpc>
              <a:buNone/>
            </a:pPr>
            <a:r>
              <a:rPr lang="en-US" sz="1300" b="1" dirty="0">
                <a:solidFill>
                  <a:srgbClr val="F5F7FA"/>
                </a:solidFill>
                <a:latin typeface="Arial" pitchFamily="34" charset="0"/>
                <a:ea typeface="Arial" pitchFamily="34" charset="-122"/>
                <a:cs typeface="Arial" pitchFamily="34" charset="-120"/>
              </a:rPr>
              <a:t>3. The IIT Delhi IP Framework</a:t>
            </a:r>
            <a:endParaRPr lang="en-US" sz="1300" dirty="0"/>
          </a:p>
        </p:txBody>
      </p:sp>
      <p:sp>
        <p:nvSpPr>
          <p:cNvPr id="34" name="Text 26"/>
          <p:cNvSpPr/>
          <p:nvPr/>
        </p:nvSpPr>
        <p:spPr>
          <a:xfrm>
            <a:off x="8330184" y="4983480"/>
            <a:ext cx="3081528" cy="1097280"/>
          </a:xfrm>
          <a:prstGeom prst="rect">
            <a:avLst/>
          </a:prstGeom>
          <a:noFill/>
          <a:ln/>
        </p:spPr>
        <p:txBody>
          <a:bodyPr wrap="square" rtlCol="0" anchor="ctr"/>
          <a:lstStyle/>
          <a:p>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We are prepared to navigate the </a:t>
            </a:r>
            <a:pPr indent="0" marL="0">
              <a:lnSpc>
                <a:spcPct val="125000"/>
              </a:lnSpc>
              <a:buNone/>
            </a:pPr>
            <a:r>
              <a:rPr lang="en-US" sz="1100" b="1" dirty="0">
                <a:solidFill>
                  <a:srgbClr val="00E5A0"/>
                </a:solidFill>
                <a:latin typeface="Calibri" pitchFamily="34" charset="0"/>
                <a:ea typeface="Calibri" pitchFamily="34" charset="-122"/>
                <a:cs typeface="Calibri" pitchFamily="34" charset="-120"/>
              </a:rPr>
              <a:t>FITT incubation framework</a:t>
            </a:r>
            <a:pPr indent="0" marL="0">
              <a:lnSpc>
                <a:spcPct val="125000"/>
              </a:lnSpc>
              <a:buNone/>
            </a:pPr>
            <a:r>
              <a:rPr lang="en-US" sz="1100" dirty="0">
                <a:solidFill>
                  <a:srgbClr val="AAB4C6"/>
                </a:solidFill>
                <a:latin typeface="Calibri" pitchFamily="34" charset="0"/>
                <a:ea typeface="Calibri" pitchFamily="34" charset="-122"/>
                <a:cs typeface="Calibri" pitchFamily="34" charset="-120"/>
              </a:rPr>
              <a:t> to jointly patent physical material formulations developed within the Central Research Facility (CRF).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14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THE CORPORATE ASK</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500" b="1" spc="30" kern="0" dirty="0">
                <a:solidFill>
                  <a:srgbClr val="F5F7FA"/>
                </a:solidFill>
                <a:latin typeface="Arial" pitchFamily="34" charset="0"/>
                <a:ea typeface="Arial" pitchFamily="34" charset="-122"/>
                <a:cs typeface="Arial" pitchFamily="34" charset="-120"/>
              </a:rPr>
              <a:t>THE CRYSTAL PARADIGM CORPORATE ASK</a:t>
            </a:r>
            <a:endParaRPr lang="en-US" sz="25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Bridging the Gap Between Informatics and the Factory Floor</a:t>
            </a:r>
            <a:endParaRPr lang="en-US" sz="1500" dirty="0"/>
          </a:p>
        </p:txBody>
      </p:sp>
      <p:sp>
        <p:nvSpPr>
          <p:cNvPr id="7" name="Text 5"/>
          <p:cNvSpPr/>
          <p:nvPr/>
        </p:nvSpPr>
        <p:spPr>
          <a:xfrm>
            <a:off x="548640" y="1536192"/>
            <a:ext cx="11091672" cy="594360"/>
          </a:xfrm>
          <a:prstGeom prst="rect">
            <a:avLst/>
          </a:prstGeom>
          <a:noFill/>
          <a:ln/>
        </p:spPr>
        <p:txBody>
          <a:bodyPr wrap="square" rtlCol="0" anchor="ctr"/>
          <a:lstStyle/>
          <a:p>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Crystal Paradigm is completely computationally validated (</a:t>
            </a:r>
            <a:pPr indent="0" marL="0">
              <a:lnSpc>
                <a:spcPct val="125000"/>
              </a:lnSpc>
              <a:buNone/>
            </a:pPr>
            <a:r>
              <a:rPr lang="en-US" sz="1250" b="1" dirty="0">
                <a:solidFill>
                  <a:srgbClr val="00E5A0"/>
                </a:solidFill>
                <a:latin typeface="Calibri" pitchFamily="34" charset="0"/>
                <a:ea typeface="Calibri" pitchFamily="34" charset="-122"/>
                <a:cs typeface="Calibri" pitchFamily="34" charset="-120"/>
              </a:rPr>
              <a:t>TRL 3+</a:t>
            </a:r>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 We are applying to the </a:t>
            </a:r>
            <a:pPr indent="0" marL="0">
              <a:lnSpc>
                <a:spcPct val="125000"/>
              </a:lnSpc>
              <a:buNone/>
            </a:pPr>
            <a:r>
              <a:rPr lang="en-US" sz="1250" b="1" dirty="0">
                <a:solidFill>
                  <a:srgbClr val="00E5A0"/>
                </a:solidFill>
                <a:latin typeface="Calibri" pitchFamily="34" charset="0"/>
                <a:ea typeface="Calibri" pitchFamily="34" charset="-122"/>
                <a:cs typeface="Calibri" pitchFamily="34" charset="-120"/>
              </a:rPr>
              <a:t>Advanced Materials</a:t>
            </a:r>
            <a:pPr indent="0" marL="0">
              <a:lnSpc>
                <a:spcPct val="125000"/>
              </a:lnSpc>
              <a:buNone/>
            </a:pPr>
            <a:r>
              <a:rPr lang="en-US" sz="1250" dirty="0">
                <a:solidFill>
                  <a:srgbClr val="AAB4C6"/>
                </a:solidFill>
                <a:latin typeface="Calibri" pitchFamily="34" charset="0"/>
                <a:ea typeface="Calibri" pitchFamily="34" charset="-122"/>
                <a:cs typeface="Calibri" pitchFamily="34" charset="-120"/>
              </a:rPr>
              <a:t> track of the SCIDIP program to access the precise ecosystem required to cross the "valley of death".</a:t>
            </a:r>
            <a:endParaRPr lang="en-US" sz="1250" dirty="0"/>
          </a:p>
        </p:txBody>
      </p:sp>
      <p:sp>
        <p:nvSpPr>
          <p:cNvPr id="8" name="Shape 6"/>
          <p:cNvSpPr/>
          <p:nvPr/>
        </p:nvSpPr>
        <p:spPr>
          <a:xfrm>
            <a:off x="548640" y="2331720"/>
            <a:ext cx="11091672" cy="594360"/>
          </a:xfrm>
          <a:prstGeom prst="roundRect">
            <a:avLst>
              <a:gd name="adj" fmla="val 15385"/>
            </a:avLst>
          </a:prstGeom>
          <a:solidFill>
            <a:srgbClr val="0A3B2E"/>
          </a:solidFill>
          <a:ln w="15875">
            <a:solidFill>
              <a:srgbClr val="00E5A0"/>
            </a:solidFill>
            <a:prstDash val="solid"/>
          </a:ln>
        </p:spPr>
      </p:sp>
      <p:sp>
        <p:nvSpPr>
          <p:cNvPr id="9" name="Text 7"/>
          <p:cNvSpPr/>
          <p:nvPr/>
        </p:nvSpPr>
        <p:spPr>
          <a:xfrm>
            <a:off x="548640" y="2331720"/>
            <a:ext cx="11091672" cy="594360"/>
          </a:xfrm>
          <a:prstGeom prst="rect">
            <a:avLst/>
          </a:prstGeom>
          <a:noFill/>
          <a:ln/>
        </p:spPr>
        <p:txBody>
          <a:bodyPr wrap="square" rtlCol="0" anchor="ctr"/>
          <a:lstStyle/>
          <a:p>
            <a:pPr algn="ctr" indent="0" marL="0">
              <a:buNone/>
            </a:pPr>
            <a:r>
              <a:rPr lang="en-US" sz="1700" b="1" spc="150" kern="0" dirty="0">
                <a:solidFill>
                  <a:srgbClr val="00E5A0"/>
                </a:solidFill>
                <a:latin typeface="Arial" pitchFamily="34" charset="0"/>
                <a:ea typeface="Arial" pitchFamily="34" charset="-122"/>
                <a:cs typeface="Arial" pitchFamily="34" charset="-120"/>
              </a:rPr>
              <a:t>TRL 6 COMMERCIALIZATION</a:t>
            </a:r>
            <a:endParaRPr lang="en-US" sz="1700" dirty="0"/>
          </a:p>
        </p:txBody>
      </p:sp>
      <p:sp>
        <p:nvSpPr>
          <p:cNvPr id="10" name="Shape 8"/>
          <p:cNvSpPr/>
          <p:nvPr/>
        </p:nvSpPr>
        <p:spPr>
          <a:xfrm>
            <a:off x="1856232" y="2926080"/>
            <a:ext cx="36576" cy="137160"/>
          </a:xfrm>
          <a:prstGeom prst="rect">
            <a:avLst/>
          </a:prstGeom>
          <a:solidFill>
            <a:srgbClr val="00E5A0"/>
          </a:solidFill>
          <a:ln/>
        </p:spPr>
      </p:sp>
      <p:sp>
        <p:nvSpPr>
          <p:cNvPr id="11" name="Shape 9"/>
          <p:cNvSpPr/>
          <p:nvPr/>
        </p:nvSpPr>
        <p:spPr>
          <a:xfrm>
            <a:off x="548640" y="3063240"/>
            <a:ext cx="2651760" cy="3246120"/>
          </a:xfrm>
          <a:prstGeom prst="roundRect">
            <a:avLst>
              <a:gd name="adj" fmla="val 3448"/>
            </a:avLst>
          </a:prstGeom>
          <a:solidFill>
            <a:srgbClr val="141B2E"/>
          </a:solidFill>
          <a:ln w="12700">
            <a:solidFill>
              <a:srgbClr val="2A3550"/>
            </a:solidFill>
            <a:prstDash val="solid"/>
          </a:ln>
        </p:spPr>
      </p:sp>
      <p:sp>
        <p:nvSpPr>
          <p:cNvPr id="12" name="Shape 10"/>
          <p:cNvSpPr/>
          <p:nvPr/>
        </p:nvSpPr>
        <p:spPr>
          <a:xfrm>
            <a:off x="1618488" y="3291840"/>
            <a:ext cx="512064" cy="512064"/>
          </a:xfrm>
          <a:prstGeom prst="ellipse">
            <a:avLst/>
          </a:prstGeom>
          <a:solidFill>
            <a:srgbClr val="1A2338"/>
          </a:solidFill>
          <a:ln w="15875">
            <a:solidFill>
              <a:srgbClr val="00B8FF"/>
            </a:solidFill>
            <a:prstDash val="solid"/>
          </a:ln>
        </p:spPr>
      </p:sp>
      <p:pic>
        <p:nvPicPr>
          <p:cNvPr id="13" name="Image 0" descr="assets/icon_flask.png">    </p:cNvPr>
          <p:cNvPicPr>
            <a:picLocks noChangeAspect="1"/>
          </p:cNvPicPr>
          <p:nvPr/>
        </p:nvPicPr>
        <p:blipFill>
          <a:blip r:embed="rId1"/>
          <a:stretch>
            <a:fillRect/>
          </a:stretch>
        </p:blipFill>
        <p:spPr>
          <a:xfrm>
            <a:off x="1741383" y="3414735"/>
            <a:ext cx="266273" cy="266273"/>
          </a:xfrm>
          <a:prstGeom prst="rect">
            <a:avLst/>
          </a:prstGeom>
        </p:spPr>
      </p:pic>
      <p:sp>
        <p:nvSpPr>
          <p:cNvPr id="14" name="Text 11"/>
          <p:cNvSpPr/>
          <p:nvPr/>
        </p:nvSpPr>
        <p:spPr>
          <a:xfrm>
            <a:off x="685800" y="3931920"/>
            <a:ext cx="2377440" cy="548640"/>
          </a:xfrm>
          <a:prstGeom prst="rect">
            <a:avLst/>
          </a:prstGeom>
          <a:noFill/>
          <a:ln/>
        </p:spPr>
        <p:txBody>
          <a:bodyPr wrap="square" rtlCol="0" anchor="ctr"/>
          <a:lstStyle/>
          <a:p>
            <a:pPr algn="ctr" indent="0" marL="0">
              <a:lnSpc>
                <a:spcPct val="112000"/>
              </a:lnSpc>
              <a:buNone/>
            </a:pPr>
            <a:r>
              <a:rPr lang="en-US" sz="1150" b="1" dirty="0">
                <a:solidFill>
                  <a:srgbClr val="F5F7FA"/>
                </a:solidFill>
                <a:latin typeface="Arial" pitchFamily="34" charset="0"/>
                <a:ea typeface="Arial" pitchFamily="34" charset="-122"/>
                <a:cs typeface="Arial" pitchFamily="34" charset="-120"/>
              </a:rPr>
              <a:t>1. Technology &amp; Lab Support</a:t>
            </a:r>
            <a:endParaRPr lang="en-US" sz="1150" dirty="0"/>
          </a:p>
        </p:txBody>
      </p:sp>
      <p:sp>
        <p:nvSpPr>
          <p:cNvPr id="15" name="Text 12"/>
          <p:cNvSpPr/>
          <p:nvPr/>
        </p:nvSpPr>
        <p:spPr>
          <a:xfrm>
            <a:off x="713232" y="4526280"/>
            <a:ext cx="2322576" cy="1691640"/>
          </a:xfrm>
          <a:prstGeom prst="rect">
            <a:avLst/>
          </a:prstGeom>
          <a:noFill/>
          <a:ln/>
        </p:spPr>
        <p:txBody>
          <a:bodyPr wrap="square" rtlCol="0" anchor="ctr"/>
          <a:lstStyle/>
          <a:p>
            <a:pPr indent="0" marL="0">
              <a:lnSpc>
                <a:spcPct val="122000"/>
              </a:lnSpc>
              <a:buNone/>
            </a:pPr>
            <a:r>
              <a:rPr lang="en-US" sz="1000" dirty="0">
                <a:solidFill>
                  <a:srgbClr val="AAB4C6"/>
                </a:solidFill>
                <a:latin typeface="Calibri" pitchFamily="34" charset="0"/>
                <a:ea typeface="Calibri" pitchFamily="34" charset="-122"/>
                <a:cs typeface="Calibri" pitchFamily="34" charset="-120"/>
              </a:rPr>
              <a:t>Immediate access to the </a:t>
            </a:r>
            <a:pPr indent="0" marL="0">
              <a:lnSpc>
                <a:spcPct val="122000"/>
              </a:lnSpc>
              <a:buNone/>
            </a:pPr>
            <a:r>
              <a:rPr lang="en-US" sz="1000" b="1" dirty="0">
                <a:solidFill>
                  <a:srgbClr val="00E5A0"/>
                </a:solidFill>
                <a:latin typeface="Calibri" pitchFamily="34" charset="0"/>
                <a:ea typeface="Calibri" pitchFamily="34" charset="-122"/>
                <a:cs typeface="Calibri" pitchFamily="34" charset="-120"/>
              </a:rPr>
              <a:t>NIDHI-CoE and CRF</a:t>
            </a:r>
            <a:pPr indent="0" marL="0">
              <a:lnSpc>
                <a:spcPct val="122000"/>
              </a:lnSpc>
              <a:buNone/>
            </a:pPr>
            <a:r>
              <a:rPr lang="en-US" sz="1000" dirty="0">
                <a:solidFill>
                  <a:srgbClr val="AAB4C6"/>
                </a:solidFill>
                <a:latin typeface="Calibri" pitchFamily="34" charset="0"/>
                <a:ea typeface="Calibri" pitchFamily="34" charset="-122"/>
                <a:cs typeface="Calibri" pitchFamily="34" charset="-120"/>
              </a:rPr>
              <a:t> to execute High-Temperature XRD, SEM, and Simultaneous Thermal Analysis (STA) on physical witness coupons.</a:t>
            </a:r>
            <a:endParaRPr lang="en-US" sz="1000" dirty="0"/>
          </a:p>
        </p:txBody>
      </p:sp>
      <p:sp>
        <p:nvSpPr>
          <p:cNvPr id="16" name="Shape 13"/>
          <p:cNvSpPr/>
          <p:nvPr/>
        </p:nvSpPr>
        <p:spPr>
          <a:xfrm>
            <a:off x="4636008" y="2926080"/>
            <a:ext cx="36576" cy="137160"/>
          </a:xfrm>
          <a:prstGeom prst="rect">
            <a:avLst/>
          </a:prstGeom>
          <a:solidFill>
            <a:srgbClr val="00E5A0"/>
          </a:solidFill>
          <a:ln/>
        </p:spPr>
      </p:sp>
      <p:sp>
        <p:nvSpPr>
          <p:cNvPr id="17" name="Shape 14"/>
          <p:cNvSpPr/>
          <p:nvPr/>
        </p:nvSpPr>
        <p:spPr>
          <a:xfrm>
            <a:off x="3328416" y="3063240"/>
            <a:ext cx="2651760" cy="3246120"/>
          </a:xfrm>
          <a:prstGeom prst="roundRect">
            <a:avLst>
              <a:gd name="adj" fmla="val 3448"/>
            </a:avLst>
          </a:prstGeom>
          <a:solidFill>
            <a:srgbClr val="141B2E"/>
          </a:solidFill>
          <a:ln w="12700">
            <a:solidFill>
              <a:srgbClr val="2A3550"/>
            </a:solidFill>
            <a:prstDash val="solid"/>
          </a:ln>
        </p:spPr>
      </p:sp>
      <p:sp>
        <p:nvSpPr>
          <p:cNvPr id="18" name="Shape 15"/>
          <p:cNvSpPr/>
          <p:nvPr/>
        </p:nvSpPr>
        <p:spPr>
          <a:xfrm>
            <a:off x="4398264" y="3291840"/>
            <a:ext cx="512064" cy="512064"/>
          </a:xfrm>
          <a:prstGeom prst="ellipse">
            <a:avLst/>
          </a:prstGeom>
          <a:solidFill>
            <a:srgbClr val="1A2338"/>
          </a:solidFill>
          <a:ln w="15875">
            <a:solidFill>
              <a:srgbClr val="00B8FF"/>
            </a:solidFill>
            <a:prstDash val="solid"/>
          </a:ln>
        </p:spPr>
      </p:sp>
      <p:pic>
        <p:nvPicPr>
          <p:cNvPr id="19" name="Image 1" descr="assets/icon_handshake.png">    </p:cNvPr>
          <p:cNvPicPr>
            <a:picLocks noChangeAspect="1"/>
          </p:cNvPicPr>
          <p:nvPr/>
        </p:nvPicPr>
        <p:blipFill>
          <a:blip r:embed="rId2"/>
          <a:stretch>
            <a:fillRect/>
          </a:stretch>
        </p:blipFill>
        <p:spPr>
          <a:xfrm>
            <a:off x="4521159" y="3414735"/>
            <a:ext cx="266273" cy="266273"/>
          </a:xfrm>
          <a:prstGeom prst="rect">
            <a:avLst/>
          </a:prstGeom>
        </p:spPr>
      </p:pic>
      <p:sp>
        <p:nvSpPr>
          <p:cNvPr id="20" name="Text 16"/>
          <p:cNvSpPr/>
          <p:nvPr/>
        </p:nvSpPr>
        <p:spPr>
          <a:xfrm>
            <a:off x="3465576" y="3931920"/>
            <a:ext cx="2377440" cy="548640"/>
          </a:xfrm>
          <a:prstGeom prst="rect">
            <a:avLst/>
          </a:prstGeom>
          <a:noFill/>
          <a:ln/>
        </p:spPr>
        <p:txBody>
          <a:bodyPr wrap="square" rtlCol="0" anchor="ctr"/>
          <a:lstStyle/>
          <a:p>
            <a:pPr algn="ctr" indent="0" marL="0">
              <a:lnSpc>
                <a:spcPct val="112000"/>
              </a:lnSpc>
              <a:buNone/>
            </a:pPr>
            <a:r>
              <a:rPr lang="en-US" sz="1150" b="1" dirty="0">
                <a:solidFill>
                  <a:srgbClr val="F5F7FA"/>
                </a:solidFill>
                <a:latin typeface="Arial" pitchFamily="34" charset="0"/>
                <a:ea typeface="Arial" pitchFamily="34" charset="-122"/>
                <a:cs typeface="Arial" pitchFamily="34" charset="-120"/>
              </a:rPr>
              <a:t>2. Sona Comstar Mentorship</a:t>
            </a:r>
            <a:endParaRPr lang="en-US" sz="1150" dirty="0"/>
          </a:p>
        </p:txBody>
      </p:sp>
      <p:sp>
        <p:nvSpPr>
          <p:cNvPr id="21" name="Text 17"/>
          <p:cNvSpPr/>
          <p:nvPr/>
        </p:nvSpPr>
        <p:spPr>
          <a:xfrm>
            <a:off x="3493008" y="4526280"/>
            <a:ext cx="2322576" cy="1691640"/>
          </a:xfrm>
          <a:prstGeom prst="rect">
            <a:avLst/>
          </a:prstGeom>
          <a:noFill/>
          <a:ln/>
        </p:spPr>
        <p:txBody>
          <a:bodyPr wrap="square" rtlCol="0" anchor="ctr"/>
          <a:lstStyle/>
          <a:p>
            <a:pPr indent="0" marL="0">
              <a:lnSpc>
                <a:spcPct val="122000"/>
              </a:lnSpc>
              <a:buNone/>
            </a:pPr>
            <a:r>
              <a:rPr lang="en-US" sz="1000" dirty="0">
                <a:solidFill>
                  <a:srgbClr val="AAB4C6"/>
                </a:solidFill>
                <a:latin typeface="Calibri" pitchFamily="34" charset="0"/>
                <a:ea typeface="Calibri" pitchFamily="34" charset="-122"/>
                <a:cs typeface="Calibri" pitchFamily="34" charset="-120"/>
              </a:rPr>
              <a:t>Direct engineering alignment with Sona Comstar's precision forging division to ensure our 11-layer print matrices match factory-floor DED manufacturing tolerances.</a:t>
            </a:r>
            <a:endParaRPr lang="en-US" sz="1000" dirty="0"/>
          </a:p>
        </p:txBody>
      </p:sp>
      <p:sp>
        <p:nvSpPr>
          <p:cNvPr id="22" name="Shape 18"/>
          <p:cNvSpPr/>
          <p:nvPr/>
        </p:nvSpPr>
        <p:spPr>
          <a:xfrm>
            <a:off x="7415784" y="2926080"/>
            <a:ext cx="36576" cy="137160"/>
          </a:xfrm>
          <a:prstGeom prst="rect">
            <a:avLst/>
          </a:prstGeom>
          <a:solidFill>
            <a:srgbClr val="00E5A0"/>
          </a:solidFill>
          <a:ln/>
        </p:spPr>
      </p:sp>
      <p:sp>
        <p:nvSpPr>
          <p:cNvPr id="23" name="Shape 19"/>
          <p:cNvSpPr/>
          <p:nvPr/>
        </p:nvSpPr>
        <p:spPr>
          <a:xfrm>
            <a:off x="6108192" y="3063240"/>
            <a:ext cx="2651760" cy="3246120"/>
          </a:xfrm>
          <a:prstGeom prst="roundRect">
            <a:avLst>
              <a:gd name="adj" fmla="val 3448"/>
            </a:avLst>
          </a:prstGeom>
          <a:solidFill>
            <a:srgbClr val="141B2E"/>
          </a:solidFill>
          <a:ln w="12700">
            <a:solidFill>
              <a:srgbClr val="2A3550"/>
            </a:solidFill>
            <a:prstDash val="solid"/>
          </a:ln>
        </p:spPr>
      </p:sp>
      <p:sp>
        <p:nvSpPr>
          <p:cNvPr id="24" name="Shape 20"/>
          <p:cNvSpPr/>
          <p:nvPr/>
        </p:nvSpPr>
        <p:spPr>
          <a:xfrm>
            <a:off x="7178040" y="3291840"/>
            <a:ext cx="512064" cy="512064"/>
          </a:xfrm>
          <a:prstGeom prst="ellipse">
            <a:avLst/>
          </a:prstGeom>
          <a:solidFill>
            <a:srgbClr val="1A2338"/>
          </a:solidFill>
          <a:ln w="15875">
            <a:solidFill>
              <a:srgbClr val="00B8FF"/>
            </a:solidFill>
            <a:prstDash val="solid"/>
          </a:ln>
        </p:spPr>
      </p:sp>
      <p:pic>
        <p:nvPicPr>
          <p:cNvPr id="25" name="Image 2" descr="assets/icon_dollar.png">    </p:cNvPr>
          <p:cNvPicPr>
            <a:picLocks noChangeAspect="1"/>
          </p:cNvPicPr>
          <p:nvPr/>
        </p:nvPicPr>
        <p:blipFill>
          <a:blip r:embed="rId3"/>
          <a:stretch>
            <a:fillRect/>
          </a:stretch>
        </p:blipFill>
        <p:spPr>
          <a:xfrm>
            <a:off x="7300935" y="3414735"/>
            <a:ext cx="266273" cy="266273"/>
          </a:xfrm>
          <a:prstGeom prst="rect">
            <a:avLst/>
          </a:prstGeom>
        </p:spPr>
      </p:pic>
      <p:sp>
        <p:nvSpPr>
          <p:cNvPr id="26" name="Text 21"/>
          <p:cNvSpPr/>
          <p:nvPr/>
        </p:nvSpPr>
        <p:spPr>
          <a:xfrm>
            <a:off x="6245352" y="3931920"/>
            <a:ext cx="2377440" cy="548640"/>
          </a:xfrm>
          <a:prstGeom prst="rect">
            <a:avLst/>
          </a:prstGeom>
          <a:noFill/>
          <a:ln/>
        </p:spPr>
        <p:txBody>
          <a:bodyPr wrap="square" rtlCol="0" anchor="ctr"/>
          <a:lstStyle/>
          <a:p>
            <a:pPr algn="ctr" indent="0" marL="0">
              <a:lnSpc>
                <a:spcPct val="112000"/>
              </a:lnSpc>
              <a:buNone/>
            </a:pPr>
            <a:r>
              <a:rPr lang="en-US" sz="1150" b="1" dirty="0">
                <a:solidFill>
                  <a:srgbClr val="F5F7FA"/>
                </a:solidFill>
                <a:latin typeface="Arial" pitchFamily="34" charset="0"/>
                <a:ea typeface="Arial" pitchFamily="34" charset="-122"/>
                <a:cs typeface="Arial" pitchFamily="34" charset="-120"/>
              </a:rPr>
              <a:t>3. SCIDIP Seed Ecosystem</a:t>
            </a:r>
            <a:endParaRPr lang="en-US" sz="1150" dirty="0"/>
          </a:p>
        </p:txBody>
      </p:sp>
      <p:sp>
        <p:nvSpPr>
          <p:cNvPr id="27" name="Text 22"/>
          <p:cNvSpPr/>
          <p:nvPr/>
        </p:nvSpPr>
        <p:spPr>
          <a:xfrm>
            <a:off x="6272784" y="4526280"/>
            <a:ext cx="2322576" cy="1691640"/>
          </a:xfrm>
          <a:prstGeom prst="rect">
            <a:avLst/>
          </a:prstGeom>
          <a:noFill/>
          <a:ln/>
        </p:spPr>
        <p:txBody>
          <a:bodyPr wrap="square" rtlCol="0" anchor="ctr"/>
          <a:lstStyle/>
          <a:p>
            <a:pPr indent="0" marL="0">
              <a:lnSpc>
                <a:spcPct val="122000"/>
              </a:lnSpc>
              <a:buNone/>
            </a:pPr>
            <a:r>
              <a:rPr lang="en-US" sz="1000" dirty="0">
                <a:solidFill>
                  <a:srgbClr val="AAB4C6"/>
                </a:solidFill>
                <a:latin typeface="Calibri" pitchFamily="34" charset="0"/>
                <a:ea typeface="Calibri" pitchFamily="34" charset="-122"/>
                <a:cs typeface="Calibri" pitchFamily="34" charset="-120"/>
              </a:rPr>
              <a:t>Integration into the SCIDIP funding and incubation framework to finance raw material atomization and multi-hopper 3D printing of the physical prototypes.</a:t>
            </a:r>
            <a:endParaRPr lang="en-US" sz="1000" dirty="0"/>
          </a:p>
        </p:txBody>
      </p:sp>
      <p:sp>
        <p:nvSpPr>
          <p:cNvPr id="28" name="Shape 23"/>
          <p:cNvSpPr/>
          <p:nvPr/>
        </p:nvSpPr>
        <p:spPr>
          <a:xfrm>
            <a:off x="10195560" y="2926080"/>
            <a:ext cx="36576" cy="137160"/>
          </a:xfrm>
          <a:prstGeom prst="rect">
            <a:avLst/>
          </a:prstGeom>
          <a:solidFill>
            <a:srgbClr val="00E5A0"/>
          </a:solidFill>
          <a:ln/>
        </p:spPr>
      </p:sp>
      <p:sp>
        <p:nvSpPr>
          <p:cNvPr id="29" name="Shape 24"/>
          <p:cNvSpPr/>
          <p:nvPr/>
        </p:nvSpPr>
        <p:spPr>
          <a:xfrm>
            <a:off x="8887968" y="3063240"/>
            <a:ext cx="2651760" cy="3246120"/>
          </a:xfrm>
          <a:prstGeom prst="roundRect">
            <a:avLst>
              <a:gd name="adj" fmla="val 3448"/>
            </a:avLst>
          </a:prstGeom>
          <a:solidFill>
            <a:srgbClr val="141B2E"/>
          </a:solidFill>
          <a:ln w="12700">
            <a:solidFill>
              <a:srgbClr val="2A3550"/>
            </a:solidFill>
            <a:prstDash val="solid"/>
          </a:ln>
        </p:spPr>
      </p:sp>
      <p:sp>
        <p:nvSpPr>
          <p:cNvPr id="30" name="Shape 25"/>
          <p:cNvSpPr/>
          <p:nvPr/>
        </p:nvSpPr>
        <p:spPr>
          <a:xfrm>
            <a:off x="9957816" y="3291840"/>
            <a:ext cx="512064" cy="512064"/>
          </a:xfrm>
          <a:prstGeom prst="ellipse">
            <a:avLst/>
          </a:prstGeom>
          <a:solidFill>
            <a:srgbClr val="1A2338"/>
          </a:solidFill>
          <a:ln w="15875">
            <a:solidFill>
              <a:srgbClr val="00B8FF"/>
            </a:solidFill>
            <a:prstDash val="solid"/>
          </a:ln>
        </p:spPr>
      </p:sp>
      <p:pic>
        <p:nvPicPr>
          <p:cNvPr id="31" name="Image 3" descr="assets/icon_link.png">    </p:cNvPr>
          <p:cNvPicPr>
            <a:picLocks noChangeAspect="1"/>
          </p:cNvPicPr>
          <p:nvPr/>
        </p:nvPicPr>
        <p:blipFill>
          <a:blip r:embed="rId4"/>
          <a:stretch>
            <a:fillRect/>
          </a:stretch>
        </p:blipFill>
        <p:spPr>
          <a:xfrm>
            <a:off x="10080711" y="3414735"/>
            <a:ext cx="266273" cy="266273"/>
          </a:xfrm>
          <a:prstGeom prst="rect">
            <a:avLst/>
          </a:prstGeom>
        </p:spPr>
      </p:pic>
      <p:sp>
        <p:nvSpPr>
          <p:cNvPr id="32" name="Text 26"/>
          <p:cNvSpPr/>
          <p:nvPr/>
        </p:nvSpPr>
        <p:spPr>
          <a:xfrm>
            <a:off x="9025128" y="3931920"/>
            <a:ext cx="2377440" cy="548640"/>
          </a:xfrm>
          <a:prstGeom prst="rect">
            <a:avLst/>
          </a:prstGeom>
          <a:noFill/>
          <a:ln/>
        </p:spPr>
        <p:txBody>
          <a:bodyPr wrap="square" rtlCol="0" anchor="ctr"/>
          <a:lstStyle/>
          <a:p>
            <a:pPr algn="ctr" indent="0" marL="0">
              <a:lnSpc>
                <a:spcPct val="112000"/>
              </a:lnSpc>
              <a:buNone/>
            </a:pPr>
            <a:r>
              <a:rPr lang="en-US" sz="1150" b="1" dirty="0">
                <a:solidFill>
                  <a:srgbClr val="F5F7FA"/>
                </a:solidFill>
                <a:latin typeface="Arial" pitchFamily="34" charset="0"/>
                <a:ea typeface="Arial" pitchFamily="34" charset="-122"/>
                <a:cs typeface="Arial" pitchFamily="34" charset="-120"/>
              </a:rPr>
              <a:t>4. Corporate Market Connect</a:t>
            </a:r>
            <a:endParaRPr lang="en-US" sz="1150" dirty="0"/>
          </a:p>
        </p:txBody>
      </p:sp>
      <p:sp>
        <p:nvSpPr>
          <p:cNvPr id="33" name="Text 27"/>
          <p:cNvSpPr/>
          <p:nvPr/>
        </p:nvSpPr>
        <p:spPr>
          <a:xfrm>
            <a:off x="9052560" y="4526280"/>
            <a:ext cx="2322576" cy="1691640"/>
          </a:xfrm>
          <a:prstGeom prst="rect">
            <a:avLst/>
          </a:prstGeom>
          <a:noFill/>
          <a:ln/>
        </p:spPr>
        <p:txBody>
          <a:bodyPr wrap="square" rtlCol="0" anchor="ctr"/>
          <a:lstStyle/>
          <a:p>
            <a:pPr indent="0" marL="0">
              <a:lnSpc>
                <a:spcPct val="122000"/>
              </a:lnSpc>
              <a:buNone/>
            </a:pPr>
            <a:r>
              <a:rPr lang="en-US" sz="1000" dirty="0">
                <a:solidFill>
                  <a:srgbClr val="AAB4C6"/>
                </a:solidFill>
                <a:latin typeface="Calibri" pitchFamily="34" charset="0"/>
                <a:ea typeface="Calibri" pitchFamily="34" charset="-122"/>
                <a:cs typeface="Calibri" pitchFamily="34" charset="-120"/>
              </a:rPr>
              <a:t>Joint integration of the physical prototypes into Sona Comstar's downstream EV supply chain.</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15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EXECUTION ROADMAP</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600" b="1" spc="30" kern="0" dirty="0">
                <a:solidFill>
                  <a:srgbClr val="F5F7FA"/>
                </a:solidFill>
                <a:latin typeface="Arial" pitchFamily="34" charset="0"/>
                <a:ea typeface="Arial" pitchFamily="34" charset="-122"/>
                <a:cs typeface="Arial" pitchFamily="34" charset="-120"/>
              </a:rPr>
              <a:t>THE 24-MONTH INCUBATION ROADMAP</a:t>
            </a:r>
            <a:endParaRPr lang="en-US" sz="26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From Computational Validation to Sona Comstar Integration</a:t>
            </a:r>
            <a:endParaRPr lang="en-US" sz="1500" dirty="0"/>
          </a:p>
        </p:txBody>
      </p:sp>
      <p:sp>
        <p:nvSpPr>
          <p:cNvPr id="7" name="Text 5"/>
          <p:cNvSpPr/>
          <p:nvPr/>
        </p:nvSpPr>
        <p:spPr>
          <a:xfrm>
            <a:off x="548640" y="1536192"/>
            <a:ext cx="11091672" cy="365760"/>
          </a:xfrm>
          <a:prstGeom prst="rect">
            <a:avLst/>
          </a:prstGeom>
          <a:noFill/>
          <a:ln/>
        </p:spPr>
        <p:txBody>
          <a:bodyPr wrap="square" rtlCol="0" anchor="ctr"/>
          <a:lstStyle/>
          <a:p>
            <a:pPr indent="0" marL="0">
              <a:buNone/>
            </a:pPr>
            <a:r>
              <a:rPr lang="en-US" sz="1250" dirty="0">
                <a:solidFill>
                  <a:srgbClr val="AAB4C6"/>
                </a:solidFill>
                <a:latin typeface="Calibri" pitchFamily="34" charset="0"/>
                <a:ea typeface="Calibri" pitchFamily="34" charset="-122"/>
                <a:cs typeface="Calibri" pitchFamily="34" charset="-120"/>
              </a:rPr>
              <a:t>Our execution strategy is strictly mapped to the 24-month SCIDIP incubation cycle at </a:t>
            </a:r>
            <a:pPr indent="0" marL="0">
              <a:buNone/>
            </a:pPr>
            <a:r>
              <a:rPr lang="en-US" sz="1250" b="1" dirty="0">
                <a:solidFill>
                  <a:srgbClr val="00E5A0"/>
                </a:solidFill>
                <a:latin typeface="Calibri" pitchFamily="34" charset="0"/>
                <a:ea typeface="Calibri" pitchFamily="34" charset="-122"/>
                <a:cs typeface="Calibri" pitchFamily="34" charset="-120"/>
              </a:rPr>
              <a:t>Atal Incubation Centre (AIC)</a:t>
            </a:r>
            <a:pPr indent="0" marL="0">
              <a:buNone/>
            </a:pPr>
            <a:r>
              <a:rPr lang="en-US" sz="1250" dirty="0">
                <a:solidFill>
                  <a:srgbClr val="AAB4C6"/>
                </a:solidFill>
                <a:latin typeface="Calibri" pitchFamily="34" charset="0"/>
                <a:ea typeface="Calibri" pitchFamily="34" charset="-122"/>
                <a:cs typeface="Calibri" pitchFamily="34" charset="-120"/>
              </a:rPr>
              <a:t>.</a:t>
            </a:r>
            <a:endParaRPr lang="en-US" sz="1250" dirty="0"/>
          </a:p>
        </p:txBody>
      </p:sp>
      <p:sp>
        <p:nvSpPr>
          <p:cNvPr id="8" name="Shape 6"/>
          <p:cNvSpPr/>
          <p:nvPr/>
        </p:nvSpPr>
        <p:spPr>
          <a:xfrm>
            <a:off x="822960" y="2331720"/>
            <a:ext cx="10314432" cy="54864"/>
          </a:xfrm>
          <a:prstGeom prst="rect">
            <a:avLst/>
          </a:prstGeom>
          <a:solidFill>
            <a:srgbClr val="2A3550"/>
          </a:solidFill>
          <a:ln/>
        </p:spPr>
      </p:sp>
      <p:sp>
        <p:nvSpPr>
          <p:cNvPr id="9" name="Shape 7"/>
          <p:cNvSpPr/>
          <p:nvPr/>
        </p:nvSpPr>
        <p:spPr>
          <a:xfrm rot="5400000">
            <a:off x="11091672" y="2221992"/>
            <a:ext cx="274320" cy="274320"/>
          </a:xfrm>
          <a:prstGeom prst="triangle">
            <a:avLst/>
          </a:prstGeom>
          <a:solidFill>
            <a:srgbClr val="2A3550"/>
          </a:solidFill>
          <a:ln/>
        </p:spPr>
      </p:sp>
      <p:sp>
        <p:nvSpPr>
          <p:cNvPr id="10" name="Shape 8"/>
          <p:cNvSpPr/>
          <p:nvPr/>
        </p:nvSpPr>
        <p:spPr>
          <a:xfrm>
            <a:off x="1810512" y="2157984"/>
            <a:ext cx="402336" cy="402336"/>
          </a:xfrm>
          <a:prstGeom prst="ellipse">
            <a:avLst/>
          </a:prstGeom>
          <a:solidFill>
            <a:srgbClr val="00E5A0"/>
          </a:solidFill>
          <a:ln w="38100">
            <a:solidFill>
              <a:srgbClr val="0A0E1A"/>
            </a:solidFill>
            <a:prstDash val="solid"/>
          </a:ln>
        </p:spPr>
      </p:sp>
      <p:sp>
        <p:nvSpPr>
          <p:cNvPr id="11" name="Text 9"/>
          <p:cNvSpPr/>
          <p:nvPr/>
        </p:nvSpPr>
        <p:spPr>
          <a:xfrm>
            <a:off x="1810512" y="2157984"/>
            <a:ext cx="402336" cy="402336"/>
          </a:xfrm>
          <a:prstGeom prst="rect">
            <a:avLst/>
          </a:prstGeom>
          <a:noFill/>
          <a:ln/>
        </p:spPr>
        <p:txBody>
          <a:bodyPr wrap="square" rtlCol="0" anchor="ctr"/>
          <a:lstStyle/>
          <a:p>
            <a:pPr algn="ctr" indent="0" marL="0">
              <a:buNone/>
            </a:pPr>
            <a:r>
              <a:rPr lang="en-US" sz="1200" b="1" dirty="0">
                <a:solidFill>
                  <a:srgbClr val="0A0E1A"/>
                </a:solidFill>
                <a:latin typeface="Arial" pitchFamily="34" charset="0"/>
                <a:ea typeface="Arial" pitchFamily="34" charset="-122"/>
                <a:cs typeface="Arial" pitchFamily="34" charset="-120"/>
              </a:rPr>
              <a:t>M1</a:t>
            </a:r>
            <a:endParaRPr lang="en-US" sz="1200" dirty="0"/>
          </a:p>
        </p:txBody>
      </p:sp>
      <p:sp>
        <p:nvSpPr>
          <p:cNvPr id="12" name="Shape 10"/>
          <p:cNvSpPr/>
          <p:nvPr/>
        </p:nvSpPr>
        <p:spPr>
          <a:xfrm>
            <a:off x="685800" y="2880360"/>
            <a:ext cx="2651760" cy="3200400"/>
          </a:xfrm>
          <a:prstGeom prst="roundRect">
            <a:avLst>
              <a:gd name="adj" fmla="val 3448"/>
            </a:avLst>
          </a:prstGeom>
          <a:solidFill>
            <a:srgbClr val="141B2E"/>
          </a:solidFill>
          <a:ln w="12700">
            <a:solidFill>
              <a:srgbClr val="2A3550"/>
            </a:solidFill>
            <a:prstDash val="solid"/>
          </a:ln>
        </p:spPr>
      </p:sp>
      <p:sp>
        <p:nvSpPr>
          <p:cNvPr id="13" name="Text 11"/>
          <p:cNvSpPr/>
          <p:nvPr/>
        </p:nvSpPr>
        <p:spPr>
          <a:xfrm>
            <a:off x="868680" y="3035808"/>
            <a:ext cx="2286000" cy="237744"/>
          </a:xfrm>
          <a:prstGeom prst="rect">
            <a:avLst/>
          </a:prstGeom>
          <a:noFill/>
          <a:ln/>
        </p:spPr>
        <p:txBody>
          <a:bodyPr wrap="square" rtlCol="0" anchor="ctr"/>
          <a:lstStyle/>
          <a:p>
            <a:pPr indent="0" marL="0">
              <a:buNone/>
            </a:pPr>
            <a:r>
              <a:rPr lang="en-US" sz="1000" b="1" spc="50" kern="0" dirty="0">
                <a:solidFill>
                  <a:srgbClr val="00E5A0"/>
                </a:solidFill>
                <a:latin typeface="Arial" pitchFamily="34" charset="0"/>
                <a:ea typeface="Arial" pitchFamily="34" charset="-122"/>
                <a:cs typeface="Arial" pitchFamily="34" charset="-120"/>
              </a:rPr>
              <a:t>MONTHS 1–6</a:t>
            </a:r>
            <a:endParaRPr lang="en-US" sz="1000" dirty="0"/>
          </a:p>
        </p:txBody>
      </p:sp>
      <p:sp>
        <p:nvSpPr>
          <p:cNvPr id="14" name="Text 12"/>
          <p:cNvSpPr/>
          <p:nvPr/>
        </p:nvSpPr>
        <p:spPr>
          <a:xfrm>
            <a:off x="868680" y="3273552"/>
            <a:ext cx="2286000" cy="502920"/>
          </a:xfrm>
          <a:prstGeom prst="rect">
            <a:avLst/>
          </a:prstGeom>
          <a:noFill/>
          <a:ln/>
        </p:spPr>
        <p:txBody>
          <a:bodyPr wrap="square" rtlCol="0" anchor="ctr"/>
          <a:lstStyle/>
          <a:p>
            <a:pPr indent="0" marL="0">
              <a:lnSpc>
                <a:spcPct val="112000"/>
              </a:lnSpc>
              <a:buNone/>
            </a:pPr>
            <a:r>
              <a:rPr lang="en-US" sz="1300" b="1" dirty="0">
                <a:solidFill>
                  <a:srgbClr val="F5F7FA"/>
                </a:solidFill>
                <a:latin typeface="Arial" pitchFamily="34" charset="0"/>
                <a:ea typeface="Arial" pitchFamily="34" charset="-122"/>
                <a:cs typeface="Arial" pitchFamily="34" charset="-120"/>
              </a:rPr>
              <a:t>Powder Synthesis</a:t>
            </a:r>
            <a:endParaRPr lang="en-US" sz="1300" dirty="0"/>
          </a:p>
        </p:txBody>
      </p:sp>
      <p:sp>
        <p:nvSpPr>
          <p:cNvPr id="15" name="Text 13"/>
          <p:cNvSpPr/>
          <p:nvPr/>
        </p:nvSpPr>
        <p:spPr>
          <a:xfrm>
            <a:off x="868680" y="3840480"/>
            <a:ext cx="2286000" cy="2103120"/>
          </a:xfrm>
          <a:prstGeom prst="rect">
            <a:avLst/>
          </a:prstGeom>
          <a:noFill/>
          <a:ln/>
        </p:spPr>
        <p:txBody>
          <a:bodyPr wrap="square" rtlCol="0" anchor="ctr"/>
          <a:lstStyle/>
          <a:p>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Procure raw metal powders (</a:t>
            </a:r>
            <a:pPr indent="0" marL="0">
              <a:lnSpc>
                <a:spcPct val="128000"/>
              </a:lnSpc>
              <a:buNone/>
            </a:pPr>
            <a:r>
              <a:rPr lang="en-US" sz="1050" b="1" dirty="0">
                <a:solidFill>
                  <a:srgbClr val="00E5A0"/>
                </a:solidFill>
                <a:latin typeface="Calibri" pitchFamily="34" charset="0"/>
                <a:ea typeface="Calibri" pitchFamily="34" charset="-122"/>
                <a:cs typeface="Calibri" pitchFamily="34" charset="-120"/>
              </a:rPr>
              <a:t>Ta, W, Cr, V, Ti, Zr, Hf, Al</a:t>
            </a:r>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 and utilize IIT Delhi labs to verify composition purity and atomization quality.</a:t>
            </a:r>
            <a:endParaRPr lang="en-US" sz="1050" dirty="0"/>
          </a:p>
        </p:txBody>
      </p:sp>
      <p:sp>
        <p:nvSpPr>
          <p:cNvPr id="16" name="Shape 14"/>
          <p:cNvSpPr/>
          <p:nvPr/>
        </p:nvSpPr>
        <p:spPr>
          <a:xfrm>
            <a:off x="4581144" y="2157984"/>
            <a:ext cx="402336" cy="402336"/>
          </a:xfrm>
          <a:prstGeom prst="ellipse">
            <a:avLst/>
          </a:prstGeom>
          <a:solidFill>
            <a:srgbClr val="00E5A0"/>
          </a:solidFill>
          <a:ln w="38100">
            <a:solidFill>
              <a:srgbClr val="0A0E1A"/>
            </a:solidFill>
            <a:prstDash val="solid"/>
          </a:ln>
        </p:spPr>
      </p:sp>
      <p:sp>
        <p:nvSpPr>
          <p:cNvPr id="17" name="Text 15"/>
          <p:cNvSpPr/>
          <p:nvPr/>
        </p:nvSpPr>
        <p:spPr>
          <a:xfrm>
            <a:off x="4581144" y="2157984"/>
            <a:ext cx="402336" cy="402336"/>
          </a:xfrm>
          <a:prstGeom prst="rect">
            <a:avLst/>
          </a:prstGeom>
          <a:noFill/>
          <a:ln/>
        </p:spPr>
        <p:txBody>
          <a:bodyPr wrap="square" rtlCol="0" anchor="ctr"/>
          <a:lstStyle/>
          <a:p>
            <a:pPr algn="ctr" indent="0" marL="0">
              <a:buNone/>
            </a:pPr>
            <a:r>
              <a:rPr lang="en-US" sz="1200" b="1" dirty="0">
                <a:solidFill>
                  <a:srgbClr val="0A0E1A"/>
                </a:solidFill>
                <a:latin typeface="Arial" pitchFamily="34" charset="0"/>
                <a:ea typeface="Arial" pitchFamily="34" charset="-122"/>
                <a:cs typeface="Arial" pitchFamily="34" charset="-120"/>
              </a:rPr>
              <a:t>M2</a:t>
            </a:r>
            <a:endParaRPr lang="en-US" sz="1200" dirty="0"/>
          </a:p>
        </p:txBody>
      </p:sp>
      <p:sp>
        <p:nvSpPr>
          <p:cNvPr id="18" name="Shape 16"/>
          <p:cNvSpPr/>
          <p:nvPr/>
        </p:nvSpPr>
        <p:spPr>
          <a:xfrm>
            <a:off x="3456432" y="2880360"/>
            <a:ext cx="2651760" cy="3200400"/>
          </a:xfrm>
          <a:prstGeom prst="roundRect">
            <a:avLst>
              <a:gd name="adj" fmla="val 3448"/>
            </a:avLst>
          </a:prstGeom>
          <a:solidFill>
            <a:srgbClr val="141B2E"/>
          </a:solidFill>
          <a:ln w="12700">
            <a:solidFill>
              <a:srgbClr val="2A3550"/>
            </a:solidFill>
            <a:prstDash val="solid"/>
          </a:ln>
        </p:spPr>
      </p:sp>
      <p:sp>
        <p:nvSpPr>
          <p:cNvPr id="19" name="Text 17"/>
          <p:cNvSpPr/>
          <p:nvPr/>
        </p:nvSpPr>
        <p:spPr>
          <a:xfrm>
            <a:off x="3639312" y="3035808"/>
            <a:ext cx="2286000" cy="237744"/>
          </a:xfrm>
          <a:prstGeom prst="rect">
            <a:avLst/>
          </a:prstGeom>
          <a:noFill/>
          <a:ln/>
        </p:spPr>
        <p:txBody>
          <a:bodyPr wrap="square" rtlCol="0" anchor="ctr"/>
          <a:lstStyle/>
          <a:p>
            <a:pPr indent="0" marL="0">
              <a:buNone/>
            </a:pPr>
            <a:r>
              <a:rPr lang="en-US" sz="1000" b="1" spc="50" kern="0" dirty="0">
                <a:solidFill>
                  <a:srgbClr val="00E5A0"/>
                </a:solidFill>
                <a:latin typeface="Arial" pitchFamily="34" charset="0"/>
                <a:ea typeface="Arial" pitchFamily="34" charset="-122"/>
                <a:cs typeface="Arial" pitchFamily="34" charset="-120"/>
              </a:rPr>
              <a:t>MONTHS 6–12</a:t>
            </a:r>
            <a:endParaRPr lang="en-US" sz="1000" dirty="0"/>
          </a:p>
        </p:txBody>
      </p:sp>
      <p:sp>
        <p:nvSpPr>
          <p:cNvPr id="20" name="Text 18"/>
          <p:cNvSpPr/>
          <p:nvPr/>
        </p:nvSpPr>
        <p:spPr>
          <a:xfrm>
            <a:off x="3639312" y="3273552"/>
            <a:ext cx="2286000" cy="502920"/>
          </a:xfrm>
          <a:prstGeom prst="rect">
            <a:avLst/>
          </a:prstGeom>
          <a:noFill/>
          <a:ln/>
        </p:spPr>
        <p:txBody>
          <a:bodyPr wrap="square" rtlCol="0" anchor="ctr"/>
          <a:lstStyle/>
          <a:p>
            <a:pPr indent="0" marL="0">
              <a:lnSpc>
                <a:spcPct val="112000"/>
              </a:lnSpc>
              <a:buNone/>
            </a:pPr>
            <a:r>
              <a:rPr lang="en-US" sz="1300" b="1" dirty="0">
                <a:solidFill>
                  <a:srgbClr val="F5F7FA"/>
                </a:solidFill>
                <a:latin typeface="Arial" pitchFamily="34" charset="0"/>
                <a:ea typeface="Arial" pitchFamily="34" charset="-122"/>
                <a:cs typeface="Arial" pitchFamily="34" charset="-120"/>
              </a:rPr>
              <a:t>Additive Manufacturing</a:t>
            </a:r>
            <a:endParaRPr lang="en-US" sz="1300" dirty="0"/>
          </a:p>
        </p:txBody>
      </p:sp>
      <p:sp>
        <p:nvSpPr>
          <p:cNvPr id="21" name="Text 19"/>
          <p:cNvSpPr/>
          <p:nvPr/>
        </p:nvSpPr>
        <p:spPr>
          <a:xfrm>
            <a:off x="3639312" y="3840480"/>
            <a:ext cx="2286000" cy="2103120"/>
          </a:xfrm>
          <a:prstGeom prst="rect">
            <a:avLst/>
          </a:prstGeom>
          <a:noFill/>
          <a:ln/>
        </p:spPr>
        <p:txBody>
          <a:bodyPr wrap="square" rtlCol="0" anchor="ctr"/>
          <a:lstStyle/>
          <a:p>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Execute the 11-layer </a:t>
            </a:r>
            <a:pPr indent="0" marL="0">
              <a:lnSpc>
                <a:spcPct val="128000"/>
              </a:lnSpc>
              <a:buNone/>
            </a:pPr>
            <a:r>
              <a:rPr lang="en-US" sz="1050" dirty="0">
                <a:solidFill>
                  <a:srgbClr val="AAB4C6"/>
                </a:solidFill>
                <a:latin typeface="Courier New" pitchFamily="34" charset="0"/>
                <a:ea typeface="Courier New" pitchFamily="34" charset="-122"/>
                <a:cs typeface="Courier New" pitchFamily="34" charset="-120"/>
              </a:rPr>
              <a:t>manufacturing_recipe.csv</a:t>
            </a:r>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 via </a:t>
            </a:r>
            <a:pPr indent="0" marL="0">
              <a:lnSpc>
                <a:spcPct val="128000"/>
              </a:lnSpc>
              <a:buNone/>
            </a:pPr>
            <a:r>
              <a:rPr lang="en-US" sz="1050" b="1" dirty="0">
                <a:solidFill>
                  <a:srgbClr val="00E5A0"/>
                </a:solidFill>
                <a:latin typeface="Calibri" pitchFamily="34" charset="0"/>
                <a:ea typeface="Calibri" pitchFamily="34" charset="-122"/>
                <a:cs typeface="Calibri" pitchFamily="34" charset="-120"/>
              </a:rPr>
              <a:t>DED</a:t>
            </a:r>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 (Directed Energy Deposition) to print physical witness coupons.</a:t>
            </a:r>
            <a:endParaRPr lang="en-US" sz="1050" dirty="0"/>
          </a:p>
        </p:txBody>
      </p:sp>
      <p:sp>
        <p:nvSpPr>
          <p:cNvPr id="22" name="Shape 20"/>
          <p:cNvSpPr/>
          <p:nvPr/>
        </p:nvSpPr>
        <p:spPr>
          <a:xfrm>
            <a:off x="7351776" y="2157984"/>
            <a:ext cx="402336" cy="402336"/>
          </a:xfrm>
          <a:prstGeom prst="ellipse">
            <a:avLst/>
          </a:prstGeom>
          <a:solidFill>
            <a:srgbClr val="00E5A0"/>
          </a:solidFill>
          <a:ln w="38100">
            <a:solidFill>
              <a:srgbClr val="0A0E1A"/>
            </a:solidFill>
            <a:prstDash val="solid"/>
          </a:ln>
        </p:spPr>
      </p:sp>
      <p:sp>
        <p:nvSpPr>
          <p:cNvPr id="23" name="Text 21"/>
          <p:cNvSpPr/>
          <p:nvPr/>
        </p:nvSpPr>
        <p:spPr>
          <a:xfrm>
            <a:off x="7351776" y="2157984"/>
            <a:ext cx="402336" cy="402336"/>
          </a:xfrm>
          <a:prstGeom prst="rect">
            <a:avLst/>
          </a:prstGeom>
          <a:noFill/>
          <a:ln/>
        </p:spPr>
        <p:txBody>
          <a:bodyPr wrap="square" rtlCol="0" anchor="ctr"/>
          <a:lstStyle/>
          <a:p>
            <a:pPr algn="ctr" indent="0" marL="0">
              <a:buNone/>
            </a:pPr>
            <a:r>
              <a:rPr lang="en-US" sz="1200" b="1" dirty="0">
                <a:solidFill>
                  <a:srgbClr val="0A0E1A"/>
                </a:solidFill>
                <a:latin typeface="Arial" pitchFamily="34" charset="0"/>
                <a:ea typeface="Arial" pitchFamily="34" charset="-122"/>
                <a:cs typeface="Arial" pitchFamily="34" charset="-120"/>
              </a:rPr>
              <a:t>M3</a:t>
            </a:r>
            <a:endParaRPr lang="en-US" sz="1200" dirty="0"/>
          </a:p>
        </p:txBody>
      </p:sp>
      <p:sp>
        <p:nvSpPr>
          <p:cNvPr id="24" name="Shape 22"/>
          <p:cNvSpPr/>
          <p:nvPr/>
        </p:nvSpPr>
        <p:spPr>
          <a:xfrm>
            <a:off x="6227064" y="2880360"/>
            <a:ext cx="2651760" cy="3200400"/>
          </a:xfrm>
          <a:prstGeom prst="roundRect">
            <a:avLst>
              <a:gd name="adj" fmla="val 3448"/>
            </a:avLst>
          </a:prstGeom>
          <a:solidFill>
            <a:srgbClr val="141B2E"/>
          </a:solidFill>
          <a:ln w="12700">
            <a:solidFill>
              <a:srgbClr val="2A3550"/>
            </a:solidFill>
            <a:prstDash val="solid"/>
          </a:ln>
        </p:spPr>
      </p:sp>
      <p:sp>
        <p:nvSpPr>
          <p:cNvPr id="25" name="Text 23"/>
          <p:cNvSpPr/>
          <p:nvPr/>
        </p:nvSpPr>
        <p:spPr>
          <a:xfrm>
            <a:off x="6409944" y="3035808"/>
            <a:ext cx="2286000" cy="237744"/>
          </a:xfrm>
          <a:prstGeom prst="rect">
            <a:avLst/>
          </a:prstGeom>
          <a:noFill/>
          <a:ln/>
        </p:spPr>
        <p:txBody>
          <a:bodyPr wrap="square" rtlCol="0" anchor="ctr"/>
          <a:lstStyle/>
          <a:p>
            <a:pPr indent="0" marL="0">
              <a:buNone/>
            </a:pPr>
            <a:r>
              <a:rPr lang="en-US" sz="1000" b="1" spc="50" kern="0" dirty="0">
                <a:solidFill>
                  <a:srgbClr val="00E5A0"/>
                </a:solidFill>
                <a:latin typeface="Arial" pitchFamily="34" charset="0"/>
                <a:ea typeface="Arial" pitchFamily="34" charset="-122"/>
                <a:cs typeface="Arial" pitchFamily="34" charset="-120"/>
              </a:rPr>
              <a:t>MONTHS 12–18</a:t>
            </a:r>
            <a:endParaRPr lang="en-US" sz="1000" dirty="0"/>
          </a:p>
        </p:txBody>
      </p:sp>
      <p:sp>
        <p:nvSpPr>
          <p:cNvPr id="26" name="Text 24"/>
          <p:cNvSpPr/>
          <p:nvPr/>
        </p:nvSpPr>
        <p:spPr>
          <a:xfrm>
            <a:off x="6409944" y="3273552"/>
            <a:ext cx="2286000" cy="502920"/>
          </a:xfrm>
          <a:prstGeom prst="rect">
            <a:avLst/>
          </a:prstGeom>
          <a:noFill/>
          <a:ln/>
        </p:spPr>
        <p:txBody>
          <a:bodyPr wrap="square" rtlCol="0" anchor="ctr"/>
          <a:lstStyle/>
          <a:p>
            <a:pPr indent="0" marL="0">
              <a:lnSpc>
                <a:spcPct val="112000"/>
              </a:lnSpc>
              <a:buNone/>
            </a:pPr>
            <a:r>
              <a:rPr lang="en-US" sz="1300" b="1" dirty="0">
                <a:solidFill>
                  <a:srgbClr val="F5F7FA"/>
                </a:solidFill>
                <a:latin typeface="Arial" pitchFamily="34" charset="0"/>
                <a:ea typeface="Arial" pitchFamily="34" charset="-122"/>
                <a:cs typeface="Arial" pitchFamily="34" charset="-120"/>
              </a:rPr>
              <a:t>NIDHI-CoE Testing</a:t>
            </a:r>
            <a:endParaRPr lang="en-US" sz="1300" dirty="0"/>
          </a:p>
        </p:txBody>
      </p:sp>
      <p:sp>
        <p:nvSpPr>
          <p:cNvPr id="27" name="Text 25"/>
          <p:cNvSpPr/>
          <p:nvPr/>
        </p:nvSpPr>
        <p:spPr>
          <a:xfrm>
            <a:off x="6409944" y="3840480"/>
            <a:ext cx="2286000" cy="2103120"/>
          </a:xfrm>
          <a:prstGeom prst="rect">
            <a:avLst/>
          </a:prstGeom>
          <a:noFill/>
          <a:ln/>
        </p:spPr>
        <p:txBody>
          <a:bodyPr wrap="square" rtlCol="0" anchor="ctr"/>
          <a:lstStyle/>
          <a:p>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Conduct physical yield strength, thermal cycling, and burner-rig adhesion tests at IIT Delhi to physically validate the </a:t>
            </a:r>
            <a:pPr indent="0" marL="0">
              <a:lnSpc>
                <a:spcPct val="128000"/>
              </a:lnSpc>
              <a:buNone/>
            </a:pPr>
            <a:r>
              <a:rPr lang="en-US" sz="1050" b="1" dirty="0">
                <a:solidFill>
                  <a:srgbClr val="00E5A0"/>
                </a:solidFill>
                <a:latin typeface="Calibri" pitchFamily="34" charset="0"/>
                <a:ea typeface="Calibri" pitchFamily="34" charset="-122"/>
                <a:cs typeface="Calibri" pitchFamily="34" charset="-120"/>
              </a:rPr>
              <a:t>1.50 Safety Factor</a:t>
            </a:r>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a:t>
            </a:r>
            <a:endParaRPr lang="en-US" sz="1050" dirty="0"/>
          </a:p>
        </p:txBody>
      </p:sp>
      <p:sp>
        <p:nvSpPr>
          <p:cNvPr id="28" name="Shape 26"/>
          <p:cNvSpPr/>
          <p:nvPr/>
        </p:nvSpPr>
        <p:spPr>
          <a:xfrm>
            <a:off x="10122408" y="2157984"/>
            <a:ext cx="402336" cy="402336"/>
          </a:xfrm>
          <a:prstGeom prst="ellipse">
            <a:avLst/>
          </a:prstGeom>
          <a:solidFill>
            <a:srgbClr val="00E5A0"/>
          </a:solidFill>
          <a:ln w="38100">
            <a:solidFill>
              <a:srgbClr val="0A0E1A"/>
            </a:solidFill>
            <a:prstDash val="solid"/>
          </a:ln>
        </p:spPr>
      </p:sp>
      <p:sp>
        <p:nvSpPr>
          <p:cNvPr id="29" name="Text 27"/>
          <p:cNvSpPr/>
          <p:nvPr/>
        </p:nvSpPr>
        <p:spPr>
          <a:xfrm>
            <a:off x="10122408" y="2157984"/>
            <a:ext cx="402336" cy="402336"/>
          </a:xfrm>
          <a:prstGeom prst="rect">
            <a:avLst/>
          </a:prstGeom>
          <a:noFill/>
          <a:ln/>
        </p:spPr>
        <p:txBody>
          <a:bodyPr wrap="square" rtlCol="0" anchor="ctr"/>
          <a:lstStyle/>
          <a:p>
            <a:pPr algn="ctr" indent="0" marL="0">
              <a:buNone/>
            </a:pPr>
            <a:r>
              <a:rPr lang="en-US" sz="1200" b="1" dirty="0">
                <a:solidFill>
                  <a:srgbClr val="0A0E1A"/>
                </a:solidFill>
                <a:latin typeface="Arial" pitchFamily="34" charset="0"/>
                <a:ea typeface="Arial" pitchFamily="34" charset="-122"/>
                <a:cs typeface="Arial" pitchFamily="34" charset="-120"/>
              </a:rPr>
              <a:t>M4</a:t>
            </a:r>
            <a:endParaRPr lang="en-US" sz="1200" dirty="0"/>
          </a:p>
        </p:txBody>
      </p:sp>
      <p:sp>
        <p:nvSpPr>
          <p:cNvPr id="30" name="Shape 28"/>
          <p:cNvSpPr/>
          <p:nvPr/>
        </p:nvSpPr>
        <p:spPr>
          <a:xfrm>
            <a:off x="8997696" y="2880360"/>
            <a:ext cx="2651760" cy="3200400"/>
          </a:xfrm>
          <a:prstGeom prst="roundRect">
            <a:avLst>
              <a:gd name="adj" fmla="val 3448"/>
            </a:avLst>
          </a:prstGeom>
          <a:solidFill>
            <a:srgbClr val="141B2E"/>
          </a:solidFill>
          <a:ln w="12700">
            <a:solidFill>
              <a:srgbClr val="2A3550"/>
            </a:solidFill>
            <a:prstDash val="solid"/>
          </a:ln>
        </p:spPr>
      </p:sp>
      <p:sp>
        <p:nvSpPr>
          <p:cNvPr id="31" name="Text 29"/>
          <p:cNvSpPr/>
          <p:nvPr/>
        </p:nvSpPr>
        <p:spPr>
          <a:xfrm>
            <a:off x="9180576" y="3035808"/>
            <a:ext cx="2286000" cy="237744"/>
          </a:xfrm>
          <a:prstGeom prst="rect">
            <a:avLst/>
          </a:prstGeom>
          <a:noFill/>
          <a:ln/>
        </p:spPr>
        <p:txBody>
          <a:bodyPr wrap="square" rtlCol="0" anchor="ctr"/>
          <a:lstStyle/>
          <a:p>
            <a:pPr indent="0" marL="0">
              <a:buNone/>
            </a:pPr>
            <a:r>
              <a:rPr lang="en-US" sz="1000" b="1" spc="50" kern="0" dirty="0">
                <a:solidFill>
                  <a:srgbClr val="00E5A0"/>
                </a:solidFill>
                <a:latin typeface="Arial" pitchFamily="34" charset="0"/>
                <a:ea typeface="Arial" pitchFamily="34" charset="-122"/>
                <a:cs typeface="Arial" pitchFamily="34" charset="-120"/>
              </a:rPr>
              <a:t>MONTHS 18–24</a:t>
            </a:r>
            <a:endParaRPr lang="en-US" sz="1000" dirty="0"/>
          </a:p>
        </p:txBody>
      </p:sp>
      <p:sp>
        <p:nvSpPr>
          <p:cNvPr id="32" name="Text 30"/>
          <p:cNvSpPr/>
          <p:nvPr/>
        </p:nvSpPr>
        <p:spPr>
          <a:xfrm>
            <a:off x="9180576" y="3273552"/>
            <a:ext cx="2286000" cy="502920"/>
          </a:xfrm>
          <a:prstGeom prst="rect">
            <a:avLst/>
          </a:prstGeom>
          <a:noFill/>
          <a:ln/>
        </p:spPr>
        <p:txBody>
          <a:bodyPr wrap="square" rtlCol="0" anchor="ctr"/>
          <a:lstStyle/>
          <a:p>
            <a:pPr indent="0" marL="0">
              <a:lnSpc>
                <a:spcPct val="112000"/>
              </a:lnSpc>
              <a:buNone/>
            </a:pPr>
            <a:r>
              <a:rPr lang="en-US" sz="1300" b="1" dirty="0">
                <a:solidFill>
                  <a:srgbClr val="F5F7FA"/>
                </a:solidFill>
                <a:latin typeface="Arial" pitchFamily="34" charset="0"/>
                <a:ea typeface="Arial" pitchFamily="34" charset="-122"/>
                <a:cs typeface="Arial" pitchFamily="34" charset="-120"/>
              </a:rPr>
              <a:t>Corporate Handover</a:t>
            </a:r>
            <a:endParaRPr lang="en-US" sz="1300" dirty="0"/>
          </a:p>
        </p:txBody>
      </p:sp>
      <p:sp>
        <p:nvSpPr>
          <p:cNvPr id="33" name="Text 31"/>
          <p:cNvSpPr/>
          <p:nvPr/>
        </p:nvSpPr>
        <p:spPr>
          <a:xfrm>
            <a:off x="9180576" y="3840480"/>
            <a:ext cx="2286000" cy="2103120"/>
          </a:xfrm>
          <a:prstGeom prst="rect">
            <a:avLst/>
          </a:prstGeom>
          <a:noFill/>
          <a:ln/>
        </p:spPr>
        <p:txBody>
          <a:bodyPr wrap="square" rtlCol="0" anchor="ctr"/>
          <a:lstStyle/>
          <a:p>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Present fully validated </a:t>
            </a:r>
            <a:pPr indent="0" marL="0">
              <a:lnSpc>
                <a:spcPct val="128000"/>
              </a:lnSpc>
              <a:buNone/>
            </a:pPr>
            <a:r>
              <a:rPr lang="en-US" sz="1050" b="1" dirty="0">
                <a:solidFill>
                  <a:srgbClr val="00E5A0"/>
                </a:solidFill>
                <a:latin typeface="Calibri" pitchFamily="34" charset="0"/>
                <a:ea typeface="Calibri" pitchFamily="34" charset="-122"/>
                <a:cs typeface="Calibri" pitchFamily="34" charset="-120"/>
              </a:rPr>
              <a:t>TRL 5/6 hardware</a:t>
            </a:r>
            <a:pPr indent="0" marL="0">
              <a:lnSpc>
                <a:spcPct val="128000"/>
              </a:lnSpc>
              <a:buNone/>
            </a:pPr>
            <a:r>
              <a:rPr lang="en-US" sz="1050" dirty="0">
                <a:solidFill>
                  <a:srgbClr val="AAB4C6"/>
                </a:solidFill>
                <a:latin typeface="Calibri" pitchFamily="34" charset="0"/>
                <a:ea typeface="Calibri" pitchFamily="34" charset="-122"/>
                <a:cs typeface="Calibri" pitchFamily="34" charset="-120"/>
              </a:rPr>
              <a:t> to Sona Comstar for direct integration into H13 forging dies and SRM stator prototypes.</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16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THE RESEARCH LEADS</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700" b="1" spc="30" kern="0" dirty="0">
                <a:solidFill>
                  <a:srgbClr val="F5F7FA"/>
                </a:solidFill>
                <a:latin typeface="Arial" pitchFamily="34" charset="0"/>
                <a:ea typeface="Arial" pitchFamily="34" charset="-122"/>
                <a:cs typeface="Arial" pitchFamily="34" charset="-120"/>
              </a:rPr>
              <a:t>THE RESEARCH LEADS</a:t>
            </a:r>
            <a:endParaRPr lang="en-US" sz="27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Guided by Elite Academic and Scientific Expertise</a:t>
            </a:r>
            <a:endParaRPr lang="en-US" sz="1500" dirty="0"/>
          </a:p>
        </p:txBody>
      </p:sp>
      <p:sp>
        <p:nvSpPr>
          <p:cNvPr id="7" name="Shape 5"/>
          <p:cNvSpPr/>
          <p:nvPr/>
        </p:nvSpPr>
        <p:spPr>
          <a:xfrm>
            <a:off x="548640" y="1691640"/>
            <a:ext cx="5349240" cy="4709160"/>
          </a:xfrm>
          <a:prstGeom prst="roundRect">
            <a:avLst>
              <a:gd name="adj" fmla="val 1942"/>
            </a:avLst>
          </a:prstGeom>
          <a:solidFill>
            <a:srgbClr val="141B2E"/>
          </a:solidFill>
          <a:ln w="12700">
            <a:solidFill>
              <a:srgbClr val="2A3550"/>
            </a:solidFill>
            <a:prstDash val="solid"/>
          </a:ln>
        </p:spPr>
      </p:sp>
      <p:pic>
        <p:nvPicPr>
          <p:cNvPr id="8" name="Image 0" descr="assets/avatar_sc.png">    </p:cNvPr>
          <p:cNvPicPr>
            <a:picLocks noChangeAspect="1"/>
          </p:cNvPicPr>
          <p:nvPr/>
        </p:nvPicPr>
        <p:blipFill>
          <a:blip r:embed="rId1"/>
          <a:stretch>
            <a:fillRect/>
          </a:stretch>
        </p:blipFill>
        <p:spPr>
          <a:xfrm>
            <a:off x="868680" y="1965960"/>
            <a:ext cx="1051560" cy="1051560"/>
          </a:xfrm>
          <a:prstGeom prst="rect">
            <a:avLst/>
          </a:prstGeom>
        </p:spPr>
      </p:pic>
      <p:sp>
        <p:nvSpPr>
          <p:cNvPr id="9" name="Text 6"/>
          <p:cNvSpPr/>
          <p:nvPr/>
        </p:nvSpPr>
        <p:spPr>
          <a:xfrm>
            <a:off x="2103120" y="2011680"/>
            <a:ext cx="3520440" cy="365760"/>
          </a:xfrm>
          <a:prstGeom prst="rect">
            <a:avLst/>
          </a:prstGeom>
          <a:noFill/>
          <a:ln/>
        </p:spPr>
        <p:txBody>
          <a:bodyPr wrap="square" rtlCol="0" anchor="ctr"/>
          <a:lstStyle/>
          <a:p>
            <a:pPr indent="0" marL="0">
              <a:buNone/>
            </a:pPr>
            <a:r>
              <a:rPr lang="en-US" sz="1600" b="1" dirty="0">
                <a:solidFill>
                  <a:srgbClr val="F5F7FA"/>
                </a:solidFill>
                <a:latin typeface="Arial" pitchFamily="34" charset="0"/>
                <a:ea typeface="Arial" pitchFamily="34" charset="-122"/>
                <a:cs typeface="Arial" pitchFamily="34" charset="-120"/>
              </a:rPr>
              <a:t>Dr. Shilpa Choudhary</a:t>
            </a:r>
            <a:endParaRPr lang="en-US" sz="1600" dirty="0"/>
          </a:p>
        </p:txBody>
      </p:sp>
      <p:sp>
        <p:nvSpPr>
          <p:cNvPr id="10" name="Text 7"/>
          <p:cNvSpPr/>
          <p:nvPr/>
        </p:nvSpPr>
        <p:spPr>
          <a:xfrm>
            <a:off x="2103120" y="2377440"/>
            <a:ext cx="3520440" cy="274320"/>
          </a:xfrm>
          <a:prstGeom prst="rect">
            <a:avLst/>
          </a:prstGeom>
          <a:noFill/>
          <a:ln/>
        </p:spPr>
        <p:txBody>
          <a:bodyPr wrap="square" rtlCol="0" anchor="ctr"/>
          <a:lstStyle/>
          <a:p>
            <a:pPr indent="0" marL="0">
              <a:buNone/>
            </a:pPr>
            <a:r>
              <a:rPr lang="en-US" sz="1150" i="1" dirty="0">
                <a:solidFill>
                  <a:srgbClr val="00E5A0"/>
                </a:solidFill>
                <a:latin typeface="Calibri" pitchFamily="34" charset="0"/>
                <a:ea typeface="Calibri" pitchFamily="34" charset="-122"/>
                <a:cs typeface="Calibri" pitchFamily="34" charset="-120"/>
              </a:rPr>
              <a:t>AI / ML Lead</a:t>
            </a:r>
            <a:endParaRPr lang="en-US" sz="1150" dirty="0"/>
          </a:p>
        </p:txBody>
      </p:sp>
      <p:sp>
        <p:nvSpPr>
          <p:cNvPr id="11" name="Text 8"/>
          <p:cNvSpPr/>
          <p:nvPr/>
        </p:nvSpPr>
        <p:spPr>
          <a:xfrm>
            <a:off x="868680" y="3200400"/>
            <a:ext cx="4709160" cy="3063240"/>
          </a:xfrm>
          <a:prstGeom prst="rect">
            <a:avLst/>
          </a:prstGeom>
          <a:noFill/>
          <a:ln/>
        </p:spPr>
        <p:txBody>
          <a:bodyPr wrap="square" rtlCol="0" anchor="ctr"/>
          <a:lstStyle/>
          <a:p>
            <a:pPr indent="0" marL="0">
              <a:lnSpc>
                <a:spcPct val="128000"/>
              </a:lnSpc>
              <a:buNone/>
            </a:pPr>
            <a:r>
              <a:rPr lang="en-US" sz="1100" dirty="0">
                <a:solidFill>
                  <a:srgbClr val="AAB4C6"/>
                </a:solidFill>
                <a:latin typeface="Calibri" pitchFamily="34" charset="0"/>
                <a:ea typeface="Calibri" pitchFamily="34" charset="-122"/>
                <a:cs typeface="Calibri" pitchFamily="34" charset="-120"/>
              </a:rPr>
              <a:t>Recognized among the </a:t>
            </a:r>
            <a:pPr indent="0" marL="0">
              <a:lnSpc>
                <a:spcPct val="128000"/>
              </a:lnSpc>
              <a:buNone/>
            </a:pPr>
            <a:r>
              <a:rPr lang="en-US" sz="1100" b="1" dirty="0">
                <a:solidFill>
                  <a:srgbClr val="00E5A0"/>
                </a:solidFill>
                <a:latin typeface="Calibri" pitchFamily="34" charset="0"/>
                <a:ea typeface="Calibri" pitchFamily="34" charset="-122"/>
                <a:cs typeface="Calibri" pitchFamily="34" charset="-120"/>
              </a:rPr>
              <a:t>Top 2% Scientists Worldwide by Stanford University (2024)</a:t>
            </a:r>
            <a:pPr indent="0" marL="0">
              <a:lnSpc>
                <a:spcPct val="128000"/>
              </a:lnSpc>
              <a:buNone/>
            </a:pPr>
            <a:r>
              <a:rPr lang="en-US" sz="1100" dirty="0">
                <a:solidFill>
                  <a:srgbClr val="AAB4C6"/>
                </a:solidFill>
                <a:latin typeface="Calibri" pitchFamily="34" charset="0"/>
                <a:ea typeface="Calibri" pitchFamily="34" charset="-122"/>
                <a:cs typeface="Calibri" pitchFamily="34" charset="-120"/>
              </a:rPr>
              <a:t>, brings over </a:t>
            </a:r>
            <a:pPr indent="0" marL="0">
              <a:lnSpc>
                <a:spcPct val="128000"/>
              </a:lnSpc>
              <a:buNone/>
            </a:pPr>
            <a:r>
              <a:rPr lang="en-US" sz="1100" b="1" dirty="0">
                <a:solidFill>
                  <a:srgbClr val="00E5A0"/>
                </a:solidFill>
                <a:latin typeface="Calibri" pitchFamily="34" charset="0"/>
                <a:ea typeface="Calibri" pitchFamily="34" charset="-122"/>
                <a:cs typeface="Calibri" pitchFamily="34" charset="-120"/>
              </a:rPr>
              <a:t>16 years of research expertise in Artificial Intelligence, Deep Learning, and AI-driven scientific applications</a:t>
            </a:r>
            <a:pPr indent="0" marL="0">
              <a:lnSpc>
                <a:spcPct val="128000"/>
              </a:lnSpc>
              <a:buNone/>
            </a:pPr>
            <a:r>
              <a:rPr lang="en-US" sz="1100" dirty="0">
                <a:solidFill>
                  <a:srgbClr val="AAB4C6"/>
                </a:solidFill>
                <a:latin typeface="Calibri" pitchFamily="34" charset="0"/>
                <a:ea typeface="Calibri" pitchFamily="34" charset="-122"/>
                <a:cs typeface="Calibri" pitchFamily="34" charset="-120"/>
              </a:rPr>
              <a:t>. With </a:t>
            </a:r>
            <a:pPr indent="0" marL="0">
              <a:lnSpc>
                <a:spcPct val="128000"/>
              </a:lnSpc>
              <a:buNone/>
            </a:pPr>
            <a:r>
              <a:rPr lang="en-US" sz="1100" b="1" dirty="0">
                <a:solidFill>
                  <a:srgbClr val="00E5A0"/>
                </a:solidFill>
                <a:latin typeface="Calibri" pitchFamily="34" charset="0"/>
                <a:ea typeface="Calibri" pitchFamily="34" charset="-122"/>
                <a:cs typeface="Calibri" pitchFamily="34" charset="-120"/>
              </a:rPr>
              <a:t>postdoctoral research experience at the Singapore Institute of Technology and the National Kaohsiung University of Science and Technology (Taiwan)</a:t>
            </a:r>
            <a:pPr indent="0" marL="0">
              <a:lnSpc>
                <a:spcPct val="128000"/>
              </a:lnSpc>
              <a:buNone/>
            </a:pPr>
            <a:r>
              <a:rPr lang="en-US" sz="1100" dirty="0">
                <a:solidFill>
                  <a:srgbClr val="AAB4C6"/>
                </a:solidFill>
                <a:latin typeface="Calibri" pitchFamily="34" charset="0"/>
                <a:ea typeface="Calibri" pitchFamily="34" charset="-122"/>
                <a:cs typeface="Calibri" pitchFamily="34" charset="-120"/>
              </a:rPr>
              <a:t>, she has authored over </a:t>
            </a:r>
            <a:pPr indent="0" marL="0">
              <a:lnSpc>
                <a:spcPct val="128000"/>
              </a:lnSpc>
              <a:buNone/>
            </a:pPr>
            <a:r>
              <a:rPr lang="en-US" sz="1100" b="1" dirty="0">
                <a:solidFill>
                  <a:srgbClr val="00E5A0"/>
                </a:solidFill>
                <a:latin typeface="Calibri" pitchFamily="34" charset="0"/>
                <a:ea typeface="Calibri" pitchFamily="34" charset="-122"/>
                <a:cs typeface="Calibri" pitchFamily="34" charset="-120"/>
              </a:rPr>
              <a:t>100 research papers</a:t>
            </a:r>
            <a:pPr indent="0" marL="0">
              <a:lnSpc>
                <a:spcPct val="128000"/>
              </a:lnSpc>
              <a:buNone/>
            </a:pPr>
            <a:r>
              <a:rPr lang="en-US" sz="1100" dirty="0">
                <a:solidFill>
                  <a:srgbClr val="AAB4C6"/>
                </a:solidFill>
                <a:latin typeface="Calibri" pitchFamily="34" charset="0"/>
                <a:ea typeface="Calibri" pitchFamily="34" charset="-122"/>
                <a:cs typeface="Calibri" pitchFamily="34" charset="-120"/>
              </a:rPr>
              <a:t> (1763 citations, H-index 22), </a:t>
            </a:r>
            <a:pPr indent="0" marL="0">
              <a:lnSpc>
                <a:spcPct val="128000"/>
              </a:lnSpc>
              <a:buNone/>
            </a:pPr>
            <a:r>
              <a:rPr lang="en-US" sz="1100" b="1" dirty="0">
                <a:solidFill>
                  <a:srgbClr val="00E5A0"/>
                </a:solidFill>
                <a:latin typeface="Calibri" pitchFamily="34" charset="0"/>
                <a:ea typeface="Calibri" pitchFamily="34" charset="-122"/>
                <a:cs typeface="Calibri" pitchFamily="34" charset="-120"/>
              </a:rPr>
              <a:t>12 academic books</a:t>
            </a:r>
            <a:pPr indent="0" marL="0">
              <a:lnSpc>
                <a:spcPct val="128000"/>
              </a:lnSpc>
              <a:buNone/>
            </a:pPr>
            <a:r>
              <a:rPr lang="en-US" sz="1100" dirty="0">
                <a:solidFill>
                  <a:srgbClr val="AAB4C6"/>
                </a:solidFill>
                <a:latin typeface="Calibri" pitchFamily="34" charset="0"/>
                <a:ea typeface="Calibri" pitchFamily="34" charset="-122"/>
                <a:cs typeface="Calibri" pitchFamily="34" charset="-120"/>
              </a:rPr>
              <a:t>, and holds </a:t>
            </a:r>
            <a:pPr indent="0" marL="0">
              <a:lnSpc>
                <a:spcPct val="128000"/>
              </a:lnSpc>
              <a:buNone/>
            </a:pPr>
            <a:r>
              <a:rPr lang="en-US" sz="1100" b="1" dirty="0">
                <a:solidFill>
                  <a:srgbClr val="00E5A0"/>
                </a:solidFill>
                <a:latin typeface="Calibri" pitchFamily="34" charset="0"/>
                <a:ea typeface="Calibri" pitchFamily="34" charset="-122"/>
                <a:cs typeface="Calibri" pitchFamily="34" charset="-120"/>
              </a:rPr>
              <a:t>multiple patents</a:t>
            </a:r>
            <a:pPr indent="0" marL="0">
              <a:lnSpc>
                <a:spcPct val="128000"/>
              </a:lnSpc>
              <a:buNone/>
            </a:pPr>
            <a:r>
              <a:rPr lang="en-US" sz="1100" dirty="0">
                <a:solidFill>
                  <a:srgbClr val="AAB4C6"/>
                </a:solidFill>
                <a:latin typeface="Calibri" pitchFamily="34" charset="0"/>
                <a:ea typeface="Calibri" pitchFamily="34" charset="-122"/>
                <a:cs typeface="Calibri" pitchFamily="34" charset="-120"/>
              </a:rPr>
              <a:t> in emerging technology domains. At Crystal Paradigm, she leads AI innovation, ML Architecture, Constrained Optimization, and Surrogate Model Design.</a:t>
            </a:r>
            <a:endParaRPr lang="en-US" sz="1100" dirty="0"/>
          </a:p>
        </p:txBody>
      </p:sp>
      <p:sp>
        <p:nvSpPr>
          <p:cNvPr id="12" name="Shape 9"/>
          <p:cNvSpPr/>
          <p:nvPr/>
        </p:nvSpPr>
        <p:spPr>
          <a:xfrm>
            <a:off x="6291072" y="1691640"/>
            <a:ext cx="5349240" cy="4709160"/>
          </a:xfrm>
          <a:prstGeom prst="roundRect">
            <a:avLst>
              <a:gd name="adj" fmla="val 1942"/>
            </a:avLst>
          </a:prstGeom>
          <a:solidFill>
            <a:srgbClr val="141B2E"/>
          </a:solidFill>
          <a:ln w="12700">
            <a:solidFill>
              <a:srgbClr val="2A3550"/>
            </a:solidFill>
            <a:prstDash val="solid"/>
          </a:ln>
        </p:spPr>
      </p:sp>
      <p:pic>
        <p:nvPicPr>
          <p:cNvPr id="13" name="Image 1" descr="assets/avatar_kv.png">    </p:cNvPr>
          <p:cNvPicPr>
            <a:picLocks noChangeAspect="1"/>
          </p:cNvPicPr>
          <p:nvPr/>
        </p:nvPicPr>
        <p:blipFill>
          <a:blip r:embed="rId2"/>
          <a:stretch>
            <a:fillRect/>
          </a:stretch>
        </p:blipFill>
        <p:spPr>
          <a:xfrm>
            <a:off x="6611112" y="1965960"/>
            <a:ext cx="1051560" cy="1051560"/>
          </a:xfrm>
          <a:prstGeom prst="rect">
            <a:avLst/>
          </a:prstGeom>
        </p:spPr>
      </p:pic>
      <p:sp>
        <p:nvSpPr>
          <p:cNvPr id="14" name="Text 10"/>
          <p:cNvSpPr/>
          <p:nvPr/>
        </p:nvSpPr>
        <p:spPr>
          <a:xfrm>
            <a:off x="7845552" y="1947672"/>
            <a:ext cx="3520440" cy="502920"/>
          </a:xfrm>
          <a:prstGeom prst="rect">
            <a:avLst/>
          </a:prstGeom>
          <a:noFill/>
          <a:ln/>
        </p:spPr>
        <p:txBody>
          <a:bodyPr wrap="square" rtlCol="0" anchor="ctr"/>
          <a:lstStyle/>
          <a:p>
            <a:pPr indent="0" marL="0">
              <a:lnSpc>
                <a:spcPct val="110000"/>
              </a:lnSpc>
              <a:buNone/>
            </a:pPr>
            <a:r>
              <a:rPr lang="en-US" sz="1450" b="1" dirty="0">
                <a:solidFill>
                  <a:srgbClr val="F5F7FA"/>
                </a:solidFill>
                <a:latin typeface="Arial" pitchFamily="34" charset="0"/>
                <a:ea typeface="Arial" pitchFamily="34" charset="-122"/>
                <a:cs typeface="Arial" pitchFamily="34" charset="-120"/>
              </a:rPr>
              <a:t>Dr. Kasarapu Venkataramana</a:t>
            </a:r>
            <a:endParaRPr lang="en-US" sz="1450" dirty="0"/>
          </a:p>
        </p:txBody>
      </p:sp>
      <p:sp>
        <p:nvSpPr>
          <p:cNvPr id="15" name="Text 11"/>
          <p:cNvSpPr/>
          <p:nvPr/>
        </p:nvSpPr>
        <p:spPr>
          <a:xfrm>
            <a:off x="7845552" y="2441448"/>
            <a:ext cx="3520440" cy="365760"/>
          </a:xfrm>
          <a:prstGeom prst="rect">
            <a:avLst/>
          </a:prstGeom>
          <a:noFill/>
          <a:ln/>
        </p:spPr>
        <p:txBody>
          <a:bodyPr wrap="square" rtlCol="0" anchor="ctr"/>
          <a:lstStyle/>
          <a:p>
            <a:pPr indent="0" marL="0">
              <a:buNone/>
            </a:pPr>
            <a:r>
              <a:rPr lang="en-US" sz="1050" i="1" dirty="0">
                <a:solidFill>
                  <a:srgbClr val="00B8FF"/>
                </a:solidFill>
                <a:latin typeface="Calibri" pitchFamily="34" charset="0"/>
                <a:ea typeface="Calibri" pitchFamily="34" charset="-122"/>
                <a:cs typeface="Calibri" pitchFamily="34" charset="-120"/>
              </a:rPr>
              <a:t>Materials Science &amp; Experimental Validation Lead</a:t>
            </a:r>
            <a:endParaRPr lang="en-US" sz="1050" dirty="0"/>
          </a:p>
        </p:txBody>
      </p:sp>
      <p:sp>
        <p:nvSpPr>
          <p:cNvPr id="16" name="Text 12"/>
          <p:cNvSpPr/>
          <p:nvPr/>
        </p:nvSpPr>
        <p:spPr>
          <a:xfrm>
            <a:off x="6611112" y="3200400"/>
            <a:ext cx="4709160" cy="3063240"/>
          </a:xfrm>
          <a:prstGeom prst="rect">
            <a:avLst/>
          </a:prstGeom>
          <a:noFill/>
          <a:ln/>
        </p:spPr>
        <p:txBody>
          <a:bodyPr wrap="square" rtlCol="0" anchor="ctr"/>
          <a:lstStyle/>
          <a:p>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Dr. Venkataramana is currently a </a:t>
            </a:r>
            <a:pPr indent="0" marL="0">
              <a:lnSpc>
                <a:spcPct val="124000"/>
              </a:lnSpc>
              <a:buNone/>
            </a:pPr>
            <a:r>
              <a:rPr lang="en-US" sz="1000" b="1" dirty="0">
                <a:solidFill>
                  <a:srgbClr val="00B8FF"/>
                </a:solidFill>
                <a:latin typeface="Calibri" pitchFamily="34" charset="0"/>
                <a:ea typeface="Calibri" pitchFamily="34" charset="-122"/>
                <a:cs typeface="Calibri" pitchFamily="34" charset="-120"/>
              </a:rPr>
              <a:t>Research Associate at CSIR-IICT</a:t>
            </a:r>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 working on a </a:t>
            </a:r>
            <a:pPr indent="0" marL="0">
              <a:lnSpc>
                <a:spcPct val="124000"/>
              </a:lnSpc>
              <a:buNone/>
            </a:pPr>
            <a:r>
              <a:rPr lang="en-US" sz="1000" b="1" dirty="0">
                <a:solidFill>
                  <a:srgbClr val="00B8FF"/>
                </a:solidFill>
                <a:latin typeface="Calibri" pitchFamily="34" charset="0"/>
                <a:ea typeface="Calibri" pitchFamily="34" charset="-122"/>
                <a:cs typeface="Calibri" pitchFamily="34" charset="-120"/>
              </a:rPr>
              <a:t>DRDO sponsored project</a:t>
            </a:r>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 He is an </a:t>
            </a:r>
            <a:pPr indent="0" marL="0">
              <a:lnSpc>
                <a:spcPct val="124000"/>
              </a:lnSpc>
              <a:buNone/>
            </a:pPr>
            <a:r>
              <a:rPr lang="en-US" sz="1000" b="1" dirty="0">
                <a:solidFill>
                  <a:srgbClr val="00B8FF"/>
                </a:solidFill>
                <a:latin typeface="Calibri" pitchFamily="34" charset="0"/>
                <a:ea typeface="Calibri" pitchFamily="34" charset="-122"/>
                <a:cs typeface="Calibri" pitchFamily="34" charset="-120"/>
              </a:rPr>
              <a:t>Associate Fellow of the Telangana Academy of Sciences (2024)</a:t>
            </a:r>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 and brings </a:t>
            </a:r>
            <a:pPr indent="0" marL="0">
              <a:lnSpc>
                <a:spcPct val="124000"/>
              </a:lnSpc>
              <a:buNone/>
            </a:pPr>
            <a:r>
              <a:rPr lang="en-US" sz="1000" b="1" dirty="0">
                <a:solidFill>
                  <a:srgbClr val="00B8FF"/>
                </a:solidFill>
                <a:latin typeface="Calibri" pitchFamily="34" charset="0"/>
                <a:ea typeface="Calibri" pitchFamily="34" charset="-122"/>
                <a:cs typeface="Calibri" pitchFamily="34" charset="-120"/>
              </a:rPr>
              <a:t>12 years of research and 5 years of academic teaching experience</a:t>
            </a:r>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 to the team. He has authored </a:t>
            </a:r>
            <a:pPr indent="0" marL="0">
              <a:lnSpc>
                <a:spcPct val="124000"/>
              </a:lnSpc>
              <a:buNone/>
            </a:pPr>
            <a:r>
              <a:rPr lang="en-US" sz="1000" b="1" dirty="0">
                <a:solidFill>
                  <a:srgbClr val="00B8FF"/>
                </a:solidFill>
                <a:latin typeface="Calibri" pitchFamily="34" charset="0"/>
                <a:ea typeface="Calibri" pitchFamily="34" charset="-122"/>
                <a:cs typeface="Calibri" pitchFamily="34" charset="-120"/>
              </a:rPr>
              <a:t>38 research publications</a:t>
            </a:r>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 (610+ citations, h-index 14) and </a:t>
            </a:r>
            <a:pPr indent="0" marL="0">
              <a:lnSpc>
                <a:spcPct val="124000"/>
              </a:lnSpc>
              <a:buNone/>
            </a:pPr>
            <a:r>
              <a:rPr lang="en-US" sz="1000" b="1" dirty="0">
                <a:solidFill>
                  <a:srgbClr val="00B8FF"/>
                </a:solidFill>
                <a:latin typeface="Calibri" pitchFamily="34" charset="0"/>
                <a:ea typeface="Calibri" pitchFamily="34" charset="-122"/>
                <a:cs typeface="Calibri" pitchFamily="34" charset="-120"/>
              </a:rPr>
              <a:t>2 book chapters</a:t>
            </a:r>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 while serving as a recognized reviewer for prestigious scientific journals across Elsevier, Springer, and Taylor &amp; Francis. In his current role at CSIR-IICT, he is leading DRDO-sponsored pyrotechnic nanomaterial fabrication projects. He provides critical domain oversight on computational chemistry, thermodynamics, and physical experimental validation. He specializes in </a:t>
            </a:r>
            <a:pPr indent="0" marL="0">
              <a:lnSpc>
                <a:spcPct val="124000"/>
              </a:lnSpc>
              <a:buNone/>
            </a:pPr>
            <a:r>
              <a:rPr lang="en-US" sz="1000" b="1" dirty="0">
                <a:solidFill>
                  <a:srgbClr val="00B8FF"/>
                </a:solidFill>
                <a:latin typeface="Calibri" pitchFamily="34" charset="0"/>
                <a:ea typeface="Calibri" pitchFamily="34" charset="-122"/>
                <a:cs typeface="Calibri" pitchFamily="34" charset="-120"/>
              </a:rPr>
              <a:t>High Entropy Oxides</a:t>
            </a:r>
            <a:pPr indent="0" marL="0">
              <a:lnSpc>
                <a:spcPct val="124000"/>
              </a:lnSpc>
              <a:buNone/>
            </a:pPr>
            <a:r>
              <a:rPr lang="en-US" sz="1000" dirty="0">
                <a:solidFill>
                  <a:srgbClr val="AAB4C6"/>
                </a:solidFill>
                <a:latin typeface="Calibri" pitchFamily="34" charset="0"/>
                <a:ea typeface="Calibri" pitchFamily="34" charset="-122"/>
                <a:cs typeface="Calibri" pitchFamily="34" charset="-120"/>
              </a:rPr>
              <a:t> and advanced materials characterization (XRD, SEM, EDS).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48640" y="256032"/>
            <a:ext cx="3657600" cy="274320"/>
          </a:xfrm>
          <a:prstGeom prst="rect">
            <a:avLst/>
          </a:prstGeom>
          <a:noFill/>
          <a:ln/>
        </p:spPr>
        <p:txBody>
          <a:bodyPr wrap="square" rtlCol="0" anchor="ctr"/>
          <a:lstStyle/>
          <a:p>
            <a:pPr indent="0" marL="0">
              <a:buNone/>
            </a:pPr>
            <a:r>
              <a:rPr lang="en-US" sz="1100" b="1" spc="200" kern="0" dirty="0">
                <a:solidFill>
                  <a:srgbClr val="F5F7FA"/>
                </a:solidFill>
                <a:latin typeface="Arial" pitchFamily="34" charset="0"/>
                <a:ea typeface="Arial" pitchFamily="34" charset="-122"/>
                <a:cs typeface="Arial" pitchFamily="34" charset="-120"/>
              </a:rPr>
              <a:t>CRYSTAL </a:t>
            </a:r>
            <a:pPr indent="0" marL="0">
              <a:buNone/>
            </a:pPr>
            <a:r>
              <a:rPr lang="en-US" sz="1100" b="1" spc="200" kern="0" dirty="0">
                <a:solidFill>
                  <a:srgbClr val="00E5A0"/>
                </a:solidFill>
                <a:latin typeface="Arial" pitchFamily="34" charset="0"/>
                <a:ea typeface="Arial" pitchFamily="34" charset="-122"/>
                <a:cs typeface="Arial" pitchFamily="34" charset="-120"/>
              </a:rPr>
              <a:t>PARADIGM</a:t>
            </a:r>
            <a:endParaRPr lang="en-US" sz="1100" dirty="0"/>
          </a:p>
        </p:txBody>
      </p:sp>
      <p:sp>
        <p:nvSpPr>
          <p:cNvPr id="3" name="Text 1"/>
          <p:cNvSpPr/>
          <p:nvPr/>
        </p:nvSpPr>
        <p:spPr>
          <a:xfrm>
            <a:off x="11430000" y="6510528"/>
            <a:ext cx="594360" cy="256032"/>
          </a:xfrm>
          <a:prstGeom prst="rect">
            <a:avLst/>
          </a:prstGeom>
          <a:noFill/>
          <a:ln/>
        </p:spPr>
        <p:txBody>
          <a:bodyPr wrap="square" rtlCol="0" anchor="ctr"/>
          <a:lstStyle/>
          <a:p>
            <a:pPr algn="r" indent="0" marL="0">
              <a:buNone/>
            </a:pPr>
            <a:r>
              <a:rPr lang="en-US" sz="900" dirty="0">
                <a:solidFill>
                  <a:srgbClr val="6E7A90"/>
                </a:solidFill>
                <a:latin typeface="Calibri" pitchFamily="34" charset="0"/>
                <a:ea typeface="Calibri" pitchFamily="34" charset="-122"/>
                <a:cs typeface="Calibri" pitchFamily="34" charset="-120"/>
              </a:rPr>
              <a:t>17 / 18</a:t>
            </a:r>
            <a:endParaRPr lang="en-US" sz="900" dirty="0"/>
          </a:p>
        </p:txBody>
      </p:sp>
      <p:sp>
        <p:nvSpPr>
          <p:cNvPr id="4" name="Text 2"/>
          <p:cNvSpPr/>
          <p:nvPr/>
        </p:nvSpPr>
        <p:spPr>
          <a:xfrm>
            <a:off x="548640" y="384048"/>
            <a:ext cx="5486400" cy="292608"/>
          </a:xfrm>
          <a:prstGeom prst="rect">
            <a:avLst/>
          </a:prstGeom>
          <a:noFill/>
          <a:ln/>
        </p:spPr>
        <p:txBody>
          <a:bodyPr wrap="square" rtlCol="0" anchor="ctr"/>
          <a:lstStyle/>
          <a:p>
            <a:pPr algn="l" indent="0" marL="0">
              <a:buNone/>
            </a:pPr>
            <a:r>
              <a:rPr lang="en-US" sz="1200" b="1" spc="300" kern="0" dirty="0">
                <a:solidFill>
                  <a:srgbClr val="00B8FF"/>
                </a:solidFill>
                <a:latin typeface="Arial" pitchFamily="34" charset="0"/>
                <a:ea typeface="Arial" pitchFamily="34" charset="-122"/>
                <a:cs typeface="Arial" pitchFamily="34" charset="-120"/>
              </a:rPr>
              <a:t>THE AI ENGINEERING ENGINE</a:t>
            </a:r>
            <a:endParaRPr lang="en-US" sz="1200" dirty="0"/>
          </a:p>
        </p:txBody>
      </p:sp>
      <p:sp>
        <p:nvSpPr>
          <p:cNvPr id="5" name="Text 3"/>
          <p:cNvSpPr/>
          <p:nvPr/>
        </p:nvSpPr>
        <p:spPr>
          <a:xfrm>
            <a:off x="548640" y="658368"/>
            <a:ext cx="11064240" cy="502920"/>
          </a:xfrm>
          <a:prstGeom prst="rect">
            <a:avLst/>
          </a:prstGeom>
          <a:noFill/>
          <a:ln/>
        </p:spPr>
        <p:txBody>
          <a:bodyPr wrap="square" rtlCol="0" anchor="ctr"/>
          <a:lstStyle/>
          <a:p>
            <a:pPr algn="l" indent="0" marL="0">
              <a:lnSpc>
                <a:spcPct val="105000"/>
              </a:lnSpc>
              <a:buNone/>
            </a:pPr>
            <a:r>
              <a:rPr lang="en-US" sz="2700" b="1" spc="30" kern="0" dirty="0">
                <a:solidFill>
                  <a:srgbClr val="F5F7FA"/>
                </a:solidFill>
                <a:latin typeface="Arial" pitchFamily="34" charset="0"/>
                <a:ea typeface="Arial" pitchFamily="34" charset="-122"/>
                <a:cs typeface="Arial" pitchFamily="34" charset="-120"/>
              </a:rPr>
              <a:t>THE CORE AI ARCHITECTS</a:t>
            </a:r>
            <a:endParaRPr lang="en-US" sz="2700" dirty="0"/>
          </a:p>
        </p:txBody>
      </p:sp>
      <p:sp>
        <p:nvSpPr>
          <p:cNvPr id="6" name="Text 4"/>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00B8FF"/>
                </a:solidFill>
                <a:latin typeface="Arial" pitchFamily="34" charset="0"/>
                <a:ea typeface="Arial" pitchFamily="34" charset="-122"/>
                <a:cs typeface="Arial" pitchFamily="34" charset="-120"/>
              </a:rPr>
              <a:t>The Prodigious Engine Driving the Day-to-Day AI Innovation</a:t>
            </a:r>
            <a:endParaRPr lang="en-US" sz="1500" dirty="0"/>
          </a:p>
        </p:txBody>
      </p:sp>
      <p:sp>
        <p:nvSpPr>
          <p:cNvPr id="7" name="Shape 5"/>
          <p:cNvSpPr/>
          <p:nvPr/>
        </p:nvSpPr>
        <p:spPr>
          <a:xfrm>
            <a:off x="548640" y="1691640"/>
            <a:ext cx="5349240" cy="3520440"/>
          </a:xfrm>
          <a:prstGeom prst="roundRect">
            <a:avLst>
              <a:gd name="adj" fmla="val 2597"/>
            </a:avLst>
          </a:prstGeom>
          <a:solidFill>
            <a:srgbClr val="141B2E"/>
          </a:solidFill>
          <a:ln w="12700">
            <a:solidFill>
              <a:srgbClr val="2A3550"/>
            </a:solidFill>
            <a:prstDash val="solid"/>
          </a:ln>
        </p:spPr>
      </p:sp>
      <p:pic>
        <p:nvPicPr>
          <p:cNvPr id="8" name="Image 0" descr="assets/avatar_mr.png">    </p:cNvPr>
          <p:cNvPicPr>
            <a:picLocks noChangeAspect="1"/>
          </p:cNvPicPr>
          <p:nvPr/>
        </p:nvPicPr>
        <p:blipFill>
          <a:blip r:embed="rId1"/>
          <a:stretch>
            <a:fillRect/>
          </a:stretch>
        </p:blipFill>
        <p:spPr>
          <a:xfrm>
            <a:off x="868680" y="1965960"/>
            <a:ext cx="960120" cy="960120"/>
          </a:xfrm>
          <a:prstGeom prst="rect">
            <a:avLst/>
          </a:prstGeom>
        </p:spPr>
      </p:pic>
      <p:sp>
        <p:nvSpPr>
          <p:cNvPr id="9" name="Text 6"/>
          <p:cNvSpPr/>
          <p:nvPr/>
        </p:nvSpPr>
        <p:spPr>
          <a:xfrm>
            <a:off x="1965960" y="1947672"/>
            <a:ext cx="3657600" cy="365760"/>
          </a:xfrm>
          <a:prstGeom prst="rect">
            <a:avLst/>
          </a:prstGeom>
          <a:noFill/>
          <a:ln/>
        </p:spPr>
        <p:txBody>
          <a:bodyPr wrap="square" rtlCol="0" anchor="ctr"/>
          <a:lstStyle/>
          <a:p>
            <a:pPr indent="0" marL="0">
              <a:buNone/>
            </a:pPr>
            <a:r>
              <a:rPr lang="en-US" sz="1500" b="1" dirty="0">
                <a:solidFill>
                  <a:srgbClr val="F5F7FA"/>
                </a:solidFill>
                <a:latin typeface="Arial" pitchFamily="34" charset="0"/>
                <a:ea typeface="Arial" pitchFamily="34" charset="-122"/>
                <a:cs typeface="Arial" pitchFamily="34" charset="-120"/>
              </a:rPr>
              <a:t>Mohammed Ahmed Raza</a:t>
            </a:r>
            <a:endParaRPr lang="en-US" sz="1500" dirty="0"/>
          </a:p>
        </p:txBody>
      </p:sp>
      <p:sp>
        <p:nvSpPr>
          <p:cNvPr id="10" name="Text 7"/>
          <p:cNvSpPr/>
          <p:nvPr/>
        </p:nvSpPr>
        <p:spPr>
          <a:xfrm>
            <a:off x="1965960" y="2313432"/>
            <a:ext cx="3657600" cy="274320"/>
          </a:xfrm>
          <a:prstGeom prst="rect">
            <a:avLst/>
          </a:prstGeom>
          <a:noFill/>
          <a:ln/>
        </p:spPr>
        <p:txBody>
          <a:bodyPr wrap="square" rtlCol="0" anchor="ctr"/>
          <a:lstStyle/>
          <a:p>
            <a:pPr indent="0" marL="0">
              <a:buNone/>
            </a:pPr>
            <a:r>
              <a:rPr lang="en-US" sz="1100" i="1" dirty="0">
                <a:solidFill>
                  <a:srgbClr val="00E5A0"/>
                </a:solidFill>
                <a:latin typeface="Calibri" pitchFamily="34" charset="0"/>
                <a:ea typeface="Calibri" pitchFamily="34" charset="-122"/>
                <a:cs typeface="Calibri" pitchFamily="34" charset="-120"/>
              </a:rPr>
              <a:t>AI Research Intern</a:t>
            </a:r>
            <a:endParaRPr lang="en-US" sz="1100" dirty="0"/>
          </a:p>
        </p:txBody>
      </p:sp>
      <p:sp>
        <p:nvSpPr>
          <p:cNvPr id="11" name="Text 8"/>
          <p:cNvSpPr/>
          <p:nvPr/>
        </p:nvSpPr>
        <p:spPr>
          <a:xfrm>
            <a:off x="868680" y="3063240"/>
            <a:ext cx="4709160" cy="2057400"/>
          </a:xfrm>
          <a:prstGeom prst="rect">
            <a:avLst/>
          </a:prstGeom>
          <a:noFill/>
          <a:ln/>
        </p:spPr>
        <p:txBody>
          <a:bodyPr wrap="square" rtlCol="0" anchor="ctr"/>
          <a:lstStyle/>
          <a:p>
            <a:pPr indent="0" marL="0">
              <a:lnSpc>
                <a:spcPct val="122000"/>
              </a:lnSpc>
              <a:buNone/>
            </a:pPr>
            <a:r>
              <a:rPr lang="en-US" sz="970" dirty="0">
                <a:solidFill>
                  <a:srgbClr val="AAB4C6"/>
                </a:solidFill>
                <a:latin typeface="Calibri" pitchFamily="34" charset="0"/>
                <a:ea typeface="Calibri" pitchFamily="34" charset="-122"/>
                <a:cs typeface="Calibri" pitchFamily="34" charset="-120"/>
              </a:rPr>
              <a:t>Mohammed Ahmed Raza is a </a:t>
            </a:r>
            <a:pPr indent="0" marL="0">
              <a:lnSpc>
                <a:spcPct val="122000"/>
              </a:lnSpc>
              <a:buNone/>
            </a:pPr>
            <a:r>
              <a:rPr lang="en-US" sz="970" b="1" dirty="0">
                <a:solidFill>
                  <a:srgbClr val="00E5A0"/>
                </a:solidFill>
                <a:latin typeface="Calibri" pitchFamily="34" charset="0"/>
                <a:ea typeface="Calibri" pitchFamily="34" charset="-122"/>
                <a:cs typeface="Calibri" pitchFamily="34" charset="-120"/>
              </a:rPr>
              <a:t>Computer Science and Engineering</a:t>
            </a:r>
            <a:pPr indent="0" marL="0">
              <a:lnSpc>
                <a:spcPct val="122000"/>
              </a:lnSpc>
              <a:buNone/>
            </a:pPr>
            <a:r>
              <a:rPr lang="en-US" sz="970" dirty="0">
                <a:solidFill>
                  <a:srgbClr val="AAB4C6"/>
                </a:solidFill>
                <a:latin typeface="Calibri" pitchFamily="34" charset="0"/>
                <a:ea typeface="Calibri" pitchFamily="34" charset="-122"/>
                <a:cs typeface="Calibri" pitchFamily="34" charset="-120"/>
              </a:rPr>
              <a:t> student at Neil Gogte Institute of Technology (NGIT) and a </a:t>
            </a:r>
            <a:pPr indent="0" marL="0">
              <a:lnSpc>
                <a:spcPct val="122000"/>
              </a:lnSpc>
              <a:buNone/>
            </a:pPr>
            <a:r>
              <a:rPr lang="en-US" sz="970" b="1" dirty="0">
                <a:solidFill>
                  <a:srgbClr val="00E5A0"/>
                </a:solidFill>
                <a:latin typeface="Calibri" pitchFamily="34" charset="0"/>
                <a:ea typeface="Calibri" pitchFamily="34" charset="-122"/>
                <a:cs typeface="Calibri" pitchFamily="34" charset="-120"/>
              </a:rPr>
              <a:t>Certified AI/ML Professional from iHub-Data, IIIT Hyderabad</a:t>
            </a:r>
            <a:pPr indent="0" marL="0">
              <a:lnSpc>
                <a:spcPct val="122000"/>
              </a:lnSpc>
              <a:buNone/>
            </a:pPr>
            <a:r>
              <a:rPr lang="en-US" sz="970" dirty="0">
                <a:solidFill>
                  <a:srgbClr val="AAB4C6"/>
                </a:solidFill>
                <a:latin typeface="Calibri" pitchFamily="34" charset="0"/>
                <a:ea typeface="Calibri" pitchFamily="34" charset="-122"/>
                <a:cs typeface="Calibri" pitchFamily="34" charset="-120"/>
              </a:rPr>
              <a:t>. He previously served as a </a:t>
            </a:r>
            <a:pPr indent="0" marL="0">
              <a:lnSpc>
                <a:spcPct val="122000"/>
              </a:lnSpc>
              <a:buNone/>
            </a:pPr>
            <a:r>
              <a:rPr lang="en-US" sz="970" b="1" dirty="0">
                <a:solidFill>
                  <a:srgbClr val="00E5A0"/>
                </a:solidFill>
                <a:latin typeface="Calibri" pitchFamily="34" charset="0"/>
                <a:ea typeface="Calibri" pitchFamily="34" charset="-122"/>
                <a:cs typeface="Calibri" pitchFamily="34" charset="-120"/>
              </a:rPr>
              <a:t>Winter Research Intern at IIIT Hyderabad</a:t>
            </a:r>
            <a:pPr indent="0" marL="0">
              <a:lnSpc>
                <a:spcPct val="122000"/>
              </a:lnSpc>
              <a:buNone/>
            </a:pPr>
            <a:r>
              <a:rPr lang="en-US" sz="970" dirty="0">
                <a:solidFill>
                  <a:srgbClr val="AAB4C6"/>
                </a:solidFill>
                <a:latin typeface="Calibri" pitchFamily="34" charset="0"/>
                <a:ea typeface="Calibri" pitchFamily="34" charset="-122"/>
                <a:cs typeface="Calibri" pitchFamily="34" charset="-120"/>
              </a:rPr>
              <a:t>, where he engineered advanced computer vision systems for UAV spatial awareness and obstacle detection. Currently, he advances materials science and deep learning innovations as an AI Research Intern at Crystal Paradigm, developing inverse design frameworks for HE-MCGA to computationally engineer next-generation superalloys for extreme aerospace applications. Most recently, he co-authored research introducing a breakthrough </a:t>
            </a:r>
            <a:pPr indent="0" marL="0">
              <a:lnSpc>
                <a:spcPct val="122000"/>
              </a:lnSpc>
              <a:buNone/>
            </a:pPr>
            <a:r>
              <a:rPr lang="en-US" sz="970" b="1" dirty="0">
                <a:solidFill>
                  <a:srgbClr val="00E5A0"/>
                </a:solidFill>
                <a:latin typeface="Calibri" pitchFamily="34" charset="0"/>
                <a:ea typeface="Calibri" pitchFamily="34" charset="-122"/>
                <a:cs typeface="Calibri" pitchFamily="34" charset="-120"/>
              </a:rPr>
              <a:t>Attention Graph Siamese Transformer (DPT-GNN)</a:t>
            </a:r>
            <a:pPr indent="0" marL="0">
              <a:lnSpc>
                <a:spcPct val="122000"/>
              </a:lnSpc>
              <a:buNone/>
            </a:pPr>
            <a:r>
              <a:rPr lang="en-US" sz="970" dirty="0">
                <a:solidFill>
                  <a:srgbClr val="AAB4C6"/>
                </a:solidFill>
                <a:latin typeface="Calibri" pitchFamily="34" charset="0"/>
                <a:ea typeface="Calibri" pitchFamily="34" charset="-122"/>
                <a:cs typeface="Calibri" pitchFamily="34" charset="-120"/>
              </a:rPr>
              <a:t> that drastically optimizes lithium-ion battery capacity predictions through transition-aware learning.</a:t>
            </a:r>
            <a:endParaRPr lang="en-US" sz="970" dirty="0"/>
          </a:p>
        </p:txBody>
      </p:sp>
      <p:sp>
        <p:nvSpPr>
          <p:cNvPr id="12" name="Shape 9"/>
          <p:cNvSpPr/>
          <p:nvPr/>
        </p:nvSpPr>
        <p:spPr>
          <a:xfrm>
            <a:off x="6291072" y="1691640"/>
            <a:ext cx="5349240" cy="3520440"/>
          </a:xfrm>
          <a:prstGeom prst="roundRect">
            <a:avLst>
              <a:gd name="adj" fmla="val 2597"/>
            </a:avLst>
          </a:prstGeom>
          <a:solidFill>
            <a:srgbClr val="141B2E"/>
          </a:solidFill>
          <a:ln w="12700">
            <a:solidFill>
              <a:srgbClr val="2A3550"/>
            </a:solidFill>
            <a:prstDash val="solid"/>
          </a:ln>
        </p:spPr>
      </p:sp>
      <p:pic>
        <p:nvPicPr>
          <p:cNvPr id="13" name="Image 1" descr="assets/avatar_ki.png">    </p:cNvPr>
          <p:cNvPicPr>
            <a:picLocks noChangeAspect="1"/>
          </p:cNvPicPr>
          <p:nvPr/>
        </p:nvPicPr>
        <p:blipFill>
          <a:blip r:embed="rId2"/>
          <a:stretch>
            <a:fillRect/>
          </a:stretch>
        </p:blipFill>
        <p:spPr>
          <a:xfrm>
            <a:off x="6611112" y="1965960"/>
            <a:ext cx="960120" cy="960120"/>
          </a:xfrm>
          <a:prstGeom prst="rect">
            <a:avLst/>
          </a:prstGeom>
        </p:spPr>
      </p:pic>
      <p:sp>
        <p:nvSpPr>
          <p:cNvPr id="14" name="Text 10"/>
          <p:cNvSpPr/>
          <p:nvPr/>
        </p:nvSpPr>
        <p:spPr>
          <a:xfrm>
            <a:off x="7708392" y="1947672"/>
            <a:ext cx="3657600" cy="365760"/>
          </a:xfrm>
          <a:prstGeom prst="rect">
            <a:avLst/>
          </a:prstGeom>
          <a:noFill/>
          <a:ln/>
        </p:spPr>
        <p:txBody>
          <a:bodyPr wrap="square" rtlCol="0" anchor="ctr"/>
          <a:lstStyle/>
          <a:p>
            <a:pPr indent="0" marL="0">
              <a:buNone/>
            </a:pPr>
            <a:r>
              <a:rPr lang="en-US" sz="1450" b="1" dirty="0">
                <a:solidFill>
                  <a:srgbClr val="F5F7FA"/>
                </a:solidFill>
                <a:latin typeface="Arial" pitchFamily="34" charset="0"/>
                <a:ea typeface="Arial" pitchFamily="34" charset="-122"/>
                <a:cs typeface="Arial" pitchFamily="34" charset="-120"/>
              </a:rPr>
              <a:t>K. Indrasena Reddy [Indra]</a:t>
            </a:r>
            <a:endParaRPr lang="en-US" sz="1450" dirty="0"/>
          </a:p>
        </p:txBody>
      </p:sp>
      <p:sp>
        <p:nvSpPr>
          <p:cNvPr id="15" name="Text 11"/>
          <p:cNvSpPr/>
          <p:nvPr/>
        </p:nvSpPr>
        <p:spPr>
          <a:xfrm>
            <a:off x="7708392" y="2313432"/>
            <a:ext cx="3657600" cy="274320"/>
          </a:xfrm>
          <a:prstGeom prst="rect">
            <a:avLst/>
          </a:prstGeom>
          <a:noFill/>
          <a:ln/>
        </p:spPr>
        <p:txBody>
          <a:bodyPr wrap="square" rtlCol="0" anchor="ctr"/>
          <a:lstStyle/>
          <a:p>
            <a:pPr indent="0" marL="0">
              <a:buNone/>
            </a:pPr>
            <a:r>
              <a:rPr lang="en-US" sz="1100" i="1" dirty="0">
                <a:solidFill>
                  <a:srgbClr val="00B8FF"/>
                </a:solidFill>
                <a:latin typeface="Calibri" pitchFamily="34" charset="0"/>
                <a:ea typeface="Calibri" pitchFamily="34" charset="-122"/>
                <a:cs typeface="Calibri" pitchFamily="34" charset="-120"/>
              </a:rPr>
              <a:t>AI Research Intern</a:t>
            </a:r>
            <a:endParaRPr lang="en-US" sz="1100" dirty="0"/>
          </a:p>
        </p:txBody>
      </p:sp>
      <p:sp>
        <p:nvSpPr>
          <p:cNvPr id="16" name="Text 12"/>
          <p:cNvSpPr/>
          <p:nvPr/>
        </p:nvSpPr>
        <p:spPr>
          <a:xfrm>
            <a:off x="6611112" y="3063240"/>
            <a:ext cx="4709160" cy="2057400"/>
          </a:xfrm>
          <a:prstGeom prst="rect">
            <a:avLst/>
          </a:prstGeom>
          <a:noFill/>
          <a:ln/>
        </p:spPr>
        <p:txBody>
          <a:bodyPr wrap="square" rtlCol="0" anchor="ctr"/>
          <a:lstStyle/>
          <a:p>
            <a:pPr indent="0" marL="0">
              <a:lnSpc>
                <a:spcPct val="125000"/>
              </a:lnSpc>
              <a:buNone/>
            </a:pPr>
            <a:r>
              <a:rPr lang="en-US" sz="1050" dirty="0">
                <a:solidFill>
                  <a:srgbClr val="AAB4C6"/>
                </a:solidFill>
                <a:latin typeface="Calibri" pitchFamily="34" charset="0"/>
                <a:ea typeface="Calibri" pitchFamily="34" charset="-122"/>
                <a:cs typeface="Calibri" pitchFamily="34" charset="-120"/>
              </a:rPr>
              <a:t>K. Indrasena Reddy is a </a:t>
            </a:r>
            <a:pPr indent="0" marL="0">
              <a:lnSpc>
                <a:spcPct val="125000"/>
              </a:lnSpc>
              <a:buNone/>
            </a:pPr>
            <a:r>
              <a:rPr lang="en-US" sz="1050" b="1" dirty="0">
                <a:solidFill>
                  <a:srgbClr val="00B8FF"/>
                </a:solidFill>
                <a:latin typeface="Calibri" pitchFamily="34" charset="0"/>
                <a:ea typeface="Calibri" pitchFamily="34" charset="-122"/>
                <a:cs typeface="Calibri" pitchFamily="34" charset="-120"/>
              </a:rPr>
              <a:t>Computer Science Engineering</a:t>
            </a:r>
            <a:pPr indent="0" marL="0">
              <a:lnSpc>
                <a:spcPct val="125000"/>
              </a:lnSpc>
              <a:buNone/>
            </a:pPr>
            <a:r>
              <a:rPr lang="en-US" sz="1050" dirty="0">
                <a:solidFill>
                  <a:srgbClr val="AAB4C6"/>
                </a:solidFill>
                <a:latin typeface="Calibri" pitchFamily="34" charset="0"/>
                <a:ea typeface="Calibri" pitchFamily="34" charset="-122"/>
                <a:cs typeface="Calibri" pitchFamily="34" charset="-120"/>
              </a:rPr>
              <a:t> student at Neil Gogte Institute of Technology (NGIT). He previously served as an </a:t>
            </a:r>
            <a:pPr indent="0" marL="0">
              <a:lnSpc>
                <a:spcPct val="125000"/>
              </a:lnSpc>
              <a:buNone/>
            </a:pPr>
            <a:r>
              <a:rPr lang="en-US" sz="1050" b="1" dirty="0">
                <a:solidFill>
                  <a:srgbClr val="00B8FF"/>
                </a:solidFill>
                <a:latin typeface="Calibri" pitchFamily="34" charset="0"/>
                <a:ea typeface="Calibri" pitchFamily="34" charset="-122"/>
                <a:cs typeface="Calibri" pitchFamily="34" charset="-120"/>
              </a:rPr>
              <a:t>AI Developer Intern at Viswam.AI</a:t>
            </a:r>
            <a:pPr indent="0" marL="0">
              <a:lnSpc>
                <a:spcPct val="125000"/>
              </a:lnSpc>
              <a:buNone/>
            </a:pPr>
            <a:r>
              <a:rPr lang="en-US" sz="1050" dirty="0">
                <a:solidFill>
                  <a:srgbClr val="AAB4C6"/>
                </a:solidFill>
                <a:latin typeface="Calibri" pitchFamily="34" charset="0"/>
                <a:ea typeface="Calibri" pitchFamily="34" charset="-122"/>
                <a:cs typeface="Calibri" pitchFamily="34" charset="-120"/>
              </a:rPr>
              <a:t>, where he built natural language processing applications and contributed to experimental language model research. Currently, he advances materials informatics and graph neural network modeling for large-scale property prediction as an AI Research Intern at Crystal Paradigm.</a:t>
            </a:r>
            <a:endParaRPr lang="en-US" sz="1050" dirty="0"/>
          </a:p>
        </p:txBody>
      </p:sp>
      <p:sp>
        <p:nvSpPr>
          <p:cNvPr id="17" name="Shape 13"/>
          <p:cNvSpPr/>
          <p:nvPr/>
        </p:nvSpPr>
        <p:spPr>
          <a:xfrm>
            <a:off x="548640" y="5394960"/>
            <a:ext cx="11091672" cy="1005840"/>
          </a:xfrm>
          <a:prstGeom prst="roundRect">
            <a:avLst>
              <a:gd name="adj" fmla="val 9091"/>
            </a:avLst>
          </a:prstGeom>
          <a:solidFill>
            <a:srgbClr val="0A3B2E"/>
          </a:solidFill>
          <a:ln w="15875">
            <a:solidFill>
              <a:srgbClr val="00E5A0"/>
            </a:solidFill>
            <a:prstDash val="solid"/>
          </a:ln>
        </p:spPr>
      </p:sp>
      <p:sp>
        <p:nvSpPr>
          <p:cNvPr id="18" name="Shape 14"/>
          <p:cNvSpPr/>
          <p:nvPr/>
        </p:nvSpPr>
        <p:spPr>
          <a:xfrm>
            <a:off x="822960" y="5641848"/>
            <a:ext cx="512064" cy="512064"/>
          </a:xfrm>
          <a:prstGeom prst="ellipse">
            <a:avLst/>
          </a:prstGeom>
          <a:solidFill>
            <a:srgbClr val="141B2E"/>
          </a:solidFill>
          <a:ln w="15875">
            <a:solidFill>
              <a:srgbClr val="00E5A0"/>
            </a:solidFill>
            <a:prstDash val="solid"/>
          </a:ln>
        </p:spPr>
      </p:sp>
      <p:pic>
        <p:nvPicPr>
          <p:cNvPr id="19" name="Image 2" descr="assets/icon_users.png">    </p:cNvPr>
          <p:cNvPicPr>
            <a:picLocks noChangeAspect="1"/>
          </p:cNvPicPr>
          <p:nvPr/>
        </p:nvPicPr>
        <p:blipFill>
          <a:blip r:embed="rId3"/>
          <a:stretch>
            <a:fillRect/>
          </a:stretch>
        </p:blipFill>
        <p:spPr>
          <a:xfrm>
            <a:off x="945855" y="5764743"/>
            <a:ext cx="266273" cy="266273"/>
          </a:xfrm>
          <a:prstGeom prst="rect">
            <a:avLst/>
          </a:prstGeom>
        </p:spPr>
      </p:pic>
      <p:sp>
        <p:nvSpPr>
          <p:cNvPr id="20" name="Text 15"/>
          <p:cNvSpPr/>
          <p:nvPr/>
        </p:nvSpPr>
        <p:spPr>
          <a:xfrm>
            <a:off x="1554480" y="5532120"/>
            <a:ext cx="9811512" cy="274320"/>
          </a:xfrm>
          <a:prstGeom prst="rect">
            <a:avLst/>
          </a:prstGeom>
          <a:noFill/>
          <a:ln/>
        </p:spPr>
        <p:txBody>
          <a:bodyPr wrap="square" rtlCol="0" anchor="ctr"/>
          <a:lstStyle/>
          <a:p>
            <a:pPr indent="0" marL="0">
              <a:buNone/>
            </a:pPr>
            <a:r>
              <a:rPr lang="en-US" sz="1150" b="1" spc="50" kern="0" dirty="0">
                <a:solidFill>
                  <a:srgbClr val="00E5A0"/>
                </a:solidFill>
                <a:latin typeface="Arial" pitchFamily="34" charset="0"/>
                <a:ea typeface="Arial" pitchFamily="34" charset="-122"/>
                <a:cs typeface="Arial" pitchFamily="34" charset="-120"/>
              </a:rPr>
              <a:t>STRATEGIC SCALE CAPABILITY</a:t>
            </a:r>
            <a:endParaRPr lang="en-US" sz="1150" dirty="0"/>
          </a:p>
        </p:txBody>
      </p:sp>
      <p:sp>
        <p:nvSpPr>
          <p:cNvPr id="21" name="Text 16"/>
          <p:cNvSpPr/>
          <p:nvPr/>
        </p:nvSpPr>
        <p:spPr>
          <a:xfrm>
            <a:off x="1554480" y="5797296"/>
            <a:ext cx="9811512" cy="548640"/>
          </a:xfrm>
          <a:prstGeom prst="rect">
            <a:avLst/>
          </a:prstGeom>
          <a:noFill/>
          <a:ln/>
        </p:spPr>
        <p:txBody>
          <a:bodyPr wrap="square" rtlCol="0" anchor="ctr"/>
          <a:lstStyle/>
          <a:p>
            <a:pPr indent="0" marL="0">
              <a:lnSpc>
                <a:spcPct val="120000"/>
              </a:lnSpc>
              <a:buNone/>
            </a:pPr>
            <a:r>
              <a:rPr lang="en-US" sz="1150" b="1" dirty="0">
                <a:solidFill>
                  <a:srgbClr val="00E5A0"/>
                </a:solidFill>
                <a:latin typeface="Calibri" pitchFamily="34" charset="0"/>
                <a:ea typeface="Calibri" pitchFamily="34" charset="-122"/>
                <a:cs typeface="Calibri" pitchFamily="34" charset="-120"/>
              </a:rPr>
              <a:t>The Extended Crystal Paradigm Engineering Team:</a:t>
            </a:r>
            <a:pPr indent="0" marL="0">
              <a:lnSpc>
                <a:spcPct val="120000"/>
              </a:lnSpc>
              <a:buNone/>
            </a:pPr>
            <a:r>
              <a:rPr lang="en-US" sz="1150" dirty="0">
                <a:solidFill>
                  <a:srgbClr val="F5F7FA"/>
                </a:solidFill>
                <a:latin typeface="Calibri" pitchFamily="34" charset="0"/>
                <a:ea typeface="Calibri" pitchFamily="34" charset="-122"/>
                <a:cs typeface="Calibri" pitchFamily="34" charset="-120"/>
              </a:rPr>
              <a:t> The core architecture is rapidly scaled and supported by a dedicated extended team of </a:t>
            </a:r>
            <a:pPr indent="0" marL="0">
              <a:lnSpc>
                <a:spcPct val="120000"/>
              </a:lnSpc>
              <a:buNone/>
            </a:pPr>
            <a:r>
              <a:rPr lang="en-US" sz="1150" b="1" dirty="0">
                <a:solidFill>
                  <a:srgbClr val="00E5A0"/>
                </a:solidFill>
                <a:latin typeface="Calibri" pitchFamily="34" charset="0"/>
                <a:ea typeface="Calibri" pitchFamily="34" charset="-122"/>
                <a:cs typeface="Calibri" pitchFamily="34" charset="-120"/>
              </a:rPr>
              <a:t>18 specialized AI Research Interns</a:t>
            </a:r>
            <a:pPr indent="0" marL="0">
              <a:lnSpc>
                <a:spcPct val="120000"/>
              </a:lnSpc>
              <a:buNone/>
            </a:pPr>
            <a:r>
              <a:rPr lang="en-US" sz="1150" dirty="0">
                <a:solidFill>
                  <a:srgbClr val="F5F7FA"/>
                </a:solidFill>
                <a:latin typeface="Calibri" pitchFamily="34" charset="0"/>
                <a:ea typeface="Calibri" pitchFamily="34" charset="-122"/>
                <a:cs typeface="Calibri" pitchFamily="34" charset="-120"/>
              </a:rPr>
              <a:t>, ensuring massive parallel execution bandwidth for complex multi-physics simulations and AI training pipelines.</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0E1A"/>
        </a:solidFill>
      </p:bgPr>
    </p:bg>
    <p:spTree>
      <p:nvGrpSpPr>
        <p:cNvPr id="1" name=""/>
        <p:cNvGrpSpPr/>
        <p:nvPr/>
      </p:nvGrpSpPr>
      <p:grpSpPr>
        <a:xfrm>
          <a:off x="0" y="0"/>
          <a:ext cx="0" cy="0"/>
          <a:chOff x="0" y="0"/>
          <a:chExt cx="0" cy="0"/>
        </a:xfrm>
      </p:grpSpPr>
      <p:sp>
        <p:nvSpPr>
          <p:cNvPr id="2" name="Shape 0"/>
          <p:cNvSpPr/>
          <p:nvPr/>
        </p:nvSpPr>
        <p:spPr>
          <a:xfrm>
            <a:off x="5175504" y="960120"/>
            <a:ext cx="1828800" cy="1828800"/>
          </a:xfrm>
          <a:prstGeom prst="ellipse">
            <a:avLst/>
          </a:prstGeom>
          <a:ln w="12700">
            <a:solidFill>
              <a:srgbClr val="00E5A0"/>
            </a:solidFill>
            <a:prstDash val="solid"/>
          </a:ln>
        </p:spPr>
      </p:sp>
      <p:sp>
        <p:nvSpPr>
          <p:cNvPr id="3" name="Shape 1"/>
          <p:cNvSpPr/>
          <p:nvPr/>
        </p:nvSpPr>
        <p:spPr>
          <a:xfrm>
            <a:off x="5541264" y="1325880"/>
            <a:ext cx="1097280" cy="1097280"/>
          </a:xfrm>
          <a:prstGeom prst="ellipse">
            <a:avLst/>
          </a:prstGeom>
          <a:solidFill>
            <a:srgbClr val="1A2338"/>
          </a:solidFill>
          <a:ln w="15875">
            <a:solidFill>
              <a:srgbClr val="00E5A0"/>
            </a:solidFill>
            <a:prstDash val="solid"/>
          </a:ln>
        </p:spPr>
      </p:sp>
      <p:pic>
        <p:nvPicPr>
          <p:cNvPr id="4" name="Image 0" descr="assets/icon_atom.png">    </p:cNvPr>
          <p:cNvPicPr>
            <a:picLocks noChangeAspect="1"/>
          </p:cNvPicPr>
          <p:nvPr/>
        </p:nvPicPr>
        <p:blipFill>
          <a:blip r:embed="rId1"/>
          <a:stretch>
            <a:fillRect/>
          </a:stretch>
        </p:blipFill>
        <p:spPr>
          <a:xfrm>
            <a:off x="5804611" y="1589227"/>
            <a:ext cx="570586" cy="570586"/>
          </a:xfrm>
          <a:prstGeom prst="rect">
            <a:avLst/>
          </a:prstGeom>
        </p:spPr>
      </p:pic>
      <p:sp>
        <p:nvSpPr>
          <p:cNvPr id="5" name="Text 2"/>
          <p:cNvSpPr/>
          <p:nvPr/>
        </p:nvSpPr>
        <p:spPr>
          <a:xfrm>
            <a:off x="0" y="2880360"/>
            <a:ext cx="12188952" cy="594360"/>
          </a:xfrm>
          <a:prstGeom prst="rect">
            <a:avLst/>
          </a:prstGeom>
          <a:noFill/>
          <a:ln/>
        </p:spPr>
        <p:txBody>
          <a:bodyPr wrap="square" rtlCol="0" anchor="ctr"/>
          <a:lstStyle/>
          <a:p>
            <a:pPr algn="ctr" indent="0" marL="0">
              <a:buNone/>
            </a:pPr>
            <a:r>
              <a:rPr lang="en-US" sz="3400" b="1" spc="300" kern="0" dirty="0">
                <a:solidFill>
                  <a:srgbClr val="F5F7FA"/>
                </a:solidFill>
                <a:latin typeface="Arial" pitchFamily="34" charset="0"/>
                <a:ea typeface="Arial" pitchFamily="34" charset="-122"/>
                <a:cs typeface="Arial" pitchFamily="34" charset="-120"/>
              </a:rPr>
              <a:t>CRYSTAL </a:t>
            </a:r>
            <a:pPr algn="ctr" indent="0" marL="0">
              <a:buNone/>
            </a:pPr>
            <a:r>
              <a:rPr lang="en-US" sz="3400" b="1" spc="300" kern="0" dirty="0">
                <a:solidFill>
                  <a:srgbClr val="00E5A0"/>
                </a:solidFill>
                <a:latin typeface="Arial" pitchFamily="34" charset="0"/>
                <a:ea typeface="Arial" pitchFamily="34" charset="-122"/>
                <a:cs typeface="Arial" pitchFamily="34" charset="-120"/>
              </a:rPr>
              <a:t>PARADIGM</a:t>
            </a:r>
            <a:endParaRPr lang="en-US" sz="3400" dirty="0"/>
          </a:p>
        </p:txBody>
      </p:sp>
      <p:sp>
        <p:nvSpPr>
          <p:cNvPr id="6" name="Text 3"/>
          <p:cNvSpPr/>
          <p:nvPr/>
        </p:nvSpPr>
        <p:spPr>
          <a:xfrm>
            <a:off x="1371600" y="3520440"/>
            <a:ext cx="9445752" cy="457200"/>
          </a:xfrm>
          <a:prstGeom prst="rect">
            <a:avLst/>
          </a:prstGeom>
          <a:noFill/>
          <a:ln/>
        </p:spPr>
        <p:txBody>
          <a:bodyPr wrap="square" rtlCol="0" anchor="ctr"/>
          <a:lstStyle/>
          <a:p>
            <a:pPr algn="ctr" indent="0" marL="0">
              <a:buNone/>
            </a:pPr>
            <a:r>
              <a:rPr lang="en-US" sz="1600" i="1" dirty="0">
                <a:solidFill>
                  <a:srgbClr val="AAB4C6"/>
                </a:solidFill>
                <a:latin typeface="Calibri" pitchFamily="34" charset="0"/>
                <a:ea typeface="Calibri" pitchFamily="34" charset="-122"/>
                <a:cs typeface="Calibri" pitchFamily="34" charset="-120"/>
              </a:rPr>
              <a:t>Accelerating Deep-Tech Materials from 5 Years to 4 Weeks.</a:t>
            </a:r>
            <a:endParaRPr lang="en-US" sz="1600" dirty="0"/>
          </a:p>
        </p:txBody>
      </p:sp>
      <p:sp>
        <p:nvSpPr>
          <p:cNvPr id="7" name="Text 4"/>
          <p:cNvSpPr/>
          <p:nvPr/>
        </p:nvSpPr>
        <p:spPr>
          <a:xfrm>
            <a:off x="1371600" y="4114800"/>
            <a:ext cx="9445752" cy="685800"/>
          </a:xfrm>
          <a:prstGeom prst="rect">
            <a:avLst/>
          </a:prstGeom>
          <a:noFill/>
          <a:ln/>
        </p:spPr>
        <p:txBody>
          <a:bodyPr wrap="square" rtlCol="0" anchor="ctr"/>
          <a:lstStyle/>
          <a:p>
            <a:pPr algn="ctr" indent="0" marL="0">
              <a:lnSpc>
                <a:spcPct val="135000"/>
              </a:lnSpc>
              <a:buNone/>
            </a:pPr>
            <a:r>
              <a:rPr lang="en-US" sz="1400" dirty="0">
                <a:solidFill>
                  <a:srgbClr val="F5F7FA"/>
                </a:solidFill>
                <a:latin typeface="Calibri" pitchFamily="34" charset="0"/>
                <a:ea typeface="Calibri" pitchFamily="34" charset="-122"/>
                <a:cs typeface="Calibri" pitchFamily="34" charset="-120"/>
              </a:rPr>
              <a:t>We have completely solved the computational bottleneck.</a:t>
            </a:r>
            <a:endParaRPr lang="en-US" sz="1400" dirty="0"/>
          </a:p>
          <a:p>
            <a:pPr algn="ctr" indent="0" marL="0">
              <a:lnSpc>
                <a:spcPct val="135000"/>
              </a:lnSpc>
              <a:buNone/>
            </a:pPr>
            <a:r>
              <a:rPr lang="en-US" sz="1400" dirty="0">
                <a:solidFill>
                  <a:srgbClr val="F5F7FA"/>
                </a:solidFill>
                <a:latin typeface="Calibri" pitchFamily="34" charset="0"/>
                <a:ea typeface="Calibri" pitchFamily="34" charset="-122"/>
                <a:cs typeface="Calibri" pitchFamily="34" charset="-120"/>
              </a:rPr>
              <a:t>We are ready to build the physical reality.</a:t>
            </a:r>
            <a:endParaRPr lang="en-US" sz="1400" dirty="0"/>
          </a:p>
        </p:txBody>
      </p:sp>
      <p:sp>
        <p:nvSpPr>
          <p:cNvPr id="8" name="Text 5"/>
          <p:cNvSpPr/>
          <p:nvPr/>
        </p:nvSpPr>
        <p:spPr>
          <a:xfrm>
            <a:off x="1371600" y="4892040"/>
            <a:ext cx="9445752" cy="365760"/>
          </a:xfrm>
          <a:prstGeom prst="rect">
            <a:avLst/>
          </a:prstGeom>
          <a:noFill/>
          <a:ln/>
        </p:spPr>
        <p:txBody>
          <a:bodyPr wrap="square" rtlCol="0" anchor="ctr"/>
          <a:lstStyle/>
          <a:p>
            <a:pPr algn="ctr" indent="0" marL="0">
              <a:buNone/>
            </a:pPr>
            <a:r>
              <a:rPr lang="en-US" sz="1500" b="1" dirty="0">
                <a:solidFill>
                  <a:srgbClr val="F5F7FA"/>
                </a:solidFill>
                <a:latin typeface="Arial" pitchFamily="34" charset="0"/>
                <a:ea typeface="Arial" pitchFamily="34" charset="-122"/>
                <a:cs typeface="Arial" pitchFamily="34" charset="-120"/>
              </a:rPr>
              <a:t>Join us at the </a:t>
            </a:r>
            <a:pPr algn="ctr" indent="0" marL="0">
              <a:buNone/>
            </a:pPr>
            <a:r>
              <a:rPr lang="en-US" sz="1500" b="1" dirty="0">
                <a:solidFill>
                  <a:srgbClr val="00E5A0"/>
                </a:solidFill>
                <a:latin typeface="Arial" pitchFamily="34" charset="0"/>
                <a:ea typeface="Arial" pitchFamily="34" charset="-122"/>
                <a:cs typeface="Arial" pitchFamily="34" charset="-120"/>
              </a:rPr>
              <a:t>SCIDIP Advanced Materials Track</a:t>
            </a:r>
            <a:pPr algn="ctr" indent="0" marL="0">
              <a:buNone/>
            </a:pPr>
            <a:r>
              <a:rPr lang="en-US" sz="1500" b="1" dirty="0">
                <a:solidFill>
                  <a:srgbClr val="F5F7FA"/>
                </a:solidFill>
                <a:latin typeface="Arial" pitchFamily="34" charset="0"/>
                <a:ea typeface="Arial" pitchFamily="34" charset="-122"/>
                <a:cs typeface="Arial" pitchFamily="34" charset="-120"/>
              </a:rPr>
              <a:t>.</a:t>
            </a:r>
            <a:endParaRPr lang="en-US" sz="1500" dirty="0"/>
          </a:p>
        </p:txBody>
      </p:sp>
      <p:pic>
        <p:nvPicPr>
          <p:cNvPr id="9" name="Image 1" descr="assets/qr_code.png">    </p:cNvPr>
          <p:cNvPicPr>
            <a:picLocks noChangeAspect="1"/>
          </p:cNvPicPr>
          <p:nvPr/>
        </p:nvPicPr>
        <p:blipFill>
          <a:blip r:embed="rId2"/>
          <a:stretch>
            <a:fillRect/>
          </a:stretch>
        </p:blipFill>
        <p:spPr>
          <a:xfrm>
            <a:off x="5413248" y="5394960"/>
            <a:ext cx="1371600" cy="1371600"/>
          </a:xfrm>
          <a:prstGeom prst="rect">
            <a:avLst/>
          </a:prstGeom>
        </p:spPr>
      </p:pic>
      <p:sp>
        <p:nvSpPr>
          <p:cNvPr id="10" name="Text 6"/>
          <p:cNvSpPr/>
          <p:nvPr/>
        </p:nvSpPr>
        <p:spPr>
          <a:xfrm>
            <a:off x="1371600" y="5394960"/>
            <a:ext cx="4023360" cy="365760"/>
          </a:xfrm>
          <a:prstGeom prst="rect">
            <a:avLst/>
          </a:prstGeom>
          <a:noFill/>
          <a:ln/>
        </p:spPr>
        <p:txBody>
          <a:bodyPr wrap="square" rtlCol="0" anchor="ctr"/>
          <a:lstStyle/>
          <a:p>
            <a:pPr algn="r" indent="0" marL="0">
              <a:buNone/>
            </a:pPr>
            <a:r>
              <a:rPr lang="en-US" sz="1050" dirty="0">
                <a:solidFill>
                  <a:srgbClr val="AAB4C6"/>
                </a:solidFill>
                <a:latin typeface="Calibri" pitchFamily="34" charset="0"/>
                <a:ea typeface="Calibri" pitchFamily="34" charset="-122"/>
                <a:cs typeface="Calibri" pitchFamily="34" charset="-120"/>
              </a:rPr>
              <a:t>crystalparadigm.in  |  khub.crystalparadigm@gmail.com</a:t>
            </a:r>
            <a:endParaRPr lang="en-US" sz="1050" dirty="0"/>
          </a:p>
        </p:txBody>
      </p:sp>
      <p:sp>
        <p:nvSpPr>
          <p:cNvPr id="11" name="Text 7"/>
          <p:cNvSpPr/>
          <p:nvPr/>
        </p:nvSpPr>
        <p:spPr>
          <a:xfrm>
            <a:off x="6784848" y="5394960"/>
            <a:ext cx="4023360" cy="1371600"/>
          </a:xfrm>
          <a:prstGeom prst="rect">
            <a:avLst/>
          </a:prstGeom>
          <a:noFill/>
          <a:ln/>
        </p:spPr>
        <p:txBody>
          <a:bodyPr wrap="square" rtlCol="0" anchor="ctr"/>
          <a:lstStyle/>
          <a:p>
            <a:pPr algn="l" indent="0" marL="0">
              <a:lnSpc>
                <a:spcPct val="130000"/>
              </a:lnSpc>
              <a:buNone/>
            </a:pPr>
            <a:r>
              <a:rPr lang="en-US" sz="1050" i="1" dirty="0">
                <a:solidFill>
                  <a:srgbClr val="AAB4C6"/>
                </a:solidFill>
                <a:latin typeface="Calibri" pitchFamily="34" charset="0"/>
                <a:ea typeface="Calibri" pitchFamily="34" charset="-122"/>
                <a:cs typeface="Calibri" pitchFamily="34" charset="-120"/>
              </a:rPr>
              <a:t>Scan QR Code to access the</a:t>
            </a:r>
            <a:endParaRPr lang="en-US" sz="1050" dirty="0"/>
          </a:p>
          <a:p>
            <a:pPr algn="l" indent="0" marL="0">
              <a:lnSpc>
                <a:spcPct val="130000"/>
              </a:lnSpc>
              <a:buNone/>
            </a:pPr>
            <a:r>
              <a:rPr lang="en-US" sz="1050" i="1" dirty="0">
                <a:solidFill>
                  <a:srgbClr val="AAB4C6"/>
                </a:solidFill>
                <a:latin typeface="Calibri" pitchFamily="34" charset="0"/>
                <a:ea typeface="Calibri" pitchFamily="34" charset="-122"/>
                <a:cs typeface="Calibri" pitchFamily="34" charset="-120"/>
              </a:rPr>
              <a:t>50+ Page Technical Appendix</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2026-08-02T15:40:25Z</dcterms:created>
  <dcterms:modified xsi:type="dcterms:W3CDTF">2026-08-02T15:40:25Z</dcterms:modified>
</cp:coreProperties>
</file>