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0" r:id="rId2"/>
  </p:sldMasterIdLst>
  <p:notesMasterIdLst>
    <p:notesMasterId r:id="rId17"/>
  </p:notesMasterIdLst>
  <p:sldIdLst>
    <p:sldId id="256" r:id="rId3"/>
    <p:sldId id="270" r:id="rId4"/>
    <p:sldId id="258" r:id="rId5"/>
    <p:sldId id="259" r:id="rId6"/>
    <p:sldId id="260" r:id="rId7"/>
    <p:sldId id="261" r:id="rId8"/>
    <p:sldId id="262" r:id="rId9"/>
    <p:sldId id="263" r:id="rId10"/>
    <p:sldId id="264" r:id="rId11"/>
    <p:sldId id="265" r:id="rId12"/>
    <p:sldId id="266" r:id="rId13"/>
    <p:sldId id="267" r:id="rId14"/>
    <p:sldId id="268" r:id="rId15"/>
    <p:sldId id="271" r:id="rId34"/>
    <p:sldId id="272" r:id="rId33"/>
    <p:sldId id="273" r:id="rId40"/>
    <p:sldId id="274" r:id="rId41"/>
    <p:sldId id="275" r:id="rId42"/>
    <p:sldId id="276" r:id="rId43"/>
    <p:sldId id="269" r:id="rId16"/>
  </p:sldIdLst>
  <p:sldSz cx="9144000" cy="5143500" type="screen16x9"/>
  <p:notesSz cx="5143500" cy="9144000"/>
  <p:embeddedFontLst>
    <p:embeddedFont>
      <p:font typeface="Inter" panose="020B0604020202020204" charset="0"/>
      <p:regular r:id="rId18"/>
      <p:bold r:id="rId19"/>
      <p:italic r:id="rId20"/>
      <p:boldItalic r:id="rId21"/>
    </p:embeddedFont>
    <p:embeddedFont>
      <p:font typeface="Inter Medium" panose="020B0604020202020204" charset="0"/>
      <p:regular r:id="rId22"/>
      <p:bold r:id="rId23"/>
      <p:italic r:id="rId24"/>
      <p:boldItalic r:id="rId25"/>
    </p:embeddedFont>
    <p:embeddedFont>
      <p:font typeface="Inter SemiBold" panose="020B0604020202020204" charset="0"/>
      <p:regular r:id="rId26"/>
      <p:bold r:id="rId27"/>
      <p:italic r:id="rId28"/>
      <p:boldItalic r:id="rId29"/>
    </p:embeddedFont>
    <p:embeddedFont>
      <p:font typeface="Space Grotesk" panose="020B0604020202020204" charset="0"/>
      <p:bold r:id="rId30"/>
    </p:embeddedFont>
    <p:embeddedFont>
      <p:font typeface="Space Grotesk SemiBold" panose="020B0604020202020204" charset="0"/>
      <p:regular r:id="rId31"/>
      <p:bold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5" roundtripDataSignature="AMtx7mhLdsu46NZDv1iNawfR3J/rA+h4G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0" d="100"/>
          <a:sy n="120" d="100"/>
        </p:scale>
        <p:origin x="37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20.xml"/><Relationship Id="rId17" Type="http://schemas.openxmlformats.org/officeDocument/2006/relationships/notesMaster" Target="notesMasters/notesMaster1.xml"/><Relationship Id="rId18" Type="http://schemas.openxmlformats.org/officeDocument/2006/relationships/font" Target="fonts/font1.fntdata"/><Relationship Id="rId19" Type="http://schemas.openxmlformats.org/officeDocument/2006/relationships/font" Target="fonts/font2.fntdata"/><Relationship Id="rId20" Type="http://schemas.openxmlformats.org/officeDocument/2006/relationships/font" Target="fonts/font3.fntdata"/><Relationship Id="rId21" Type="http://schemas.openxmlformats.org/officeDocument/2006/relationships/font" Target="fonts/font4.fntdata"/><Relationship Id="rId22" Type="http://schemas.openxmlformats.org/officeDocument/2006/relationships/font" Target="fonts/font5.fntdata"/><Relationship Id="rId23" Type="http://schemas.openxmlformats.org/officeDocument/2006/relationships/font" Target="fonts/font6.fntdata"/><Relationship Id="rId24" Type="http://schemas.openxmlformats.org/officeDocument/2006/relationships/font" Target="fonts/font7.fntdata"/><Relationship Id="rId25" Type="http://schemas.openxmlformats.org/officeDocument/2006/relationships/font" Target="fonts/font8.fntdata"/><Relationship Id="rId26" Type="http://schemas.openxmlformats.org/officeDocument/2006/relationships/font" Target="fonts/font9.fntdata"/><Relationship Id="rId27" Type="http://schemas.openxmlformats.org/officeDocument/2006/relationships/font" Target="fonts/font10.fntdata"/><Relationship Id="rId28" Type="http://schemas.openxmlformats.org/officeDocument/2006/relationships/font" Target="fonts/font11.fntdata"/><Relationship Id="rId29" Type="http://schemas.openxmlformats.org/officeDocument/2006/relationships/font" Target="fonts/font12.fntdata"/><Relationship Id="rId30" Type="http://schemas.openxmlformats.org/officeDocument/2006/relationships/font" Target="fonts/font13.fntdata"/><Relationship Id="rId31" Type="http://schemas.openxmlformats.org/officeDocument/2006/relationships/font" Target="fonts/font14.fntdata"/><Relationship Id="rId32" Type="http://schemas.openxmlformats.org/officeDocument/2006/relationships/font" Target="fonts/font15.fntdata"/><Relationship Id="rId33" Type="http://schemas.openxmlformats.org/officeDocument/2006/relationships/slide" Target="slides/slide15.xml"/><Relationship Id="rId34" Type="http://schemas.openxmlformats.org/officeDocument/2006/relationships/slide" Target="slides/slide14.xml"/><Relationship Id="rId35" Type="http://customschemas.google.com/relationships/presentationmetadata" Target="metadata"/><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 Id="rId40" Type="http://schemas.openxmlformats.org/officeDocument/2006/relationships/slide" Target="slides/slide16.xml"/><Relationship Id="rId41" Type="http://schemas.openxmlformats.org/officeDocument/2006/relationships/slide" Target="slides/slide17.xml"/><Relationship Id="rId42" Type="http://schemas.openxmlformats.org/officeDocument/2006/relationships/slide" Target="slides/slide18.xml"/><Relationship Id="rId43"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3e85893f04f_6_75:notes"/>
          <p:cNvSpPr txBox="1">
            <a:spLocks noGrp="1"/>
          </p:cNvSpPr>
          <p:nvPr>
            <p:ph type="body" idx="1"/>
          </p:nvPr>
        </p:nvSpPr>
        <p:spPr>
          <a:xfrm>
            <a:off x="514350" y="4343400"/>
            <a:ext cx="41148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8" name="Google Shape;88;g3e85893f04f_6_75:notes"/>
          <p:cNvSpPr>
            <a:spLocks noGrp="1" noRot="1" noChangeAspect="1"/>
          </p:cNvSpPr>
          <p:nvPr>
            <p:ph type="sldImg" idx="2"/>
          </p:nvPr>
        </p:nvSpPr>
        <p:spPr>
          <a:xfrm>
            <a:off x="-47625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 name="Google Shape;106;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7" name="Google Shape;107;p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7" name="Google Shape;127;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 name="Google Shape;144;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5" name="Google Shape;145;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7" name="Google Shape;167;p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8" name="Google Shape;168;p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7" name="Google Shape;267;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8" name="Google Shape;268;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8" name="Google Shape;288;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9" name="Google Shape;289;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5" name="Google Shape;345;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6" name="Google Shape;346;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0" name="Google Shape;370;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1" name="Google Shape;371;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6" name="Google Shape;396;p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7" name="Google Shape;397;p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8" name="Google Shape;438;p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9" name="Google Shape;439;p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3" name="Google Shape;473;p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4" name="Google Shape;474;p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3"/>
        <p:cNvGrpSpPr/>
        <p:nvPr/>
      </p:nvGrpSpPr>
      <p:grpSpPr>
        <a:xfrm>
          <a:off x="0" y="0"/>
          <a:ext cx="0" cy="0"/>
          <a:chOff x="0" y="0"/>
          <a:chExt cx="0" cy="0"/>
        </a:xfrm>
      </p:grpSpPr>
      <p:sp>
        <p:nvSpPr>
          <p:cNvPr id="504" name="Google Shape;504;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5" name="Google Shape;505;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6" name="Google Shape;506;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7"/>
        <p:cNvGrpSpPr/>
        <p:nvPr/>
      </p:nvGrpSpPr>
      <p:grpSpPr>
        <a:xfrm>
          <a:off x="0" y="0"/>
          <a:ext cx="0" cy="0"/>
          <a:chOff x="0" y="0"/>
          <a:chExt cx="0" cy="0"/>
        </a:xfrm>
      </p:grpSpPr>
      <p:sp>
        <p:nvSpPr>
          <p:cNvPr id="18" name="Google Shape;18;g3e8969c066b_83_155"/>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19" name="Google Shape;19;g3e8969c066b_83_155"/>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20" name="Google Shape;20;g3e8969c066b_83_155"/>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g3e8969c066b_83_159"/>
          <p:cNvSpPr txBox="1">
            <a:spLocks noGrp="1"/>
          </p:cNvSpPr>
          <p:nvPr>
            <p:ph type="ctrTitle"/>
          </p:nvPr>
        </p:nvSpPr>
        <p:spPr>
          <a:xfrm>
            <a:off x="342900" y="1065213"/>
            <a:ext cx="3886200" cy="7350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23" name="Google Shape;23;g3e8969c066b_83_159"/>
          <p:cNvSpPr txBox="1">
            <a:spLocks noGrp="1"/>
          </p:cNvSpPr>
          <p:nvPr>
            <p:ph type="subTitle" idx="1"/>
          </p:nvPr>
        </p:nvSpPr>
        <p:spPr>
          <a:xfrm>
            <a:off x="685800" y="1943100"/>
            <a:ext cx="3200400" cy="876300"/>
          </a:xfrm>
          <a:prstGeom prst="rect">
            <a:avLst/>
          </a:prstGeom>
          <a:noFill/>
          <a:ln>
            <a:noFill/>
          </a:ln>
        </p:spPr>
        <p:txBody>
          <a:bodyPr spcFirstLastPara="1" wrap="square" lIns="45725" tIns="22850" rIns="45725" bIns="22850" anchor="t" anchorCtr="0">
            <a:normAutofit/>
          </a:bodyPr>
          <a:lstStyle>
            <a:lvl1pPr lvl="0" algn="ctr">
              <a:spcBef>
                <a:spcPts val="300"/>
              </a:spcBef>
              <a:spcAft>
                <a:spcPts val="0"/>
              </a:spcAft>
              <a:buClr>
                <a:srgbClr val="888888"/>
              </a:buClr>
              <a:buSzPts val="1600"/>
              <a:buNone/>
              <a:defRPr>
                <a:solidFill>
                  <a:srgbClr val="888888"/>
                </a:solidFill>
              </a:defRPr>
            </a:lvl1pPr>
            <a:lvl2pPr lvl="1" algn="ctr">
              <a:spcBef>
                <a:spcPts val="300"/>
              </a:spcBef>
              <a:spcAft>
                <a:spcPts val="0"/>
              </a:spcAft>
              <a:buClr>
                <a:srgbClr val="888888"/>
              </a:buClr>
              <a:buSzPts val="1400"/>
              <a:buNone/>
              <a:defRPr>
                <a:solidFill>
                  <a:srgbClr val="888888"/>
                </a:solidFill>
              </a:defRPr>
            </a:lvl2pPr>
            <a:lvl3pPr lvl="2" algn="ctr">
              <a:spcBef>
                <a:spcPts val="200"/>
              </a:spcBef>
              <a:spcAft>
                <a:spcPts val="0"/>
              </a:spcAft>
              <a:buClr>
                <a:srgbClr val="888888"/>
              </a:buClr>
              <a:buSzPts val="1200"/>
              <a:buNone/>
              <a:defRPr>
                <a:solidFill>
                  <a:srgbClr val="888888"/>
                </a:solidFill>
              </a:defRPr>
            </a:lvl3pPr>
            <a:lvl4pPr lvl="3" algn="ctr">
              <a:spcBef>
                <a:spcPts val="200"/>
              </a:spcBef>
              <a:spcAft>
                <a:spcPts val="0"/>
              </a:spcAft>
              <a:buClr>
                <a:srgbClr val="888888"/>
              </a:buClr>
              <a:buSzPts val="1000"/>
              <a:buNone/>
              <a:defRPr>
                <a:solidFill>
                  <a:srgbClr val="888888"/>
                </a:solidFill>
              </a:defRPr>
            </a:lvl4pPr>
            <a:lvl5pPr lvl="4" algn="ctr">
              <a:spcBef>
                <a:spcPts val="200"/>
              </a:spcBef>
              <a:spcAft>
                <a:spcPts val="0"/>
              </a:spcAft>
              <a:buClr>
                <a:srgbClr val="888888"/>
              </a:buClr>
              <a:buSzPts val="1000"/>
              <a:buNone/>
              <a:defRPr>
                <a:solidFill>
                  <a:srgbClr val="888888"/>
                </a:solidFill>
              </a:defRPr>
            </a:lvl5pPr>
            <a:lvl6pPr lvl="5" algn="ctr">
              <a:spcBef>
                <a:spcPts val="200"/>
              </a:spcBef>
              <a:spcAft>
                <a:spcPts val="0"/>
              </a:spcAft>
              <a:buClr>
                <a:srgbClr val="888888"/>
              </a:buClr>
              <a:buSzPts val="1000"/>
              <a:buNone/>
              <a:defRPr>
                <a:solidFill>
                  <a:srgbClr val="888888"/>
                </a:solidFill>
              </a:defRPr>
            </a:lvl6pPr>
            <a:lvl7pPr lvl="6" algn="ctr">
              <a:spcBef>
                <a:spcPts val="200"/>
              </a:spcBef>
              <a:spcAft>
                <a:spcPts val="0"/>
              </a:spcAft>
              <a:buClr>
                <a:srgbClr val="888888"/>
              </a:buClr>
              <a:buSzPts val="1000"/>
              <a:buNone/>
              <a:defRPr>
                <a:solidFill>
                  <a:srgbClr val="888888"/>
                </a:solidFill>
              </a:defRPr>
            </a:lvl7pPr>
            <a:lvl8pPr lvl="7" algn="ctr">
              <a:spcBef>
                <a:spcPts val="200"/>
              </a:spcBef>
              <a:spcAft>
                <a:spcPts val="0"/>
              </a:spcAft>
              <a:buClr>
                <a:srgbClr val="888888"/>
              </a:buClr>
              <a:buSzPts val="1000"/>
              <a:buNone/>
              <a:defRPr>
                <a:solidFill>
                  <a:srgbClr val="888888"/>
                </a:solidFill>
              </a:defRPr>
            </a:lvl8pPr>
            <a:lvl9pPr lvl="8" algn="ctr">
              <a:spcBef>
                <a:spcPts val="200"/>
              </a:spcBef>
              <a:spcAft>
                <a:spcPts val="0"/>
              </a:spcAft>
              <a:buClr>
                <a:srgbClr val="888888"/>
              </a:buClr>
              <a:buSzPts val="1000"/>
              <a:buNone/>
              <a:defRPr>
                <a:solidFill>
                  <a:srgbClr val="888888"/>
                </a:solidFill>
              </a:defRPr>
            </a:lvl9pPr>
          </a:lstStyle>
          <a:p>
            <a:endParaRPr/>
          </a:p>
        </p:txBody>
      </p:sp>
      <p:sp>
        <p:nvSpPr>
          <p:cNvPr id="24" name="Google Shape;24;g3e8969c066b_83_159"/>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25" name="Google Shape;25;g3e8969c066b_83_159"/>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26" name="Google Shape;26;g3e8969c066b_83_159"/>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7"/>
        <p:cNvGrpSpPr/>
        <p:nvPr/>
      </p:nvGrpSpPr>
      <p:grpSpPr>
        <a:xfrm>
          <a:off x="0" y="0"/>
          <a:ext cx="0" cy="0"/>
          <a:chOff x="0" y="0"/>
          <a:chExt cx="0" cy="0"/>
        </a:xfrm>
      </p:grpSpPr>
      <p:sp>
        <p:nvSpPr>
          <p:cNvPr id="28" name="Google Shape;28;g3e8969c066b_83_165"/>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29" name="Google Shape;29;g3e8969c066b_83_165"/>
          <p:cNvSpPr txBox="1">
            <a:spLocks noGrp="1"/>
          </p:cNvSpPr>
          <p:nvPr>
            <p:ph type="body" idx="1"/>
          </p:nvPr>
        </p:nvSpPr>
        <p:spPr>
          <a:xfrm>
            <a:off x="228600" y="800100"/>
            <a:ext cx="4114800" cy="2262900"/>
          </a:xfrm>
          <a:prstGeom prst="rect">
            <a:avLst/>
          </a:prstGeom>
          <a:noFill/>
          <a:ln>
            <a:noFill/>
          </a:ln>
        </p:spPr>
        <p:txBody>
          <a:bodyPr spcFirstLastPara="1" wrap="square" lIns="45725" tIns="22850" rIns="45725" bIns="22850" anchor="t" anchorCtr="0">
            <a:normAutofit/>
          </a:bodyPr>
          <a:lstStyle>
            <a:lvl1pPr marL="457200" lvl="0" indent="-285750" algn="l">
              <a:spcBef>
                <a:spcPts val="200"/>
              </a:spcBef>
              <a:spcAft>
                <a:spcPts val="0"/>
              </a:spcAft>
              <a:buClr>
                <a:schemeClr val="dk1"/>
              </a:buClr>
              <a:buSzPts val="900"/>
              <a:buChar char="•"/>
              <a:defRPr/>
            </a:lvl1pPr>
            <a:lvl2pPr marL="914400" lvl="1" indent="-285750" algn="l">
              <a:spcBef>
                <a:spcPts val="200"/>
              </a:spcBef>
              <a:spcAft>
                <a:spcPts val="0"/>
              </a:spcAft>
              <a:buClr>
                <a:schemeClr val="dk1"/>
              </a:buClr>
              <a:buSzPts val="900"/>
              <a:buChar char="–"/>
              <a:defRPr/>
            </a:lvl2pPr>
            <a:lvl3pPr marL="1371600" lvl="2" indent="-285750" algn="l">
              <a:spcBef>
                <a:spcPts val="200"/>
              </a:spcBef>
              <a:spcAft>
                <a:spcPts val="0"/>
              </a:spcAft>
              <a:buClr>
                <a:schemeClr val="dk1"/>
              </a:buClr>
              <a:buSzPts val="900"/>
              <a:buChar char="•"/>
              <a:defRPr/>
            </a:lvl3pPr>
            <a:lvl4pPr marL="1828800" lvl="3" indent="-285750" algn="l">
              <a:spcBef>
                <a:spcPts val="200"/>
              </a:spcBef>
              <a:spcAft>
                <a:spcPts val="0"/>
              </a:spcAft>
              <a:buClr>
                <a:schemeClr val="dk1"/>
              </a:buClr>
              <a:buSzPts val="900"/>
              <a:buChar char="–"/>
              <a:defRPr/>
            </a:lvl4pPr>
            <a:lvl5pPr marL="2286000" lvl="4" indent="-285750" algn="l">
              <a:spcBef>
                <a:spcPts val="200"/>
              </a:spcBef>
              <a:spcAft>
                <a:spcPts val="0"/>
              </a:spcAft>
              <a:buClr>
                <a:schemeClr val="dk1"/>
              </a:buClr>
              <a:buSzPts val="900"/>
              <a:buChar char="»"/>
              <a:defRPr/>
            </a:lvl5pPr>
            <a:lvl6pPr marL="2743200" lvl="5" indent="-285750" algn="l">
              <a:spcBef>
                <a:spcPts val="200"/>
              </a:spcBef>
              <a:spcAft>
                <a:spcPts val="0"/>
              </a:spcAft>
              <a:buClr>
                <a:schemeClr val="dk1"/>
              </a:buClr>
              <a:buSzPts val="900"/>
              <a:buChar char="•"/>
              <a:defRPr/>
            </a:lvl6pPr>
            <a:lvl7pPr marL="3200400" lvl="6" indent="-285750" algn="l">
              <a:spcBef>
                <a:spcPts val="200"/>
              </a:spcBef>
              <a:spcAft>
                <a:spcPts val="0"/>
              </a:spcAft>
              <a:buClr>
                <a:schemeClr val="dk1"/>
              </a:buClr>
              <a:buSzPts val="900"/>
              <a:buChar char="•"/>
              <a:defRPr/>
            </a:lvl7pPr>
            <a:lvl8pPr marL="3657600" lvl="7" indent="-285750" algn="l">
              <a:spcBef>
                <a:spcPts val="200"/>
              </a:spcBef>
              <a:spcAft>
                <a:spcPts val="0"/>
              </a:spcAft>
              <a:buClr>
                <a:schemeClr val="dk1"/>
              </a:buClr>
              <a:buSzPts val="900"/>
              <a:buChar char="•"/>
              <a:defRPr/>
            </a:lvl8pPr>
            <a:lvl9pPr marL="4114800" lvl="8" indent="-285750" algn="l">
              <a:spcBef>
                <a:spcPts val="200"/>
              </a:spcBef>
              <a:spcAft>
                <a:spcPts val="0"/>
              </a:spcAft>
              <a:buClr>
                <a:schemeClr val="dk1"/>
              </a:buClr>
              <a:buSzPts val="900"/>
              <a:buChar char="•"/>
              <a:defRPr/>
            </a:lvl9pPr>
          </a:lstStyle>
          <a:p>
            <a:endParaRPr/>
          </a:p>
        </p:txBody>
      </p:sp>
      <p:sp>
        <p:nvSpPr>
          <p:cNvPr id="30" name="Google Shape;30;g3e8969c066b_83_165"/>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31" name="Google Shape;31;g3e8969c066b_83_165"/>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32" name="Google Shape;32;g3e8969c066b_83_165"/>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3"/>
        <p:cNvGrpSpPr/>
        <p:nvPr/>
      </p:nvGrpSpPr>
      <p:grpSpPr>
        <a:xfrm>
          <a:off x="0" y="0"/>
          <a:ext cx="0" cy="0"/>
          <a:chOff x="0" y="0"/>
          <a:chExt cx="0" cy="0"/>
        </a:xfrm>
      </p:grpSpPr>
      <p:sp>
        <p:nvSpPr>
          <p:cNvPr id="34" name="Google Shape;34;g3e8969c066b_83_171"/>
          <p:cNvSpPr txBox="1">
            <a:spLocks noGrp="1"/>
          </p:cNvSpPr>
          <p:nvPr>
            <p:ph type="title"/>
          </p:nvPr>
        </p:nvSpPr>
        <p:spPr>
          <a:xfrm>
            <a:off x="361156" y="2203450"/>
            <a:ext cx="3886200" cy="681000"/>
          </a:xfrm>
          <a:prstGeom prst="rect">
            <a:avLst/>
          </a:prstGeom>
          <a:noFill/>
          <a:ln>
            <a:noFill/>
          </a:ln>
        </p:spPr>
        <p:txBody>
          <a:bodyPr spcFirstLastPara="1" wrap="square" lIns="45725" tIns="22850" rIns="45725" bIns="22850" anchor="t" anchorCtr="0">
            <a:normAutofit/>
          </a:bodyPr>
          <a:lstStyle>
            <a:lvl1pPr lvl="0" algn="l">
              <a:spcBef>
                <a:spcPts val="0"/>
              </a:spcBef>
              <a:spcAft>
                <a:spcPts val="0"/>
              </a:spcAft>
              <a:buClr>
                <a:schemeClr val="dk1"/>
              </a:buClr>
              <a:buSzPts val="2000"/>
              <a:buFont typeface="Calibri"/>
              <a:buNone/>
              <a:defRPr sz="2000" b="1" cap="none"/>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35" name="Google Shape;35;g3e8969c066b_83_171"/>
          <p:cNvSpPr txBox="1">
            <a:spLocks noGrp="1"/>
          </p:cNvSpPr>
          <p:nvPr>
            <p:ph type="body" idx="1"/>
          </p:nvPr>
        </p:nvSpPr>
        <p:spPr>
          <a:xfrm>
            <a:off x="361156" y="1453357"/>
            <a:ext cx="3886200" cy="750000"/>
          </a:xfrm>
          <a:prstGeom prst="rect">
            <a:avLst/>
          </a:prstGeom>
          <a:noFill/>
          <a:ln>
            <a:noFill/>
          </a:ln>
        </p:spPr>
        <p:txBody>
          <a:bodyPr spcFirstLastPara="1" wrap="square" lIns="45725" tIns="22850" rIns="45725" bIns="22850" anchor="b" anchorCtr="0">
            <a:normAutofit/>
          </a:bodyPr>
          <a:lstStyle>
            <a:lvl1pPr marL="457200" lvl="0" indent="-228600" algn="l">
              <a:spcBef>
                <a:spcPts val="200"/>
              </a:spcBef>
              <a:spcAft>
                <a:spcPts val="0"/>
              </a:spcAft>
              <a:buClr>
                <a:srgbClr val="888888"/>
              </a:buClr>
              <a:buSzPts val="1000"/>
              <a:buNone/>
              <a:defRPr sz="1000">
                <a:solidFill>
                  <a:srgbClr val="888888"/>
                </a:solidFill>
              </a:defRPr>
            </a:lvl1pPr>
            <a:lvl2pPr marL="914400" lvl="1" indent="-228600" algn="l">
              <a:spcBef>
                <a:spcPts val="200"/>
              </a:spcBef>
              <a:spcAft>
                <a:spcPts val="0"/>
              </a:spcAft>
              <a:buClr>
                <a:srgbClr val="888888"/>
              </a:buClr>
              <a:buSzPts val="900"/>
              <a:buNone/>
              <a:defRPr sz="900">
                <a:solidFill>
                  <a:srgbClr val="888888"/>
                </a:solidFill>
              </a:defRPr>
            </a:lvl2pPr>
            <a:lvl3pPr marL="1371600" lvl="2" indent="-228600" algn="l">
              <a:spcBef>
                <a:spcPts val="200"/>
              </a:spcBef>
              <a:spcAft>
                <a:spcPts val="0"/>
              </a:spcAft>
              <a:buClr>
                <a:srgbClr val="888888"/>
              </a:buClr>
              <a:buSzPts val="800"/>
              <a:buNone/>
              <a:defRPr sz="800">
                <a:solidFill>
                  <a:srgbClr val="888888"/>
                </a:solidFill>
              </a:defRPr>
            </a:lvl3pPr>
            <a:lvl4pPr marL="1828800" lvl="3" indent="-228600" algn="l">
              <a:spcBef>
                <a:spcPts val="100"/>
              </a:spcBef>
              <a:spcAft>
                <a:spcPts val="0"/>
              </a:spcAft>
              <a:buClr>
                <a:srgbClr val="888888"/>
              </a:buClr>
              <a:buSzPts val="700"/>
              <a:buNone/>
              <a:defRPr sz="700">
                <a:solidFill>
                  <a:srgbClr val="888888"/>
                </a:solidFill>
              </a:defRPr>
            </a:lvl4pPr>
            <a:lvl5pPr marL="2286000" lvl="4" indent="-228600" algn="l">
              <a:spcBef>
                <a:spcPts val="100"/>
              </a:spcBef>
              <a:spcAft>
                <a:spcPts val="0"/>
              </a:spcAft>
              <a:buClr>
                <a:srgbClr val="888888"/>
              </a:buClr>
              <a:buSzPts val="700"/>
              <a:buNone/>
              <a:defRPr sz="700">
                <a:solidFill>
                  <a:srgbClr val="888888"/>
                </a:solidFill>
              </a:defRPr>
            </a:lvl5pPr>
            <a:lvl6pPr marL="2743200" lvl="5" indent="-228600" algn="l">
              <a:spcBef>
                <a:spcPts val="100"/>
              </a:spcBef>
              <a:spcAft>
                <a:spcPts val="0"/>
              </a:spcAft>
              <a:buClr>
                <a:srgbClr val="888888"/>
              </a:buClr>
              <a:buSzPts val="700"/>
              <a:buNone/>
              <a:defRPr sz="700">
                <a:solidFill>
                  <a:srgbClr val="888888"/>
                </a:solidFill>
              </a:defRPr>
            </a:lvl6pPr>
            <a:lvl7pPr marL="3200400" lvl="6" indent="-228600" algn="l">
              <a:spcBef>
                <a:spcPts val="100"/>
              </a:spcBef>
              <a:spcAft>
                <a:spcPts val="0"/>
              </a:spcAft>
              <a:buClr>
                <a:srgbClr val="888888"/>
              </a:buClr>
              <a:buSzPts val="700"/>
              <a:buNone/>
              <a:defRPr sz="700">
                <a:solidFill>
                  <a:srgbClr val="888888"/>
                </a:solidFill>
              </a:defRPr>
            </a:lvl7pPr>
            <a:lvl8pPr marL="3657600" lvl="7" indent="-228600" algn="l">
              <a:spcBef>
                <a:spcPts val="100"/>
              </a:spcBef>
              <a:spcAft>
                <a:spcPts val="0"/>
              </a:spcAft>
              <a:buClr>
                <a:srgbClr val="888888"/>
              </a:buClr>
              <a:buSzPts val="700"/>
              <a:buNone/>
              <a:defRPr sz="700">
                <a:solidFill>
                  <a:srgbClr val="888888"/>
                </a:solidFill>
              </a:defRPr>
            </a:lvl8pPr>
            <a:lvl9pPr marL="4114800" lvl="8" indent="-228600" algn="l">
              <a:spcBef>
                <a:spcPts val="100"/>
              </a:spcBef>
              <a:spcAft>
                <a:spcPts val="0"/>
              </a:spcAft>
              <a:buClr>
                <a:srgbClr val="888888"/>
              </a:buClr>
              <a:buSzPts val="700"/>
              <a:buNone/>
              <a:defRPr sz="700">
                <a:solidFill>
                  <a:srgbClr val="888888"/>
                </a:solidFill>
              </a:defRPr>
            </a:lvl9pPr>
          </a:lstStyle>
          <a:p>
            <a:endParaRPr/>
          </a:p>
        </p:txBody>
      </p:sp>
      <p:sp>
        <p:nvSpPr>
          <p:cNvPr id="36" name="Google Shape;36;g3e8969c066b_83_171"/>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37" name="Google Shape;37;g3e8969c066b_83_171"/>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38" name="Google Shape;38;g3e8969c066b_83_171"/>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9"/>
        <p:cNvGrpSpPr/>
        <p:nvPr/>
      </p:nvGrpSpPr>
      <p:grpSpPr>
        <a:xfrm>
          <a:off x="0" y="0"/>
          <a:ext cx="0" cy="0"/>
          <a:chOff x="0" y="0"/>
          <a:chExt cx="0" cy="0"/>
        </a:xfrm>
      </p:grpSpPr>
      <p:sp>
        <p:nvSpPr>
          <p:cNvPr id="40" name="Google Shape;40;g3e8969c066b_83_177"/>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41" name="Google Shape;41;g3e8969c066b_83_177"/>
          <p:cNvSpPr txBox="1">
            <a:spLocks noGrp="1"/>
          </p:cNvSpPr>
          <p:nvPr>
            <p:ph type="body" idx="1"/>
          </p:nvPr>
        </p:nvSpPr>
        <p:spPr>
          <a:xfrm>
            <a:off x="228600" y="800100"/>
            <a:ext cx="2019300" cy="2262900"/>
          </a:xfrm>
          <a:prstGeom prst="rect">
            <a:avLst/>
          </a:prstGeom>
          <a:noFill/>
          <a:ln>
            <a:noFill/>
          </a:ln>
        </p:spPr>
        <p:txBody>
          <a:bodyPr spcFirstLastPara="1" wrap="square" lIns="45725" tIns="22850" rIns="45725" bIns="22850" anchor="t" anchorCtr="0">
            <a:normAutofit/>
          </a:bodyPr>
          <a:lstStyle>
            <a:lvl1pPr marL="457200" lvl="0" indent="-317500" algn="l">
              <a:spcBef>
                <a:spcPts val="300"/>
              </a:spcBef>
              <a:spcAft>
                <a:spcPts val="0"/>
              </a:spcAft>
              <a:buClr>
                <a:schemeClr val="dk1"/>
              </a:buClr>
              <a:buSzPts val="1400"/>
              <a:buChar char="•"/>
              <a:defRPr sz="1400"/>
            </a:lvl1pPr>
            <a:lvl2pPr marL="914400" lvl="1" indent="-304800" algn="l">
              <a:spcBef>
                <a:spcPts val="200"/>
              </a:spcBef>
              <a:spcAft>
                <a:spcPts val="0"/>
              </a:spcAft>
              <a:buClr>
                <a:schemeClr val="dk1"/>
              </a:buClr>
              <a:buSzPts val="1200"/>
              <a:buChar char="–"/>
              <a:defRPr sz="1200"/>
            </a:lvl2pPr>
            <a:lvl3pPr marL="1371600" lvl="2" indent="-292100" algn="l">
              <a:spcBef>
                <a:spcPts val="200"/>
              </a:spcBef>
              <a:spcAft>
                <a:spcPts val="0"/>
              </a:spcAft>
              <a:buClr>
                <a:schemeClr val="dk1"/>
              </a:buClr>
              <a:buSzPts val="1000"/>
              <a:buChar char="•"/>
              <a:defRPr sz="1000"/>
            </a:lvl3pPr>
            <a:lvl4pPr marL="1828800" lvl="3" indent="-285750" algn="l">
              <a:spcBef>
                <a:spcPts val="200"/>
              </a:spcBef>
              <a:spcAft>
                <a:spcPts val="0"/>
              </a:spcAft>
              <a:buClr>
                <a:schemeClr val="dk1"/>
              </a:buClr>
              <a:buSzPts val="900"/>
              <a:buChar char="–"/>
              <a:defRPr sz="900"/>
            </a:lvl4pPr>
            <a:lvl5pPr marL="2286000" lvl="4" indent="-285750" algn="l">
              <a:spcBef>
                <a:spcPts val="200"/>
              </a:spcBef>
              <a:spcAft>
                <a:spcPts val="0"/>
              </a:spcAft>
              <a:buClr>
                <a:schemeClr val="dk1"/>
              </a:buClr>
              <a:buSzPts val="900"/>
              <a:buChar char="»"/>
              <a:defRPr sz="900"/>
            </a:lvl5pPr>
            <a:lvl6pPr marL="2743200" lvl="5" indent="-285750" algn="l">
              <a:spcBef>
                <a:spcPts val="200"/>
              </a:spcBef>
              <a:spcAft>
                <a:spcPts val="0"/>
              </a:spcAft>
              <a:buClr>
                <a:schemeClr val="dk1"/>
              </a:buClr>
              <a:buSzPts val="900"/>
              <a:buChar char="•"/>
              <a:defRPr sz="900"/>
            </a:lvl6pPr>
            <a:lvl7pPr marL="3200400" lvl="6" indent="-285750" algn="l">
              <a:spcBef>
                <a:spcPts val="200"/>
              </a:spcBef>
              <a:spcAft>
                <a:spcPts val="0"/>
              </a:spcAft>
              <a:buClr>
                <a:schemeClr val="dk1"/>
              </a:buClr>
              <a:buSzPts val="900"/>
              <a:buChar char="•"/>
              <a:defRPr sz="900"/>
            </a:lvl7pPr>
            <a:lvl8pPr marL="3657600" lvl="7" indent="-285750" algn="l">
              <a:spcBef>
                <a:spcPts val="200"/>
              </a:spcBef>
              <a:spcAft>
                <a:spcPts val="0"/>
              </a:spcAft>
              <a:buClr>
                <a:schemeClr val="dk1"/>
              </a:buClr>
              <a:buSzPts val="900"/>
              <a:buChar char="•"/>
              <a:defRPr sz="900"/>
            </a:lvl8pPr>
            <a:lvl9pPr marL="4114800" lvl="8" indent="-285750" algn="l">
              <a:spcBef>
                <a:spcPts val="200"/>
              </a:spcBef>
              <a:spcAft>
                <a:spcPts val="0"/>
              </a:spcAft>
              <a:buClr>
                <a:schemeClr val="dk1"/>
              </a:buClr>
              <a:buSzPts val="900"/>
              <a:buChar char="•"/>
              <a:defRPr sz="900"/>
            </a:lvl9pPr>
          </a:lstStyle>
          <a:p>
            <a:endParaRPr/>
          </a:p>
        </p:txBody>
      </p:sp>
      <p:sp>
        <p:nvSpPr>
          <p:cNvPr id="42" name="Google Shape;42;g3e8969c066b_83_177"/>
          <p:cNvSpPr txBox="1">
            <a:spLocks noGrp="1"/>
          </p:cNvSpPr>
          <p:nvPr>
            <p:ph type="body" idx="2"/>
          </p:nvPr>
        </p:nvSpPr>
        <p:spPr>
          <a:xfrm>
            <a:off x="2324100" y="800100"/>
            <a:ext cx="2019300" cy="2262900"/>
          </a:xfrm>
          <a:prstGeom prst="rect">
            <a:avLst/>
          </a:prstGeom>
          <a:noFill/>
          <a:ln>
            <a:noFill/>
          </a:ln>
        </p:spPr>
        <p:txBody>
          <a:bodyPr spcFirstLastPara="1" wrap="square" lIns="45725" tIns="22850" rIns="45725" bIns="22850" anchor="t" anchorCtr="0">
            <a:normAutofit/>
          </a:bodyPr>
          <a:lstStyle>
            <a:lvl1pPr marL="457200" lvl="0" indent="-317500" algn="l">
              <a:spcBef>
                <a:spcPts val="300"/>
              </a:spcBef>
              <a:spcAft>
                <a:spcPts val="0"/>
              </a:spcAft>
              <a:buClr>
                <a:schemeClr val="dk1"/>
              </a:buClr>
              <a:buSzPts val="1400"/>
              <a:buChar char="•"/>
              <a:defRPr sz="1400"/>
            </a:lvl1pPr>
            <a:lvl2pPr marL="914400" lvl="1" indent="-304800" algn="l">
              <a:spcBef>
                <a:spcPts val="200"/>
              </a:spcBef>
              <a:spcAft>
                <a:spcPts val="0"/>
              </a:spcAft>
              <a:buClr>
                <a:schemeClr val="dk1"/>
              </a:buClr>
              <a:buSzPts val="1200"/>
              <a:buChar char="–"/>
              <a:defRPr sz="1200"/>
            </a:lvl2pPr>
            <a:lvl3pPr marL="1371600" lvl="2" indent="-292100" algn="l">
              <a:spcBef>
                <a:spcPts val="200"/>
              </a:spcBef>
              <a:spcAft>
                <a:spcPts val="0"/>
              </a:spcAft>
              <a:buClr>
                <a:schemeClr val="dk1"/>
              </a:buClr>
              <a:buSzPts val="1000"/>
              <a:buChar char="•"/>
              <a:defRPr sz="1000"/>
            </a:lvl3pPr>
            <a:lvl4pPr marL="1828800" lvl="3" indent="-285750" algn="l">
              <a:spcBef>
                <a:spcPts val="200"/>
              </a:spcBef>
              <a:spcAft>
                <a:spcPts val="0"/>
              </a:spcAft>
              <a:buClr>
                <a:schemeClr val="dk1"/>
              </a:buClr>
              <a:buSzPts val="900"/>
              <a:buChar char="–"/>
              <a:defRPr sz="900"/>
            </a:lvl4pPr>
            <a:lvl5pPr marL="2286000" lvl="4" indent="-285750" algn="l">
              <a:spcBef>
                <a:spcPts val="200"/>
              </a:spcBef>
              <a:spcAft>
                <a:spcPts val="0"/>
              </a:spcAft>
              <a:buClr>
                <a:schemeClr val="dk1"/>
              </a:buClr>
              <a:buSzPts val="900"/>
              <a:buChar char="»"/>
              <a:defRPr sz="900"/>
            </a:lvl5pPr>
            <a:lvl6pPr marL="2743200" lvl="5" indent="-285750" algn="l">
              <a:spcBef>
                <a:spcPts val="200"/>
              </a:spcBef>
              <a:spcAft>
                <a:spcPts val="0"/>
              </a:spcAft>
              <a:buClr>
                <a:schemeClr val="dk1"/>
              </a:buClr>
              <a:buSzPts val="900"/>
              <a:buChar char="•"/>
              <a:defRPr sz="900"/>
            </a:lvl6pPr>
            <a:lvl7pPr marL="3200400" lvl="6" indent="-285750" algn="l">
              <a:spcBef>
                <a:spcPts val="200"/>
              </a:spcBef>
              <a:spcAft>
                <a:spcPts val="0"/>
              </a:spcAft>
              <a:buClr>
                <a:schemeClr val="dk1"/>
              </a:buClr>
              <a:buSzPts val="900"/>
              <a:buChar char="•"/>
              <a:defRPr sz="900"/>
            </a:lvl7pPr>
            <a:lvl8pPr marL="3657600" lvl="7" indent="-285750" algn="l">
              <a:spcBef>
                <a:spcPts val="200"/>
              </a:spcBef>
              <a:spcAft>
                <a:spcPts val="0"/>
              </a:spcAft>
              <a:buClr>
                <a:schemeClr val="dk1"/>
              </a:buClr>
              <a:buSzPts val="900"/>
              <a:buChar char="•"/>
              <a:defRPr sz="900"/>
            </a:lvl8pPr>
            <a:lvl9pPr marL="4114800" lvl="8" indent="-285750" algn="l">
              <a:spcBef>
                <a:spcPts val="200"/>
              </a:spcBef>
              <a:spcAft>
                <a:spcPts val="0"/>
              </a:spcAft>
              <a:buClr>
                <a:schemeClr val="dk1"/>
              </a:buClr>
              <a:buSzPts val="900"/>
              <a:buChar char="•"/>
              <a:defRPr sz="900"/>
            </a:lvl9pPr>
          </a:lstStyle>
          <a:p>
            <a:endParaRPr/>
          </a:p>
        </p:txBody>
      </p:sp>
      <p:sp>
        <p:nvSpPr>
          <p:cNvPr id="43" name="Google Shape;43;g3e8969c066b_83_177"/>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44" name="Google Shape;44;g3e8969c066b_83_177"/>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45" name="Google Shape;45;g3e8969c066b_83_177"/>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
        <p:cNvGrpSpPr/>
        <p:nvPr/>
      </p:nvGrpSpPr>
      <p:grpSpPr>
        <a:xfrm>
          <a:off x="0" y="0"/>
          <a:ext cx="0" cy="0"/>
          <a:chOff x="0" y="0"/>
          <a:chExt cx="0" cy="0"/>
        </a:xfrm>
      </p:grpSpPr>
      <p:sp>
        <p:nvSpPr>
          <p:cNvPr id="47" name="Google Shape;47;g3e8969c066b_83_184"/>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2200"/>
              <a:buFont typeface="Calibri"/>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48" name="Google Shape;48;g3e8969c066b_83_184"/>
          <p:cNvSpPr txBox="1">
            <a:spLocks noGrp="1"/>
          </p:cNvSpPr>
          <p:nvPr>
            <p:ph type="body" idx="1"/>
          </p:nvPr>
        </p:nvSpPr>
        <p:spPr>
          <a:xfrm>
            <a:off x="228600" y="767556"/>
            <a:ext cx="2020200" cy="319800"/>
          </a:xfrm>
          <a:prstGeom prst="rect">
            <a:avLst/>
          </a:prstGeom>
          <a:noFill/>
          <a:ln>
            <a:noFill/>
          </a:ln>
        </p:spPr>
        <p:txBody>
          <a:bodyPr spcFirstLastPara="1" wrap="square" lIns="45725" tIns="22850" rIns="45725" bIns="22850" anchor="b" anchorCtr="0">
            <a:normAutofit/>
          </a:bodyPr>
          <a:lstStyle>
            <a:lvl1pPr marL="457200" lvl="0" indent="-228600" algn="l">
              <a:spcBef>
                <a:spcPts val="200"/>
              </a:spcBef>
              <a:spcAft>
                <a:spcPts val="0"/>
              </a:spcAft>
              <a:buClr>
                <a:schemeClr val="dk1"/>
              </a:buClr>
              <a:buSzPts val="1200"/>
              <a:buNone/>
              <a:defRPr sz="1200" b="1"/>
            </a:lvl1pPr>
            <a:lvl2pPr marL="914400" lvl="1" indent="-228600" algn="l">
              <a:spcBef>
                <a:spcPts val="200"/>
              </a:spcBef>
              <a:spcAft>
                <a:spcPts val="0"/>
              </a:spcAft>
              <a:buClr>
                <a:schemeClr val="dk1"/>
              </a:buClr>
              <a:buSzPts val="1000"/>
              <a:buNone/>
              <a:defRPr sz="1000" b="1"/>
            </a:lvl2pPr>
            <a:lvl3pPr marL="1371600" lvl="2" indent="-228600" algn="l">
              <a:spcBef>
                <a:spcPts val="200"/>
              </a:spcBef>
              <a:spcAft>
                <a:spcPts val="0"/>
              </a:spcAft>
              <a:buClr>
                <a:schemeClr val="dk1"/>
              </a:buClr>
              <a:buSzPts val="900"/>
              <a:buNone/>
              <a:defRPr sz="900" b="1"/>
            </a:lvl3pPr>
            <a:lvl4pPr marL="1828800" lvl="3" indent="-228600" algn="l">
              <a:spcBef>
                <a:spcPts val="200"/>
              </a:spcBef>
              <a:spcAft>
                <a:spcPts val="0"/>
              </a:spcAft>
              <a:buClr>
                <a:schemeClr val="dk1"/>
              </a:buClr>
              <a:buSzPts val="800"/>
              <a:buNone/>
              <a:defRPr sz="800" b="1"/>
            </a:lvl4pPr>
            <a:lvl5pPr marL="2286000" lvl="4" indent="-228600" algn="l">
              <a:spcBef>
                <a:spcPts val="200"/>
              </a:spcBef>
              <a:spcAft>
                <a:spcPts val="0"/>
              </a:spcAft>
              <a:buClr>
                <a:schemeClr val="dk1"/>
              </a:buClr>
              <a:buSzPts val="800"/>
              <a:buNone/>
              <a:defRPr sz="800" b="1"/>
            </a:lvl5pPr>
            <a:lvl6pPr marL="2743200" lvl="5" indent="-228600" algn="l">
              <a:spcBef>
                <a:spcPts val="200"/>
              </a:spcBef>
              <a:spcAft>
                <a:spcPts val="0"/>
              </a:spcAft>
              <a:buClr>
                <a:schemeClr val="dk1"/>
              </a:buClr>
              <a:buSzPts val="800"/>
              <a:buNone/>
              <a:defRPr sz="800" b="1"/>
            </a:lvl6pPr>
            <a:lvl7pPr marL="3200400" lvl="6" indent="-228600" algn="l">
              <a:spcBef>
                <a:spcPts val="200"/>
              </a:spcBef>
              <a:spcAft>
                <a:spcPts val="0"/>
              </a:spcAft>
              <a:buClr>
                <a:schemeClr val="dk1"/>
              </a:buClr>
              <a:buSzPts val="800"/>
              <a:buNone/>
              <a:defRPr sz="800" b="1"/>
            </a:lvl7pPr>
            <a:lvl8pPr marL="3657600" lvl="7" indent="-228600" algn="l">
              <a:spcBef>
                <a:spcPts val="200"/>
              </a:spcBef>
              <a:spcAft>
                <a:spcPts val="0"/>
              </a:spcAft>
              <a:buClr>
                <a:schemeClr val="dk1"/>
              </a:buClr>
              <a:buSzPts val="800"/>
              <a:buNone/>
              <a:defRPr sz="800" b="1"/>
            </a:lvl8pPr>
            <a:lvl9pPr marL="4114800" lvl="8" indent="-228600" algn="l">
              <a:spcBef>
                <a:spcPts val="200"/>
              </a:spcBef>
              <a:spcAft>
                <a:spcPts val="0"/>
              </a:spcAft>
              <a:buClr>
                <a:schemeClr val="dk1"/>
              </a:buClr>
              <a:buSzPts val="800"/>
              <a:buNone/>
              <a:defRPr sz="800" b="1"/>
            </a:lvl9pPr>
          </a:lstStyle>
          <a:p>
            <a:endParaRPr/>
          </a:p>
        </p:txBody>
      </p:sp>
      <p:sp>
        <p:nvSpPr>
          <p:cNvPr id="49" name="Google Shape;49;g3e8969c066b_83_184"/>
          <p:cNvSpPr txBox="1">
            <a:spLocks noGrp="1"/>
          </p:cNvSpPr>
          <p:nvPr>
            <p:ph type="body" idx="2"/>
          </p:nvPr>
        </p:nvSpPr>
        <p:spPr>
          <a:xfrm>
            <a:off x="228600" y="1087438"/>
            <a:ext cx="2020200" cy="1975500"/>
          </a:xfrm>
          <a:prstGeom prst="rect">
            <a:avLst/>
          </a:prstGeom>
          <a:noFill/>
          <a:ln>
            <a:noFill/>
          </a:ln>
        </p:spPr>
        <p:txBody>
          <a:bodyPr spcFirstLastPara="1" wrap="square" lIns="45725" tIns="22850" rIns="45725" bIns="22850" anchor="t" anchorCtr="0">
            <a:normAutofit/>
          </a:bodyPr>
          <a:lstStyle>
            <a:lvl1pPr marL="457200" lvl="0" indent="-304800" algn="l">
              <a:spcBef>
                <a:spcPts val="200"/>
              </a:spcBef>
              <a:spcAft>
                <a:spcPts val="0"/>
              </a:spcAft>
              <a:buClr>
                <a:schemeClr val="dk1"/>
              </a:buClr>
              <a:buSzPts val="1200"/>
              <a:buChar char="•"/>
              <a:defRPr sz="1200"/>
            </a:lvl1pPr>
            <a:lvl2pPr marL="914400" lvl="1" indent="-292100" algn="l">
              <a:spcBef>
                <a:spcPts val="200"/>
              </a:spcBef>
              <a:spcAft>
                <a:spcPts val="0"/>
              </a:spcAft>
              <a:buClr>
                <a:schemeClr val="dk1"/>
              </a:buClr>
              <a:buSzPts val="1000"/>
              <a:buChar char="–"/>
              <a:defRPr sz="1000"/>
            </a:lvl2pPr>
            <a:lvl3pPr marL="1371600" lvl="2" indent="-285750" algn="l">
              <a:spcBef>
                <a:spcPts val="200"/>
              </a:spcBef>
              <a:spcAft>
                <a:spcPts val="0"/>
              </a:spcAft>
              <a:buClr>
                <a:schemeClr val="dk1"/>
              </a:buClr>
              <a:buSzPts val="900"/>
              <a:buChar char="•"/>
              <a:defRPr sz="900"/>
            </a:lvl3pPr>
            <a:lvl4pPr marL="1828800" lvl="3" indent="-279400" algn="l">
              <a:spcBef>
                <a:spcPts val="200"/>
              </a:spcBef>
              <a:spcAft>
                <a:spcPts val="0"/>
              </a:spcAft>
              <a:buClr>
                <a:schemeClr val="dk1"/>
              </a:buClr>
              <a:buSzPts val="800"/>
              <a:buChar char="–"/>
              <a:defRPr sz="800"/>
            </a:lvl4pPr>
            <a:lvl5pPr marL="2286000" lvl="4" indent="-279400" algn="l">
              <a:spcBef>
                <a:spcPts val="200"/>
              </a:spcBef>
              <a:spcAft>
                <a:spcPts val="0"/>
              </a:spcAft>
              <a:buClr>
                <a:schemeClr val="dk1"/>
              </a:buClr>
              <a:buSzPts val="800"/>
              <a:buChar char="»"/>
              <a:defRPr sz="800"/>
            </a:lvl5pPr>
            <a:lvl6pPr marL="2743200" lvl="5" indent="-279400" algn="l">
              <a:spcBef>
                <a:spcPts val="200"/>
              </a:spcBef>
              <a:spcAft>
                <a:spcPts val="0"/>
              </a:spcAft>
              <a:buClr>
                <a:schemeClr val="dk1"/>
              </a:buClr>
              <a:buSzPts val="800"/>
              <a:buChar char="•"/>
              <a:defRPr sz="800"/>
            </a:lvl6pPr>
            <a:lvl7pPr marL="3200400" lvl="6" indent="-279400" algn="l">
              <a:spcBef>
                <a:spcPts val="200"/>
              </a:spcBef>
              <a:spcAft>
                <a:spcPts val="0"/>
              </a:spcAft>
              <a:buClr>
                <a:schemeClr val="dk1"/>
              </a:buClr>
              <a:buSzPts val="800"/>
              <a:buChar char="•"/>
              <a:defRPr sz="800"/>
            </a:lvl7pPr>
            <a:lvl8pPr marL="3657600" lvl="7" indent="-279400" algn="l">
              <a:spcBef>
                <a:spcPts val="200"/>
              </a:spcBef>
              <a:spcAft>
                <a:spcPts val="0"/>
              </a:spcAft>
              <a:buClr>
                <a:schemeClr val="dk1"/>
              </a:buClr>
              <a:buSzPts val="800"/>
              <a:buChar char="•"/>
              <a:defRPr sz="800"/>
            </a:lvl8pPr>
            <a:lvl9pPr marL="4114800" lvl="8" indent="-279400" algn="l">
              <a:spcBef>
                <a:spcPts val="200"/>
              </a:spcBef>
              <a:spcAft>
                <a:spcPts val="0"/>
              </a:spcAft>
              <a:buClr>
                <a:schemeClr val="dk1"/>
              </a:buClr>
              <a:buSzPts val="800"/>
              <a:buChar char="•"/>
              <a:defRPr sz="800"/>
            </a:lvl9pPr>
          </a:lstStyle>
          <a:p>
            <a:endParaRPr/>
          </a:p>
        </p:txBody>
      </p:sp>
      <p:sp>
        <p:nvSpPr>
          <p:cNvPr id="50" name="Google Shape;50;g3e8969c066b_83_184"/>
          <p:cNvSpPr txBox="1">
            <a:spLocks noGrp="1"/>
          </p:cNvSpPr>
          <p:nvPr>
            <p:ph type="body" idx="3"/>
          </p:nvPr>
        </p:nvSpPr>
        <p:spPr>
          <a:xfrm>
            <a:off x="2322513" y="767556"/>
            <a:ext cx="2020800" cy="319800"/>
          </a:xfrm>
          <a:prstGeom prst="rect">
            <a:avLst/>
          </a:prstGeom>
          <a:noFill/>
          <a:ln>
            <a:noFill/>
          </a:ln>
        </p:spPr>
        <p:txBody>
          <a:bodyPr spcFirstLastPara="1" wrap="square" lIns="45725" tIns="22850" rIns="45725" bIns="22850" anchor="b" anchorCtr="0">
            <a:normAutofit/>
          </a:bodyPr>
          <a:lstStyle>
            <a:lvl1pPr marL="457200" lvl="0" indent="-228600" algn="l">
              <a:spcBef>
                <a:spcPts val="200"/>
              </a:spcBef>
              <a:spcAft>
                <a:spcPts val="0"/>
              </a:spcAft>
              <a:buClr>
                <a:schemeClr val="dk1"/>
              </a:buClr>
              <a:buSzPts val="1200"/>
              <a:buNone/>
              <a:defRPr sz="1200" b="1"/>
            </a:lvl1pPr>
            <a:lvl2pPr marL="914400" lvl="1" indent="-228600" algn="l">
              <a:spcBef>
                <a:spcPts val="200"/>
              </a:spcBef>
              <a:spcAft>
                <a:spcPts val="0"/>
              </a:spcAft>
              <a:buClr>
                <a:schemeClr val="dk1"/>
              </a:buClr>
              <a:buSzPts val="1000"/>
              <a:buNone/>
              <a:defRPr sz="1000" b="1"/>
            </a:lvl2pPr>
            <a:lvl3pPr marL="1371600" lvl="2" indent="-228600" algn="l">
              <a:spcBef>
                <a:spcPts val="200"/>
              </a:spcBef>
              <a:spcAft>
                <a:spcPts val="0"/>
              </a:spcAft>
              <a:buClr>
                <a:schemeClr val="dk1"/>
              </a:buClr>
              <a:buSzPts val="900"/>
              <a:buNone/>
              <a:defRPr sz="900" b="1"/>
            </a:lvl3pPr>
            <a:lvl4pPr marL="1828800" lvl="3" indent="-228600" algn="l">
              <a:spcBef>
                <a:spcPts val="200"/>
              </a:spcBef>
              <a:spcAft>
                <a:spcPts val="0"/>
              </a:spcAft>
              <a:buClr>
                <a:schemeClr val="dk1"/>
              </a:buClr>
              <a:buSzPts val="800"/>
              <a:buNone/>
              <a:defRPr sz="800" b="1"/>
            </a:lvl4pPr>
            <a:lvl5pPr marL="2286000" lvl="4" indent="-228600" algn="l">
              <a:spcBef>
                <a:spcPts val="200"/>
              </a:spcBef>
              <a:spcAft>
                <a:spcPts val="0"/>
              </a:spcAft>
              <a:buClr>
                <a:schemeClr val="dk1"/>
              </a:buClr>
              <a:buSzPts val="800"/>
              <a:buNone/>
              <a:defRPr sz="800" b="1"/>
            </a:lvl5pPr>
            <a:lvl6pPr marL="2743200" lvl="5" indent="-228600" algn="l">
              <a:spcBef>
                <a:spcPts val="200"/>
              </a:spcBef>
              <a:spcAft>
                <a:spcPts val="0"/>
              </a:spcAft>
              <a:buClr>
                <a:schemeClr val="dk1"/>
              </a:buClr>
              <a:buSzPts val="800"/>
              <a:buNone/>
              <a:defRPr sz="800" b="1"/>
            </a:lvl6pPr>
            <a:lvl7pPr marL="3200400" lvl="6" indent="-228600" algn="l">
              <a:spcBef>
                <a:spcPts val="200"/>
              </a:spcBef>
              <a:spcAft>
                <a:spcPts val="0"/>
              </a:spcAft>
              <a:buClr>
                <a:schemeClr val="dk1"/>
              </a:buClr>
              <a:buSzPts val="800"/>
              <a:buNone/>
              <a:defRPr sz="800" b="1"/>
            </a:lvl7pPr>
            <a:lvl8pPr marL="3657600" lvl="7" indent="-228600" algn="l">
              <a:spcBef>
                <a:spcPts val="200"/>
              </a:spcBef>
              <a:spcAft>
                <a:spcPts val="0"/>
              </a:spcAft>
              <a:buClr>
                <a:schemeClr val="dk1"/>
              </a:buClr>
              <a:buSzPts val="800"/>
              <a:buNone/>
              <a:defRPr sz="800" b="1"/>
            </a:lvl8pPr>
            <a:lvl9pPr marL="4114800" lvl="8" indent="-228600" algn="l">
              <a:spcBef>
                <a:spcPts val="200"/>
              </a:spcBef>
              <a:spcAft>
                <a:spcPts val="0"/>
              </a:spcAft>
              <a:buClr>
                <a:schemeClr val="dk1"/>
              </a:buClr>
              <a:buSzPts val="800"/>
              <a:buNone/>
              <a:defRPr sz="800" b="1"/>
            </a:lvl9pPr>
          </a:lstStyle>
          <a:p>
            <a:endParaRPr/>
          </a:p>
        </p:txBody>
      </p:sp>
      <p:sp>
        <p:nvSpPr>
          <p:cNvPr id="51" name="Google Shape;51;g3e8969c066b_83_184"/>
          <p:cNvSpPr txBox="1">
            <a:spLocks noGrp="1"/>
          </p:cNvSpPr>
          <p:nvPr>
            <p:ph type="body" idx="4"/>
          </p:nvPr>
        </p:nvSpPr>
        <p:spPr>
          <a:xfrm>
            <a:off x="2322513" y="1087438"/>
            <a:ext cx="2020800" cy="1975500"/>
          </a:xfrm>
          <a:prstGeom prst="rect">
            <a:avLst/>
          </a:prstGeom>
          <a:noFill/>
          <a:ln>
            <a:noFill/>
          </a:ln>
        </p:spPr>
        <p:txBody>
          <a:bodyPr spcFirstLastPara="1" wrap="square" lIns="45725" tIns="22850" rIns="45725" bIns="22850" anchor="t" anchorCtr="0">
            <a:normAutofit/>
          </a:bodyPr>
          <a:lstStyle>
            <a:lvl1pPr marL="457200" lvl="0" indent="-304800" algn="l">
              <a:spcBef>
                <a:spcPts val="200"/>
              </a:spcBef>
              <a:spcAft>
                <a:spcPts val="0"/>
              </a:spcAft>
              <a:buClr>
                <a:schemeClr val="dk1"/>
              </a:buClr>
              <a:buSzPts val="1200"/>
              <a:buChar char="•"/>
              <a:defRPr sz="1200"/>
            </a:lvl1pPr>
            <a:lvl2pPr marL="914400" lvl="1" indent="-292100" algn="l">
              <a:spcBef>
                <a:spcPts val="200"/>
              </a:spcBef>
              <a:spcAft>
                <a:spcPts val="0"/>
              </a:spcAft>
              <a:buClr>
                <a:schemeClr val="dk1"/>
              </a:buClr>
              <a:buSzPts val="1000"/>
              <a:buChar char="–"/>
              <a:defRPr sz="1000"/>
            </a:lvl2pPr>
            <a:lvl3pPr marL="1371600" lvl="2" indent="-285750" algn="l">
              <a:spcBef>
                <a:spcPts val="200"/>
              </a:spcBef>
              <a:spcAft>
                <a:spcPts val="0"/>
              </a:spcAft>
              <a:buClr>
                <a:schemeClr val="dk1"/>
              </a:buClr>
              <a:buSzPts val="900"/>
              <a:buChar char="•"/>
              <a:defRPr sz="900"/>
            </a:lvl3pPr>
            <a:lvl4pPr marL="1828800" lvl="3" indent="-279400" algn="l">
              <a:spcBef>
                <a:spcPts val="200"/>
              </a:spcBef>
              <a:spcAft>
                <a:spcPts val="0"/>
              </a:spcAft>
              <a:buClr>
                <a:schemeClr val="dk1"/>
              </a:buClr>
              <a:buSzPts val="800"/>
              <a:buChar char="–"/>
              <a:defRPr sz="800"/>
            </a:lvl4pPr>
            <a:lvl5pPr marL="2286000" lvl="4" indent="-279400" algn="l">
              <a:spcBef>
                <a:spcPts val="200"/>
              </a:spcBef>
              <a:spcAft>
                <a:spcPts val="0"/>
              </a:spcAft>
              <a:buClr>
                <a:schemeClr val="dk1"/>
              </a:buClr>
              <a:buSzPts val="800"/>
              <a:buChar char="»"/>
              <a:defRPr sz="800"/>
            </a:lvl5pPr>
            <a:lvl6pPr marL="2743200" lvl="5" indent="-279400" algn="l">
              <a:spcBef>
                <a:spcPts val="200"/>
              </a:spcBef>
              <a:spcAft>
                <a:spcPts val="0"/>
              </a:spcAft>
              <a:buClr>
                <a:schemeClr val="dk1"/>
              </a:buClr>
              <a:buSzPts val="800"/>
              <a:buChar char="•"/>
              <a:defRPr sz="800"/>
            </a:lvl6pPr>
            <a:lvl7pPr marL="3200400" lvl="6" indent="-279400" algn="l">
              <a:spcBef>
                <a:spcPts val="200"/>
              </a:spcBef>
              <a:spcAft>
                <a:spcPts val="0"/>
              </a:spcAft>
              <a:buClr>
                <a:schemeClr val="dk1"/>
              </a:buClr>
              <a:buSzPts val="800"/>
              <a:buChar char="•"/>
              <a:defRPr sz="800"/>
            </a:lvl7pPr>
            <a:lvl8pPr marL="3657600" lvl="7" indent="-279400" algn="l">
              <a:spcBef>
                <a:spcPts val="200"/>
              </a:spcBef>
              <a:spcAft>
                <a:spcPts val="0"/>
              </a:spcAft>
              <a:buClr>
                <a:schemeClr val="dk1"/>
              </a:buClr>
              <a:buSzPts val="800"/>
              <a:buChar char="•"/>
              <a:defRPr sz="800"/>
            </a:lvl8pPr>
            <a:lvl9pPr marL="4114800" lvl="8" indent="-279400" algn="l">
              <a:spcBef>
                <a:spcPts val="200"/>
              </a:spcBef>
              <a:spcAft>
                <a:spcPts val="0"/>
              </a:spcAft>
              <a:buClr>
                <a:schemeClr val="dk1"/>
              </a:buClr>
              <a:buSzPts val="800"/>
              <a:buChar char="•"/>
              <a:defRPr sz="800"/>
            </a:lvl9pPr>
          </a:lstStyle>
          <a:p>
            <a:endParaRPr/>
          </a:p>
        </p:txBody>
      </p:sp>
      <p:sp>
        <p:nvSpPr>
          <p:cNvPr id="52" name="Google Shape;52;g3e8969c066b_83_184"/>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53" name="Google Shape;53;g3e8969c066b_83_184"/>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54" name="Google Shape;54;g3e8969c066b_83_184"/>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5"/>
        <p:cNvGrpSpPr/>
        <p:nvPr/>
      </p:nvGrpSpPr>
      <p:grpSpPr>
        <a:xfrm>
          <a:off x="0" y="0"/>
          <a:ext cx="0" cy="0"/>
          <a:chOff x="0" y="0"/>
          <a:chExt cx="0" cy="0"/>
        </a:xfrm>
      </p:grpSpPr>
      <p:sp>
        <p:nvSpPr>
          <p:cNvPr id="56" name="Google Shape;56;g3e8969c066b_83_193"/>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57" name="Google Shape;57;g3e8969c066b_83_193"/>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58" name="Google Shape;58;g3e8969c066b_83_193"/>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59" name="Google Shape;59;g3e8969c066b_83_193"/>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g3e8969c066b_83_198"/>
          <p:cNvSpPr txBox="1">
            <a:spLocks noGrp="1"/>
          </p:cNvSpPr>
          <p:nvPr>
            <p:ph type="title"/>
          </p:nvPr>
        </p:nvSpPr>
        <p:spPr>
          <a:xfrm>
            <a:off x="228600" y="136525"/>
            <a:ext cx="1504200" cy="581100"/>
          </a:xfrm>
          <a:prstGeom prst="rect">
            <a:avLst/>
          </a:prstGeom>
          <a:noFill/>
          <a:ln>
            <a:noFill/>
          </a:ln>
        </p:spPr>
        <p:txBody>
          <a:bodyPr spcFirstLastPara="1" wrap="square" lIns="45725" tIns="22850" rIns="45725" bIns="22850" anchor="b" anchorCtr="0">
            <a:normAutofit/>
          </a:bodyPr>
          <a:lstStyle>
            <a:lvl1pPr lvl="0" algn="l">
              <a:spcBef>
                <a:spcPts val="0"/>
              </a:spcBef>
              <a:spcAft>
                <a:spcPts val="0"/>
              </a:spcAft>
              <a:buClr>
                <a:schemeClr val="dk1"/>
              </a:buClr>
              <a:buSzPts val="1000"/>
              <a:buFont typeface="Calibri"/>
              <a:buNone/>
              <a:defRPr sz="1000" b="1"/>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62" name="Google Shape;62;g3e8969c066b_83_198"/>
          <p:cNvSpPr txBox="1">
            <a:spLocks noGrp="1"/>
          </p:cNvSpPr>
          <p:nvPr>
            <p:ph type="body" idx="1"/>
          </p:nvPr>
        </p:nvSpPr>
        <p:spPr>
          <a:xfrm>
            <a:off x="1787525" y="136525"/>
            <a:ext cx="2556000" cy="2926500"/>
          </a:xfrm>
          <a:prstGeom prst="rect">
            <a:avLst/>
          </a:prstGeom>
          <a:noFill/>
          <a:ln>
            <a:noFill/>
          </a:ln>
        </p:spPr>
        <p:txBody>
          <a:bodyPr spcFirstLastPara="1" wrap="square" lIns="45725" tIns="22850" rIns="45725" bIns="22850" anchor="t" anchorCtr="0">
            <a:normAutofit/>
          </a:bodyPr>
          <a:lstStyle>
            <a:lvl1pPr marL="457200" lvl="0" indent="-330200" algn="l">
              <a:spcBef>
                <a:spcPts val="300"/>
              </a:spcBef>
              <a:spcAft>
                <a:spcPts val="0"/>
              </a:spcAft>
              <a:buClr>
                <a:schemeClr val="dk1"/>
              </a:buClr>
              <a:buSzPts val="1600"/>
              <a:buChar char="•"/>
              <a:defRPr sz="1600"/>
            </a:lvl1pPr>
            <a:lvl2pPr marL="914400" lvl="1" indent="-317500" algn="l">
              <a:spcBef>
                <a:spcPts val="300"/>
              </a:spcBef>
              <a:spcAft>
                <a:spcPts val="0"/>
              </a:spcAft>
              <a:buClr>
                <a:schemeClr val="dk1"/>
              </a:buClr>
              <a:buSzPts val="1400"/>
              <a:buChar char="–"/>
              <a:defRPr sz="1400"/>
            </a:lvl2pPr>
            <a:lvl3pPr marL="1371600" lvl="2" indent="-304800" algn="l">
              <a:spcBef>
                <a:spcPts val="200"/>
              </a:spcBef>
              <a:spcAft>
                <a:spcPts val="0"/>
              </a:spcAft>
              <a:buClr>
                <a:schemeClr val="dk1"/>
              </a:buClr>
              <a:buSzPts val="1200"/>
              <a:buChar char="•"/>
              <a:defRPr sz="1200"/>
            </a:lvl3pPr>
            <a:lvl4pPr marL="1828800" lvl="3" indent="-292100" algn="l">
              <a:spcBef>
                <a:spcPts val="200"/>
              </a:spcBef>
              <a:spcAft>
                <a:spcPts val="0"/>
              </a:spcAft>
              <a:buClr>
                <a:schemeClr val="dk1"/>
              </a:buClr>
              <a:buSzPts val="1000"/>
              <a:buChar char="–"/>
              <a:defRPr sz="1000"/>
            </a:lvl4pPr>
            <a:lvl5pPr marL="2286000" lvl="4" indent="-292100" algn="l">
              <a:spcBef>
                <a:spcPts val="200"/>
              </a:spcBef>
              <a:spcAft>
                <a:spcPts val="0"/>
              </a:spcAft>
              <a:buClr>
                <a:schemeClr val="dk1"/>
              </a:buClr>
              <a:buSzPts val="1000"/>
              <a:buChar char="»"/>
              <a:defRPr sz="1000"/>
            </a:lvl5pPr>
            <a:lvl6pPr marL="2743200" lvl="5" indent="-292100" algn="l">
              <a:spcBef>
                <a:spcPts val="200"/>
              </a:spcBef>
              <a:spcAft>
                <a:spcPts val="0"/>
              </a:spcAft>
              <a:buClr>
                <a:schemeClr val="dk1"/>
              </a:buClr>
              <a:buSzPts val="1000"/>
              <a:buChar char="•"/>
              <a:defRPr sz="1000"/>
            </a:lvl6pPr>
            <a:lvl7pPr marL="3200400" lvl="6" indent="-292100" algn="l">
              <a:spcBef>
                <a:spcPts val="200"/>
              </a:spcBef>
              <a:spcAft>
                <a:spcPts val="0"/>
              </a:spcAft>
              <a:buClr>
                <a:schemeClr val="dk1"/>
              </a:buClr>
              <a:buSzPts val="1000"/>
              <a:buChar char="•"/>
              <a:defRPr sz="1000"/>
            </a:lvl7pPr>
            <a:lvl8pPr marL="3657600" lvl="7" indent="-292100" algn="l">
              <a:spcBef>
                <a:spcPts val="200"/>
              </a:spcBef>
              <a:spcAft>
                <a:spcPts val="0"/>
              </a:spcAft>
              <a:buClr>
                <a:schemeClr val="dk1"/>
              </a:buClr>
              <a:buSzPts val="1000"/>
              <a:buChar char="•"/>
              <a:defRPr sz="1000"/>
            </a:lvl8pPr>
            <a:lvl9pPr marL="4114800" lvl="8" indent="-292100" algn="l">
              <a:spcBef>
                <a:spcPts val="200"/>
              </a:spcBef>
              <a:spcAft>
                <a:spcPts val="0"/>
              </a:spcAft>
              <a:buClr>
                <a:schemeClr val="dk1"/>
              </a:buClr>
              <a:buSzPts val="1000"/>
              <a:buChar char="•"/>
              <a:defRPr sz="1000"/>
            </a:lvl9pPr>
          </a:lstStyle>
          <a:p>
            <a:endParaRPr/>
          </a:p>
        </p:txBody>
      </p:sp>
      <p:sp>
        <p:nvSpPr>
          <p:cNvPr id="63" name="Google Shape;63;g3e8969c066b_83_198"/>
          <p:cNvSpPr txBox="1">
            <a:spLocks noGrp="1"/>
          </p:cNvSpPr>
          <p:nvPr>
            <p:ph type="body" idx="2"/>
          </p:nvPr>
        </p:nvSpPr>
        <p:spPr>
          <a:xfrm>
            <a:off x="228600" y="717550"/>
            <a:ext cx="1504200" cy="2345400"/>
          </a:xfrm>
          <a:prstGeom prst="rect">
            <a:avLst/>
          </a:prstGeom>
          <a:noFill/>
          <a:ln>
            <a:noFill/>
          </a:ln>
        </p:spPr>
        <p:txBody>
          <a:bodyPr spcFirstLastPara="1" wrap="square" lIns="45725" tIns="22850" rIns="45725" bIns="22850" anchor="t" anchorCtr="0">
            <a:normAutofit/>
          </a:bodyPr>
          <a:lstStyle>
            <a:lvl1pPr marL="457200" lvl="0" indent="-228600" algn="l">
              <a:spcBef>
                <a:spcPts val="100"/>
              </a:spcBef>
              <a:spcAft>
                <a:spcPts val="0"/>
              </a:spcAft>
              <a:buClr>
                <a:schemeClr val="dk1"/>
              </a:buClr>
              <a:buSzPts val="700"/>
              <a:buNone/>
              <a:defRPr sz="700"/>
            </a:lvl1pPr>
            <a:lvl2pPr marL="914400" lvl="1" indent="-228600" algn="l">
              <a:spcBef>
                <a:spcPts val="100"/>
              </a:spcBef>
              <a:spcAft>
                <a:spcPts val="0"/>
              </a:spcAft>
              <a:buClr>
                <a:schemeClr val="dk1"/>
              </a:buClr>
              <a:buSzPts val="600"/>
              <a:buNone/>
              <a:defRPr sz="600"/>
            </a:lvl2pPr>
            <a:lvl3pPr marL="1371600" lvl="2" indent="-228600" algn="l">
              <a:spcBef>
                <a:spcPts val="100"/>
              </a:spcBef>
              <a:spcAft>
                <a:spcPts val="0"/>
              </a:spcAft>
              <a:buClr>
                <a:schemeClr val="dk1"/>
              </a:buClr>
              <a:buSzPts val="500"/>
              <a:buNone/>
              <a:defRPr sz="500"/>
            </a:lvl3pPr>
            <a:lvl4pPr marL="1828800" lvl="3" indent="-228600" algn="l">
              <a:spcBef>
                <a:spcPts val="100"/>
              </a:spcBef>
              <a:spcAft>
                <a:spcPts val="0"/>
              </a:spcAft>
              <a:buClr>
                <a:schemeClr val="dk1"/>
              </a:buClr>
              <a:buSzPts val="500"/>
              <a:buNone/>
              <a:defRPr sz="500"/>
            </a:lvl4pPr>
            <a:lvl5pPr marL="2286000" lvl="4" indent="-228600" algn="l">
              <a:spcBef>
                <a:spcPts val="100"/>
              </a:spcBef>
              <a:spcAft>
                <a:spcPts val="0"/>
              </a:spcAft>
              <a:buClr>
                <a:schemeClr val="dk1"/>
              </a:buClr>
              <a:buSzPts val="500"/>
              <a:buNone/>
              <a:defRPr sz="500"/>
            </a:lvl5pPr>
            <a:lvl6pPr marL="2743200" lvl="5" indent="-228600" algn="l">
              <a:spcBef>
                <a:spcPts val="100"/>
              </a:spcBef>
              <a:spcAft>
                <a:spcPts val="0"/>
              </a:spcAft>
              <a:buClr>
                <a:schemeClr val="dk1"/>
              </a:buClr>
              <a:buSzPts val="500"/>
              <a:buNone/>
              <a:defRPr sz="500"/>
            </a:lvl6pPr>
            <a:lvl7pPr marL="3200400" lvl="6" indent="-228600" algn="l">
              <a:spcBef>
                <a:spcPts val="100"/>
              </a:spcBef>
              <a:spcAft>
                <a:spcPts val="0"/>
              </a:spcAft>
              <a:buClr>
                <a:schemeClr val="dk1"/>
              </a:buClr>
              <a:buSzPts val="500"/>
              <a:buNone/>
              <a:defRPr sz="500"/>
            </a:lvl7pPr>
            <a:lvl8pPr marL="3657600" lvl="7" indent="-228600" algn="l">
              <a:spcBef>
                <a:spcPts val="100"/>
              </a:spcBef>
              <a:spcAft>
                <a:spcPts val="0"/>
              </a:spcAft>
              <a:buClr>
                <a:schemeClr val="dk1"/>
              </a:buClr>
              <a:buSzPts val="500"/>
              <a:buNone/>
              <a:defRPr sz="500"/>
            </a:lvl8pPr>
            <a:lvl9pPr marL="4114800" lvl="8" indent="-228600" algn="l">
              <a:spcBef>
                <a:spcPts val="100"/>
              </a:spcBef>
              <a:spcAft>
                <a:spcPts val="0"/>
              </a:spcAft>
              <a:buClr>
                <a:schemeClr val="dk1"/>
              </a:buClr>
              <a:buSzPts val="500"/>
              <a:buNone/>
              <a:defRPr sz="500"/>
            </a:lvl9pPr>
          </a:lstStyle>
          <a:p>
            <a:endParaRPr/>
          </a:p>
        </p:txBody>
      </p:sp>
      <p:sp>
        <p:nvSpPr>
          <p:cNvPr id="64" name="Google Shape;64;g3e8969c066b_83_198"/>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65" name="Google Shape;65;g3e8969c066b_83_198"/>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66" name="Google Shape;66;g3e8969c066b_83_198"/>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g3e8969c066b_83_205"/>
          <p:cNvSpPr txBox="1">
            <a:spLocks noGrp="1"/>
          </p:cNvSpPr>
          <p:nvPr>
            <p:ph type="title"/>
          </p:nvPr>
        </p:nvSpPr>
        <p:spPr>
          <a:xfrm>
            <a:off x="896144" y="2400300"/>
            <a:ext cx="2743200" cy="283500"/>
          </a:xfrm>
          <a:prstGeom prst="rect">
            <a:avLst/>
          </a:prstGeom>
          <a:noFill/>
          <a:ln>
            <a:noFill/>
          </a:ln>
        </p:spPr>
        <p:txBody>
          <a:bodyPr spcFirstLastPara="1" wrap="square" lIns="45725" tIns="22850" rIns="45725" bIns="22850" anchor="b" anchorCtr="0">
            <a:normAutofit/>
          </a:bodyPr>
          <a:lstStyle>
            <a:lvl1pPr lvl="0" algn="l">
              <a:spcBef>
                <a:spcPts val="0"/>
              </a:spcBef>
              <a:spcAft>
                <a:spcPts val="0"/>
              </a:spcAft>
              <a:buClr>
                <a:schemeClr val="dk1"/>
              </a:buClr>
              <a:buSzPts val="1000"/>
              <a:buFont typeface="Calibri"/>
              <a:buNone/>
              <a:defRPr sz="1000" b="1"/>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69" name="Google Shape;69;g3e8969c066b_83_205"/>
          <p:cNvSpPr>
            <a:spLocks noGrp="1"/>
          </p:cNvSpPr>
          <p:nvPr>
            <p:ph type="pic" idx="2"/>
          </p:nvPr>
        </p:nvSpPr>
        <p:spPr>
          <a:xfrm>
            <a:off x="896144" y="306388"/>
            <a:ext cx="2743200" cy="2057400"/>
          </a:xfrm>
          <a:prstGeom prst="rect">
            <a:avLst/>
          </a:prstGeom>
          <a:noFill/>
          <a:ln>
            <a:noFill/>
          </a:ln>
        </p:spPr>
      </p:sp>
      <p:sp>
        <p:nvSpPr>
          <p:cNvPr id="70" name="Google Shape;70;g3e8969c066b_83_205"/>
          <p:cNvSpPr txBox="1">
            <a:spLocks noGrp="1"/>
          </p:cNvSpPr>
          <p:nvPr>
            <p:ph type="body" idx="1"/>
          </p:nvPr>
        </p:nvSpPr>
        <p:spPr>
          <a:xfrm>
            <a:off x="896144" y="2683669"/>
            <a:ext cx="2743200" cy="402300"/>
          </a:xfrm>
          <a:prstGeom prst="rect">
            <a:avLst/>
          </a:prstGeom>
          <a:noFill/>
          <a:ln>
            <a:noFill/>
          </a:ln>
        </p:spPr>
        <p:txBody>
          <a:bodyPr spcFirstLastPara="1" wrap="square" lIns="45725" tIns="22850" rIns="45725" bIns="22850" anchor="t" anchorCtr="0">
            <a:normAutofit/>
          </a:bodyPr>
          <a:lstStyle>
            <a:lvl1pPr marL="457200" lvl="0" indent="-228600" algn="l">
              <a:spcBef>
                <a:spcPts val="100"/>
              </a:spcBef>
              <a:spcAft>
                <a:spcPts val="0"/>
              </a:spcAft>
              <a:buClr>
                <a:schemeClr val="dk1"/>
              </a:buClr>
              <a:buSzPts val="700"/>
              <a:buNone/>
              <a:defRPr sz="700"/>
            </a:lvl1pPr>
            <a:lvl2pPr marL="914400" lvl="1" indent="-228600" algn="l">
              <a:spcBef>
                <a:spcPts val="100"/>
              </a:spcBef>
              <a:spcAft>
                <a:spcPts val="0"/>
              </a:spcAft>
              <a:buClr>
                <a:schemeClr val="dk1"/>
              </a:buClr>
              <a:buSzPts val="600"/>
              <a:buNone/>
              <a:defRPr sz="600"/>
            </a:lvl2pPr>
            <a:lvl3pPr marL="1371600" lvl="2" indent="-228600" algn="l">
              <a:spcBef>
                <a:spcPts val="100"/>
              </a:spcBef>
              <a:spcAft>
                <a:spcPts val="0"/>
              </a:spcAft>
              <a:buClr>
                <a:schemeClr val="dk1"/>
              </a:buClr>
              <a:buSzPts val="500"/>
              <a:buNone/>
              <a:defRPr sz="500"/>
            </a:lvl3pPr>
            <a:lvl4pPr marL="1828800" lvl="3" indent="-228600" algn="l">
              <a:spcBef>
                <a:spcPts val="100"/>
              </a:spcBef>
              <a:spcAft>
                <a:spcPts val="0"/>
              </a:spcAft>
              <a:buClr>
                <a:schemeClr val="dk1"/>
              </a:buClr>
              <a:buSzPts val="500"/>
              <a:buNone/>
              <a:defRPr sz="500"/>
            </a:lvl4pPr>
            <a:lvl5pPr marL="2286000" lvl="4" indent="-228600" algn="l">
              <a:spcBef>
                <a:spcPts val="100"/>
              </a:spcBef>
              <a:spcAft>
                <a:spcPts val="0"/>
              </a:spcAft>
              <a:buClr>
                <a:schemeClr val="dk1"/>
              </a:buClr>
              <a:buSzPts val="500"/>
              <a:buNone/>
              <a:defRPr sz="500"/>
            </a:lvl5pPr>
            <a:lvl6pPr marL="2743200" lvl="5" indent="-228600" algn="l">
              <a:spcBef>
                <a:spcPts val="100"/>
              </a:spcBef>
              <a:spcAft>
                <a:spcPts val="0"/>
              </a:spcAft>
              <a:buClr>
                <a:schemeClr val="dk1"/>
              </a:buClr>
              <a:buSzPts val="500"/>
              <a:buNone/>
              <a:defRPr sz="500"/>
            </a:lvl6pPr>
            <a:lvl7pPr marL="3200400" lvl="6" indent="-228600" algn="l">
              <a:spcBef>
                <a:spcPts val="100"/>
              </a:spcBef>
              <a:spcAft>
                <a:spcPts val="0"/>
              </a:spcAft>
              <a:buClr>
                <a:schemeClr val="dk1"/>
              </a:buClr>
              <a:buSzPts val="500"/>
              <a:buNone/>
              <a:defRPr sz="500"/>
            </a:lvl7pPr>
            <a:lvl8pPr marL="3657600" lvl="7" indent="-228600" algn="l">
              <a:spcBef>
                <a:spcPts val="100"/>
              </a:spcBef>
              <a:spcAft>
                <a:spcPts val="0"/>
              </a:spcAft>
              <a:buClr>
                <a:schemeClr val="dk1"/>
              </a:buClr>
              <a:buSzPts val="500"/>
              <a:buNone/>
              <a:defRPr sz="500"/>
            </a:lvl8pPr>
            <a:lvl9pPr marL="4114800" lvl="8" indent="-228600" algn="l">
              <a:spcBef>
                <a:spcPts val="100"/>
              </a:spcBef>
              <a:spcAft>
                <a:spcPts val="0"/>
              </a:spcAft>
              <a:buClr>
                <a:schemeClr val="dk1"/>
              </a:buClr>
              <a:buSzPts val="500"/>
              <a:buNone/>
              <a:defRPr sz="500"/>
            </a:lvl9pPr>
          </a:lstStyle>
          <a:p>
            <a:endParaRPr/>
          </a:p>
        </p:txBody>
      </p:sp>
      <p:sp>
        <p:nvSpPr>
          <p:cNvPr id="71" name="Google Shape;71;g3e8969c066b_83_205"/>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72" name="Google Shape;72;g3e8969c066b_83_205"/>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73" name="Google Shape;73;g3e8969c066b_83_205"/>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g3e8969c066b_83_212"/>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76" name="Google Shape;76;g3e8969c066b_83_212"/>
          <p:cNvSpPr txBox="1">
            <a:spLocks noGrp="1"/>
          </p:cNvSpPr>
          <p:nvPr>
            <p:ph type="body" idx="1"/>
          </p:nvPr>
        </p:nvSpPr>
        <p:spPr>
          <a:xfrm rot="5400000">
            <a:off x="1154550" y="-125850"/>
            <a:ext cx="2262900" cy="4114800"/>
          </a:xfrm>
          <a:prstGeom prst="rect">
            <a:avLst/>
          </a:prstGeom>
          <a:noFill/>
          <a:ln>
            <a:noFill/>
          </a:ln>
        </p:spPr>
        <p:txBody>
          <a:bodyPr spcFirstLastPara="1" wrap="square" lIns="45725" tIns="22850" rIns="45725" bIns="22850" anchor="t" anchorCtr="0">
            <a:normAutofit/>
          </a:bodyPr>
          <a:lstStyle>
            <a:lvl1pPr marL="457200" lvl="0" indent="-285750" algn="l">
              <a:spcBef>
                <a:spcPts val="200"/>
              </a:spcBef>
              <a:spcAft>
                <a:spcPts val="0"/>
              </a:spcAft>
              <a:buClr>
                <a:schemeClr val="dk1"/>
              </a:buClr>
              <a:buSzPts val="900"/>
              <a:buChar char="•"/>
              <a:defRPr/>
            </a:lvl1pPr>
            <a:lvl2pPr marL="914400" lvl="1" indent="-285750" algn="l">
              <a:spcBef>
                <a:spcPts val="200"/>
              </a:spcBef>
              <a:spcAft>
                <a:spcPts val="0"/>
              </a:spcAft>
              <a:buClr>
                <a:schemeClr val="dk1"/>
              </a:buClr>
              <a:buSzPts val="900"/>
              <a:buChar char="–"/>
              <a:defRPr/>
            </a:lvl2pPr>
            <a:lvl3pPr marL="1371600" lvl="2" indent="-285750" algn="l">
              <a:spcBef>
                <a:spcPts val="200"/>
              </a:spcBef>
              <a:spcAft>
                <a:spcPts val="0"/>
              </a:spcAft>
              <a:buClr>
                <a:schemeClr val="dk1"/>
              </a:buClr>
              <a:buSzPts val="900"/>
              <a:buChar char="•"/>
              <a:defRPr/>
            </a:lvl3pPr>
            <a:lvl4pPr marL="1828800" lvl="3" indent="-285750" algn="l">
              <a:spcBef>
                <a:spcPts val="200"/>
              </a:spcBef>
              <a:spcAft>
                <a:spcPts val="0"/>
              </a:spcAft>
              <a:buClr>
                <a:schemeClr val="dk1"/>
              </a:buClr>
              <a:buSzPts val="900"/>
              <a:buChar char="–"/>
              <a:defRPr/>
            </a:lvl4pPr>
            <a:lvl5pPr marL="2286000" lvl="4" indent="-285750" algn="l">
              <a:spcBef>
                <a:spcPts val="200"/>
              </a:spcBef>
              <a:spcAft>
                <a:spcPts val="0"/>
              </a:spcAft>
              <a:buClr>
                <a:schemeClr val="dk1"/>
              </a:buClr>
              <a:buSzPts val="900"/>
              <a:buChar char="»"/>
              <a:defRPr/>
            </a:lvl5pPr>
            <a:lvl6pPr marL="2743200" lvl="5" indent="-285750" algn="l">
              <a:spcBef>
                <a:spcPts val="200"/>
              </a:spcBef>
              <a:spcAft>
                <a:spcPts val="0"/>
              </a:spcAft>
              <a:buClr>
                <a:schemeClr val="dk1"/>
              </a:buClr>
              <a:buSzPts val="900"/>
              <a:buChar char="•"/>
              <a:defRPr/>
            </a:lvl6pPr>
            <a:lvl7pPr marL="3200400" lvl="6" indent="-285750" algn="l">
              <a:spcBef>
                <a:spcPts val="200"/>
              </a:spcBef>
              <a:spcAft>
                <a:spcPts val="0"/>
              </a:spcAft>
              <a:buClr>
                <a:schemeClr val="dk1"/>
              </a:buClr>
              <a:buSzPts val="900"/>
              <a:buChar char="•"/>
              <a:defRPr/>
            </a:lvl7pPr>
            <a:lvl8pPr marL="3657600" lvl="7" indent="-285750" algn="l">
              <a:spcBef>
                <a:spcPts val="200"/>
              </a:spcBef>
              <a:spcAft>
                <a:spcPts val="0"/>
              </a:spcAft>
              <a:buClr>
                <a:schemeClr val="dk1"/>
              </a:buClr>
              <a:buSzPts val="900"/>
              <a:buChar char="•"/>
              <a:defRPr/>
            </a:lvl8pPr>
            <a:lvl9pPr marL="4114800" lvl="8" indent="-285750" algn="l">
              <a:spcBef>
                <a:spcPts val="200"/>
              </a:spcBef>
              <a:spcAft>
                <a:spcPts val="0"/>
              </a:spcAft>
              <a:buClr>
                <a:schemeClr val="dk1"/>
              </a:buClr>
              <a:buSzPts val="900"/>
              <a:buChar char="•"/>
              <a:defRPr/>
            </a:lvl9pPr>
          </a:lstStyle>
          <a:p>
            <a:endParaRPr/>
          </a:p>
        </p:txBody>
      </p:sp>
      <p:sp>
        <p:nvSpPr>
          <p:cNvPr id="77" name="Google Shape;77;g3e8969c066b_83_212"/>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78" name="Google Shape;78;g3e8969c066b_83_212"/>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79" name="Google Shape;79;g3e8969c066b_83_212"/>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g3e8969c066b_83_218"/>
          <p:cNvSpPr txBox="1">
            <a:spLocks noGrp="1"/>
          </p:cNvSpPr>
          <p:nvPr>
            <p:ph type="title"/>
          </p:nvPr>
        </p:nvSpPr>
        <p:spPr>
          <a:xfrm rot="5400000">
            <a:off x="2366100" y="1085919"/>
            <a:ext cx="2925900" cy="10287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82" name="Google Shape;82;g3e8969c066b_83_218"/>
          <p:cNvSpPr txBox="1">
            <a:spLocks noGrp="1"/>
          </p:cNvSpPr>
          <p:nvPr>
            <p:ph type="body" idx="1"/>
          </p:nvPr>
        </p:nvSpPr>
        <p:spPr>
          <a:xfrm rot="5400000">
            <a:off x="270600" y="95319"/>
            <a:ext cx="2925900" cy="3009900"/>
          </a:xfrm>
          <a:prstGeom prst="rect">
            <a:avLst/>
          </a:prstGeom>
          <a:noFill/>
          <a:ln>
            <a:noFill/>
          </a:ln>
        </p:spPr>
        <p:txBody>
          <a:bodyPr spcFirstLastPara="1" wrap="square" lIns="45725" tIns="22850" rIns="45725" bIns="22850" anchor="t" anchorCtr="0">
            <a:normAutofit/>
          </a:bodyPr>
          <a:lstStyle>
            <a:lvl1pPr marL="457200" lvl="0" indent="-285750" algn="l">
              <a:spcBef>
                <a:spcPts val="200"/>
              </a:spcBef>
              <a:spcAft>
                <a:spcPts val="0"/>
              </a:spcAft>
              <a:buClr>
                <a:schemeClr val="dk1"/>
              </a:buClr>
              <a:buSzPts val="900"/>
              <a:buChar char="•"/>
              <a:defRPr/>
            </a:lvl1pPr>
            <a:lvl2pPr marL="914400" lvl="1" indent="-285750" algn="l">
              <a:spcBef>
                <a:spcPts val="200"/>
              </a:spcBef>
              <a:spcAft>
                <a:spcPts val="0"/>
              </a:spcAft>
              <a:buClr>
                <a:schemeClr val="dk1"/>
              </a:buClr>
              <a:buSzPts val="900"/>
              <a:buChar char="–"/>
              <a:defRPr/>
            </a:lvl2pPr>
            <a:lvl3pPr marL="1371600" lvl="2" indent="-285750" algn="l">
              <a:spcBef>
                <a:spcPts val="200"/>
              </a:spcBef>
              <a:spcAft>
                <a:spcPts val="0"/>
              </a:spcAft>
              <a:buClr>
                <a:schemeClr val="dk1"/>
              </a:buClr>
              <a:buSzPts val="900"/>
              <a:buChar char="•"/>
              <a:defRPr/>
            </a:lvl3pPr>
            <a:lvl4pPr marL="1828800" lvl="3" indent="-285750" algn="l">
              <a:spcBef>
                <a:spcPts val="200"/>
              </a:spcBef>
              <a:spcAft>
                <a:spcPts val="0"/>
              </a:spcAft>
              <a:buClr>
                <a:schemeClr val="dk1"/>
              </a:buClr>
              <a:buSzPts val="900"/>
              <a:buChar char="–"/>
              <a:defRPr/>
            </a:lvl4pPr>
            <a:lvl5pPr marL="2286000" lvl="4" indent="-285750" algn="l">
              <a:spcBef>
                <a:spcPts val="200"/>
              </a:spcBef>
              <a:spcAft>
                <a:spcPts val="0"/>
              </a:spcAft>
              <a:buClr>
                <a:schemeClr val="dk1"/>
              </a:buClr>
              <a:buSzPts val="900"/>
              <a:buChar char="»"/>
              <a:defRPr/>
            </a:lvl5pPr>
            <a:lvl6pPr marL="2743200" lvl="5" indent="-285750" algn="l">
              <a:spcBef>
                <a:spcPts val="200"/>
              </a:spcBef>
              <a:spcAft>
                <a:spcPts val="0"/>
              </a:spcAft>
              <a:buClr>
                <a:schemeClr val="dk1"/>
              </a:buClr>
              <a:buSzPts val="900"/>
              <a:buChar char="•"/>
              <a:defRPr/>
            </a:lvl6pPr>
            <a:lvl7pPr marL="3200400" lvl="6" indent="-285750" algn="l">
              <a:spcBef>
                <a:spcPts val="200"/>
              </a:spcBef>
              <a:spcAft>
                <a:spcPts val="0"/>
              </a:spcAft>
              <a:buClr>
                <a:schemeClr val="dk1"/>
              </a:buClr>
              <a:buSzPts val="900"/>
              <a:buChar char="•"/>
              <a:defRPr/>
            </a:lvl7pPr>
            <a:lvl8pPr marL="3657600" lvl="7" indent="-285750" algn="l">
              <a:spcBef>
                <a:spcPts val="200"/>
              </a:spcBef>
              <a:spcAft>
                <a:spcPts val="0"/>
              </a:spcAft>
              <a:buClr>
                <a:schemeClr val="dk1"/>
              </a:buClr>
              <a:buSzPts val="900"/>
              <a:buChar char="•"/>
              <a:defRPr/>
            </a:lvl8pPr>
            <a:lvl9pPr marL="4114800" lvl="8" indent="-285750" algn="l">
              <a:spcBef>
                <a:spcPts val="200"/>
              </a:spcBef>
              <a:spcAft>
                <a:spcPts val="0"/>
              </a:spcAft>
              <a:buClr>
                <a:schemeClr val="dk1"/>
              </a:buClr>
              <a:buSzPts val="900"/>
              <a:buChar char="•"/>
              <a:defRPr/>
            </a:lvl9pPr>
          </a:lstStyle>
          <a:p>
            <a:endParaRPr/>
          </a:p>
        </p:txBody>
      </p:sp>
      <p:sp>
        <p:nvSpPr>
          <p:cNvPr id="83" name="Google Shape;83;g3e8969c066b_83_218"/>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84" name="Google Shape;84;g3e8969c066b_83_218"/>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85" name="Google Shape;85;g3e8969c066b_83_218"/>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8024752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 Id="rId9" Type="http://schemas.openxmlformats.org/officeDocument/2006/relationships/slideLayout" Target="../slideLayouts/slideLayout10.xml"/><Relationship Id="rId10" Type="http://schemas.openxmlformats.org/officeDocument/2006/relationships/slideLayout" Target="../slideLayouts/slideLayout11.xml"/><Relationship Id="rId11" Type="http://schemas.openxmlformats.org/officeDocument/2006/relationships/slideLayout" Target="../slideLayouts/slideLayout12.xml"/><Relationship Id="rId12" Type="http://schemas.openxmlformats.org/officeDocument/2006/relationships/slideLayout" Target="../slideLayouts/slideLayout13.xml"/><Relationship Id="rId1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
        <p:cNvGrpSpPr/>
        <p:nvPr/>
      </p:nvGrpSpPr>
      <p:grpSpPr>
        <a:xfrm>
          <a:off x="0" y="0"/>
          <a:ext cx="0" cy="0"/>
          <a:chOff x="0" y="0"/>
          <a:chExt cx="0" cy="0"/>
        </a:xfrm>
      </p:grpSpPr>
      <p:sp>
        <p:nvSpPr>
          <p:cNvPr id="12" name="Google Shape;12;g3e8969c066b_83_149"/>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marR="0" lvl="0" algn="ctr">
              <a:spcBef>
                <a:spcPts val="0"/>
              </a:spcBef>
              <a:spcAft>
                <a:spcPts val="0"/>
              </a:spcAft>
              <a:buClr>
                <a:schemeClr val="dk1"/>
              </a:buClr>
              <a:buSzPts val="2200"/>
              <a:buFont typeface="Calibri"/>
              <a:buNone/>
              <a:defRPr sz="2200" b="0" i="0" u="none" strike="noStrike" cap="none">
                <a:solidFill>
                  <a:schemeClr val="dk1"/>
                </a:solidFill>
                <a:latin typeface="Calibri"/>
                <a:ea typeface="Calibri"/>
                <a:cs typeface="Calibri"/>
                <a:sym typeface="Calibri"/>
              </a:defRPr>
            </a:lvl1pPr>
            <a:lvl2pPr lvl="1">
              <a:spcBef>
                <a:spcPts val="0"/>
              </a:spcBef>
              <a:spcAft>
                <a:spcPts val="0"/>
              </a:spcAft>
              <a:buSzPts val="700"/>
              <a:buNone/>
              <a:defRPr sz="900"/>
            </a:lvl2pPr>
            <a:lvl3pPr lvl="2">
              <a:spcBef>
                <a:spcPts val="0"/>
              </a:spcBef>
              <a:spcAft>
                <a:spcPts val="0"/>
              </a:spcAft>
              <a:buSzPts val="700"/>
              <a:buNone/>
              <a:defRPr sz="900"/>
            </a:lvl3pPr>
            <a:lvl4pPr lvl="3">
              <a:spcBef>
                <a:spcPts val="0"/>
              </a:spcBef>
              <a:spcAft>
                <a:spcPts val="0"/>
              </a:spcAft>
              <a:buSzPts val="700"/>
              <a:buNone/>
              <a:defRPr sz="900"/>
            </a:lvl4pPr>
            <a:lvl5pPr lvl="4">
              <a:spcBef>
                <a:spcPts val="0"/>
              </a:spcBef>
              <a:spcAft>
                <a:spcPts val="0"/>
              </a:spcAft>
              <a:buSzPts val="700"/>
              <a:buNone/>
              <a:defRPr sz="900"/>
            </a:lvl5pPr>
            <a:lvl6pPr lvl="5">
              <a:spcBef>
                <a:spcPts val="0"/>
              </a:spcBef>
              <a:spcAft>
                <a:spcPts val="0"/>
              </a:spcAft>
              <a:buSzPts val="700"/>
              <a:buNone/>
              <a:defRPr sz="900"/>
            </a:lvl6pPr>
            <a:lvl7pPr lvl="6">
              <a:spcBef>
                <a:spcPts val="0"/>
              </a:spcBef>
              <a:spcAft>
                <a:spcPts val="0"/>
              </a:spcAft>
              <a:buSzPts val="700"/>
              <a:buNone/>
              <a:defRPr sz="900"/>
            </a:lvl7pPr>
            <a:lvl8pPr lvl="7">
              <a:spcBef>
                <a:spcPts val="0"/>
              </a:spcBef>
              <a:spcAft>
                <a:spcPts val="0"/>
              </a:spcAft>
              <a:buSzPts val="700"/>
              <a:buNone/>
              <a:defRPr sz="900"/>
            </a:lvl8pPr>
            <a:lvl9pPr lvl="8">
              <a:spcBef>
                <a:spcPts val="0"/>
              </a:spcBef>
              <a:spcAft>
                <a:spcPts val="0"/>
              </a:spcAft>
              <a:buSzPts val="700"/>
              <a:buNone/>
              <a:defRPr sz="900"/>
            </a:lvl9pPr>
          </a:lstStyle>
          <a:p>
            <a:endParaRPr/>
          </a:p>
        </p:txBody>
      </p:sp>
      <p:sp>
        <p:nvSpPr>
          <p:cNvPr id="13" name="Google Shape;13;g3e8969c066b_83_149"/>
          <p:cNvSpPr txBox="1">
            <a:spLocks noGrp="1"/>
          </p:cNvSpPr>
          <p:nvPr>
            <p:ph type="body" idx="1"/>
          </p:nvPr>
        </p:nvSpPr>
        <p:spPr>
          <a:xfrm>
            <a:off x="228600" y="800100"/>
            <a:ext cx="4114800" cy="2262900"/>
          </a:xfrm>
          <a:prstGeom prst="rect">
            <a:avLst/>
          </a:prstGeom>
          <a:noFill/>
          <a:ln>
            <a:noFill/>
          </a:ln>
        </p:spPr>
        <p:txBody>
          <a:bodyPr spcFirstLastPara="1" wrap="square" lIns="45725" tIns="22850" rIns="45725" bIns="22850" anchor="t" anchorCtr="0">
            <a:normAutofit/>
          </a:bodyPr>
          <a:lstStyle>
            <a:lvl1pPr marL="457200" marR="0" lvl="0" indent="-330200" algn="l">
              <a:spcBef>
                <a:spcPts val="30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1pPr>
            <a:lvl2pPr marL="914400" marR="0" lvl="1" indent="-317500" algn="l">
              <a:spcBef>
                <a:spcPts val="3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2pPr>
            <a:lvl3pPr marL="1371600" marR="0" lvl="2" indent="-304800" algn="l">
              <a:spcBef>
                <a:spcPts val="200"/>
              </a:spcBef>
              <a:spcAft>
                <a:spcPts val="0"/>
              </a:spcAft>
              <a:buClr>
                <a:schemeClr val="dk1"/>
              </a:buClr>
              <a:buSzPts val="1200"/>
              <a:buFont typeface="Arial"/>
              <a:buChar char="•"/>
              <a:defRPr sz="1200" b="0" i="0" u="none" strike="noStrike" cap="none">
                <a:solidFill>
                  <a:schemeClr val="dk1"/>
                </a:solidFill>
                <a:latin typeface="Calibri"/>
                <a:ea typeface="Calibri"/>
                <a:cs typeface="Calibri"/>
                <a:sym typeface="Calibri"/>
              </a:defRPr>
            </a:lvl3pPr>
            <a:lvl4pPr marL="1828800" marR="0" lvl="3" indent="-292100" algn="l">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4pPr>
            <a:lvl5pPr marL="2286000" marR="0" lvl="4" indent="-292100" algn="l">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5pPr>
            <a:lvl6pPr marL="2743200" marR="0" lvl="5" indent="-292100" algn="l">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6pPr>
            <a:lvl7pPr marL="3200400" marR="0" lvl="6" indent="-292100" algn="l">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7pPr>
            <a:lvl8pPr marL="3657600" marR="0" lvl="7" indent="-292100" algn="l">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8pPr>
            <a:lvl9pPr marL="4114800" marR="0" lvl="8" indent="-292100" algn="l">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9pPr>
          </a:lstStyle>
          <a:p>
            <a:endParaRPr/>
          </a:p>
        </p:txBody>
      </p:sp>
      <p:sp>
        <p:nvSpPr>
          <p:cNvPr id="14" name="Google Shape;14;g3e8969c066b_83_149"/>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marR="0" lvl="0" algn="l">
              <a:spcBef>
                <a:spcPts val="0"/>
              </a:spcBef>
              <a:spcAft>
                <a:spcPts val="0"/>
              </a:spcAft>
              <a:buSzPts val="700"/>
              <a:buNone/>
              <a:defRPr sz="600" b="0" i="0" u="none" strike="noStrike" cap="none">
                <a:solidFill>
                  <a:srgbClr val="888888"/>
                </a:solidFill>
                <a:latin typeface="Calibri"/>
                <a:ea typeface="Calibri"/>
                <a:cs typeface="Calibri"/>
                <a:sym typeface="Calibri"/>
              </a:defRPr>
            </a:lvl1pPr>
            <a:lvl2pPr marR="0" lvl="1" algn="l">
              <a:spcBef>
                <a:spcPts val="0"/>
              </a:spcBef>
              <a:spcAft>
                <a:spcPts val="0"/>
              </a:spcAft>
              <a:buSzPts val="700"/>
              <a:buNone/>
              <a:defRPr sz="900" b="0" i="0" u="none" strike="noStrike" cap="none">
                <a:solidFill>
                  <a:schemeClr val="dk1"/>
                </a:solidFill>
                <a:latin typeface="Calibri"/>
                <a:ea typeface="Calibri"/>
                <a:cs typeface="Calibri"/>
                <a:sym typeface="Calibri"/>
              </a:defRPr>
            </a:lvl2pPr>
            <a:lvl3pPr marR="0" lvl="2" algn="l">
              <a:spcBef>
                <a:spcPts val="0"/>
              </a:spcBef>
              <a:spcAft>
                <a:spcPts val="0"/>
              </a:spcAft>
              <a:buSzPts val="700"/>
              <a:buNone/>
              <a:defRPr sz="900" b="0" i="0" u="none" strike="noStrike" cap="none">
                <a:solidFill>
                  <a:schemeClr val="dk1"/>
                </a:solidFill>
                <a:latin typeface="Calibri"/>
                <a:ea typeface="Calibri"/>
                <a:cs typeface="Calibri"/>
                <a:sym typeface="Calibri"/>
              </a:defRPr>
            </a:lvl3pPr>
            <a:lvl4pPr marR="0" lvl="3" algn="l">
              <a:spcBef>
                <a:spcPts val="0"/>
              </a:spcBef>
              <a:spcAft>
                <a:spcPts val="0"/>
              </a:spcAft>
              <a:buSzPts val="700"/>
              <a:buNone/>
              <a:defRPr sz="900" b="0" i="0" u="none" strike="noStrike" cap="none">
                <a:solidFill>
                  <a:schemeClr val="dk1"/>
                </a:solidFill>
                <a:latin typeface="Calibri"/>
                <a:ea typeface="Calibri"/>
                <a:cs typeface="Calibri"/>
                <a:sym typeface="Calibri"/>
              </a:defRPr>
            </a:lvl4pPr>
            <a:lvl5pPr marR="0" lvl="4" algn="l">
              <a:spcBef>
                <a:spcPts val="0"/>
              </a:spcBef>
              <a:spcAft>
                <a:spcPts val="0"/>
              </a:spcAft>
              <a:buSzPts val="700"/>
              <a:buNone/>
              <a:defRPr sz="900" b="0" i="0" u="none" strike="noStrike" cap="none">
                <a:solidFill>
                  <a:schemeClr val="dk1"/>
                </a:solidFill>
                <a:latin typeface="Calibri"/>
                <a:ea typeface="Calibri"/>
                <a:cs typeface="Calibri"/>
                <a:sym typeface="Calibri"/>
              </a:defRPr>
            </a:lvl5pPr>
            <a:lvl6pPr marR="0" lvl="5" algn="l">
              <a:spcBef>
                <a:spcPts val="0"/>
              </a:spcBef>
              <a:spcAft>
                <a:spcPts val="0"/>
              </a:spcAft>
              <a:buSzPts val="700"/>
              <a:buNone/>
              <a:defRPr sz="900" b="0" i="0" u="none" strike="noStrike" cap="none">
                <a:solidFill>
                  <a:schemeClr val="dk1"/>
                </a:solidFill>
                <a:latin typeface="Calibri"/>
                <a:ea typeface="Calibri"/>
                <a:cs typeface="Calibri"/>
                <a:sym typeface="Calibri"/>
              </a:defRPr>
            </a:lvl6pPr>
            <a:lvl7pPr marR="0" lvl="6" algn="l">
              <a:spcBef>
                <a:spcPts val="0"/>
              </a:spcBef>
              <a:spcAft>
                <a:spcPts val="0"/>
              </a:spcAft>
              <a:buSzPts val="700"/>
              <a:buNone/>
              <a:defRPr sz="900" b="0" i="0" u="none" strike="noStrike" cap="none">
                <a:solidFill>
                  <a:schemeClr val="dk1"/>
                </a:solidFill>
                <a:latin typeface="Calibri"/>
                <a:ea typeface="Calibri"/>
                <a:cs typeface="Calibri"/>
                <a:sym typeface="Calibri"/>
              </a:defRPr>
            </a:lvl7pPr>
            <a:lvl8pPr marR="0" lvl="7" algn="l">
              <a:spcBef>
                <a:spcPts val="0"/>
              </a:spcBef>
              <a:spcAft>
                <a:spcPts val="0"/>
              </a:spcAft>
              <a:buSzPts val="700"/>
              <a:buNone/>
              <a:defRPr sz="900" b="0" i="0" u="none" strike="noStrike" cap="none">
                <a:solidFill>
                  <a:schemeClr val="dk1"/>
                </a:solidFill>
                <a:latin typeface="Calibri"/>
                <a:ea typeface="Calibri"/>
                <a:cs typeface="Calibri"/>
                <a:sym typeface="Calibri"/>
              </a:defRPr>
            </a:lvl8pPr>
            <a:lvl9pPr marR="0" lvl="8" algn="l">
              <a:spcBef>
                <a:spcPts val="0"/>
              </a:spcBef>
              <a:spcAft>
                <a:spcPts val="0"/>
              </a:spcAft>
              <a:buSzPts val="700"/>
              <a:buNone/>
              <a:defRPr sz="900" b="0" i="0" u="none" strike="noStrike" cap="none">
                <a:solidFill>
                  <a:schemeClr val="dk1"/>
                </a:solidFill>
                <a:latin typeface="Calibri"/>
                <a:ea typeface="Calibri"/>
                <a:cs typeface="Calibri"/>
                <a:sym typeface="Calibri"/>
              </a:defRPr>
            </a:lvl9pPr>
          </a:lstStyle>
          <a:p>
            <a:endParaRPr/>
          </a:p>
        </p:txBody>
      </p:sp>
      <p:sp>
        <p:nvSpPr>
          <p:cNvPr id="15" name="Google Shape;15;g3e8969c066b_83_149"/>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marR="0" lvl="0" algn="ctr">
              <a:spcBef>
                <a:spcPts val="0"/>
              </a:spcBef>
              <a:spcAft>
                <a:spcPts val="0"/>
              </a:spcAft>
              <a:buSzPts val="700"/>
              <a:buNone/>
              <a:defRPr sz="600" b="0" i="0" u="none" strike="noStrike" cap="none">
                <a:solidFill>
                  <a:srgbClr val="888888"/>
                </a:solidFill>
                <a:latin typeface="Calibri"/>
                <a:ea typeface="Calibri"/>
                <a:cs typeface="Calibri"/>
                <a:sym typeface="Calibri"/>
              </a:defRPr>
            </a:lvl1pPr>
            <a:lvl2pPr marR="0" lvl="1" algn="l">
              <a:spcBef>
                <a:spcPts val="0"/>
              </a:spcBef>
              <a:spcAft>
                <a:spcPts val="0"/>
              </a:spcAft>
              <a:buSzPts val="700"/>
              <a:buNone/>
              <a:defRPr sz="900" b="0" i="0" u="none" strike="noStrike" cap="none">
                <a:solidFill>
                  <a:schemeClr val="dk1"/>
                </a:solidFill>
                <a:latin typeface="Calibri"/>
                <a:ea typeface="Calibri"/>
                <a:cs typeface="Calibri"/>
                <a:sym typeface="Calibri"/>
              </a:defRPr>
            </a:lvl2pPr>
            <a:lvl3pPr marR="0" lvl="2" algn="l">
              <a:spcBef>
                <a:spcPts val="0"/>
              </a:spcBef>
              <a:spcAft>
                <a:spcPts val="0"/>
              </a:spcAft>
              <a:buSzPts val="700"/>
              <a:buNone/>
              <a:defRPr sz="900" b="0" i="0" u="none" strike="noStrike" cap="none">
                <a:solidFill>
                  <a:schemeClr val="dk1"/>
                </a:solidFill>
                <a:latin typeface="Calibri"/>
                <a:ea typeface="Calibri"/>
                <a:cs typeface="Calibri"/>
                <a:sym typeface="Calibri"/>
              </a:defRPr>
            </a:lvl3pPr>
            <a:lvl4pPr marR="0" lvl="3" algn="l">
              <a:spcBef>
                <a:spcPts val="0"/>
              </a:spcBef>
              <a:spcAft>
                <a:spcPts val="0"/>
              </a:spcAft>
              <a:buSzPts val="700"/>
              <a:buNone/>
              <a:defRPr sz="900" b="0" i="0" u="none" strike="noStrike" cap="none">
                <a:solidFill>
                  <a:schemeClr val="dk1"/>
                </a:solidFill>
                <a:latin typeface="Calibri"/>
                <a:ea typeface="Calibri"/>
                <a:cs typeface="Calibri"/>
                <a:sym typeface="Calibri"/>
              </a:defRPr>
            </a:lvl4pPr>
            <a:lvl5pPr marR="0" lvl="4" algn="l">
              <a:spcBef>
                <a:spcPts val="0"/>
              </a:spcBef>
              <a:spcAft>
                <a:spcPts val="0"/>
              </a:spcAft>
              <a:buSzPts val="700"/>
              <a:buNone/>
              <a:defRPr sz="900" b="0" i="0" u="none" strike="noStrike" cap="none">
                <a:solidFill>
                  <a:schemeClr val="dk1"/>
                </a:solidFill>
                <a:latin typeface="Calibri"/>
                <a:ea typeface="Calibri"/>
                <a:cs typeface="Calibri"/>
                <a:sym typeface="Calibri"/>
              </a:defRPr>
            </a:lvl5pPr>
            <a:lvl6pPr marR="0" lvl="5" algn="l">
              <a:spcBef>
                <a:spcPts val="0"/>
              </a:spcBef>
              <a:spcAft>
                <a:spcPts val="0"/>
              </a:spcAft>
              <a:buSzPts val="700"/>
              <a:buNone/>
              <a:defRPr sz="900" b="0" i="0" u="none" strike="noStrike" cap="none">
                <a:solidFill>
                  <a:schemeClr val="dk1"/>
                </a:solidFill>
                <a:latin typeface="Calibri"/>
                <a:ea typeface="Calibri"/>
                <a:cs typeface="Calibri"/>
                <a:sym typeface="Calibri"/>
              </a:defRPr>
            </a:lvl6pPr>
            <a:lvl7pPr marR="0" lvl="6" algn="l">
              <a:spcBef>
                <a:spcPts val="0"/>
              </a:spcBef>
              <a:spcAft>
                <a:spcPts val="0"/>
              </a:spcAft>
              <a:buSzPts val="700"/>
              <a:buNone/>
              <a:defRPr sz="900" b="0" i="0" u="none" strike="noStrike" cap="none">
                <a:solidFill>
                  <a:schemeClr val="dk1"/>
                </a:solidFill>
                <a:latin typeface="Calibri"/>
                <a:ea typeface="Calibri"/>
                <a:cs typeface="Calibri"/>
                <a:sym typeface="Calibri"/>
              </a:defRPr>
            </a:lvl7pPr>
            <a:lvl8pPr marR="0" lvl="7" algn="l">
              <a:spcBef>
                <a:spcPts val="0"/>
              </a:spcBef>
              <a:spcAft>
                <a:spcPts val="0"/>
              </a:spcAft>
              <a:buSzPts val="700"/>
              <a:buNone/>
              <a:defRPr sz="900" b="0" i="0" u="none" strike="noStrike" cap="none">
                <a:solidFill>
                  <a:schemeClr val="dk1"/>
                </a:solidFill>
                <a:latin typeface="Calibri"/>
                <a:ea typeface="Calibri"/>
                <a:cs typeface="Calibri"/>
                <a:sym typeface="Calibri"/>
              </a:defRPr>
            </a:lvl8pPr>
            <a:lvl9pPr marR="0" lvl="8" algn="l">
              <a:spcBef>
                <a:spcPts val="0"/>
              </a:spcBef>
              <a:spcAft>
                <a:spcPts val="0"/>
              </a:spcAft>
              <a:buSzPts val="700"/>
              <a:buNone/>
              <a:defRPr sz="900" b="0" i="0" u="none" strike="noStrike" cap="none">
                <a:solidFill>
                  <a:schemeClr val="dk1"/>
                </a:solidFill>
                <a:latin typeface="Calibri"/>
                <a:ea typeface="Calibri"/>
                <a:cs typeface="Calibri"/>
                <a:sym typeface="Calibri"/>
              </a:defRPr>
            </a:lvl9pPr>
          </a:lstStyle>
          <a:p>
            <a:endParaRPr/>
          </a:p>
        </p:txBody>
      </p:sp>
      <p:sp>
        <p:nvSpPr>
          <p:cNvPr id="16" name="Google Shape;16;g3e8969c066b_83_149"/>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marR="0" lvl="0" indent="0" algn="r">
              <a:spcBef>
                <a:spcPts val="0"/>
              </a:spcBef>
              <a:buNone/>
              <a:defRPr sz="600" b="0" i="0" u="none" strike="noStrike" cap="none">
                <a:solidFill>
                  <a:srgbClr val="888888"/>
                </a:solidFill>
                <a:latin typeface="Calibri"/>
                <a:ea typeface="Calibri"/>
                <a:cs typeface="Calibri"/>
                <a:sym typeface="Calibri"/>
              </a:defRPr>
            </a:lvl1pPr>
            <a:lvl2pPr marL="0" marR="0" lvl="1" indent="0" algn="r">
              <a:spcBef>
                <a:spcPts val="0"/>
              </a:spcBef>
              <a:buNone/>
              <a:defRPr sz="600" b="0" i="0" u="none" strike="noStrike" cap="none">
                <a:solidFill>
                  <a:srgbClr val="888888"/>
                </a:solidFill>
                <a:latin typeface="Calibri"/>
                <a:ea typeface="Calibri"/>
                <a:cs typeface="Calibri"/>
                <a:sym typeface="Calibri"/>
              </a:defRPr>
            </a:lvl2pPr>
            <a:lvl3pPr marL="0" marR="0" lvl="2" indent="0" algn="r">
              <a:spcBef>
                <a:spcPts val="0"/>
              </a:spcBef>
              <a:buNone/>
              <a:defRPr sz="600" b="0" i="0" u="none" strike="noStrike" cap="none">
                <a:solidFill>
                  <a:srgbClr val="888888"/>
                </a:solidFill>
                <a:latin typeface="Calibri"/>
                <a:ea typeface="Calibri"/>
                <a:cs typeface="Calibri"/>
                <a:sym typeface="Calibri"/>
              </a:defRPr>
            </a:lvl3pPr>
            <a:lvl4pPr marL="0" marR="0" lvl="3" indent="0" algn="r">
              <a:spcBef>
                <a:spcPts val="0"/>
              </a:spcBef>
              <a:buNone/>
              <a:defRPr sz="600" b="0" i="0" u="none" strike="noStrike" cap="none">
                <a:solidFill>
                  <a:srgbClr val="888888"/>
                </a:solidFill>
                <a:latin typeface="Calibri"/>
                <a:ea typeface="Calibri"/>
                <a:cs typeface="Calibri"/>
                <a:sym typeface="Calibri"/>
              </a:defRPr>
            </a:lvl4pPr>
            <a:lvl5pPr marL="0" marR="0" lvl="4" indent="0" algn="r">
              <a:spcBef>
                <a:spcPts val="0"/>
              </a:spcBef>
              <a:buNone/>
              <a:defRPr sz="600" b="0" i="0" u="none" strike="noStrike" cap="none">
                <a:solidFill>
                  <a:srgbClr val="888888"/>
                </a:solidFill>
                <a:latin typeface="Calibri"/>
                <a:ea typeface="Calibri"/>
                <a:cs typeface="Calibri"/>
                <a:sym typeface="Calibri"/>
              </a:defRPr>
            </a:lvl5pPr>
            <a:lvl6pPr marL="0" marR="0" lvl="5" indent="0" algn="r">
              <a:spcBef>
                <a:spcPts val="0"/>
              </a:spcBef>
              <a:buNone/>
              <a:defRPr sz="600" b="0" i="0" u="none" strike="noStrike" cap="none">
                <a:solidFill>
                  <a:srgbClr val="888888"/>
                </a:solidFill>
                <a:latin typeface="Calibri"/>
                <a:ea typeface="Calibri"/>
                <a:cs typeface="Calibri"/>
                <a:sym typeface="Calibri"/>
              </a:defRPr>
            </a:lvl6pPr>
            <a:lvl7pPr marL="0" marR="0" lvl="6" indent="0" algn="r">
              <a:spcBef>
                <a:spcPts val="0"/>
              </a:spcBef>
              <a:buNone/>
              <a:defRPr sz="600" b="0" i="0" u="none" strike="noStrike" cap="none">
                <a:solidFill>
                  <a:srgbClr val="888888"/>
                </a:solidFill>
                <a:latin typeface="Calibri"/>
                <a:ea typeface="Calibri"/>
                <a:cs typeface="Calibri"/>
                <a:sym typeface="Calibri"/>
              </a:defRPr>
            </a:lvl7pPr>
            <a:lvl8pPr marL="0" marR="0" lvl="7" indent="0" algn="r">
              <a:spcBef>
                <a:spcPts val="0"/>
              </a:spcBef>
              <a:buNone/>
              <a:defRPr sz="600" b="0" i="0" u="none" strike="noStrike" cap="none">
                <a:solidFill>
                  <a:srgbClr val="888888"/>
                </a:solidFill>
                <a:latin typeface="Calibri"/>
                <a:ea typeface="Calibri"/>
                <a:cs typeface="Calibri"/>
                <a:sym typeface="Calibri"/>
              </a:defRPr>
            </a:lvl8pPr>
            <a:lvl9pPr marL="0" marR="0" lvl="8" indent="0" algn="r">
              <a:spcBef>
                <a:spcPts val="0"/>
              </a:spcBef>
              <a:buNone/>
              <a:defRPr sz="6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jp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9.jp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5.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6.png"/><Relationship Id="rId4" Type="http://schemas.openxmlformats.org/officeDocument/2006/relationships/hyperlink" Target="http://crystalparadigm.i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9"/>
        <p:cNvGrpSpPr/>
        <p:nvPr/>
      </p:nvGrpSpPr>
      <p:grpSpPr>
        <a:xfrm>
          <a:off x="0" y="0"/>
          <a:ext cx="0" cy="0"/>
          <a:chOff x="0" y="0"/>
          <a:chExt cx="0" cy="0"/>
        </a:xfrm>
      </p:grpSpPr>
      <p:grpSp>
        <p:nvGrpSpPr>
          <p:cNvPr id="90" name="Google Shape;90;g3e85893f04f_6_75"/>
          <p:cNvGrpSpPr/>
          <p:nvPr/>
        </p:nvGrpSpPr>
        <p:grpSpPr>
          <a:xfrm>
            <a:off x="476250" y="285750"/>
            <a:ext cx="8191500" cy="809625"/>
            <a:chOff x="476250" y="285750"/>
            <a:chExt cx="8191500" cy="809625"/>
          </a:xfrm>
        </p:grpSpPr>
        <p:sp>
          <p:nvSpPr>
            <p:cNvPr id="91" name="Google Shape;91;g3e85893f04f_6_75"/>
            <p:cNvSpPr txBox="1"/>
            <p:nvPr/>
          </p:nvSpPr>
          <p:spPr>
            <a:xfrm>
              <a:off x="476250" y="285750"/>
              <a:ext cx="8191500" cy="762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3330" b="1" dirty="0">
                  <a:solidFill>
                    <a:srgbClr val="1A365D"/>
                  </a:solidFill>
                  <a:latin typeface="Space Grotesk"/>
                  <a:ea typeface="Space Grotesk"/>
                  <a:cs typeface="Space Grotesk"/>
                  <a:sym typeface="Space Grotesk"/>
                </a:rPr>
                <a:t>CRYSTAL </a:t>
              </a:r>
              <a:r>
                <a:rPr lang="en-US" sz="3330" b="1" dirty="0">
                  <a:solidFill>
                    <a:srgbClr val="2BDEFD"/>
                  </a:solidFill>
                  <a:latin typeface="Space Grotesk"/>
                  <a:ea typeface="Space Grotesk"/>
                  <a:cs typeface="Space Grotesk"/>
                  <a:sym typeface="Space Grotesk"/>
                </a:rPr>
                <a:t>PARADIGM</a:t>
              </a:r>
              <a:endParaRPr sz="3330" b="1" dirty="0">
                <a:solidFill>
                  <a:srgbClr val="1A365D"/>
                </a:solidFill>
                <a:latin typeface="Space Grotesk"/>
                <a:ea typeface="Space Grotesk"/>
                <a:cs typeface="Space Grotesk"/>
                <a:sym typeface="Space Grotesk"/>
              </a:endParaRPr>
            </a:p>
            <a:p>
              <a:pPr marL="0" lvl="0" indent="0" algn="l" rtl="0">
                <a:spcBef>
                  <a:spcPts val="375"/>
                </a:spcBef>
                <a:spcAft>
                  <a:spcPts val="0"/>
                </a:spcAft>
                <a:buNone/>
              </a:pPr>
              <a:r>
                <a:rPr lang="en-US" sz="1295" b="1" dirty="0">
                  <a:solidFill>
                    <a:srgbClr val="64748B"/>
                  </a:solidFill>
                  <a:latin typeface="Space Grotesk"/>
                  <a:ea typeface="Space Grotesk"/>
                  <a:cs typeface="Space Grotesk"/>
                  <a:sym typeface="Space Grotesk"/>
                </a:rPr>
                <a:t>AI-Integrated Materials Architectures for Advanced Mobility &amp; Aerospace</a:t>
              </a:r>
              <a:endParaRPr sz="1295" b="1" dirty="0">
                <a:solidFill>
                  <a:srgbClr val="64748B"/>
                </a:solidFill>
                <a:latin typeface="Space Grotesk"/>
                <a:ea typeface="Space Grotesk"/>
                <a:cs typeface="Space Grotesk"/>
                <a:sym typeface="Space Grotesk"/>
              </a:endParaRPr>
            </a:p>
          </p:txBody>
        </p:sp>
        <p:cxnSp>
          <p:nvCxnSpPr>
            <p:cNvPr id="92" name="Google Shape;92;g3e85893f04f_6_75"/>
            <p:cNvCxnSpPr/>
            <p:nvPr/>
          </p:nvCxnSpPr>
          <p:spPr>
            <a:xfrm>
              <a:off x="476250" y="1095375"/>
              <a:ext cx="8191500" cy="0"/>
            </a:xfrm>
            <a:prstGeom prst="straightConnector1">
              <a:avLst/>
            </a:prstGeom>
            <a:solidFill>
              <a:srgbClr val="FFFFFF"/>
            </a:solidFill>
            <a:ln w="19050" cap="flat" cmpd="sng">
              <a:solidFill>
                <a:srgbClr val="E2E8F0"/>
              </a:solidFill>
              <a:prstDash val="solid"/>
              <a:round/>
              <a:headEnd type="none" w="sm" len="sm"/>
              <a:tailEnd type="none" w="sm" len="sm"/>
            </a:ln>
          </p:spPr>
        </p:cxnSp>
      </p:grpSp>
      <p:sp>
        <p:nvSpPr>
          <p:cNvPr id="93" name="Google Shape;93;g3e85893f04f_6_75"/>
          <p:cNvSpPr txBox="1"/>
          <p:nvPr/>
        </p:nvSpPr>
        <p:spPr>
          <a:xfrm>
            <a:off x="476250" y="1333500"/>
            <a:ext cx="5143500" cy="2857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300" b="1" dirty="0">
                <a:solidFill>
                  <a:srgbClr val="1A365D"/>
                </a:solidFill>
                <a:latin typeface="Inter SemiBold"/>
                <a:ea typeface="Inter SemiBold"/>
                <a:cs typeface="Inter SemiBold"/>
                <a:sym typeface="Inter SemiBold"/>
              </a:rPr>
              <a:t>Advanced Materials for Extreme-Environment Applications</a:t>
            </a:r>
            <a:endParaRPr sz="1300" b="1" dirty="0">
              <a:solidFill>
                <a:srgbClr val="1A365D"/>
              </a:solidFill>
              <a:latin typeface="Inter SemiBold"/>
              <a:ea typeface="Inter SemiBold"/>
              <a:cs typeface="Inter SemiBold"/>
              <a:sym typeface="Inter SemiBold"/>
            </a:endParaRPr>
          </a:p>
          <a:p>
            <a:pPr marL="0" lvl="0" indent="0" algn="l" rtl="0">
              <a:spcBef>
                <a:spcPts val="900"/>
              </a:spcBef>
              <a:spcAft>
                <a:spcPts val="0"/>
              </a:spcAft>
              <a:buNone/>
            </a:pPr>
            <a:r>
              <a:rPr lang="en-US" sz="1150" dirty="0">
                <a:solidFill>
                  <a:srgbClr val="1E293B"/>
                </a:solidFill>
                <a:latin typeface="Inter"/>
                <a:ea typeface="Inter"/>
                <a:cs typeface="Inter"/>
                <a:sym typeface="Inter"/>
              </a:rPr>
              <a:t>Crystal Paradigm is a research-driven organization at the intersection of artificial intelligence and materials science. We field a deep-tech startup that has computationally validated a next-generation turbine blade material and extreme-environment mobility components achieving a </a:t>
            </a:r>
            <a:r>
              <a:rPr lang="en-US" sz="1150" b="1" dirty="0">
                <a:solidFill>
                  <a:srgbClr val="1A365D"/>
                </a:solidFill>
                <a:latin typeface="Inter"/>
                <a:ea typeface="Inter"/>
                <a:cs typeface="Inter"/>
                <a:sym typeface="Inter"/>
              </a:rPr>
              <a:t>3D aerospace Safety Factor of 1.71</a:t>
            </a:r>
            <a:r>
              <a:rPr lang="en-US" sz="1150" dirty="0">
                <a:solidFill>
                  <a:srgbClr val="1E293B"/>
                </a:solidFill>
                <a:latin typeface="Inter"/>
                <a:ea typeface="Inter"/>
                <a:cs typeface="Inter"/>
                <a:sym typeface="Inter"/>
              </a:rPr>
              <a:t> - exceeding the 1.50 airworthiness threshold by 14%.</a:t>
            </a:r>
            <a:endParaRPr sz="1150" dirty="0">
              <a:solidFill>
                <a:srgbClr val="1E293B"/>
              </a:solidFill>
              <a:latin typeface="Inter"/>
              <a:ea typeface="Inter"/>
              <a:cs typeface="Inter"/>
              <a:sym typeface="Inter"/>
            </a:endParaRPr>
          </a:p>
          <a:p>
            <a:pPr marL="0" lvl="0" indent="0" algn="l" rtl="0">
              <a:spcBef>
                <a:spcPts val="1125"/>
              </a:spcBef>
              <a:spcAft>
                <a:spcPts val="0"/>
              </a:spcAft>
              <a:buNone/>
            </a:pPr>
            <a:r>
              <a:rPr lang="en-US" sz="1300" b="1" dirty="0">
                <a:solidFill>
                  <a:srgbClr val="1A365D"/>
                </a:solidFill>
                <a:latin typeface="Inter SemiBold"/>
                <a:ea typeface="Inter SemiBold"/>
                <a:cs typeface="Inter SemiBold"/>
                <a:sym typeface="Inter SemiBold"/>
              </a:rPr>
              <a:t>Our Mission</a:t>
            </a:r>
            <a:endParaRPr sz="1300" b="1" dirty="0">
              <a:solidFill>
                <a:srgbClr val="1A365D"/>
              </a:solidFill>
              <a:latin typeface="Inter SemiBold"/>
              <a:ea typeface="Inter SemiBold"/>
              <a:cs typeface="Inter SemiBold"/>
              <a:sym typeface="Inter SemiBold"/>
            </a:endParaRPr>
          </a:p>
          <a:p>
            <a:pPr marL="0" lvl="0" indent="0" algn="l" rtl="0">
              <a:spcBef>
                <a:spcPts val="750"/>
              </a:spcBef>
              <a:spcAft>
                <a:spcPts val="0"/>
              </a:spcAft>
              <a:buNone/>
            </a:pPr>
            <a:r>
              <a:rPr lang="en-US" sz="1150" dirty="0">
                <a:solidFill>
                  <a:srgbClr val="1E293B"/>
                </a:solidFill>
                <a:latin typeface="Inter"/>
                <a:ea typeface="Inter"/>
                <a:cs typeface="Inter"/>
                <a:sym typeface="Inter"/>
              </a:rPr>
              <a:t>To accelerate the discovery of next-generation materials by combining machine learning, high-performance computing (HPC), and experimental validation in one closed loop.</a:t>
            </a:r>
            <a:endParaRPr sz="1150" dirty="0">
              <a:solidFill>
                <a:srgbClr val="1E293B"/>
              </a:solidFill>
              <a:latin typeface="Inter"/>
              <a:ea typeface="Inter"/>
              <a:cs typeface="Inter"/>
              <a:sym typeface="Inter"/>
            </a:endParaRPr>
          </a:p>
          <a:p>
            <a:pPr marL="0" lvl="0" indent="0" algn="l" rtl="0">
              <a:spcBef>
                <a:spcPts val="1125"/>
              </a:spcBef>
              <a:spcAft>
                <a:spcPts val="0"/>
              </a:spcAft>
              <a:buNone/>
            </a:pPr>
            <a:r>
              <a:rPr lang="en-US" sz="1000" dirty="0">
                <a:solidFill>
                  <a:srgbClr val="64748B"/>
                </a:solidFill>
                <a:highlight>
                  <a:srgbClr val="F8FAFC"/>
                </a:highlight>
                <a:latin typeface="Inter"/>
                <a:ea typeface="Inter"/>
                <a:cs typeface="Inter"/>
                <a:sym typeface="Inter"/>
              </a:rPr>
              <a:t>Targeting extreme-environment mobility and aerospace applications: refractory high-entropy alloys paired with functionally graded ceramic coatings, merging in-house data curation with high-fidelity physics models to generate direct, print-ready manufacturing matrices.</a:t>
            </a:r>
            <a:endParaRPr sz="1000" dirty="0">
              <a:solidFill>
                <a:srgbClr val="64748B"/>
              </a:solidFill>
              <a:highlight>
                <a:srgbClr val="F8FAFC"/>
              </a:highlight>
              <a:latin typeface="Inter"/>
              <a:ea typeface="Inter"/>
              <a:cs typeface="Inter"/>
              <a:sym typeface="Inter"/>
            </a:endParaRPr>
          </a:p>
        </p:txBody>
      </p:sp>
      <p:grpSp>
        <p:nvGrpSpPr>
          <p:cNvPr id="94" name="Google Shape;94;g3e85893f04f_6_75"/>
          <p:cNvGrpSpPr/>
          <p:nvPr/>
        </p:nvGrpSpPr>
        <p:grpSpPr>
          <a:xfrm>
            <a:off x="6022075" y="525144"/>
            <a:ext cx="2840355" cy="4142371"/>
            <a:chOff x="6286500" y="1333500"/>
            <a:chExt cx="2286000" cy="3333900"/>
          </a:xfrm>
        </p:grpSpPr>
        <p:pic>
          <p:nvPicPr>
            <p:cNvPr id="95" name="Google Shape;95;g3e85893f04f_6_75"/>
            <p:cNvPicPr preferRelativeResize="0"/>
            <p:nvPr/>
          </p:nvPicPr>
          <p:blipFill rotWithShape="1">
            <a:blip r:embed="rId4">
              <a:alphaModFix/>
            </a:blip>
            <a:srcRect/>
            <a:stretch/>
          </p:blipFill>
          <p:spPr>
            <a:xfrm>
              <a:off x="6477000" y="1333500"/>
              <a:ext cx="1905000" cy="1905000"/>
            </a:xfrm>
            <a:prstGeom prst="ellipse">
              <a:avLst/>
            </a:prstGeom>
            <a:noFill/>
            <a:ln>
              <a:noFill/>
            </a:ln>
          </p:spPr>
        </p:pic>
        <p:sp>
          <p:nvSpPr>
            <p:cNvPr id="96" name="Google Shape;96;g3e85893f04f_6_75"/>
            <p:cNvSpPr/>
            <p:nvPr/>
          </p:nvSpPr>
          <p:spPr>
            <a:xfrm>
              <a:off x="6286500" y="3429000"/>
              <a:ext cx="2286000" cy="1238400"/>
            </a:xfrm>
            <a:prstGeom prst="roundRect">
              <a:avLst>
                <a:gd name="adj" fmla="val 9230"/>
              </a:avLst>
            </a:prstGeom>
            <a:solidFill>
              <a:srgbClr val="1A365D"/>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97" name="Google Shape;97;g3e85893f04f_6_75"/>
            <p:cNvSpPr txBox="1"/>
            <p:nvPr/>
          </p:nvSpPr>
          <p:spPr>
            <a:xfrm>
              <a:off x="6286500" y="3429000"/>
              <a:ext cx="2286000" cy="1238400"/>
            </a:xfrm>
            <a:prstGeom prst="rect">
              <a:avLst/>
            </a:prstGeom>
            <a:noFill/>
            <a:ln>
              <a:noFill/>
            </a:ln>
          </p:spPr>
          <p:txBody>
            <a:bodyPr spcFirstLastPara="1" wrap="square" lIns="118325" tIns="118325" rIns="118325" bIns="118325" anchor="ctr" anchorCtr="0">
              <a:noAutofit/>
            </a:bodyPr>
            <a:lstStyle/>
            <a:p>
              <a:pPr marL="0" lvl="0" indent="0" algn="ctr" rtl="0">
                <a:spcBef>
                  <a:spcPts val="0"/>
                </a:spcBef>
                <a:spcAft>
                  <a:spcPts val="0"/>
                </a:spcAft>
                <a:buNone/>
              </a:pPr>
              <a:r>
                <a:rPr lang="en-US" sz="2733" b="1" dirty="0">
                  <a:solidFill>
                    <a:srgbClr val="FFFFFF"/>
                  </a:solidFill>
                  <a:latin typeface="Space Grotesk"/>
                  <a:ea typeface="Space Grotesk"/>
                  <a:cs typeface="Space Grotesk"/>
                  <a:sym typeface="Space Grotesk"/>
                </a:rPr>
                <a:t>4 </a:t>
              </a:r>
              <a:r>
                <a:rPr lang="en-US" sz="1242" b="0" dirty="0">
                  <a:solidFill>
                    <a:srgbClr val="2BDEFD"/>
                  </a:solidFill>
                  <a:latin typeface="Space Grotesk"/>
                  <a:ea typeface="Space Grotesk"/>
                  <a:cs typeface="Space Grotesk"/>
                  <a:sym typeface="Space Grotesk"/>
                </a:rPr>
                <a:t>Research Papers</a:t>
              </a:r>
              <a:endParaRPr sz="2733" b="1" dirty="0">
                <a:solidFill>
                  <a:srgbClr val="FFFFFF"/>
                </a:solidFill>
                <a:latin typeface="Space Grotesk"/>
                <a:ea typeface="Space Grotesk"/>
                <a:cs typeface="Space Grotesk"/>
                <a:sym typeface="Space Grotesk"/>
              </a:endParaRPr>
            </a:p>
            <a:p>
              <a:pPr marL="0" lvl="0" indent="0" algn="ctr" rtl="0">
                <a:spcBef>
                  <a:spcPts val="0"/>
                </a:spcBef>
                <a:spcAft>
                  <a:spcPts val="0"/>
                </a:spcAft>
                <a:buNone/>
              </a:pPr>
              <a:r>
                <a:rPr lang="en-US" sz="994" i="1" dirty="0">
                  <a:solidFill>
                    <a:srgbClr val="94A3B8"/>
                  </a:solidFill>
                  <a:latin typeface="Space Grotesk"/>
                  <a:ea typeface="Space Grotesk"/>
                  <a:cs typeface="Space Grotesk"/>
                  <a:sym typeface="Space Grotesk"/>
                </a:rPr>
                <a:t>(under Review)</a:t>
              </a:r>
              <a:endParaRPr sz="994" i="1" dirty="0">
                <a:solidFill>
                  <a:srgbClr val="94A3B8"/>
                </a:solidFill>
                <a:latin typeface="Space Grotesk"/>
                <a:ea typeface="Space Grotesk"/>
                <a:cs typeface="Space Grotesk"/>
                <a:sym typeface="Space Grotesk"/>
              </a:endParaRPr>
            </a:p>
            <a:p>
              <a:pPr marL="0" lvl="0" indent="0" algn="ctr" rtl="0">
                <a:spcBef>
                  <a:spcPts val="932"/>
                </a:spcBef>
                <a:spcAft>
                  <a:spcPts val="0"/>
                </a:spcAft>
                <a:buNone/>
              </a:pPr>
              <a:r>
                <a:rPr lang="en-US" sz="2733" b="1" dirty="0">
                  <a:solidFill>
                    <a:srgbClr val="FFFFFF"/>
                  </a:solidFill>
                  <a:latin typeface="Space Grotesk"/>
                  <a:ea typeface="Space Grotesk"/>
                  <a:cs typeface="Space Grotesk"/>
                  <a:sym typeface="Space Grotesk"/>
                </a:rPr>
                <a:t>2 </a:t>
              </a:r>
              <a:r>
                <a:rPr lang="en-US" sz="1242" b="0" dirty="0">
                  <a:solidFill>
                    <a:srgbClr val="2BDEFD"/>
                  </a:solidFill>
                  <a:latin typeface="Space Grotesk"/>
                  <a:ea typeface="Space Grotesk"/>
                  <a:cs typeface="Space Grotesk"/>
                  <a:sym typeface="Space Grotesk"/>
                </a:rPr>
                <a:t>Patents</a:t>
              </a:r>
              <a:endParaRPr sz="2733" b="1" dirty="0">
                <a:solidFill>
                  <a:srgbClr val="FFFFFF"/>
                </a:solidFill>
                <a:latin typeface="Space Grotesk"/>
                <a:ea typeface="Space Grotesk"/>
                <a:cs typeface="Space Grotesk"/>
                <a:sym typeface="Space Grotesk"/>
              </a:endParaRPr>
            </a:p>
            <a:p>
              <a:pPr marL="0" lvl="0" indent="0" algn="ctr" rtl="0">
                <a:spcBef>
                  <a:spcPts val="0"/>
                </a:spcBef>
                <a:spcAft>
                  <a:spcPts val="0"/>
                </a:spcAft>
                <a:buNone/>
              </a:pPr>
              <a:r>
                <a:rPr lang="en-US" sz="994" i="1" dirty="0">
                  <a:solidFill>
                    <a:srgbClr val="94A3B8"/>
                  </a:solidFill>
                  <a:latin typeface="Space Grotesk"/>
                  <a:ea typeface="Space Grotesk"/>
                  <a:cs typeface="Space Grotesk"/>
                  <a:sym typeface="Space Grotesk"/>
                </a:rPr>
                <a:t>(1  Accepted)</a:t>
              </a:r>
              <a:endParaRPr sz="994" i="1" dirty="0">
                <a:solidFill>
                  <a:srgbClr val="94A3B8"/>
                </a:solidFill>
                <a:latin typeface="Space Grotesk"/>
                <a:ea typeface="Space Grotesk"/>
                <a:cs typeface="Space Grotesk"/>
                <a:sym typeface="Space Grotesk"/>
              </a:endParaRPr>
            </a:p>
          </p:txBody>
        </p:sp>
      </p:grpSp>
      <p:sp>
        <p:nvSpPr>
          <p:cNvPr id="98" name="TextBox 97"/>
          <p:cNvSpPr txBox="1"/>
          <p:nvPr/>
        </p:nvSpPr>
        <p:spPr>
          <a:xfrm>
            <a:off x="475488" y="4389120"/>
            <a:ext cx="7315200" cy="457200"/>
          </a:xfrm>
          <a:prstGeom prst="rect">
            <a:avLst/>
          </a:prstGeom>
          <a:noFill/>
        </p:spPr>
        <p:txBody>
          <a:bodyPr wrap="square">
            <a:spAutoFit/>
          </a:bodyPr>
          <a:lstStyle/>
          <a:p>
            <a:r>
              <a:rPr sz="1000" b="1">
                <a:solidFill>
                  <a:srgbClr val="00B4D8"/>
                </a:solidFill>
              </a:rPr>
              <a:t>Crystal Paradigm: Accelerating innovation and discovery at the intersection of AI and Material Science.</a:t>
            </a:r>
          </a:p>
          <a:p>
            <a:r>
              <a:rPr sz="850">
                <a:solidFill>
                  <a:srgbClr val="5580A0"/>
                </a:solidFill>
              </a:rPr>
              <a:t>Active Domains: Supercapacitors | Rare-Earth Materials | Li-ion &amp; Na-ion Cathodes/Electrolytes | Solar | Advanced Sensor Materials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1207008"/>
          </a:xfrm>
          <a:prstGeom prst="rect">
            <a:avLst/>
          </a:prstGeom>
          <a:solidFill>
            <a:srgbClr val="0F203C"/>
          </a:solidFill>
          <a:ln w="12700">
            <a:solidFill>
              <a:srgbClr val="0F203C"/>
            </a:solidFill>
            <a:prstDash val="solid"/>
          </a:ln>
        </p:spPr>
        <p:txBody>
          <a:bodyPr/>
          <a:lstStyle/>
          <a:p>
            <a:endParaRPr/>
          </a:p>
        </p:txBody>
      </p:sp>
      <p:sp>
        <p:nvSpPr>
          <p:cNvPr id="3" name="Shape 1"/>
          <p:cNvSpPr/>
          <p:nvPr/>
        </p:nvSpPr>
        <p:spPr>
          <a:xfrm>
            <a:off x="0" y="1207008"/>
            <a:ext cx="9144000" cy="45720"/>
          </a:xfrm>
          <a:prstGeom prst="rect">
            <a:avLst/>
          </a:prstGeom>
          <a:solidFill>
            <a:srgbClr val="00B4D8"/>
          </a:solidFill>
          <a:ln w="12700">
            <a:solidFill>
              <a:srgbClr val="00B4D8"/>
            </a:solidFill>
            <a:prstDash val="solid"/>
          </a:ln>
        </p:spPr>
        <p:txBody>
          <a:bodyPr/>
          <a:lstStyle/>
          <a:p>
            <a:endParaRPr/>
          </a:p>
        </p:txBody>
      </p:sp>
      <p:sp>
        <p:nvSpPr>
          <p:cNvPr id="4" name="Text 2"/>
          <p:cNvSpPr/>
          <p:nvPr/>
        </p:nvSpPr>
        <p:spPr>
          <a:xfrm>
            <a:off x="347472" y="91440"/>
            <a:ext cx="8412480" cy="201168"/>
          </a:xfrm>
          <a:prstGeom prst="rect">
            <a:avLst/>
          </a:prstGeom>
          <a:noFill/>
          <a:ln/>
        </p:spPr>
        <p:txBody>
          <a:bodyPr wrap="square" lIns="0" tIns="0" rIns="0" bIns="0" rtlCol="0" anchor="ctr"/>
          <a:lstStyle/>
          <a:p>
            <a:pPr marL="0" indent="0">
              <a:buNone/>
            </a:pPr>
            <a:r>
              <a:rPr lang="en-US" sz="750" b="1" kern="0" spc="250" dirty="0">
                <a:solidFill>
                  <a:srgbClr val="00B4D8"/>
                </a:solidFill>
                <a:latin typeface="Calibri" pitchFamily="34" charset="0"/>
                <a:ea typeface="Calibri" pitchFamily="34" charset="-122"/>
                <a:cs typeface="Calibri" pitchFamily="34" charset="-120"/>
              </a:rPr>
              <a:t>CRYSTAL PARADIGM  ·  SCIDIP APPLICATION</a:t>
            </a:r>
            <a:endParaRPr lang="en-US" sz="750" dirty="0"/>
          </a:p>
        </p:txBody>
      </p:sp>
      <p:sp>
        <p:nvSpPr>
          <p:cNvPr id="5" name="Text 3"/>
          <p:cNvSpPr/>
          <p:nvPr/>
        </p:nvSpPr>
        <p:spPr>
          <a:xfrm>
            <a:off x="347472" y="274320"/>
            <a:ext cx="8412480" cy="566928"/>
          </a:xfrm>
          <a:prstGeom prst="rect">
            <a:avLst/>
          </a:prstGeom>
          <a:noFill/>
          <a:ln/>
        </p:spPr>
        <p:txBody>
          <a:bodyPr wrap="square" lIns="0" tIns="0" rIns="0" bIns="0" rtlCol="0" anchor="ctr"/>
          <a:lstStyle/>
          <a:p>
            <a:pPr marL="0" indent="0">
              <a:buNone/>
            </a:pPr>
            <a:r>
              <a:rPr lang="en-US" sz="2200" b="1" kern="0" spc="120" dirty="0">
                <a:solidFill>
                  <a:srgbClr val="FFFFFF"/>
                </a:solidFill>
                <a:latin typeface="Calibri" pitchFamily="34" charset="0"/>
                <a:ea typeface="Calibri" pitchFamily="34" charset="-122"/>
                <a:cs typeface="Calibri" pitchFamily="34" charset="-120"/>
              </a:rPr>
              <a:t>STRATEGIC ALIGNMENT: SCIDIP FOCUS AREAS</a:t>
            </a:r>
            <a:endParaRPr lang="en-US" sz="2200" dirty="0"/>
          </a:p>
        </p:txBody>
      </p:sp>
      <p:sp>
        <p:nvSpPr>
          <p:cNvPr id="6" name="Text 4"/>
          <p:cNvSpPr/>
          <p:nvPr/>
        </p:nvSpPr>
        <p:spPr>
          <a:xfrm>
            <a:off x="347472" y="859536"/>
            <a:ext cx="8412480" cy="274320"/>
          </a:xfrm>
          <a:prstGeom prst="rect">
            <a:avLst/>
          </a:prstGeom>
          <a:noFill/>
          <a:ln/>
        </p:spPr>
        <p:txBody>
          <a:bodyPr wrap="square" lIns="0" tIns="0" rIns="0" bIns="0" rtlCol="0" anchor="ctr"/>
          <a:lstStyle/>
          <a:p>
            <a:pPr marL="0" indent="0">
              <a:buNone/>
            </a:pPr>
            <a:r>
              <a:rPr lang="en-US" sz="1000" i="1" dirty="0">
                <a:solidFill>
                  <a:srgbClr val="8BBFD8"/>
                </a:solidFill>
                <a:latin typeface="Calibri" pitchFamily="34" charset="0"/>
                <a:ea typeface="Calibri" pitchFamily="34" charset="-122"/>
                <a:cs typeface="Calibri" pitchFamily="34" charset="-120"/>
              </a:rPr>
              <a:t>Bridging the gap between AI-driven discovery and physical bulk materials.</a:t>
            </a:r>
            <a:endParaRPr lang="en-US" sz="1000" dirty="0"/>
          </a:p>
        </p:txBody>
      </p:sp>
      <p:sp>
        <p:nvSpPr>
          <p:cNvPr id="7" name="Shape 5"/>
          <p:cNvSpPr/>
          <p:nvPr/>
        </p:nvSpPr>
        <p:spPr>
          <a:xfrm>
            <a:off x="256032" y="1371600"/>
            <a:ext cx="4224528" cy="3108960"/>
          </a:xfrm>
          <a:prstGeom prst="rect">
            <a:avLst/>
          </a:prstGeom>
          <a:solidFill>
            <a:srgbClr val="FFFFFF"/>
          </a:solidFill>
          <a:ln w="9525">
            <a:solidFill>
              <a:srgbClr val="D6E4EF"/>
            </a:solidFill>
            <a:prstDash val="solid"/>
          </a:ln>
          <a:effectLst>
            <a:outerShdw blurRad="63500" dist="25400" dir="8100000" algn="bl" rotWithShape="0">
              <a:srgbClr val="B0BECB">
                <a:alpha val="25000"/>
              </a:srgbClr>
            </a:outerShdw>
          </a:effectLst>
        </p:spPr>
        <p:txBody>
          <a:bodyPr/>
          <a:lstStyle/>
          <a:p>
            <a:endParaRPr/>
          </a:p>
        </p:txBody>
      </p:sp>
      <p:sp>
        <p:nvSpPr>
          <p:cNvPr id="8" name="Shape 6"/>
          <p:cNvSpPr/>
          <p:nvPr/>
        </p:nvSpPr>
        <p:spPr>
          <a:xfrm>
            <a:off x="256032" y="1371600"/>
            <a:ext cx="4224528" cy="64008"/>
          </a:xfrm>
          <a:prstGeom prst="rect">
            <a:avLst/>
          </a:prstGeom>
          <a:solidFill>
            <a:srgbClr val="00B4D8"/>
          </a:solidFill>
          <a:ln w="12700">
            <a:solidFill>
              <a:srgbClr val="00B4D8"/>
            </a:solidFill>
            <a:prstDash val="solid"/>
          </a:ln>
        </p:spPr>
        <p:txBody>
          <a:bodyPr/>
          <a:lstStyle/>
          <a:p>
            <a:endParaRPr/>
          </a:p>
        </p:txBody>
      </p:sp>
      <p:sp>
        <p:nvSpPr>
          <p:cNvPr id="9" name="Text 7"/>
          <p:cNvSpPr/>
          <p:nvPr/>
        </p:nvSpPr>
        <p:spPr>
          <a:xfrm>
            <a:off x="438912" y="1481328"/>
            <a:ext cx="3950208" cy="201168"/>
          </a:xfrm>
          <a:prstGeom prst="rect">
            <a:avLst/>
          </a:prstGeom>
          <a:noFill/>
          <a:ln/>
        </p:spPr>
        <p:txBody>
          <a:bodyPr wrap="square" lIns="0" tIns="0" rIns="0" bIns="0" rtlCol="0" anchor="ctr"/>
          <a:lstStyle/>
          <a:p>
            <a:pPr marL="0" indent="0">
              <a:buNone/>
            </a:pPr>
            <a:r>
              <a:rPr lang="en-US" sz="800" b="1" kern="0" spc="220" dirty="0">
                <a:solidFill>
                  <a:srgbClr val="00B4D8"/>
                </a:solidFill>
                <a:latin typeface="Calibri" pitchFamily="34" charset="0"/>
                <a:ea typeface="Calibri" pitchFamily="34" charset="-122"/>
                <a:cs typeface="Calibri" pitchFamily="34" charset="-120"/>
              </a:rPr>
              <a:t>FOCUS AREA 1</a:t>
            </a:r>
            <a:endParaRPr lang="en-US" sz="800" dirty="0"/>
          </a:p>
        </p:txBody>
      </p:sp>
      <p:sp>
        <p:nvSpPr>
          <p:cNvPr id="10" name="Text 8"/>
          <p:cNvSpPr/>
          <p:nvPr/>
        </p:nvSpPr>
        <p:spPr>
          <a:xfrm>
            <a:off x="438912" y="1645920"/>
            <a:ext cx="3950208" cy="320040"/>
          </a:xfrm>
          <a:prstGeom prst="rect">
            <a:avLst/>
          </a:prstGeom>
          <a:noFill/>
          <a:ln/>
        </p:spPr>
        <p:txBody>
          <a:bodyPr wrap="square" lIns="0" tIns="0" rIns="0" bIns="0" rtlCol="0" anchor="ctr"/>
          <a:lstStyle/>
          <a:p>
            <a:pPr marL="0" indent="0">
              <a:buNone/>
            </a:pPr>
            <a:r>
              <a:rPr lang="en-US" sz="1450" b="1" kern="0" spc="80" dirty="0">
                <a:solidFill>
                  <a:srgbClr val="0F203C"/>
                </a:solidFill>
                <a:latin typeface="Calibri" pitchFamily="34" charset="0"/>
                <a:ea typeface="Calibri" pitchFamily="34" charset="-122"/>
                <a:cs typeface="Calibri" pitchFamily="34" charset="-120"/>
              </a:rPr>
              <a:t>ADVANCED MATERIALS</a:t>
            </a:r>
            <a:endParaRPr lang="en-US" sz="1450" dirty="0"/>
          </a:p>
        </p:txBody>
      </p:sp>
      <p:sp>
        <p:nvSpPr>
          <p:cNvPr id="11" name="Text 9"/>
          <p:cNvSpPr/>
          <p:nvPr/>
        </p:nvSpPr>
        <p:spPr>
          <a:xfrm>
            <a:off x="438912" y="1947672"/>
            <a:ext cx="3950208" cy="292608"/>
          </a:xfrm>
          <a:prstGeom prst="rect">
            <a:avLst/>
          </a:prstGeom>
          <a:noFill/>
          <a:ln/>
        </p:spPr>
        <p:txBody>
          <a:bodyPr wrap="square" lIns="0" tIns="0" rIns="0" bIns="0" rtlCol="0" anchor="ctr"/>
          <a:lstStyle/>
          <a:p>
            <a:pPr marL="0" indent="0">
              <a:buNone/>
            </a:pPr>
            <a:r>
              <a:rPr lang="en-US" sz="950" i="1" dirty="0">
                <a:solidFill>
                  <a:srgbClr val="5580A0"/>
                </a:solidFill>
                <a:latin typeface="Calibri" pitchFamily="34" charset="0"/>
                <a:ea typeface="Calibri" pitchFamily="34" charset="-122"/>
                <a:cs typeface="Calibri" pitchFamily="34" charset="-120"/>
              </a:rPr>
              <a:t>Multi-Material Systems, Gradients &amp; Additive Processes</a:t>
            </a:r>
            <a:endParaRPr lang="en-US" sz="950" dirty="0"/>
          </a:p>
        </p:txBody>
      </p:sp>
      <p:sp>
        <p:nvSpPr>
          <p:cNvPr id="12" name="Shape 10"/>
          <p:cNvSpPr/>
          <p:nvPr/>
        </p:nvSpPr>
        <p:spPr>
          <a:xfrm>
            <a:off x="438912" y="2249424"/>
            <a:ext cx="3858768" cy="0"/>
          </a:xfrm>
          <a:prstGeom prst="line">
            <a:avLst/>
          </a:prstGeom>
          <a:noFill/>
          <a:ln w="9525">
            <a:solidFill>
              <a:srgbClr val="D6E4EF"/>
            </a:solidFill>
            <a:prstDash val="solid"/>
          </a:ln>
        </p:spPr>
        <p:txBody>
          <a:bodyPr/>
          <a:lstStyle/>
          <a:p>
            <a:endParaRPr/>
          </a:p>
        </p:txBody>
      </p:sp>
      <p:sp>
        <p:nvSpPr>
          <p:cNvPr id="13" name="Shape 11"/>
          <p:cNvSpPr/>
          <p:nvPr/>
        </p:nvSpPr>
        <p:spPr>
          <a:xfrm>
            <a:off x="438912" y="2377440"/>
            <a:ext cx="82296" cy="82296"/>
          </a:xfrm>
          <a:prstGeom prst="ellipse">
            <a:avLst/>
          </a:prstGeom>
          <a:solidFill>
            <a:srgbClr val="00B4D8"/>
          </a:solidFill>
          <a:ln w="12700">
            <a:solidFill>
              <a:srgbClr val="00B4D8"/>
            </a:solidFill>
            <a:prstDash val="solid"/>
          </a:ln>
        </p:spPr>
        <p:txBody>
          <a:bodyPr/>
          <a:lstStyle/>
          <a:p>
            <a:endParaRPr/>
          </a:p>
        </p:txBody>
      </p:sp>
      <p:sp>
        <p:nvSpPr>
          <p:cNvPr id="14" name="Text 12"/>
          <p:cNvSpPr/>
          <p:nvPr/>
        </p:nvSpPr>
        <p:spPr>
          <a:xfrm>
            <a:off x="585216" y="2322576"/>
            <a:ext cx="3712464" cy="566928"/>
          </a:xfrm>
          <a:prstGeom prst="rect">
            <a:avLst/>
          </a:prstGeom>
          <a:noFill/>
          <a:ln/>
        </p:spPr>
        <p:txBody>
          <a:bodyPr wrap="square" lIns="0" tIns="0" rIns="0" bIns="0" rtlCol="0" anchor="ctr"/>
          <a:lstStyle/>
          <a:p>
            <a:pPr marL="0" indent="0">
              <a:buNone/>
            </a:pPr>
            <a:r>
              <a:rPr lang="en-US" sz="950" b="1" dirty="0">
                <a:solidFill>
                  <a:srgbClr val="0F203C"/>
                </a:solidFill>
                <a:latin typeface="Calibri" pitchFamily="34" charset="0"/>
                <a:ea typeface="Calibri" pitchFamily="34" charset="-122"/>
                <a:cs typeface="Calibri" pitchFamily="34" charset="-120"/>
              </a:rPr>
              <a:t>Multi-Material TBCs: Solved the 1400°C CTE mismatch using an integrated Lanthanum Zirconate (LZO) ceramic coating coupled with a refractory HEA core.</a:t>
            </a:r>
            <a:endParaRPr lang="en-US" sz="950" dirty="0"/>
          </a:p>
        </p:txBody>
      </p:sp>
      <p:sp>
        <p:nvSpPr>
          <p:cNvPr id="15" name="Shape 13"/>
          <p:cNvSpPr/>
          <p:nvPr/>
        </p:nvSpPr>
        <p:spPr>
          <a:xfrm>
            <a:off x="438912" y="2953512"/>
            <a:ext cx="82296" cy="82296"/>
          </a:xfrm>
          <a:prstGeom prst="ellipse">
            <a:avLst/>
          </a:prstGeom>
          <a:solidFill>
            <a:srgbClr val="00B4D8"/>
          </a:solidFill>
          <a:ln w="12700">
            <a:solidFill>
              <a:srgbClr val="00B4D8"/>
            </a:solidFill>
            <a:prstDash val="solid"/>
          </a:ln>
        </p:spPr>
        <p:txBody>
          <a:bodyPr/>
          <a:lstStyle/>
          <a:p>
            <a:endParaRPr/>
          </a:p>
        </p:txBody>
      </p:sp>
      <p:sp>
        <p:nvSpPr>
          <p:cNvPr id="16" name="Text 14"/>
          <p:cNvSpPr/>
          <p:nvPr/>
        </p:nvSpPr>
        <p:spPr>
          <a:xfrm>
            <a:off x="585216" y="2898648"/>
            <a:ext cx="3712464" cy="548640"/>
          </a:xfrm>
          <a:prstGeom prst="rect">
            <a:avLst/>
          </a:prstGeom>
          <a:noFill/>
          <a:ln/>
        </p:spPr>
        <p:txBody>
          <a:bodyPr wrap="square" lIns="0" tIns="0" rIns="0" bIns="0" rtlCol="0" anchor="ctr"/>
          <a:lstStyle/>
          <a:p>
            <a:pPr marL="0" indent="0">
              <a:buNone/>
            </a:pPr>
            <a:r>
              <a:rPr lang="en-US" sz="950" b="1" dirty="0">
                <a:solidFill>
                  <a:srgbClr val="0F203C"/>
                </a:solidFill>
                <a:latin typeface="Calibri" pitchFamily="34" charset="0"/>
                <a:ea typeface="Calibri" pitchFamily="34" charset="-122"/>
                <a:cs typeface="Calibri" pitchFamily="34" charset="-120"/>
              </a:rPr>
              <a:t>Physical &amp; Mechanical Gradients: Our 11-layer Functionally Graded Material (FGM) completely eliminates macro-stress concentrations at the coating interface.</a:t>
            </a:r>
            <a:endParaRPr lang="en-US" sz="950" dirty="0"/>
          </a:p>
        </p:txBody>
      </p:sp>
      <p:sp>
        <p:nvSpPr>
          <p:cNvPr id="17" name="Shape 15"/>
          <p:cNvSpPr/>
          <p:nvPr/>
        </p:nvSpPr>
        <p:spPr>
          <a:xfrm>
            <a:off x="438912" y="3529584"/>
            <a:ext cx="82296" cy="82296"/>
          </a:xfrm>
          <a:prstGeom prst="ellipse">
            <a:avLst/>
          </a:prstGeom>
          <a:solidFill>
            <a:srgbClr val="00B4D8"/>
          </a:solidFill>
          <a:ln w="12700">
            <a:solidFill>
              <a:srgbClr val="00B4D8"/>
            </a:solidFill>
            <a:prstDash val="solid"/>
          </a:ln>
        </p:spPr>
        <p:txBody>
          <a:bodyPr/>
          <a:lstStyle/>
          <a:p>
            <a:endParaRPr/>
          </a:p>
        </p:txBody>
      </p:sp>
      <p:sp>
        <p:nvSpPr>
          <p:cNvPr id="18" name="Text 16"/>
          <p:cNvSpPr/>
          <p:nvPr/>
        </p:nvSpPr>
        <p:spPr>
          <a:xfrm>
            <a:off x="585216" y="3474720"/>
            <a:ext cx="3712464" cy="512064"/>
          </a:xfrm>
          <a:prstGeom prst="rect">
            <a:avLst/>
          </a:prstGeom>
          <a:noFill/>
          <a:ln/>
        </p:spPr>
        <p:txBody>
          <a:bodyPr wrap="square" lIns="0" tIns="0" rIns="0" bIns="0" rtlCol="0" anchor="ctr"/>
          <a:lstStyle/>
          <a:p>
            <a:pPr marL="0" indent="0">
              <a:buNone/>
            </a:pPr>
            <a:r>
              <a:rPr lang="en-US" sz="950" b="1" dirty="0">
                <a:solidFill>
                  <a:srgbClr val="0F203C"/>
                </a:solidFill>
                <a:latin typeface="Calibri" pitchFamily="34" charset="0"/>
                <a:ea typeface="Calibri" pitchFamily="34" charset="-122"/>
                <a:cs typeface="Calibri" pitchFamily="34" charset="-120"/>
              </a:rPr>
              <a:t>Hybrid Additive Processes: The entire architecture is formulated for immediate multi-hopper Laser Engineered Net Shaping (LENS / DED) 3D printing.</a:t>
            </a:r>
            <a:endParaRPr lang="en-US" sz="950" dirty="0"/>
          </a:p>
        </p:txBody>
      </p:sp>
      <p:sp>
        <p:nvSpPr>
          <p:cNvPr id="19" name="Shape 17"/>
          <p:cNvSpPr/>
          <p:nvPr/>
        </p:nvSpPr>
        <p:spPr>
          <a:xfrm>
            <a:off x="4663440" y="1371600"/>
            <a:ext cx="4224528" cy="3108960"/>
          </a:xfrm>
          <a:prstGeom prst="rect">
            <a:avLst/>
          </a:prstGeom>
          <a:solidFill>
            <a:srgbClr val="FFFFFF"/>
          </a:solidFill>
          <a:ln w="9525">
            <a:solidFill>
              <a:srgbClr val="D6E4EF"/>
            </a:solidFill>
            <a:prstDash val="solid"/>
          </a:ln>
          <a:effectLst>
            <a:outerShdw blurRad="63500" dist="25400" dir="8100000" algn="bl" rotWithShape="0">
              <a:srgbClr val="B0BECB">
                <a:alpha val="25000"/>
              </a:srgbClr>
            </a:outerShdw>
          </a:effectLst>
        </p:spPr>
        <p:txBody>
          <a:bodyPr/>
          <a:lstStyle/>
          <a:p>
            <a:endParaRPr/>
          </a:p>
        </p:txBody>
      </p:sp>
      <p:sp>
        <p:nvSpPr>
          <p:cNvPr id="20" name="Shape 18"/>
          <p:cNvSpPr/>
          <p:nvPr/>
        </p:nvSpPr>
        <p:spPr>
          <a:xfrm>
            <a:off x="4663440" y="1371600"/>
            <a:ext cx="4224528" cy="64008"/>
          </a:xfrm>
          <a:prstGeom prst="rect">
            <a:avLst/>
          </a:prstGeom>
          <a:solidFill>
            <a:srgbClr val="00B4D8"/>
          </a:solidFill>
          <a:ln w="12700">
            <a:solidFill>
              <a:srgbClr val="00B4D8"/>
            </a:solidFill>
            <a:prstDash val="solid"/>
          </a:ln>
        </p:spPr>
        <p:txBody>
          <a:bodyPr/>
          <a:lstStyle/>
          <a:p>
            <a:endParaRPr/>
          </a:p>
        </p:txBody>
      </p:sp>
      <p:sp>
        <p:nvSpPr>
          <p:cNvPr id="21" name="Text 19"/>
          <p:cNvSpPr/>
          <p:nvPr/>
        </p:nvSpPr>
        <p:spPr>
          <a:xfrm>
            <a:off x="4846320" y="1481328"/>
            <a:ext cx="3950208" cy="201168"/>
          </a:xfrm>
          <a:prstGeom prst="rect">
            <a:avLst/>
          </a:prstGeom>
          <a:noFill/>
          <a:ln/>
        </p:spPr>
        <p:txBody>
          <a:bodyPr wrap="square" lIns="0" tIns="0" rIns="0" bIns="0" rtlCol="0" anchor="ctr"/>
          <a:lstStyle/>
          <a:p>
            <a:pPr marL="0" indent="0">
              <a:buNone/>
            </a:pPr>
            <a:r>
              <a:rPr lang="en-US" sz="800" b="1" kern="0" spc="220" dirty="0">
                <a:solidFill>
                  <a:srgbClr val="00B4D8"/>
                </a:solidFill>
                <a:latin typeface="Calibri" pitchFamily="34" charset="0"/>
                <a:ea typeface="Calibri" pitchFamily="34" charset="-122"/>
                <a:cs typeface="Calibri" pitchFamily="34" charset="-120"/>
              </a:rPr>
              <a:t>FOCUS AREA 2</a:t>
            </a:r>
            <a:endParaRPr lang="en-US" sz="800" dirty="0"/>
          </a:p>
        </p:txBody>
      </p:sp>
      <p:sp>
        <p:nvSpPr>
          <p:cNvPr id="22" name="Text 20"/>
          <p:cNvSpPr/>
          <p:nvPr/>
        </p:nvSpPr>
        <p:spPr>
          <a:xfrm>
            <a:off x="4846320" y="1645920"/>
            <a:ext cx="3950208" cy="320040"/>
          </a:xfrm>
          <a:prstGeom prst="rect">
            <a:avLst/>
          </a:prstGeom>
          <a:noFill/>
          <a:ln/>
        </p:spPr>
        <p:txBody>
          <a:bodyPr wrap="square" lIns="0" tIns="0" rIns="0" bIns="0" rtlCol="0" anchor="ctr"/>
          <a:lstStyle/>
          <a:p>
            <a:pPr marL="0" indent="0">
              <a:buNone/>
            </a:pPr>
            <a:r>
              <a:rPr lang="en-US" sz="1250" b="1" kern="0" spc="60" dirty="0">
                <a:solidFill>
                  <a:srgbClr val="0F203C"/>
                </a:solidFill>
                <a:latin typeface="Calibri" pitchFamily="34" charset="0"/>
                <a:ea typeface="Calibri" pitchFamily="34" charset="-122"/>
                <a:cs typeface="Calibri" pitchFamily="34" charset="-120"/>
              </a:rPr>
              <a:t>INDUSTRY 4.0 &amp; AI</a:t>
            </a:r>
            <a:endParaRPr lang="en-US" sz="1250" dirty="0"/>
          </a:p>
        </p:txBody>
      </p:sp>
      <p:sp>
        <p:nvSpPr>
          <p:cNvPr id="23" name="Text 21"/>
          <p:cNvSpPr/>
          <p:nvPr/>
        </p:nvSpPr>
        <p:spPr>
          <a:xfrm>
            <a:off x="4846320" y="1947672"/>
            <a:ext cx="3950208" cy="292608"/>
          </a:xfrm>
          <a:prstGeom prst="rect">
            <a:avLst/>
          </a:prstGeom>
          <a:noFill/>
          <a:ln/>
        </p:spPr>
        <p:txBody>
          <a:bodyPr wrap="square" lIns="0" tIns="0" rIns="0" bIns="0" rtlCol="0" anchor="ctr"/>
          <a:lstStyle/>
          <a:p>
            <a:pPr marL="0" indent="0">
              <a:buNone/>
            </a:pPr>
            <a:r>
              <a:rPr lang="en-US" sz="950" i="1" dirty="0">
                <a:solidFill>
                  <a:srgbClr val="5580A0"/>
                </a:solidFill>
                <a:latin typeface="Calibri" pitchFamily="34" charset="0"/>
                <a:ea typeface="Calibri" pitchFamily="34" charset="-122"/>
                <a:cs typeface="Calibri" pitchFamily="34" charset="-120"/>
              </a:rPr>
              <a:t>AI-Driven Design, Simulation &amp; Digital Twins</a:t>
            </a:r>
            <a:endParaRPr lang="en-US" sz="950" dirty="0"/>
          </a:p>
        </p:txBody>
      </p:sp>
      <p:sp>
        <p:nvSpPr>
          <p:cNvPr id="24" name="Shape 22"/>
          <p:cNvSpPr/>
          <p:nvPr/>
        </p:nvSpPr>
        <p:spPr>
          <a:xfrm>
            <a:off x="4846320" y="2249424"/>
            <a:ext cx="3858768" cy="0"/>
          </a:xfrm>
          <a:prstGeom prst="line">
            <a:avLst/>
          </a:prstGeom>
          <a:noFill/>
          <a:ln w="9525">
            <a:solidFill>
              <a:srgbClr val="D6E4EF"/>
            </a:solidFill>
            <a:prstDash val="solid"/>
          </a:ln>
        </p:spPr>
        <p:txBody>
          <a:bodyPr/>
          <a:lstStyle/>
          <a:p>
            <a:endParaRPr/>
          </a:p>
        </p:txBody>
      </p:sp>
      <p:sp>
        <p:nvSpPr>
          <p:cNvPr id="25" name="Shape 23"/>
          <p:cNvSpPr/>
          <p:nvPr/>
        </p:nvSpPr>
        <p:spPr>
          <a:xfrm>
            <a:off x="4846320" y="2377440"/>
            <a:ext cx="82296" cy="82296"/>
          </a:xfrm>
          <a:prstGeom prst="ellipse">
            <a:avLst/>
          </a:prstGeom>
          <a:solidFill>
            <a:srgbClr val="00B4D8"/>
          </a:solidFill>
          <a:ln w="12700">
            <a:solidFill>
              <a:srgbClr val="00B4D8"/>
            </a:solidFill>
            <a:prstDash val="solid"/>
          </a:ln>
        </p:spPr>
        <p:txBody>
          <a:bodyPr/>
          <a:lstStyle/>
          <a:p>
            <a:endParaRPr/>
          </a:p>
        </p:txBody>
      </p:sp>
      <p:sp>
        <p:nvSpPr>
          <p:cNvPr id="26" name="Text 24"/>
          <p:cNvSpPr/>
          <p:nvPr/>
        </p:nvSpPr>
        <p:spPr>
          <a:xfrm>
            <a:off x="4992624" y="2322576"/>
            <a:ext cx="3712464" cy="566928"/>
          </a:xfrm>
          <a:prstGeom prst="rect">
            <a:avLst/>
          </a:prstGeom>
          <a:noFill/>
          <a:ln/>
        </p:spPr>
        <p:txBody>
          <a:bodyPr wrap="square" lIns="0" tIns="0" rIns="0" bIns="0" rtlCol="0" anchor="ctr"/>
          <a:lstStyle/>
          <a:p>
            <a:pPr marL="0" indent="0">
              <a:buNone/>
            </a:pPr>
            <a:r>
              <a:rPr lang="en-US" sz="950" b="1" dirty="0">
                <a:solidFill>
                  <a:srgbClr val="0F203C"/>
                </a:solidFill>
                <a:latin typeface="Calibri" pitchFamily="34" charset="0"/>
                <a:ea typeface="Calibri" pitchFamily="34" charset="-122"/>
                <a:cs typeface="Calibri" pitchFamily="34" charset="-120"/>
              </a:rPr>
              <a:t>AI for Composite Architectures: Deployed Constrained Differential Evolution (DE) combined with Random Forest surrogates to navigate a 9-element hypercube in minutes.</a:t>
            </a:r>
            <a:endParaRPr lang="en-US" sz="950" dirty="0"/>
          </a:p>
        </p:txBody>
      </p:sp>
      <p:sp>
        <p:nvSpPr>
          <p:cNvPr id="27" name="Shape 25"/>
          <p:cNvSpPr/>
          <p:nvPr/>
        </p:nvSpPr>
        <p:spPr>
          <a:xfrm>
            <a:off x="4846320" y="2953512"/>
            <a:ext cx="82296" cy="82296"/>
          </a:xfrm>
          <a:prstGeom prst="ellipse">
            <a:avLst/>
          </a:prstGeom>
          <a:solidFill>
            <a:srgbClr val="00B4D8"/>
          </a:solidFill>
          <a:ln w="12700">
            <a:solidFill>
              <a:srgbClr val="00B4D8"/>
            </a:solidFill>
            <a:prstDash val="solid"/>
          </a:ln>
        </p:spPr>
        <p:txBody>
          <a:bodyPr/>
          <a:lstStyle/>
          <a:p>
            <a:endParaRPr/>
          </a:p>
        </p:txBody>
      </p:sp>
      <p:sp>
        <p:nvSpPr>
          <p:cNvPr id="28" name="Text 26"/>
          <p:cNvSpPr/>
          <p:nvPr/>
        </p:nvSpPr>
        <p:spPr>
          <a:xfrm>
            <a:off x="4992624" y="2898648"/>
            <a:ext cx="3712464" cy="548640"/>
          </a:xfrm>
          <a:prstGeom prst="rect">
            <a:avLst/>
          </a:prstGeom>
          <a:noFill/>
          <a:ln/>
        </p:spPr>
        <p:txBody>
          <a:bodyPr wrap="square" lIns="0" tIns="0" rIns="0" bIns="0" rtlCol="0" anchor="ctr"/>
          <a:lstStyle/>
          <a:p>
            <a:pPr marL="0" indent="0">
              <a:buNone/>
            </a:pPr>
            <a:r>
              <a:rPr lang="en-US" sz="950" b="1" dirty="0">
                <a:solidFill>
                  <a:srgbClr val="0F203C"/>
                </a:solidFill>
                <a:latin typeface="Calibri" pitchFamily="34" charset="0"/>
                <a:ea typeface="Calibri" pitchFamily="34" charset="-122"/>
                <a:cs typeface="Calibri" pitchFamily="34" charset="-120"/>
              </a:rPr>
              <a:t>Numerical Performance Simulation: Validated candidates via 3D FEniCS FEA stress grids (Aerospace SF = 1.71) and MACE/CHGNet ML Force Field Molecular Dynamics.</a:t>
            </a:r>
            <a:endParaRPr lang="en-US" sz="950" dirty="0"/>
          </a:p>
        </p:txBody>
      </p:sp>
      <p:sp>
        <p:nvSpPr>
          <p:cNvPr id="29" name="Shape 27"/>
          <p:cNvSpPr/>
          <p:nvPr/>
        </p:nvSpPr>
        <p:spPr>
          <a:xfrm>
            <a:off x="4846320" y="3529584"/>
            <a:ext cx="82296" cy="82296"/>
          </a:xfrm>
          <a:prstGeom prst="ellipse">
            <a:avLst/>
          </a:prstGeom>
          <a:solidFill>
            <a:srgbClr val="00B4D8"/>
          </a:solidFill>
          <a:ln w="12700">
            <a:solidFill>
              <a:srgbClr val="00B4D8"/>
            </a:solidFill>
            <a:prstDash val="solid"/>
          </a:ln>
        </p:spPr>
        <p:txBody>
          <a:bodyPr/>
          <a:lstStyle/>
          <a:p>
            <a:endParaRPr/>
          </a:p>
        </p:txBody>
      </p:sp>
      <p:sp>
        <p:nvSpPr>
          <p:cNvPr id="30" name="Text 28"/>
          <p:cNvSpPr/>
          <p:nvPr/>
        </p:nvSpPr>
        <p:spPr>
          <a:xfrm>
            <a:off x="4992624" y="3474720"/>
            <a:ext cx="3712464" cy="512064"/>
          </a:xfrm>
          <a:prstGeom prst="rect">
            <a:avLst/>
          </a:prstGeom>
          <a:noFill/>
          <a:ln/>
        </p:spPr>
        <p:txBody>
          <a:bodyPr wrap="square" lIns="0" tIns="0" rIns="0" bIns="0" rtlCol="0" anchor="ctr"/>
          <a:lstStyle/>
          <a:p>
            <a:pPr marL="0" indent="0">
              <a:buNone/>
            </a:pPr>
            <a:r>
              <a:rPr lang="en-US" sz="950" b="1" dirty="0">
                <a:solidFill>
                  <a:srgbClr val="0F203C"/>
                </a:solidFill>
                <a:latin typeface="Calibri" pitchFamily="34" charset="0"/>
                <a:ea typeface="Calibri" pitchFamily="34" charset="-122"/>
                <a:cs typeface="Calibri" pitchFamily="34" charset="-120"/>
              </a:rPr>
              <a:t>Hybrid Chemical Gradients: Automatically converts continuous AI property curves into discrete, print-ready metal-ceramic gradient parameters.</a:t>
            </a:r>
            <a:endParaRPr lang="en-US" sz="950" dirty="0"/>
          </a:p>
        </p:txBody>
      </p:sp>
      <p:sp>
        <p:nvSpPr>
          <p:cNvPr id="31" name="Shape 29"/>
          <p:cNvSpPr/>
          <p:nvPr/>
        </p:nvSpPr>
        <p:spPr>
          <a:xfrm>
            <a:off x="0" y="4599432"/>
            <a:ext cx="9144000" cy="45720"/>
          </a:xfrm>
          <a:prstGeom prst="rect">
            <a:avLst/>
          </a:prstGeom>
          <a:solidFill>
            <a:srgbClr val="00B4D8"/>
          </a:solidFill>
          <a:ln w="12700">
            <a:solidFill>
              <a:srgbClr val="00B4D8"/>
            </a:solidFill>
            <a:prstDash val="solid"/>
          </a:ln>
        </p:spPr>
        <p:txBody>
          <a:bodyPr/>
          <a:lstStyle/>
          <a:p>
            <a:endParaRPr/>
          </a:p>
        </p:txBody>
      </p:sp>
      <p:sp>
        <p:nvSpPr>
          <p:cNvPr id="32" name="Shape 30"/>
          <p:cNvSpPr/>
          <p:nvPr/>
        </p:nvSpPr>
        <p:spPr>
          <a:xfrm>
            <a:off x="0" y="4645152"/>
            <a:ext cx="9144000" cy="493776"/>
          </a:xfrm>
          <a:prstGeom prst="rect">
            <a:avLst/>
          </a:prstGeom>
          <a:solidFill>
            <a:srgbClr val="0F203C"/>
          </a:solidFill>
          <a:ln w="12700">
            <a:solidFill>
              <a:srgbClr val="0F203C"/>
            </a:solidFill>
            <a:prstDash val="solid"/>
          </a:ln>
        </p:spPr>
        <p:txBody>
          <a:bodyPr/>
          <a:lstStyle/>
          <a:p>
            <a:endParaRPr/>
          </a:p>
        </p:txBody>
      </p:sp>
      <p:sp>
        <p:nvSpPr>
          <p:cNvPr id="33" name="Shape 31"/>
          <p:cNvSpPr/>
          <p:nvPr/>
        </p:nvSpPr>
        <p:spPr>
          <a:xfrm>
            <a:off x="256032" y="4718304"/>
            <a:ext cx="1417320" cy="292608"/>
          </a:xfrm>
          <a:prstGeom prst="rect">
            <a:avLst/>
          </a:prstGeom>
          <a:solidFill>
            <a:srgbClr val="00B4D8"/>
          </a:solidFill>
          <a:ln w="12700">
            <a:solidFill>
              <a:srgbClr val="00B4D8"/>
            </a:solidFill>
            <a:prstDash val="solid"/>
          </a:ln>
        </p:spPr>
        <p:txBody>
          <a:bodyPr/>
          <a:lstStyle/>
          <a:p>
            <a:endParaRPr/>
          </a:p>
        </p:txBody>
      </p:sp>
      <p:sp>
        <p:nvSpPr>
          <p:cNvPr id="34" name="Text 32"/>
          <p:cNvSpPr/>
          <p:nvPr/>
        </p:nvSpPr>
        <p:spPr>
          <a:xfrm>
            <a:off x="256032" y="4718304"/>
            <a:ext cx="1417320" cy="292608"/>
          </a:xfrm>
          <a:prstGeom prst="rect">
            <a:avLst/>
          </a:prstGeom>
          <a:noFill/>
          <a:ln/>
        </p:spPr>
        <p:txBody>
          <a:bodyPr wrap="square" lIns="0" tIns="0" rIns="0" bIns="0" rtlCol="0" anchor="ctr"/>
          <a:lstStyle/>
          <a:p>
            <a:pPr marL="0" indent="0" algn="ctr">
              <a:buNone/>
            </a:pPr>
            <a:r>
              <a:rPr lang="en-US" sz="750" b="1" kern="0" spc="150" dirty="0">
                <a:solidFill>
                  <a:srgbClr val="0F203C"/>
                </a:solidFill>
                <a:latin typeface="Calibri" pitchFamily="34" charset="0"/>
                <a:ea typeface="Calibri" pitchFamily="34" charset="-122"/>
                <a:cs typeface="Calibri" pitchFamily="34" charset="-120"/>
              </a:rPr>
              <a:t>THE UNIFIED SOLUTION</a:t>
            </a:r>
            <a:endParaRPr lang="en-US" sz="750" dirty="0"/>
          </a:p>
        </p:txBody>
      </p:sp>
      <p:sp>
        <p:nvSpPr>
          <p:cNvPr id="35" name="Shape 33"/>
          <p:cNvSpPr/>
          <p:nvPr/>
        </p:nvSpPr>
        <p:spPr>
          <a:xfrm>
            <a:off x="1828800" y="4709160"/>
            <a:ext cx="0" cy="310896"/>
          </a:xfrm>
          <a:prstGeom prst="line">
            <a:avLst/>
          </a:prstGeom>
          <a:noFill/>
          <a:ln w="19050">
            <a:solidFill>
              <a:srgbClr val="1E3A57"/>
            </a:solidFill>
            <a:prstDash val="solid"/>
          </a:ln>
        </p:spPr>
        <p:txBody>
          <a:bodyPr/>
          <a:lstStyle/>
          <a:p>
            <a:endParaRPr/>
          </a:p>
        </p:txBody>
      </p:sp>
      <p:sp>
        <p:nvSpPr>
          <p:cNvPr id="36" name="Text 34"/>
          <p:cNvSpPr/>
          <p:nvPr/>
        </p:nvSpPr>
        <p:spPr>
          <a:xfrm>
            <a:off x="1993392" y="4690872"/>
            <a:ext cx="6949440" cy="384048"/>
          </a:xfrm>
          <a:prstGeom prst="rect">
            <a:avLst/>
          </a:prstGeom>
          <a:noFill/>
          <a:ln/>
        </p:spPr>
        <p:txBody>
          <a:bodyPr wrap="square" lIns="0" tIns="0" rIns="0" bIns="0" rtlCol="0" anchor="ctr"/>
          <a:lstStyle/>
          <a:p>
            <a:pPr marL="0" indent="0">
              <a:buNone/>
            </a:pPr>
            <a:r>
              <a:rPr lang="en-US" sz="1100" dirty="0">
                <a:solidFill>
                  <a:srgbClr val="D0E8F5"/>
                </a:solidFill>
                <a:latin typeface="Calibri" pitchFamily="34" charset="0"/>
                <a:ea typeface="Calibri" pitchFamily="34" charset="-122"/>
                <a:cs typeface="Calibri" pitchFamily="34" charset="-120"/>
              </a:rPr>
              <a:t>Crystal Paradigm does not just provide a material (Focus Area 1) or software (Focus Area 2) - we provide a complete, unbroken data-to-manufacturing pipeline.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8"/>
        <p:cNvGrpSpPr/>
        <p:nvPr/>
      </p:nvGrpSpPr>
      <p:grpSpPr>
        <a:xfrm>
          <a:off x="0" y="0"/>
          <a:ext cx="0" cy="0"/>
          <a:chOff x="0" y="0"/>
          <a:chExt cx="0" cy="0"/>
        </a:xfrm>
      </p:grpSpPr>
      <p:sp>
        <p:nvSpPr>
          <p:cNvPr id="109" name="Google Shape;109;p1"/>
          <p:cNvSpPr/>
          <p:nvPr/>
        </p:nvSpPr>
        <p:spPr>
          <a:xfrm>
            <a:off x="1267123" y="3564731"/>
            <a:ext cx="1123500" cy="155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2BDEFD"/>
              </a:buClr>
              <a:buSzPts val="950"/>
              <a:buFont typeface="Inter"/>
              <a:buNone/>
            </a:pPr>
            <a:endParaRPr sz="950" b="0" i="0" u="none" strike="noStrike" cap="none">
              <a:solidFill>
                <a:schemeClr val="dk1"/>
              </a:solidFill>
              <a:latin typeface="Calibri"/>
              <a:ea typeface="Calibri"/>
              <a:cs typeface="Calibri"/>
              <a:sym typeface="Calibri"/>
            </a:endParaRPr>
          </a:p>
        </p:txBody>
      </p:sp>
      <p:sp>
        <p:nvSpPr>
          <p:cNvPr id="110" name="Google Shape;110;p1"/>
          <p:cNvSpPr/>
          <p:nvPr/>
        </p:nvSpPr>
        <p:spPr>
          <a:xfrm>
            <a:off x="428625" y="381000"/>
            <a:ext cx="8286900" cy="571500"/>
          </a:xfrm>
          <a:prstGeom prst="rect">
            <a:avLst/>
          </a:prstGeom>
          <a:solidFill>
            <a:srgbClr val="000000">
              <a:alpha val="0"/>
            </a:srgbClr>
          </a:solidFill>
          <a:ln>
            <a:noFill/>
          </a:ln>
        </p:spPr>
        <p:txBody>
          <a:bodyPr spcFirstLastPara="1" wrap="square" lIns="0" tIns="0" rIns="0" bIns="0" anchor="t" anchorCtr="0">
            <a:spAutoFit/>
          </a:bodyPr>
          <a:lstStyle/>
          <a:p>
            <a:pPr marL="0" lvl="0" indent="0" algn="l" rtl="0">
              <a:spcBef>
                <a:spcPts val="0"/>
              </a:spcBef>
              <a:spcAft>
                <a:spcPts val="0"/>
              </a:spcAft>
              <a:buNone/>
            </a:pPr>
            <a:r>
              <a:rPr lang="en-US" sz="1820" b="1">
                <a:solidFill>
                  <a:srgbClr val="1A365D"/>
                </a:solidFill>
                <a:latin typeface="Space Grotesk"/>
                <a:ea typeface="Space Grotesk"/>
                <a:cs typeface="Space Grotesk"/>
                <a:sym typeface="Space Grotesk"/>
              </a:rPr>
              <a:t>CRYSTAL PARADIGM FOR EXTREME-ENVIRONMENT ADVANCED MATERIALS</a:t>
            </a:r>
            <a:endParaRPr sz="1820" b="1">
              <a:solidFill>
                <a:srgbClr val="1A365D"/>
              </a:solidFill>
              <a:latin typeface="Space Grotesk"/>
              <a:ea typeface="Space Grotesk"/>
              <a:cs typeface="Space Grotesk"/>
              <a:sym typeface="Space Grotesk"/>
            </a:endParaRPr>
          </a:p>
        </p:txBody>
      </p:sp>
      <p:sp>
        <p:nvSpPr>
          <p:cNvPr id="111" name="Google Shape;111;p1"/>
          <p:cNvSpPr/>
          <p:nvPr/>
        </p:nvSpPr>
        <p:spPr>
          <a:xfrm>
            <a:off x="428625" y="1000125"/>
            <a:ext cx="8286900" cy="285900"/>
          </a:xfrm>
          <a:prstGeom prst="rect">
            <a:avLst/>
          </a:prstGeom>
          <a:solidFill>
            <a:srgbClr val="000000">
              <a:alpha val="0"/>
            </a:srgbClr>
          </a:solidFill>
          <a:ln>
            <a:noFill/>
          </a:ln>
        </p:spPr>
        <p:txBody>
          <a:bodyPr spcFirstLastPara="1" wrap="square" lIns="0" tIns="0" rIns="0" bIns="0" anchor="t" anchorCtr="0">
            <a:spAutoFit/>
          </a:bodyPr>
          <a:lstStyle/>
          <a:p>
            <a:pPr marL="0" lvl="0" indent="0" algn="l" rtl="0">
              <a:spcBef>
                <a:spcPts val="0"/>
              </a:spcBef>
              <a:spcAft>
                <a:spcPts val="0"/>
              </a:spcAft>
              <a:buNone/>
            </a:pPr>
            <a:r>
              <a:rPr lang="en-US" sz="1600" b="0">
                <a:solidFill>
                  <a:srgbClr val="2BDEFD"/>
                </a:solidFill>
                <a:latin typeface="Space Grotesk SemiBold"/>
                <a:ea typeface="Space Grotesk SemiBold"/>
                <a:cs typeface="Space Grotesk SemiBold"/>
                <a:sym typeface="Space Grotesk SemiBold"/>
              </a:rPr>
              <a:t>AI-Driven Inverse Design of Graded Transpiration Shields</a:t>
            </a:r>
            <a:endParaRPr sz="1600" b="0">
              <a:solidFill>
                <a:srgbClr val="2BDEFD"/>
              </a:solidFill>
              <a:latin typeface="Space Grotesk SemiBold"/>
              <a:ea typeface="Space Grotesk SemiBold"/>
              <a:cs typeface="Space Grotesk SemiBold"/>
              <a:sym typeface="Space Grotesk SemiBold"/>
            </a:endParaRPr>
          </a:p>
        </p:txBody>
      </p:sp>
      <p:grpSp>
        <p:nvGrpSpPr>
          <p:cNvPr id="112" name="Google Shape;112;p1"/>
          <p:cNvGrpSpPr/>
          <p:nvPr/>
        </p:nvGrpSpPr>
        <p:grpSpPr>
          <a:xfrm>
            <a:off x="428625" y="1524000"/>
            <a:ext cx="3238500" cy="3238500"/>
            <a:chOff x="428625" y="1524000"/>
            <a:chExt cx="3238500" cy="3238500"/>
          </a:xfrm>
        </p:grpSpPr>
        <p:pic>
          <p:nvPicPr>
            <p:cNvPr id="113" name="Google Shape;113;p1" descr="A high-tech, futuristic cross-section of a 3D-printed aerospace material shield with visible 11-layers, showing a gradient from a metallic base to a white ceramic coating, glowing with extreme heat (1400C) on one side, photorealistic, cinematic lighting, laboratory setting."/>
            <p:cNvPicPr preferRelativeResize="0"/>
            <p:nvPr/>
          </p:nvPicPr>
          <p:blipFill rotWithShape="1">
            <a:blip r:embed="rId4">
              <a:alphaModFix/>
            </a:blip>
            <a:srcRect/>
            <a:stretch/>
          </p:blipFill>
          <p:spPr>
            <a:xfrm>
              <a:off x="428625" y="1524000"/>
              <a:ext cx="3238500" cy="3238500"/>
            </a:xfrm>
            <a:prstGeom prst="roundRect">
              <a:avLst>
                <a:gd name="adj" fmla="val 5882"/>
              </a:avLst>
            </a:prstGeom>
            <a:noFill/>
            <a:ln>
              <a:noFill/>
            </a:ln>
          </p:spPr>
        </p:pic>
        <p:sp>
          <p:nvSpPr>
            <p:cNvPr id="114" name="Google Shape;114;p1"/>
            <p:cNvSpPr/>
            <p:nvPr/>
          </p:nvSpPr>
          <p:spPr>
            <a:xfrm>
              <a:off x="428625" y="1524000"/>
              <a:ext cx="3238500" cy="3238500"/>
            </a:xfrm>
            <a:prstGeom prst="roundRect">
              <a:avLst>
                <a:gd name="adj" fmla="val 5882"/>
              </a:avLst>
            </a:prstGeom>
            <a:solidFill>
              <a:srgbClr val="000000">
                <a:alpha val="0"/>
              </a:srgbClr>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grpSp>
        <p:nvGrpSpPr>
          <p:cNvPr id="115" name="Google Shape;115;p1"/>
          <p:cNvGrpSpPr/>
          <p:nvPr/>
        </p:nvGrpSpPr>
        <p:grpSpPr>
          <a:xfrm>
            <a:off x="3952875" y="1524000"/>
            <a:ext cx="4762500" cy="3143175"/>
            <a:chOff x="3952875" y="1524000"/>
            <a:chExt cx="4762500" cy="3143175"/>
          </a:xfrm>
        </p:grpSpPr>
        <p:sp>
          <p:nvSpPr>
            <p:cNvPr id="116" name="Google Shape;116;p1"/>
            <p:cNvSpPr/>
            <p:nvPr/>
          </p:nvSpPr>
          <p:spPr>
            <a:xfrm>
              <a:off x="3952875" y="1524000"/>
              <a:ext cx="4762500" cy="714300"/>
            </a:xfrm>
            <a:prstGeom prst="roundRect">
              <a:avLst>
                <a:gd name="adj" fmla="val 13333"/>
              </a:avLst>
            </a:prstGeom>
            <a:solidFill>
              <a:srgbClr val="F8FA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17" name="Google Shape;117;p1"/>
            <p:cNvSpPr txBox="1"/>
            <p:nvPr/>
          </p:nvSpPr>
          <p:spPr>
            <a:xfrm>
              <a:off x="4095750" y="1524000"/>
              <a:ext cx="4476900" cy="7143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100" b="1">
                  <a:solidFill>
                    <a:srgbClr val="1A365D"/>
                  </a:solidFill>
                  <a:latin typeface="Space Grotesk"/>
                  <a:ea typeface="Space Grotesk"/>
                  <a:cs typeface="Space Grotesk"/>
                  <a:sym typeface="Space Grotesk"/>
                </a:rPr>
                <a:t>Integrated Multi-Material Architecture</a:t>
              </a:r>
              <a:endParaRPr sz="1100" b="1">
                <a:solidFill>
                  <a:srgbClr val="1A365D"/>
                </a:solidFill>
                <a:latin typeface="Space Grotesk"/>
                <a:ea typeface="Space Grotesk"/>
                <a:cs typeface="Space Grotesk"/>
                <a:sym typeface="Space Grotesk"/>
              </a:endParaRPr>
            </a:p>
            <a:p>
              <a:pPr marL="0" lvl="0" indent="0" algn="l" rtl="0">
                <a:spcBef>
                  <a:spcPts val="300"/>
                </a:spcBef>
                <a:spcAft>
                  <a:spcPts val="0"/>
                </a:spcAft>
                <a:buNone/>
              </a:pPr>
              <a:r>
                <a:rPr lang="en-US" sz="1000">
                  <a:solidFill>
                    <a:srgbClr val="475569"/>
                  </a:solidFill>
                  <a:latin typeface="Inter"/>
                  <a:ea typeface="Inter"/>
                  <a:cs typeface="Inter"/>
                  <a:sym typeface="Inter"/>
                </a:rPr>
                <a:t>Merging a high-temperature refractory HEA base with an 11-layer functionally graded LZO thermal barrier coating.</a:t>
              </a:r>
              <a:endParaRPr sz="1000">
                <a:solidFill>
                  <a:srgbClr val="475569"/>
                </a:solidFill>
                <a:latin typeface="Inter"/>
                <a:ea typeface="Inter"/>
                <a:cs typeface="Inter"/>
                <a:sym typeface="Inter"/>
              </a:endParaRPr>
            </a:p>
          </p:txBody>
        </p:sp>
        <p:sp>
          <p:nvSpPr>
            <p:cNvPr id="118" name="Google Shape;118;p1"/>
            <p:cNvSpPr/>
            <p:nvPr/>
          </p:nvSpPr>
          <p:spPr>
            <a:xfrm>
              <a:off x="3952875" y="2333625"/>
              <a:ext cx="4762500" cy="714300"/>
            </a:xfrm>
            <a:prstGeom prst="roundRect">
              <a:avLst>
                <a:gd name="adj" fmla="val 13333"/>
              </a:avLst>
            </a:prstGeom>
            <a:solidFill>
              <a:srgbClr val="FEF2F2"/>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19" name="Google Shape;119;p1"/>
            <p:cNvSpPr txBox="1"/>
            <p:nvPr/>
          </p:nvSpPr>
          <p:spPr>
            <a:xfrm>
              <a:off x="4095750" y="2333625"/>
              <a:ext cx="4476900" cy="7143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100" b="1">
                  <a:solidFill>
                    <a:srgbClr val="991B1B"/>
                  </a:solidFill>
                  <a:latin typeface="Space Grotesk"/>
                  <a:ea typeface="Space Grotesk"/>
                  <a:cs typeface="Space Grotesk"/>
                  <a:sym typeface="Space Grotesk"/>
                </a:rPr>
                <a:t>The Problem</a:t>
              </a:r>
              <a:endParaRPr sz="1100" b="1">
                <a:solidFill>
                  <a:srgbClr val="991B1B"/>
                </a:solidFill>
                <a:latin typeface="Space Grotesk"/>
                <a:ea typeface="Space Grotesk"/>
                <a:cs typeface="Space Grotesk"/>
                <a:sym typeface="Space Grotesk"/>
              </a:endParaRPr>
            </a:p>
            <a:p>
              <a:pPr marL="0" lvl="0" indent="0" algn="l" rtl="0">
                <a:spcBef>
                  <a:spcPts val="300"/>
                </a:spcBef>
                <a:spcAft>
                  <a:spcPts val="0"/>
                </a:spcAft>
                <a:buNone/>
              </a:pPr>
              <a:r>
                <a:rPr lang="en-US" sz="1000">
                  <a:solidFill>
                    <a:srgbClr val="475569"/>
                  </a:solidFill>
                  <a:latin typeface="Inter"/>
                  <a:ea typeface="Inter"/>
                  <a:cs typeface="Inter"/>
                  <a:sym typeface="Inter"/>
                </a:rPr>
                <a:t>Thermal fatigue from CTE mismatches at 1400°C causing interfacial shear stress and layer delamination.</a:t>
              </a:r>
              <a:endParaRPr sz="1000">
                <a:solidFill>
                  <a:srgbClr val="475569"/>
                </a:solidFill>
                <a:latin typeface="Inter"/>
                <a:ea typeface="Inter"/>
                <a:cs typeface="Inter"/>
                <a:sym typeface="Inter"/>
              </a:endParaRPr>
            </a:p>
          </p:txBody>
        </p:sp>
        <p:sp>
          <p:nvSpPr>
            <p:cNvPr id="120" name="Google Shape;120;p1"/>
            <p:cNvSpPr/>
            <p:nvPr/>
          </p:nvSpPr>
          <p:spPr>
            <a:xfrm>
              <a:off x="3952875" y="3143250"/>
              <a:ext cx="4762500" cy="714300"/>
            </a:xfrm>
            <a:prstGeom prst="roundRect">
              <a:avLst>
                <a:gd name="adj" fmla="val 13333"/>
              </a:avLst>
            </a:prstGeom>
            <a:solidFill>
              <a:srgbClr val="F0F9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21" name="Google Shape;121;p1"/>
            <p:cNvSpPr txBox="1"/>
            <p:nvPr/>
          </p:nvSpPr>
          <p:spPr>
            <a:xfrm>
              <a:off x="4095750" y="3143250"/>
              <a:ext cx="4476900" cy="7143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100" b="1">
                  <a:solidFill>
                    <a:srgbClr val="075985"/>
                  </a:solidFill>
                  <a:latin typeface="Space Grotesk"/>
                  <a:ea typeface="Space Grotesk"/>
                  <a:cs typeface="Space Grotesk"/>
                  <a:sym typeface="Space Grotesk"/>
                </a:rPr>
                <a:t>Current Status</a:t>
              </a:r>
              <a:endParaRPr sz="1100" b="1">
                <a:solidFill>
                  <a:srgbClr val="075985"/>
                </a:solidFill>
                <a:latin typeface="Space Grotesk"/>
                <a:ea typeface="Space Grotesk"/>
                <a:cs typeface="Space Grotesk"/>
                <a:sym typeface="Space Grotesk"/>
              </a:endParaRPr>
            </a:p>
            <a:p>
              <a:pPr marL="0" lvl="0" indent="0" algn="l" rtl="0">
                <a:spcBef>
                  <a:spcPts val="300"/>
                </a:spcBef>
                <a:spcAft>
                  <a:spcPts val="0"/>
                </a:spcAft>
                <a:buNone/>
              </a:pPr>
              <a:r>
                <a:rPr lang="en-US" sz="1000">
                  <a:solidFill>
                    <a:srgbClr val="475569"/>
                  </a:solidFill>
                  <a:latin typeface="Inter"/>
                  <a:ea typeface="Inter"/>
                  <a:cs typeface="Inter"/>
                  <a:sym typeface="Inter"/>
                </a:rPr>
                <a:t>TRL-3+ screening complete via physics-informed regressors and FEA/MD solvers; lab-backed prototyping ready.</a:t>
              </a:r>
              <a:endParaRPr sz="1000">
                <a:solidFill>
                  <a:srgbClr val="475569"/>
                </a:solidFill>
                <a:latin typeface="Inter"/>
                <a:ea typeface="Inter"/>
                <a:cs typeface="Inter"/>
                <a:sym typeface="Inter"/>
              </a:endParaRPr>
            </a:p>
          </p:txBody>
        </p:sp>
        <p:sp>
          <p:nvSpPr>
            <p:cNvPr id="122" name="Google Shape;122;p1"/>
            <p:cNvSpPr/>
            <p:nvPr/>
          </p:nvSpPr>
          <p:spPr>
            <a:xfrm>
              <a:off x="3952875" y="3952875"/>
              <a:ext cx="4762500" cy="714300"/>
            </a:xfrm>
            <a:prstGeom prst="roundRect">
              <a:avLst>
                <a:gd name="adj" fmla="val 13333"/>
              </a:avLst>
            </a:prstGeom>
            <a:solidFill>
              <a:srgbClr val="F0FDF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23" name="Google Shape;123;p1"/>
            <p:cNvSpPr txBox="1"/>
            <p:nvPr/>
          </p:nvSpPr>
          <p:spPr>
            <a:xfrm>
              <a:off x="4095750" y="3952875"/>
              <a:ext cx="4476900" cy="7143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100" b="1">
                  <a:solidFill>
                    <a:srgbClr val="166534"/>
                  </a:solidFill>
                  <a:latin typeface="Space Grotesk"/>
                  <a:ea typeface="Space Grotesk"/>
                  <a:cs typeface="Space Grotesk"/>
                  <a:sym typeface="Space Grotesk"/>
                </a:rPr>
                <a:t>The Strategic Ask</a:t>
              </a:r>
              <a:endParaRPr sz="1100" b="1">
                <a:solidFill>
                  <a:srgbClr val="166534"/>
                </a:solidFill>
                <a:latin typeface="Space Grotesk"/>
                <a:ea typeface="Space Grotesk"/>
                <a:cs typeface="Space Grotesk"/>
                <a:sym typeface="Space Grotesk"/>
              </a:endParaRPr>
            </a:p>
            <a:p>
              <a:pPr marL="0" lvl="0" indent="0" algn="l" rtl="0">
                <a:spcBef>
                  <a:spcPts val="300"/>
                </a:spcBef>
                <a:spcAft>
                  <a:spcPts val="0"/>
                </a:spcAft>
                <a:buNone/>
              </a:pPr>
              <a:r>
                <a:rPr lang="en-US" sz="1000">
                  <a:solidFill>
                    <a:srgbClr val="475569"/>
                  </a:solidFill>
                  <a:latin typeface="Inter"/>
                  <a:ea typeface="Inter"/>
                  <a:cs typeface="Inter"/>
                  <a:sym typeface="Inter"/>
                </a:rPr>
                <a:t>Access to IIT Delhi's materials characterization labs and Sona Comstar's industry mentorship for physical validation and TRL 4+ demonstration.</a:t>
              </a:r>
              <a:endParaRPr sz="1000">
                <a:solidFill>
                  <a:srgbClr val="475569"/>
                </a:solidFill>
                <a:latin typeface="Inter"/>
                <a:ea typeface="Inter"/>
                <a:cs typeface="Inter"/>
                <a:sym typeface="Inte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pic>
        <p:nvPicPr>
          <p:cNvPr id="129" name="Google Shape;129;p2" descr="preencoded.png"/>
          <p:cNvPicPr preferRelativeResize="0"/>
          <p:nvPr/>
        </p:nvPicPr>
        <p:blipFill rotWithShape="1">
          <a:blip r:embed="rId3">
            <a:alphaModFix/>
          </a:blip>
          <a:srcRect/>
          <a:stretch/>
        </p:blipFill>
        <p:spPr>
          <a:xfrm>
            <a:off x="0" y="0"/>
            <a:ext cx="9144000" cy="5143500"/>
          </a:xfrm>
          <a:prstGeom prst="rect">
            <a:avLst/>
          </a:prstGeom>
          <a:noFill/>
          <a:ln>
            <a:noFill/>
          </a:ln>
        </p:spPr>
      </p:pic>
      <p:sp>
        <p:nvSpPr>
          <p:cNvPr id="130" name="Google Shape;130;p2"/>
          <p:cNvSpPr/>
          <p:nvPr/>
        </p:nvSpPr>
        <p:spPr>
          <a:xfrm>
            <a:off x="428625" y="428625"/>
            <a:ext cx="8715375" cy="43755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2450"/>
              <a:buFont typeface="Space Grotesk SemiBold"/>
              <a:buNone/>
            </a:pPr>
            <a:r>
              <a:rPr lang="en-US" sz="2450" b="1" i="0" u="none" strike="noStrike" cap="none">
                <a:solidFill>
                  <a:srgbClr val="1A365D"/>
                </a:solidFill>
                <a:latin typeface="Space Grotesk SemiBold"/>
                <a:ea typeface="Space Grotesk SemiBold"/>
                <a:cs typeface="Space Grotesk SemiBold"/>
                <a:sym typeface="Space Grotesk SemiBold"/>
              </a:rPr>
              <a:t>WHY THIS MATTERS NOW</a:t>
            </a:r>
            <a:endParaRPr sz="2450" b="0" i="0" u="none" strike="noStrike" cap="none">
              <a:solidFill>
                <a:schemeClr val="dk1"/>
              </a:solidFill>
              <a:latin typeface="Calibri"/>
              <a:ea typeface="Calibri"/>
              <a:cs typeface="Calibri"/>
              <a:sym typeface="Calibri"/>
            </a:endParaRPr>
          </a:p>
        </p:txBody>
      </p:sp>
      <p:sp>
        <p:nvSpPr>
          <p:cNvPr id="131" name="Google Shape;131;p2"/>
          <p:cNvSpPr/>
          <p:nvPr/>
        </p:nvSpPr>
        <p:spPr>
          <a:xfrm>
            <a:off x="428625" y="937617"/>
            <a:ext cx="8715375" cy="21788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2BDEFD"/>
              </a:buClr>
              <a:buSzPts val="1200"/>
              <a:buFont typeface="Space Grotesk SemiBold"/>
              <a:buNone/>
            </a:pPr>
            <a:r>
              <a:rPr lang="en-US" sz="1200" b="0" i="0" u="none" strike="noStrike" cap="none">
                <a:solidFill>
                  <a:srgbClr val="2BDEFD"/>
                </a:solidFill>
                <a:latin typeface="Space Grotesk SemiBold"/>
                <a:ea typeface="Space Grotesk SemiBold"/>
                <a:cs typeface="Space Grotesk SemiBold"/>
                <a:sym typeface="Space Grotesk SemiBold"/>
              </a:rPr>
              <a:t>Addressing Extreme-Environment Industrial Imperatives and Supply Chain Resilience</a:t>
            </a:r>
            <a:endParaRPr sz="1200" b="0" i="0" u="none" strike="noStrike" cap="none">
              <a:solidFill>
                <a:schemeClr val="dk1"/>
              </a:solidFill>
              <a:latin typeface="Calibri"/>
              <a:ea typeface="Calibri"/>
              <a:cs typeface="Calibri"/>
              <a:sym typeface="Calibri"/>
            </a:endParaRPr>
          </a:p>
        </p:txBody>
      </p:sp>
      <p:sp>
        <p:nvSpPr>
          <p:cNvPr id="132" name="Google Shape;132;p2"/>
          <p:cNvSpPr/>
          <p:nvPr/>
        </p:nvSpPr>
        <p:spPr>
          <a:xfrm>
            <a:off x="600075" y="1441252"/>
            <a:ext cx="8115300" cy="1821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1000"/>
              <a:buFont typeface="Space Grotesk SemiBold"/>
              <a:buNone/>
            </a:pPr>
            <a:r>
              <a:rPr lang="en-US" sz="1000" b="1" i="0" u="none" strike="noStrike" cap="none" dirty="0">
                <a:solidFill>
                  <a:srgbClr val="1A365D"/>
                </a:solidFill>
                <a:latin typeface="Space Grotesk SemiBold"/>
                <a:ea typeface="Space Grotesk SemiBold"/>
                <a:cs typeface="Space Grotesk SemiBold"/>
                <a:sym typeface="Space Grotesk SemiBold"/>
              </a:rPr>
              <a:t>The Aerothermal Fire Limit</a:t>
            </a:r>
            <a:endParaRPr sz="1000" b="0" i="0" u="none" strike="noStrike" cap="none" dirty="0">
              <a:solidFill>
                <a:schemeClr val="dk1"/>
              </a:solidFill>
              <a:latin typeface="Calibri"/>
              <a:ea typeface="Calibri"/>
              <a:cs typeface="Calibri"/>
              <a:sym typeface="Calibri"/>
            </a:endParaRPr>
          </a:p>
        </p:txBody>
      </p:sp>
      <p:sp>
        <p:nvSpPr>
          <p:cNvPr id="133" name="Google Shape;133;p2"/>
          <p:cNvSpPr/>
          <p:nvPr/>
        </p:nvSpPr>
        <p:spPr>
          <a:xfrm>
            <a:off x="600075" y="1659136"/>
            <a:ext cx="8115300" cy="3429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111111"/>
              </a:buClr>
              <a:buSzPts val="850"/>
              <a:buFont typeface="Inter"/>
              <a:buNone/>
            </a:pPr>
            <a:r>
              <a:rPr lang="en-US" sz="850" b="0" i="0" u="none" strike="noStrike" cap="none">
                <a:solidFill>
                  <a:srgbClr val="111111"/>
                </a:solidFill>
                <a:latin typeface="Inter"/>
                <a:ea typeface="Inter"/>
                <a:cs typeface="Inter"/>
                <a:sym typeface="Inter"/>
              </a:rPr>
              <a:t>Next-generation turbine entries run at 1400^C (1673^K). These severe limits introduce extreme expansion stresses and oxidation kinetics that outpace legacy protective systems.</a:t>
            </a:r>
            <a:endParaRPr sz="850" b="0" i="0" u="none" strike="noStrike" cap="none">
              <a:solidFill>
                <a:schemeClr val="dk1"/>
              </a:solidFill>
              <a:latin typeface="Calibri"/>
              <a:ea typeface="Calibri"/>
              <a:cs typeface="Calibri"/>
              <a:sym typeface="Calibri"/>
            </a:endParaRPr>
          </a:p>
        </p:txBody>
      </p:sp>
      <p:sp>
        <p:nvSpPr>
          <p:cNvPr id="134" name="Google Shape;134;p2"/>
          <p:cNvSpPr/>
          <p:nvPr/>
        </p:nvSpPr>
        <p:spPr>
          <a:xfrm>
            <a:off x="600063" y="2182443"/>
            <a:ext cx="8115300" cy="182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1000"/>
              <a:buFont typeface="Space Grotesk SemiBold"/>
              <a:buNone/>
            </a:pPr>
            <a:r>
              <a:rPr lang="en-US" sz="1000" b="1" i="0" u="none" strike="noStrike" cap="none" dirty="0">
                <a:solidFill>
                  <a:srgbClr val="1A365D"/>
                </a:solidFill>
                <a:latin typeface="Space Grotesk SemiBold"/>
                <a:ea typeface="Space Grotesk SemiBold"/>
                <a:cs typeface="Space Grotesk SemiBold"/>
                <a:sym typeface="Space Grotesk SemiBold"/>
              </a:rPr>
              <a:t>Supply Chain Resilience</a:t>
            </a:r>
            <a:endParaRPr sz="1000" i="0" u="none" strike="noStrike" cap="none" dirty="0">
              <a:solidFill>
                <a:schemeClr val="dk1"/>
              </a:solidFill>
              <a:latin typeface="Calibri"/>
              <a:ea typeface="Calibri"/>
              <a:cs typeface="Calibri"/>
              <a:sym typeface="Calibri"/>
            </a:endParaRPr>
          </a:p>
        </p:txBody>
      </p:sp>
      <p:sp>
        <p:nvSpPr>
          <p:cNvPr id="135" name="Google Shape;135;p2"/>
          <p:cNvSpPr/>
          <p:nvPr/>
        </p:nvSpPr>
        <p:spPr>
          <a:xfrm>
            <a:off x="600075" y="2398534"/>
            <a:ext cx="8115300" cy="6000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111111"/>
              </a:buClr>
              <a:buSzPts val="850"/>
              <a:buFont typeface="Inter"/>
              <a:buNone/>
            </a:pPr>
            <a:r>
              <a:rPr lang="en-US" sz="850" b="0" i="0" u="none" strike="noStrike" cap="none">
                <a:solidFill>
                  <a:srgbClr val="111111"/>
                </a:solidFill>
                <a:latin typeface="Inter"/>
                <a:ea typeface="Inter"/>
                <a:cs typeface="Inter"/>
                <a:sym typeface="Inter"/>
              </a:rPr>
              <a:t>Conventional designs rely heavily on rare elements like Hafnium. Our solution intentionally limits high-risk dependencies to mitigate price volatility and supply chain exposure. </a:t>
            </a:r>
            <a:endParaRPr sz="850" b="0" i="0" u="none" strike="noStrike" cap="none">
              <a:solidFill>
                <a:srgbClr val="111111"/>
              </a:solidFill>
              <a:latin typeface="Inter"/>
              <a:ea typeface="Inter"/>
              <a:cs typeface="Inter"/>
              <a:sym typeface="Inter"/>
            </a:endParaRPr>
          </a:p>
          <a:p>
            <a:pPr marL="0" marR="0" lvl="0" indent="0" algn="l" rtl="0">
              <a:lnSpc>
                <a:spcPct val="120000"/>
              </a:lnSpc>
              <a:spcBef>
                <a:spcPts val="0"/>
              </a:spcBef>
              <a:spcAft>
                <a:spcPts val="0"/>
              </a:spcAft>
              <a:buClr>
                <a:srgbClr val="111111"/>
              </a:buClr>
              <a:buSzPts val="850"/>
              <a:buFont typeface="Inter"/>
              <a:buNone/>
            </a:pPr>
            <a:r>
              <a:rPr lang="en-US" sz="850">
                <a:solidFill>
                  <a:srgbClr val="111111"/>
                </a:solidFill>
                <a:latin typeface="Inter"/>
                <a:ea typeface="Inter"/>
                <a:cs typeface="Inter"/>
                <a:sym typeface="Inter"/>
              </a:rPr>
              <a:t>Directly aligned with next-generation open-rotor program targets for TET &gt; 1400°C and 20% SFC improvement.</a:t>
            </a:r>
            <a:endParaRPr sz="850">
              <a:solidFill>
                <a:srgbClr val="111111"/>
              </a:solidFill>
              <a:latin typeface="Inter"/>
              <a:ea typeface="Inter"/>
              <a:cs typeface="Inter"/>
              <a:sym typeface="Inter"/>
            </a:endParaRPr>
          </a:p>
          <a:p>
            <a:pPr marL="0" marR="0" lvl="0" indent="0" algn="l" rtl="0">
              <a:lnSpc>
                <a:spcPct val="120000"/>
              </a:lnSpc>
              <a:spcBef>
                <a:spcPts val="0"/>
              </a:spcBef>
              <a:spcAft>
                <a:spcPts val="0"/>
              </a:spcAft>
              <a:buClr>
                <a:srgbClr val="111111"/>
              </a:buClr>
              <a:buSzPts val="850"/>
              <a:buFont typeface="Inter"/>
              <a:buNone/>
            </a:pPr>
            <a:endParaRPr sz="850">
              <a:solidFill>
                <a:srgbClr val="111111"/>
              </a:solidFill>
              <a:latin typeface="Inter"/>
              <a:ea typeface="Inter"/>
              <a:cs typeface="Inter"/>
              <a:sym typeface="Inter"/>
            </a:endParaRPr>
          </a:p>
          <a:p>
            <a:pPr marL="0" marR="0" lvl="0" indent="0" algn="l" rtl="0">
              <a:lnSpc>
                <a:spcPct val="120000"/>
              </a:lnSpc>
              <a:spcBef>
                <a:spcPts val="0"/>
              </a:spcBef>
              <a:spcAft>
                <a:spcPts val="0"/>
              </a:spcAft>
              <a:buClr>
                <a:srgbClr val="111111"/>
              </a:buClr>
              <a:buSzPts val="850"/>
              <a:buFont typeface="Inter"/>
              <a:buNone/>
            </a:pPr>
            <a:endParaRPr sz="850">
              <a:solidFill>
                <a:srgbClr val="111111"/>
              </a:solidFill>
              <a:latin typeface="Inter"/>
              <a:ea typeface="Inter"/>
              <a:cs typeface="Inter"/>
              <a:sym typeface="Inter"/>
            </a:endParaRPr>
          </a:p>
          <a:p>
            <a:pPr marL="0" marR="0" lvl="0" indent="0" algn="l" rtl="0">
              <a:lnSpc>
                <a:spcPct val="120000"/>
              </a:lnSpc>
              <a:spcBef>
                <a:spcPts val="0"/>
              </a:spcBef>
              <a:spcAft>
                <a:spcPts val="0"/>
              </a:spcAft>
              <a:buClr>
                <a:srgbClr val="111111"/>
              </a:buClr>
              <a:buSzPts val="850"/>
              <a:buFont typeface="Inter"/>
              <a:buNone/>
            </a:pPr>
            <a:endParaRPr sz="850">
              <a:solidFill>
                <a:srgbClr val="111111"/>
              </a:solidFill>
              <a:latin typeface="Inter"/>
              <a:ea typeface="Inter"/>
              <a:cs typeface="Inter"/>
              <a:sym typeface="Inter"/>
            </a:endParaRPr>
          </a:p>
        </p:txBody>
      </p:sp>
      <p:sp>
        <p:nvSpPr>
          <p:cNvPr id="136" name="Google Shape;136;p2"/>
          <p:cNvSpPr/>
          <p:nvPr/>
        </p:nvSpPr>
        <p:spPr>
          <a:xfrm>
            <a:off x="578644" y="3391495"/>
            <a:ext cx="2319319" cy="16430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2BDEFD"/>
              </a:buClr>
              <a:buSzPts val="900"/>
              <a:buFont typeface="Space Grotesk SemiBold"/>
              <a:buNone/>
            </a:pPr>
            <a:r>
              <a:rPr lang="en-US" sz="900" b="0" i="0" u="none" strike="noStrike" cap="none">
                <a:solidFill>
                  <a:srgbClr val="2BDEFD"/>
                </a:solidFill>
                <a:latin typeface="Space Grotesk SemiBold"/>
                <a:ea typeface="Space Grotesk SemiBold"/>
                <a:cs typeface="Space Grotesk SemiBold"/>
                <a:sym typeface="Space Grotesk SemiBold"/>
              </a:rPr>
              <a:t>FUEL BURN</a:t>
            </a:r>
            <a:endParaRPr sz="900" b="0" i="0" u="none" strike="noStrike" cap="none">
              <a:solidFill>
                <a:schemeClr val="dk1"/>
              </a:solidFill>
              <a:latin typeface="Calibri"/>
              <a:ea typeface="Calibri"/>
              <a:cs typeface="Calibri"/>
              <a:sym typeface="Calibri"/>
            </a:endParaRPr>
          </a:p>
        </p:txBody>
      </p:sp>
      <p:sp>
        <p:nvSpPr>
          <p:cNvPr id="137" name="Google Shape;137;p2"/>
          <p:cNvSpPr/>
          <p:nvPr/>
        </p:nvSpPr>
        <p:spPr>
          <a:xfrm>
            <a:off x="578644" y="3662958"/>
            <a:ext cx="2319319" cy="450056"/>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1A365D"/>
              </a:buClr>
              <a:buSzPts val="750"/>
              <a:buFont typeface="Inter"/>
              <a:buNone/>
            </a:pPr>
            <a:r>
              <a:rPr lang="en-US" sz="750" b="1" i="0" u="none" strike="noStrike" cap="none">
                <a:solidFill>
                  <a:srgbClr val="1A365D"/>
                </a:solidFill>
                <a:latin typeface="Inter"/>
                <a:ea typeface="Inter"/>
                <a:cs typeface="Inter"/>
                <a:sym typeface="Inter"/>
              </a:rPr>
              <a:t>15% reduction</a:t>
            </a:r>
            <a:r>
              <a:rPr lang="en-US" sz="800" b="0" i="0" u="none" strike="noStrike" cap="none">
                <a:solidFill>
                  <a:srgbClr val="111111"/>
                </a:solidFill>
                <a:latin typeface="Inter"/>
                <a:ea typeface="Inter"/>
                <a:cs typeface="Inter"/>
                <a:sym typeface="Inter"/>
              </a:rPr>
              <a:t> in compressor parasitic bleed air, driving an immediate </a:t>
            </a:r>
            <a:r>
              <a:rPr lang="en-US" sz="750" b="1" i="0" u="none" strike="noStrike" cap="none">
                <a:solidFill>
                  <a:srgbClr val="1A365D"/>
                </a:solidFill>
                <a:latin typeface="Inter"/>
                <a:ea typeface="Inter"/>
                <a:cs typeface="Inter"/>
                <a:sym typeface="Inter"/>
              </a:rPr>
              <a:t>1.5% net reduction</a:t>
            </a:r>
            <a:r>
              <a:rPr lang="en-US" sz="800" b="0" i="0" u="none" strike="noStrike" cap="none">
                <a:solidFill>
                  <a:srgbClr val="111111"/>
                </a:solidFill>
                <a:latin typeface="Inter"/>
                <a:ea typeface="Inter"/>
                <a:cs typeface="Inter"/>
                <a:sym typeface="Inter"/>
              </a:rPr>
              <a:t> in Specific Fuel Consumption (SFC).</a:t>
            </a:r>
            <a:endParaRPr sz="800" b="0" i="0" u="none" strike="noStrike" cap="none">
              <a:solidFill>
                <a:schemeClr val="dk1"/>
              </a:solidFill>
              <a:latin typeface="Calibri"/>
              <a:ea typeface="Calibri"/>
              <a:cs typeface="Calibri"/>
              <a:sym typeface="Calibri"/>
            </a:endParaRPr>
          </a:p>
        </p:txBody>
      </p:sp>
      <p:sp>
        <p:nvSpPr>
          <p:cNvPr id="138" name="Google Shape;138;p2"/>
          <p:cNvSpPr/>
          <p:nvPr/>
        </p:nvSpPr>
        <p:spPr>
          <a:xfrm>
            <a:off x="3412313" y="3391495"/>
            <a:ext cx="2319347" cy="16430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2BDEFD"/>
              </a:buClr>
              <a:buSzPts val="900"/>
              <a:buFont typeface="Space Grotesk SemiBold"/>
              <a:buNone/>
            </a:pPr>
            <a:r>
              <a:rPr lang="en-US" sz="900" b="0" i="0" u="none" strike="noStrike" cap="none">
                <a:solidFill>
                  <a:srgbClr val="2BDEFD"/>
                </a:solidFill>
                <a:latin typeface="Space Grotesk SemiBold"/>
                <a:ea typeface="Space Grotesk SemiBold"/>
                <a:cs typeface="Space Grotesk SemiBold"/>
                <a:sym typeface="Space Grotesk SemiBold"/>
              </a:rPr>
              <a:t>MRO MAINTENANCE</a:t>
            </a:r>
            <a:endParaRPr sz="900" b="0" i="0" u="none" strike="noStrike" cap="none">
              <a:solidFill>
                <a:schemeClr val="dk1"/>
              </a:solidFill>
              <a:latin typeface="Calibri"/>
              <a:ea typeface="Calibri"/>
              <a:cs typeface="Calibri"/>
              <a:sym typeface="Calibri"/>
            </a:endParaRPr>
          </a:p>
        </p:txBody>
      </p:sp>
      <p:sp>
        <p:nvSpPr>
          <p:cNvPr id="139" name="Google Shape;139;p2"/>
          <p:cNvSpPr/>
          <p:nvPr/>
        </p:nvSpPr>
        <p:spPr>
          <a:xfrm>
            <a:off x="3412313" y="3662958"/>
            <a:ext cx="2319347" cy="450056"/>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111111"/>
              </a:buClr>
              <a:buSzPts val="800"/>
              <a:buFont typeface="Inter"/>
              <a:buNone/>
            </a:pPr>
            <a:r>
              <a:rPr lang="en-US" sz="800" b="0" i="0" u="none" strike="noStrike" cap="none">
                <a:solidFill>
                  <a:srgbClr val="111111"/>
                </a:solidFill>
                <a:latin typeface="Inter"/>
                <a:ea typeface="Inter"/>
                <a:cs typeface="Inter"/>
                <a:sym typeface="Inter"/>
              </a:rPr>
              <a:t>Lowering thermal degradation to extend engine shop visit intervals and </a:t>
            </a:r>
            <a:r>
              <a:rPr lang="en-US" sz="750" b="1" i="0" u="none" strike="noStrike" cap="none">
                <a:solidFill>
                  <a:srgbClr val="1A365D"/>
                </a:solidFill>
                <a:latin typeface="Inter"/>
                <a:ea typeface="Inter"/>
                <a:cs typeface="Inter"/>
                <a:sym typeface="Inter"/>
              </a:rPr>
              <a:t>blade operational life cycles</a:t>
            </a:r>
            <a:r>
              <a:rPr lang="en-US" sz="800" b="0" i="0" u="none" strike="noStrike" cap="none">
                <a:solidFill>
                  <a:srgbClr val="111111"/>
                </a:solidFill>
                <a:latin typeface="Inter"/>
                <a:ea typeface="Inter"/>
                <a:cs typeface="Inter"/>
                <a:sym typeface="Inter"/>
              </a:rPr>
              <a:t> significantly.</a:t>
            </a:r>
            <a:endParaRPr sz="800" b="0" i="0" u="none" strike="noStrike" cap="none">
              <a:solidFill>
                <a:schemeClr val="dk1"/>
              </a:solidFill>
              <a:latin typeface="Calibri"/>
              <a:ea typeface="Calibri"/>
              <a:cs typeface="Calibri"/>
              <a:sym typeface="Calibri"/>
            </a:endParaRPr>
          </a:p>
        </p:txBody>
      </p:sp>
      <p:sp>
        <p:nvSpPr>
          <p:cNvPr id="140" name="Google Shape;140;p2"/>
          <p:cNvSpPr/>
          <p:nvPr/>
        </p:nvSpPr>
        <p:spPr>
          <a:xfrm>
            <a:off x="6246009" y="3391495"/>
            <a:ext cx="2319319" cy="16430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2BDEFD"/>
              </a:buClr>
              <a:buSzPts val="900"/>
              <a:buFont typeface="Space Grotesk SemiBold"/>
              <a:buNone/>
            </a:pPr>
            <a:r>
              <a:rPr lang="en-US" sz="900" b="0" i="0" u="none" strike="noStrike" cap="none">
                <a:solidFill>
                  <a:srgbClr val="2BDEFD"/>
                </a:solidFill>
                <a:latin typeface="Space Grotesk SemiBold"/>
                <a:ea typeface="Space Grotesk SemiBold"/>
                <a:cs typeface="Space Grotesk SemiBold"/>
                <a:sym typeface="Space Grotesk SemiBold"/>
              </a:rPr>
              <a:t>MANUFACTURABILITY</a:t>
            </a:r>
            <a:endParaRPr sz="900" b="0" i="0" u="none" strike="noStrike" cap="none">
              <a:solidFill>
                <a:schemeClr val="dk1"/>
              </a:solidFill>
              <a:latin typeface="Calibri"/>
              <a:ea typeface="Calibri"/>
              <a:cs typeface="Calibri"/>
              <a:sym typeface="Calibri"/>
            </a:endParaRPr>
          </a:p>
        </p:txBody>
      </p:sp>
      <p:sp>
        <p:nvSpPr>
          <p:cNvPr id="141" name="Google Shape;141;p2"/>
          <p:cNvSpPr/>
          <p:nvPr/>
        </p:nvSpPr>
        <p:spPr>
          <a:xfrm>
            <a:off x="6246000" y="3662947"/>
            <a:ext cx="2319300" cy="852900"/>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111111"/>
              </a:buClr>
              <a:buSzPts val="800"/>
              <a:buFont typeface="Inter"/>
              <a:buNone/>
            </a:pPr>
            <a:r>
              <a:rPr lang="en-US" sz="800" b="0" i="0" u="none" strike="noStrike" cap="none">
                <a:solidFill>
                  <a:srgbClr val="111111"/>
                </a:solidFill>
                <a:latin typeface="Inter"/>
                <a:ea typeface="Inter"/>
                <a:cs typeface="Inter"/>
                <a:sym typeface="Inter"/>
              </a:rPr>
              <a:t>Direct export of a universal, </a:t>
            </a:r>
            <a:r>
              <a:rPr lang="en-US" sz="750" b="1" i="0" u="none" strike="noStrike" cap="none">
                <a:solidFill>
                  <a:srgbClr val="1A365D"/>
                </a:solidFill>
                <a:latin typeface="Inter"/>
                <a:ea typeface="Inter"/>
                <a:cs typeface="Inter"/>
                <a:sym typeface="Inter"/>
              </a:rPr>
              <a:t>print-ready 11-layer compositional matrix</a:t>
            </a:r>
            <a:r>
              <a:rPr lang="en-US" sz="800" b="0" i="0" u="none" strike="noStrike" cap="none">
                <a:solidFill>
                  <a:srgbClr val="111111"/>
                </a:solidFill>
                <a:latin typeface="Inter"/>
                <a:ea typeface="Inter"/>
                <a:cs typeface="Inter"/>
                <a:sym typeface="Inter"/>
              </a:rPr>
              <a:t> to drive multi-hopper 3D printers for shop-floor deployment</a:t>
            </a:r>
            <a:r>
              <a:rPr lang="en-US" sz="800">
                <a:solidFill>
                  <a:srgbClr val="111111"/>
                </a:solidFill>
                <a:latin typeface="Inter"/>
                <a:ea typeface="Inter"/>
                <a:cs typeface="Inter"/>
                <a:sym typeface="Inter"/>
              </a:rPr>
              <a:t>,drastically reducing physical prototyping lead times from months to days.</a:t>
            </a:r>
            <a:endParaRPr sz="800" b="0" i="0" u="none" strike="noStrike" cap="non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pic>
        <p:nvPicPr>
          <p:cNvPr id="147" name="Google Shape;147;p3" descr="preencoded.png"/>
          <p:cNvPicPr preferRelativeResize="0"/>
          <p:nvPr/>
        </p:nvPicPr>
        <p:blipFill rotWithShape="1">
          <a:blip r:embed="rId3">
            <a:alphaModFix/>
          </a:blip>
          <a:srcRect/>
          <a:stretch/>
        </p:blipFill>
        <p:spPr>
          <a:xfrm>
            <a:off x="0" y="0"/>
            <a:ext cx="9143999" cy="5143500"/>
          </a:xfrm>
          <a:prstGeom prst="rect">
            <a:avLst/>
          </a:prstGeom>
          <a:noFill/>
          <a:ln>
            <a:noFill/>
          </a:ln>
        </p:spPr>
      </p:pic>
      <p:sp>
        <p:nvSpPr>
          <p:cNvPr id="148" name="Google Shape;148;p3"/>
          <p:cNvSpPr/>
          <p:nvPr/>
        </p:nvSpPr>
        <p:spPr>
          <a:xfrm>
            <a:off x="428625" y="817318"/>
            <a:ext cx="3714750" cy="660071"/>
          </a:xfrm>
          <a:prstGeom prst="rect">
            <a:avLst/>
          </a:prstGeom>
          <a:noFill/>
          <a:ln>
            <a:noFill/>
          </a:ln>
        </p:spPr>
        <p:txBody>
          <a:bodyPr spcFirstLastPara="1" wrap="square" lIns="0" tIns="0" rIns="0" bIns="0" anchor="t" anchorCtr="0">
            <a:spAutoFit/>
          </a:bodyPr>
          <a:lstStyle/>
          <a:p>
            <a:pPr marL="0" marR="0" lvl="0" indent="0" algn="l" rtl="0">
              <a:lnSpc>
                <a:spcPct val="88000"/>
              </a:lnSpc>
              <a:spcBef>
                <a:spcPts val="0"/>
              </a:spcBef>
              <a:spcAft>
                <a:spcPts val="0"/>
              </a:spcAft>
              <a:buClr>
                <a:srgbClr val="1A365D"/>
              </a:buClr>
              <a:buSzPts val="2100"/>
              <a:buFont typeface="Space Grotesk SemiBold"/>
              <a:buNone/>
            </a:pPr>
            <a:r>
              <a:rPr lang="en-US" sz="2100" b="1" i="0" u="none" strike="noStrike" cap="none">
                <a:solidFill>
                  <a:srgbClr val="1A365D"/>
                </a:solidFill>
                <a:latin typeface="Space Grotesk SemiBold"/>
                <a:ea typeface="Space Grotesk SemiBold"/>
                <a:cs typeface="Space Grotesk SemiBold"/>
                <a:sym typeface="Space Grotesk SemiBold"/>
              </a:rPr>
              <a:t>THE TECHNICAL PROBLEM IN ONE PICTURE</a:t>
            </a:r>
            <a:endParaRPr sz="2100" b="0" i="0" u="none" strike="noStrike" cap="none">
              <a:solidFill>
                <a:schemeClr val="dk1"/>
              </a:solidFill>
              <a:latin typeface="Calibri"/>
              <a:ea typeface="Calibri"/>
              <a:cs typeface="Calibri"/>
              <a:sym typeface="Calibri"/>
            </a:endParaRPr>
          </a:p>
        </p:txBody>
      </p:sp>
      <p:sp>
        <p:nvSpPr>
          <p:cNvPr id="149" name="Google Shape;149;p3"/>
          <p:cNvSpPr/>
          <p:nvPr/>
        </p:nvSpPr>
        <p:spPr>
          <a:xfrm>
            <a:off x="600075" y="1691701"/>
            <a:ext cx="3543300" cy="16430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900"/>
              <a:buFont typeface="Space Grotesk SemiBold"/>
              <a:buNone/>
            </a:pPr>
            <a:r>
              <a:rPr lang="en-US" sz="900" b="1" i="0" u="none" strike="noStrike" cap="none">
                <a:solidFill>
                  <a:srgbClr val="1A365D"/>
                </a:solidFill>
                <a:latin typeface="Space Grotesk SemiBold"/>
                <a:ea typeface="Space Grotesk SemiBold"/>
                <a:cs typeface="Space Grotesk SemiBold"/>
                <a:sym typeface="Space Grotesk SemiBold"/>
              </a:rPr>
              <a:t>Thermal Expansion Discontinuity</a:t>
            </a:r>
            <a:endParaRPr sz="900" b="0" i="0" u="none" strike="noStrike" cap="none">
              <a:solidFill>
                <a:schemeClr val="dk1"/>
              </a:solidFill>
              <a:latin typeface="Calibri"/>
              <a:ea typeface="Calibri"/>
              <a:cs typeface="Calibri"/>
              <a:sym typeface="Calibri"/>
            </a:endParaRPr>
          </a:p>
        </p:txBody>
      </p:sp>
      <p:sp>
        <p:nvSpPr>
          <p:cNvPr id="150" name="Google Shape;150;p3"/>
          <p:cNvSpPr/>
          <p:nvPr/>
        </p:nvSpPr>
        <p:spPr>
          <a:xfrm>
            <a:off x="600075" y="1856000"/>
            <a:ext cx="3543300" cy="450600"/>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111111"/>
              </a:buClr>
              <a:buSzPts val="750"/>
              <a:buFont typeface="Inter"/>
              <a:buNone/>
            </a:pPr>
            <a:r>
              <a:rPr lang="en-US" sz="750">
                <a:solidFill>
                  <a:srgbClr val="111111"/>
                </a:solidFill>
                <a:latin typeface="Inter"/>
                <a:ea typeface="Inter"/>
                <a:cs typeface="Inter"/>
                <a:sym typeface="Inter"/>
              </a:rPr>
              <a:t>Metallic base (α ≈ 6.44-14.0 μm/m·K) vs LZO coating (α = 9.1 μm/m·K). Interface shear forces exceed 850 MPa, far surpassing the thermal limits of legacy Inconel 718 and CMSX-4.</a:t>
            </a:r>
            <a:endParaRPr sz="750" b="0" i="0" u="none" strike="noStrike" cap="none">
              <a:solidFill>
                <a:schemeClr val="dk1"/>
              </a:solidFill>
              <a:latin typeface="Calibri"/>
              <a:ea typeface="Calibri"/>
              <a:cs typeface="Calibri"/>
              <a:sym typeface="Calibri"/>
            </a:endParaRPr>
          </a:p>
        </p:txBody>
      </p:sp>
      <p:sp>
        <p:nvSpPr>
          <p:cNvPr id="151" name="Google Shape;151;p3"/>
          <p:cNvSpPr/>
          <p:nvPr/>
        </p:nvSpPr>
        <p:spPr>
          <a:xfrm>
            <a:off x="600075" y="2350322"/>
            <a:ext cx="3543300" cy="16430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900"/>
              <a:buFont typeface="Space Grotesk SemiBold"/>
              <a:buNone/>
            </a:pPr>
            <a:r>
              <a:rPr lang="en-US" sz="900" b="1" i="0" u="none" strike="noStrike" cap="none">
                <a:solidFill>
                  <a:srgbClr val="1A365D"/>
                </a:solidFill>
                <a:latin typeface="Space Grotesk SemiBold"/>
                <a:ea typeface="Space Grotesk SemiBold"/>
                <a:cs typeface="Space Grotesk SemiBold"/>
                <a:sym typeface="Space Grotesk SemiBold"/>
              </a:rPr>
              <a:t>Microstructural Phase Decay</a:t>
            </a:r>
            <a:endParaRPr sz="900" b="0" i="0" u="none" strike="noStrike" cap="none">
              <a:solidFill>
                <a:schemeClr val="dk1"/>
              </a:solidFill>
              <a:latin typeface="Calibri"/>
              <a:ea typeface="Calibri"/>
              <a:cs typeface="Calibri"/>
              <a:sym typeface="Calibri"/>
            </a:endParaRPr>
          </a:p>
        </p:txBody>
      </p:sp>
      <p:sp>
        <p:nvSpPr>
          <p:cNvPr id="152" name="Google Shape;152;p3"/>
          <p:cNvSpPr/>
          <p:nvPr/>
        </p:nvSpPr>
        <p:spPr>
          <a:xfrm>
            <a:off x="600075" y="2550347"/>
            <a:ext cx="3543300" cy="280002"/>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Oxygen diffusion precipitates brittle sigma phases , causing rapid material loss and interface failure.</a:t>
            </a:r>
            <a:endParaRPr sz="750" b="0" i="0" u="none" strike="noStrike" cap="none">
              <a:solidFill>
                <a:schemeClr val="dk1"/>
              </a:solidFill>
              <a:latin typeface="Calibri"/>
              <a:ea typeface="Calibri"/>
              <a:cs typeface="Calibri"/>
              <a:sym typeface="Calibri"/>
            </a:endParaRPr>
          </a:p>
        </p:txBody>
      </p:sp>
      <p:sp>
        <p:nvSpPr>
          <p:cNvPr id="153" name="Google Shape;153;p3"/>
          <p:cNvSpPr/>
          <p:nvPr/>
        </p:nvSpPr>
        <p:spPr>
          <a:xfrm>
            <a:off x="600075" y="3008942"/>
            <a:ext cx="3543300" cy="16430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900"/>
              <a:buFont typeface="Space Grotesk SemiBold"/>
              <a:buNone/>
            </a:pPr>
            <a:r>
              <a:rPr lang="en-US" sz="900" b="1" i="0" u="none" strike="noStrike" cap="none">
                <a:solidFill>
                  <a:srgbClr val="1A365D"/>
                </a:solidFill>
                <a:latin typeface="Space Grotesk SemiBold"/>
                <a:ea typeface="Space Grotesk SemiBold"/>
                <a:cs typeface="Space Grotesk SemiBold"/>
                <a:sym typeface="Space Grotesk SemiBold"/>
              </a:rPr>
              <a:t>The Cooling Hole Threat</a:t>
            </a:r>
            <a:endParaRPr sz="900" b="0" i="0" u="none" strike="noStrike" cap="none">
              <a:solidFill>
                <a:schemeClr val="dk1"/>
              </a:solidFill>
              <a:latin typeface="Calibri"/>
              <a:ea typeface="Calibri"/>
              <a:cs typeface="Calibri"/>
              <a:sym typeface="Calibri"/>
            </a:endParaRPr>
          </a:p>
        </p:txBody>
      </p:sp>
      <p:sp>
        <p:nvSpPr>
          <p:cNvPr id="154" name="Google Shape;154;p3"/>
          <p:cNvSpPr/>
          <p:nvPr/>
        </p:nvSpPr>
        <p:spPr>
          <a:xfrm>
            <a:off x="600075" y="3208967"/>
            <a:ext cx="3543300" cy="280002"/>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Laser-drilled holes create stress concentration , accelerating crack propagation and layer delamination.</a:t>
            </a:r>
            <a:endParaRPr sz="750" b="0" i="0" u="none" strike="noStrike" cap="none">
              <a:solidFill>
                <a:schemeClr val="dk1"/>
              </a:solidFill>
              <a:latin typeface="Calibri"/>
              <a:ea typeface="Calibri"/>
              <a:cs typeface="Calibri"/>
              <a:sym typeface="Calibri"/>
            </a:endParaRPr>
          </a:p>
        </p:txBody>
      </p:sp>
      <p:sp>
        <p:nvSpPr>
          <p:cNvPr id="155" name="Google Shape;155;p3"/>
          <p:cNvSpPr/>
          <p:nvPr/>
        </p:nvSpPr>
        <p:spPr>
          <a:xfrm>
            <a:off x="600075" y="3667562"/>
            <a:ext cx="3543300" cy="16430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900"/>
              <a:buFont typeface="Space Grotesk SemiBold"/>
              <a:buNone/>
            </a:pPr>
            <a:r>
              <a:rPr lang="en-US" sz="900" b="1" i="0" u="none" strike="noStrike" cap="none">
                <a:solidFill>
                  <a:srgbClr val="1A365D"/>
                </a:solidFill>
                <a:latin typeface="Space Grotesk SemiBold"/>
                <a:ea typeface="Space Grotesk SemiBold"/>
                <a:cs typeface="Space Grotesk SemiBold"/>
                <a:sym typeface="Space Grotesk SemiBold"/>
              </a:rPr>
              <a:t>The Unified Imperative</a:t>
            </a:r>
            <a:endParaRPr sz="900" b="0" i="0" u="none" strike="noStrike" cap="none">
              <a:solidFill>
                <a:schemeClr val="dk1"/>
              </a:solidFill>
              <a:latin typeface="Calibri"/>
              <a:ea typeface="Calibri"/>
              <a:cs typeface="Calibri"/>
              <a:sym typeface="Calibri"/>
            </a:endParaRPr>
          </a:p>
        </p:txBody>
      </p:sp>
      <p:sp>
        <p:nvSpPr>
          <p:cNvPr id="156" name="Google Shape;156;p3"/>
          <p:cNvSpPr/>
          <p:nvPr/>
        </p:nvSpPr>
        <p:spPr>
          <a:xfrm>
            <a:off x="600075" y="3867587"/>
            <a:ext cx="3543300" cy="280002"/>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Substrate, cooling channels, and insulating layers must be optimized as a single system to prevent failure. Same physics govern forging die failure, EV motor thermal cycling, and railway brake degradation.</a:t>
            </a:r>
            <a:endParaRPr sz="750" b="0" i="0" u="none" strike="noStrike" cap="none">
              <a:solidFill>
                <a:schemeClr val="dk1"/>
              </a:solidFill>
              <a:latin typeface="Calibri"/>
              <a:ea typeface="Calibri"/>
              <a:cs typeface="Calibri"/>
              <a:sym typeface="Calibri"/>
            </a:endParaRPr>
          </a:p>
        </p:txBody>
      </p:sp>
      <p:sp>
        <p:nvSpPr>
          <p:cNvPr id="157" name="Google Shape;157;p3"/>
          <p:cNvSpPr/>
          <p:nvPr/>
        </p:nvSpPr>
        <p:spPr>
          <a:xfrm>
            <a:off x="4572000" y="0"/>
            <a:ext cx="4572000" cy="5143500"/>
          </a:xfrm>
          <a:prstGeom prst="rect">
            <a:avLst/>
          </a:prstGeom>
          <a:solidFill>
            <a:srgbClr val="F8FA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3"/>
          <p:cNvSpPr/>
          <p:nvPr/>
        </p:nvSpPr>
        <p:spPr>
          <a:xfrm>
            <a:off x="5000625" y="874216"/>
            <a:ext cx="3714750" cy="146447"/>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Clr>
                <a:srgbClr val="1A365D"/>
              </a:buClr>
              <a:buSzPts val="800"/>
              <a:buFont typeface="Space Grotesk SemiBold"/>
              <a:buNone/>
            </a:pPr>
            <a:r>
              <a:rPr lang="en-US" sz="800" b="0" i="0" u="none" strike="noStrike" cap="none">
                <a:solidFill>
                  <a:srgbClr val="1A365D"/>
                </a:solidFill>
                <a:latin typeface="Space Grotesk SemiBold"/>
                <a:ea typeface="Space Grotesk SemiBold"/>
                <a:cs typeface="Space Grotesk SemiBold"/>
                <a:sym typeface="Space Grotesk SemiBold"/>
              </a:rPr>
              <a:t>THERMOMECHANICAL FAILURE-MODE ANALYSIS</a:t>
            </a:r>
            <a:endParaRPr sz="800" b="0" i="0" u="none" strike="noStrike" cap="none">
              <a:solidFill>
                <a:schemeClr val="dk1"/>
              </a:solidFill>
              <a:latin typeface="Calibri"/>
              <a:ea typeface="Calibri"/>
              <a:cs typeface="Calibri"/>
              <a:sym typeface="Calibri"/>
            </a:endParaRPr>
          </a:p>
        </p:txBody>
      </p:sp>
      <p:pic>
        <p:nvPicPr>
          <p:cNvPr id="159" name="Google Shape;159;p3" descr="preencoded.png"/>
          <p:cNvPicPr preferRelativeResize="0"/>
          <p:nvPr/>
        </p:nvPicPr>
        <p:blipFill rotWithShape="1">
          <a:blip r:embed="rId4">
            <a:alphaModFix/>
          </a:blip>
          <a:srcRect/>
          <a:stretch/>
        </p:blipFill>
        <p:spPr>
          <a:xfrm>
            <a:off x="5000625" y="1163538"/>
            <a:ext cx="3571875" cy="2857500"/>
          </a:xfrm>
          <a:prstGeom prst="rect">
            <a:avLst/>
          </a:prstGeom>
          <a:noFill/>
          <a:ln>
            <a:noFill/>
          </a:ln>
        </p:spPr>
      </p:pic>
      <p:sp>
        <p:nvSpPr>
          <p:cNvPr id="160" name="Google Shape;160;p3"/>
          <p:cNvSpPr/>
          <p:nvPr/>
        </p:nvSpPr>
        <p:spPr>
          <a:xfrm>
            <a:off x="7429500" y="2806601"/>
            <a:ext cx="912614" cy="191095"/>
          </a:xfrm>
          <a:prstGeom prst="rect">
            <a:avLst/>
          </a:prstGeom>
          <a:solidFill>
            <a:srgbClr val="FF0000">
              <a:alpha val="10196"/>
            </a:srgbClr>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3"/>
          <p:cNvSpPr/>
          <p:nvPr/>
        </p:nvSpPr>
        <p:spPr>
          <a:xfrm>
            <a:off x="7429500" y="2806601"/>
            <a:ext cx="912614" cy="191095"/>
          </a:xfrm>
          <a:prstGeom prst="rect">
            <a:avLst/>
          </a:prstGeom>
          <a:noFill/>
          <a:ln>
            <a:noFill/>
          </a:ln>
        </p:spPr>
        <p:txBody>
          <a:bodyPr spcFirstLastPara="1" wrap="square" lIns="85075" tIns="42525" rIns="85075" bIns="42525" anchor="t" anchorCtr="0">
            <a:spAutoFit/>
          </a:bodyPr>
          <a:lstStyle/>
          <a:p>
            <a:pPr marL="0" marR="0" lvl="0" indent="0" algn="l" rtl="0">
              <a:spcBef>
                <a:spcPts val="0"/>
              </a:spcBef>
              <a:spcAft>
                <a:spcPts val="0"/>
              </a:spcAft>
              <a:buClr>
                <a:srgbClr val="FF0000"/>
              </a:buClr>
              <a:buSzPts val="600"/>
              <a:buFont typeface="Inter"/>
              <a:buNone/>
            </a:pPr>
            <a:r>
              <a:rPr lang="en-US" sz="600" b="0" i="0" u="none" strike="noStrike" cap="none">
                <a:solidFill>
                  <a:srgbClr val="FF0000"/>
                </a:solidFill>
                <a:latin typeface="Inter"/>
                <a:ea typeface="Inter"/>
                <a:cs typeface="Inter"/>
                <a:sym typeface="Inter"/>
              </a:rPr>
              <a:t>SHEAR &gt; 850 MPa</a:t>
            </a:r>
            <a:endParaRPr sz="600" b="0" i="0" u="none" strike="noStrike" cap="none">
              <a:solidFill>
                <a:schemeClr val="dk1"/>
              </a:solidFill>
              <a:latin typeface="Calibri"/>
              <a:ea typeface="Calibri"/>
              <a:cs typeface="Calibri"/>
              <a:sym typeface="Calibri"/>
            </a:endParaRPr>
          </a:p>
        </p:txBody>
      </p:sp>
      <p:sp>
        <p:nvSpPr>
          <p:cNvPr id="162" name="Google Shape;162;p3"/>
          <p:cNvSpPr/>
          <p:nvPr/>
        </p:nvSpPr>
        <p:spPr>
          <a:xfrm>
            <a:off x="5572125" y="2306538"/>
            <a:ext cx="1019770" cy="191095"/>
          </a:xfrm>
          <a:prstGeom prst="rect">
            <a:avLst/>
          </a:prstGeom>
          <a:solidFill>
            <a:srgbClr val="FF0000">
              <a:alpha val="10196"/>
            </a:srgbClr>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3"/>
          <p:cNvSpPr/>
          <p:nvPr/>
        </p:nvSpPr>
        <p:spPr>
          <a:xfrm>
            <a:off x="5572125" y="2306538"/>
            <a:ext cx="1019770" cy="191095"/>
          </a:xfrm>
          <a:prstGeom prst="rect">
            <a:avLst/>
          </a:prstGeom>
          <a:noFill/>
          <a:ln>
            <a:noFill/>
          </a:ln>
        </p:spPr>
        <p:txBody>
          <a:bodyPr spcFirstLastPara="1" wrap="square" lIns="85075" tIns="42525" rIns="85075" bIns="42525" anchor="t" anchorCtr="0">
            <a:spAutoFit/>
          </a:bodyPr>
          <a:lstStyle/>
          <a:p>
            <a:pPr marL="0" marR="0" lvl="0" indent="0" algn="l" rtl="0">
              <a:spcBef>
                <a:spcPts val="0"/>
              </a:spcBef>
              <a:spcAft>
                <a:spcPts val="0"/>
              </a:spcAft>
              <a:buClr>
                <a:srgbClr val="FF0000"/>
              </a:buClr>
              <a:buSzPts val="600"/>
              <a:buFont typeface="Inter"/>
              <a:buNone/>
            </a:pPr>
            <a:r>
              <a:rPr lang="en-US" sz="600" b="0" i="0" u="none" strike="noStrike" cap="none">
                <a:solidFill>
                  <a:srgbClr val="FF0000"/>
                </a:solidFill>
                <a:latin typeface="Inter"/>
                <a:ea typeface="Inter"/>
                <a:cs typeface="Inter"/>
                <a:sym typeface="Inter"/>
              </a:rPr>
              <a:t>DELAMINATION RISK</a:t>
            </a:r>
            <a:endParaRPr sz="600" b="0" i="0" u="none" strike="noStrike" cap="none">
              <a:solidFill>
                <a:schemeClr val="dk1"/>
              </a:solidFill>
              <a:latin typeface="Calibri"/>
              <a:ea typeface="Calibri"/>
              <a:cs typeface="Calibri"/>
              <a:sym typeface="Calibri"/>
            </a:endParaRPr>
          </a:p>
        </p:txBody>
      </p:sp>
      <p:sp>
        <p:nvSpPr>
          <p:cNvPr id="164" name="Google Shape;164;p3"/>
          <p:cNvSpPr/>
          <p:nvPr/>
        </p:nvSpPr>
        <p:spPr>
          <a:xfrm>
            <a:off x="5000625" y="4163913"/>
            <a:ext cx="3714750" cy="10537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Clr>
                <a:srgbClr val="64748B"/>
              </a:buClr>
              <a:buSzPts val="600"/>
              <a:buFont typeface="Inter"/>
              <a:buNone/>
            </a:pPr>
            <a:r>
              <a:rPr lang="en-US" sz="600" b="0" i="0" u="none" strike="noStrike" cap="none">
                <a:solidFill>
                  <a:srgbClr val="64748B"/>
                </a:solidFill>
                <a:latin typeface="Inter"/>
                <a:ea typeface="Inter"/>
                <a:cs typeface="Inter"/>
                <a:sym typeface="Inter"/>
              </a:rPr>
              <a:t>Schematic cross-section showing interfacial stress singularities and crack initiation zones.</a:t>
            </a:r>
            <a:endParaRPr sz="600" b="0" i="0" u="none" strike="noStrike" cap="non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69"/>
        <p:cNvGrpSpPr/>
        <p:nvPr/>
      </p:nvGrpSpPr>
      <p:grpSpPr>
        <a:xfrm>
          <a:off x="0" y="0"/>
          <a:ext cx="0" cy="0"/>
          <a:chOff x="0" y="0"/>
          <a:chExt cx="0" cy="0"/>
        </a:xfrm>
      </p:grpSpPr>
      <p:sp>
        <p:nvSpPr>
          <p:cNvPr id="170" name="Google Shape;170;p4"/>
          <p:cNvSpPr txBox="1"/>
          <p:nvPr/>
        </p:nvSpPr>
        <p:spPr>
          <a:xfrm>
            <a:off x="83925" y="149325"/>
            <a:ext cx="4762500" cy="762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2200" b="1">
                <a:solidFill>
                  <a:srgbClr val="1A365D"/>
                </a:solidFill>
                <a:latin typeface="Space Grotesk"/>
                <a:ea typeface="Space Grotesk"/>
                <a:cs typeface="Space Grotesk"/>
                <a:sym typeface="Space Grotesk"/>
              </a:rPr>
              <a:t>OUR ADVANCED ARCHITECTURE &amp; RECIPIENT LAYOUT</a:t>
            </a:r>
            <a:endParaRPr sz="2200" b="1">
              <a:solidFill>
                <a:srgbClr val="1A365D"/>
              </a:solidFill>
              <a:latin typeface="Space Grotesk"/>
              <a:ea typeface="Space Grotesk"/>
              <a:cs typeface="Space Grotesk"/>
              <a:sym typeface="Space Grotesk"/>
            </a:endParaRPr>
          </a:p>
        </p:txBody>
      </p:sp>
      <p:grpSp>
        <p:nvGrpSpPr>
          <p:cNvPr id="171" name="Google Shape;171;p4"/>
          <p:cNvGrpSpPr/>
          <p:nvPr/>
        </p:nvGrpSpPr>
        <p:grpSpPr>
          <a:xfrm>
            <a:off x="428625" y="1238250"/>
            <a:ext cx="3333900" cy="3238575"/>
            <a:chOff x="428625" y="1238250"/>
            <a:chExt cx="3333900" cy="3238575"/>
          </a:xfrm>
        </p:grpSpPr>
        <p:sp>
          <p:nvSpPr>
            <p:cNvPr id="172" name="Google Shape;172;p4"/>
            <p:cNvSpPr/>
            <p:nvPr/>
          </p:nvSpPr>
          <p:spPr>
            <a:xfrm>
              <a:off x="428625" y="1238250"/>
              <a:ext cx="3333900" cy="809700"/>
            </a:xfrm>
            <a:prstGeom prst="roundRect">
              <a:avLst>
                <a:gd name="adj" fmla="val 4705"/>
              </a:avLst>
            </a:prstGeom>
            <a:solidFill>
              <a:srgbClr val="F8FA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73" name="Google Shape;173;p4"/>
            <p:cNvSpPr txBox="1"/>
            <p:nvPr/>
          </p:nvSpPr>
          <p:spPr>
            <a:xfrm>
              <a:off x="571500" y="1333500"/>
              <a:ext cx="3048000" cy="6192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100" b="1">
                  <a:solidFill>
                    <a:srgbClr val="1A365D"/>
                  </a:solidFill>
                  <a:latin typeface="Space Grotesk"/>
                  <a:ea typeface="Space Grotesk"/>
                  <a:cs typeface="Space Grotesk"/>
                  <a:sym typeface="Space Grotesk"/>
                </a:rPr>
                <a:t>Substrate Phase Security</a:t>
              </a:r>
              <a:endParaRPr sz="1100" b="1">
                <a:solidFill>
                  <a:srgbClr val="1A365D"/>
                </a:solidFill>
                <a:latin typeface="Space Grotesk"/>
                <a:ea typeface="Space Grotesk"/>
                <a:cs typeface="Space Grotesk"/>
                <a:sym typeface="Space Grotesk"/>
              </a:endParaRPr>
            </a:p>
            <a:p>
              <a:pPr marL="0" lvl="0" indent="0" algn="l" rtl="0">
                <a:spcBef>
                  <a:spcPts val="300"/>
                </a:spcBef>
                <a:spcAft>
                  <a:spcPts val="0"/>
                </a:spcAft>
                <a:buNone/>
              </a:pPr>
              <a:r>
                <a:rPr lang="en-US" sz="900" b="0">
                  <a:solidFill>
                    <a:srgbClr val="475569"/>
                  </a:solidFill>
                  <a:latin typeface="Inter"/>
                  <a:ea typeface="Inter"/>
                  <a:cs typeface="Inter"/>
                  <a:sym typeface="Inter"/>
                </a:rPr>
                <a:t>Optimized quinary refractory HEA matrix ensuring stable single-phase BCC solid solution.</a:t>
              </a:r>
              <a:endParaRPr sz="900" b="0">
                <a:solidFill>
                  <a:srgbClr val="475569"/>
                </a:solidFill>
                <a:latin typeface="Inter"/>
                <a:ea typeface="Inter"/>
                <a:cs typeface="Inter"/>
                <a:sym typeface="Inter"/>
              </a:endParaRPr>
            </a:p>
          </p:txBody>
        </p:sp>
        <p:sp>
          <p:nvSpPr>
            <p:cNvPr id="174" name="Google Shape;174;p4"/>
            <p:cNvSpPr/>
            <p:nvPr/>
          </p:nvSpPr>
          <p:spPr>
            <a:xfrm>
              <a:off x="428625" y="2143125"/>
              <a:ext cx="3333900" cy="666900"/>
            </a:xfrm>
            <a:prstGeom prst="roundRect">
              <a:avLst>
                <a:gd name="adj" fmla="val 5714"/>
              </a:avLst>
            </a:prstGeom>
            <a:solidFill>
              <a:srgbClr val="F8FA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75" name="Google Shape;175;p4"/>
            <p:cNvSpPr txBox="1"/>
            <p:nvPr/>
          </p:nvSpPr>
          <p:spPr>
            <a:xfrm>
              <a:off x="571500" y="2238375"/>
              <a:ext cx="3048000" cy="476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018" b="1">
                  <a:solidFill>
                    <a:srgbClr val="1A365D"/>
                  </a:solidFill>
                  <a:latin typeface="Space Grotesk"/>
                  <a:ea typeface="Space Grotesk"/>
                  <a:cs typeface="Space Grotesk"/>
                  <a:sym typeface="Space Grotesk"/>
                </a:rPr>
                <a:t>The Pareto Gradient</a:t>
              </a:r>
              <a:endParaRPr sz="1018" b="1">
                <a:solidFill>
                  <a:srgbClr val="1A365D"/>
                </a:solidFill>
                <a:latin typeface="Space Grotesk"/>
                <a:ea typeface="Space Grotesk"/>
                <a:cs typeface="Space Grotesk"/>
                <a:sym typeface="Space Grotesk"/>
              </a:endParaRPr>
            </a:p>
            <a:p>
              <a:pPr marL="0" lvl="0" indent="0" algn="l" rtl="0">
                <a:spcBef>
                  <a:spcPts val="300"/>
                </a:spcBef>
                <a:spcAft>
                  <a:spcPts val="0"/>
                </a:spcAft>
                <a:buNone/>
              </a:pPr>
              <a:r>
                <a:rPr lang="en-US" sz="833" b="0">
                  <a:solidFill>
                    <a:srgbClr val="475569"/>
                  </a:solidFill>
                  <a:latin typeface="Inter"/>
                  <a:ea typeface="Inter"/>
                  <a:cs typeface="Inter"/>
                  <a:sym typeface="Inter"/>
                </a:rPr>
                <a:t>Transition zone governed by power-law exponent </a:t>
              </a:r>
              <a:r>
                <a:rPr lang="en-US" sz="833" b="1">
                  <a:solidFill>
                    <a:srgbClr val="1A365D"/>
                  </a:solidFill>
                  <a:latin typeface="Inter"/>
                  <a:ea typeface="Inter"/>
                  <a:cs typeface="Inter"/>
                  <a:sym typeface="Inter"/>
                </a:rPr>
                <a:t>n=1.1</a:t>
              </a:r>
              <a:r>
                <a:rPr lang="en-US" sz="833" b="0">
                  <a:solidFill>
                    <a:srgbClr val="475569"/>
                  </a:solidFill>
                  <a:latin typeface="Inter"/>
                  <a:ea typeface="Inter"/>
                  <a:cs typeface="Inter"/>
                  <a:sym typeface="Inter"/>
                </a:rPr>
                <a:t>, shifting shear stresses away from the surface.</a:t>
              </a:r>
              <a:endParaRPr sz="833" b="0">
                <a:solidFill>
                  <a:srgbClr val="475569"/>
                </a:solidFill>
                <a:latin typeface="Inter"/>
                <a:ea typeface="Inter"/>
                <a:cs typeface="Inter"/>
                <a:sym typeface="Inter"/>
              </a:endParaRPr>
            </a:p>
          </p:txBody>
        </p:sp>
        <p:sp>
          <p:nvSpPr>
            <p:cNvPr id="176" name="Google Shape;176;p4"/>
            <p:cNvSpPr/>
            <p:nvPr/>
          </p:nvSpPr>
          <p:spPr>
            <a:xfrm>
              <a:off x="428625" y="2905125"/>
              <a:ext cx="3333900" cy="666900"/>
            </a:xfrm>
            <a:prstGeom prst="roundRect">
              <a:avLst>
                <a:gd name="adj" fmla="val 5714"/>
              </a:avLst>
            </a:prstGeom>
            <a:solidFill>
              <a:srgbClr val="F8FA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77" name="Google Shape;177;p4"/>
            <p:cNvSpPr txBox="1"/>
            <p:nvPr/>
          </p:nvSpPr>
          <p:spPr>
            <a:xfrm>
              <a:off x="571500" y="3000375"/>
              <a:ext cx="3048000" cy="476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018" b="1">
                  <a:solidFill>
                    <a:srgbClr val="1A365D"/>
                  </a:solidFill>
                  <a:latin typeface="Space Grotesk"/>
                  <a:ea typeface="Space Grotesk"/>
                  <a:cs typeface="Space Grotesk"/>
                  <a:sym typeface="Space Grotesk"/>
                </a:rPr>
                <a:t>Transpiration Porosity Network</a:t>
              </a:r>
              <a:endParaRPr sz="1018" b="1">
                <a:solidFill>
                  <a:srgbClr val="1A365D"/>
                </a:solidFill>
                <a:latin typeface="Space Grotesk"/>
                <a:ea typeface="Space Grotesk"/>
                <a:cs typeface="Space Grotesk"/>
                <a:sym typeface="Space Grotesk"/>
              </a:endParaRPr>
            </a:p>
            <a:p>
              <a:pPr marL="0" lvl="0" indent="0" algn="l" rtl="0">
                <a:spcBef>
                  <a:spcPts val="300"/>
                </a:spcBef>
                <a:spcAft>
                  <a:spcPts val="0"/>
                </a:spcAft>
                <a:buNone/>
              </a:pPr>
              <a:r>
                <a:rPr lang="en-US" sz="833" b="0">
                  <a:solidFill>
                    <a:srgbClr val="475569"/>
                  </a:solidFill>
                  <a:latin typeface="Inter"/>
                  <a:ea typeface="Inter"/>
                  <a:cs typeface="Inter"/>
                  <a:sym typeface="Inter"/>
                </a:rPr>
                <a:t>Integrated micro-pores programmed via selective laser sintering, allowing cooling air to weep uniformly.</a:t>
              </a:r>
              <a:endParaRPr sz="833" b="0">
                <a:solidFill>
                  <a:srgbClr val="475569"/>
                </a:solidFill>
                <a:latin typeface="Inter"/>
                <a:ea typeface="Inter"/>
                <a:cs typeface="Inter"/>
                <a:sym typeface="Inter"/>
              </a:endParaRPr>
            </a:p>
          </p:txBody>
        </p:sp>
        <p:sp>
          <p:nvSpPr>
            <p:cNvPr id="178" name="Google Shape;178;p4"/>
            <p:cNvSpPr/>
            <p:nvPr/>
          </p:nvSpPr>
          <p:spPr>
            <a:xfrm>
              <a:off x="428625" y="3667125"/>
              <a:ext cx="3333900" cy="809700"/>
            </a:xfrm>
            <a:prstGeom prst="roundRect">
              <a:avLst>
                <a:gd name="adj" fmla="val 4705"/>
              </a:avLst>
            </a:prstGeom>
            <a:solidFill>
              <a:srgbClr val="F8FA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79" name="Google Shape;179;p4"/>
            <p:cNvSpPr txBox="1"/>
            <p:nvPr/>
          </p:nvSpPr>
          <p:spPr>
            <a:xfrm>
              <a:off x="571500" y="3762375"/>
              <a:ext cx="3048000" cy="6192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100" b="1">
                  <a:solidFill>
                    <a:srgbClr val="1A365D"/>
                  </a:solidFill>
                  <a:latin typeface="Space Grotesk"/>
                  <a:ea typeface="Space Grotesk"/>
                  <a:cs typeface="Space Grotesk"/>
                  <a:sym typeface="Space Grotesk"/>
                </a:rPr>
                <a:t>Hardware-Agnostic Output</a:t>
              </a:r>
              <a:endParaRPr sz="1100" b="1">
                <a:solidFill>
                  <a:srgbClr val="1A365D"/>
                </a:solidFill>
                <a:latin typeface="Space Grotesk"/>
                <a:ea typeface="Space Grotesk"/>
                <a:cs typeface="Space Grotesk"/>
                <a:sym typeface="Space Grotesk"/>
              </a:endParaRPr>
            </a:p>
            <a:p>
              <a:pPr marL="0" lvl="0" indent="0" algn="l" rtl="0">
                <a:spcBef>
                  <a:spcPts val="300"/>
                </a:spcBef>
                <a:spcAft>
                  <a:spcPts val="0"/>
                </a:spcAft>
                <a:buNone/>
              </a:pPr>
              <a:r>
                <a:rPr lang="en-US" sz="900" b="0">
                  <a:solidFill>
                    <a:srgbClr val="475569"/>
                  </a:solidFill>
                  <a:latin typeface="Inter"/>
                  <a:ea typeface="Inter"/>
                  <a:cs typeface="Inter"/>
                  <a:sym typeface="Inter"/>
                </a:rPr>
                <a:t>Direct export of 11-layer data ledger  to drive multi-hopper LENS printers.</a:t>
              </a:r>
              <a:endParaRPr sz="900" b="0">
                <a:solidFill>
                  <a:srgbClr val="475569"/>
                </a:solidFill>
                <a:latin typeface="Inter"/>
                <a:ea typeface="Inter"/>
                <a:cs typeface="Inter"/>
                <a:sym typeface="Inter"/>
              </a:endParaRPr>
            </a:p>
          </p:txBody>
        </p:sp>
      </p:grpSp>
      <p:grpSp>
        <p:nvGrpSpPr>
          <p:cNvPr id="180" name="Google Shape;180;p4"/>
          <p:cNvGrpSpPr/>
          <p:nvPr/>
        </p:nvGrpSpPr>
        <p:grpSpPr>
          <a:xfrm>
            <a:off x="4106000" y="717063"/>
            <a:ext cx="4857900" cy="3572119"/>
            <a:chOff x="4000500" y="333375"/>
            <a:chExt cx="4857900" cy="4476900"/>
          </a:xfrm>
        </p:grpSpPr>
        <p:sp>
          <p:nvSpPr>
            <p:cNvPr id="181" name="Google Shape;181;p4"/>
            <p:cNvSpPr/>
            <p:nvPr/>
          </p:nvSpPr>
          <p:spPr>
            <a:xfrm>
              <a:off x="4000500" y="333375"/>
              <a:ext cx="4857900" cy="4476900"/>
            </a:xfrm>
            <a:prstGeom prst="roundRect">
              <a:avLst>
                <a:gd name="adj" fmla="val 1702"/>
              </a:avLst>
            </a:pr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182" name="Google Shape;182;p4"/>
            <p:cNvGrpSpPr/>
            <p:nvPr/>
          </p:nvGrpSpPr>
          <p:grpSpPr>
            <a:xfrm>
              <a:off x="4000500" y="333375"/>
              <a:ext cx="4857600" cy="381000"/>
              <a:chOff x="4000500" y="333375"/>
              <a:chExt cx="4857600" cy="381000"/>
            </a:xfrm>
          </p:grpSpPr>
          <p:pic>
            <p:nvPicPr>
              <p:cNvPr id="183" name="Google Shape;183;p4"/>
              <p:cNvPicPr preferRelativeResize="0"/>
              <p:nvPr/>
            </p:nvPicPr>
            <p:blipFill rotWithShape="1">
              <a:blip r:embed="rId4">
                <a:alphaModFix/>
              </a:blip>
              <a:srcRect/>
              <a:stretch/>
            </p:blipFill>
            <p:spPr>
              <a:xfrm>
                <a:off x="4000500" y="333375"/>
                <a:ext cx="476400" cy="381000"/>
              </a:xfrm>
              <a:prstGeom prst="rect">
                <a:avLst/>
              </a:prstGeom>
              <a:noFill/>
              <a:ln>
                <a:noFill/>
              </a:ln>
            </p:spPr>
          </p:pic>
          <p:sp>
            <p:nvSpPr>
              <p:cNvPr id="184" name="Google Shape;184;p4"/>
              <p:cNvSpPr/>
              <p:nvPr/>
            </p:nvSpPr>
            <p:spPr>
              <a:xfrm>
                <a:off x="4476750" y="333375"/>
                <a:ext cx="762000" cy="381000"/>
              </a:xfrm>
              <a:prstGeom prst="rect">
                <a:avLst/>
              </a:prstGeom>
              <a:solidFill>
                <a:srgbClr val="1A365D"/>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85" name="Google Shape;185;p4"/>
              <p:cNvSpPr/>
              <p:nvPr/>
            </p:nvSpPr>
            <p:spPr>
              <a:xfrm>
                <a:off x="5238750" y="333375"/>
                <a:ext cx="762000" cy="381000"/>
              </a:xfrm>
              <a:prstGeom prst="rect">
                <a:avLst/>
              </a:prstGeom>
              <a:solidFill>
                <a:srgbClr val="1A365D"/>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86" name="Google Shape;186;p4"/>
              <p:cNvSpPr/>
              <p:nvPr/>
            </p:nvSpPr>
            <p:spPr>
              <a:xfrm>
                <a:off x="6000750" y="333375"/>
                <a:ext cx="857400" cy="381000"/>
              </a:xfrm>
              <a:prstGeom prst="rect">
                <a:avLst/>
              </a:prstGeom>
              <a:solidFill>
                <a:srgbClr val="1A365D"/>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pic>
            <p:nvPicPr>
              <p:cNvPr id="187" name="Google Shape;187;p4"/>
              <p:cNvPicPr preferRelativeResize="0"/>
              <p:nvPr/>
            </p:nvPicPr>
            <p:blipFill rotWithShape="1">
              <a:blip r:embed="rId5">
                <a:alphaModFix/>
              </a:blip>
              <a:srcRect/>
              <a:stretch/>
            </p:blipFill>
            <p:spPr>
              <a:xfrm>
                <a:off x="6858000" y="333375"/>
                <a:ext cx="2000100" cy="381000"/>
              </a:xfrm>
              <a:prstGeom prst="rect">
                <a:avLst/>
              </a:prstGeom>
              <a:noFill/>
              <a:ln>
                <a:noFill/>
              </a:ln>
            </p:spPr>
          </p:pic>
          <p:sp>
            <p:nvSpPr>
              <p:cNvPr id="188" name="Google Shape;188;p4"/>
              <p:cNvSpPr txBox="1"/>
              <p:nvPr/>
            </p:nvSpPr>
            <p:spPr>
              <a:xfrm>
                <a:off x="4000500" y="333375"/>
                <a:ext cx="4764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b="0">
                    <a:solidFill>
                      <a:srgbClr val="FFFFFF"/>
                    </a:solidFill>
                    <a:latin typeface="Space Grotesk SemiBold"/>
                    <a:ea typeface="Space Grotesk SemiBold"/>
                    <a:cs typeface="Space Grotesk SemiBold"/>
                    <a:sym typeface="Space Grotesk SemiBold"/>
                  </a:rPr>
                  <a:t>Layer</a:t>
                </a:r>
                <a:endParaRPr sz="800" b="0">
                  <a:solidFill>
                    <a:srgbClr val="FFFFFF"/>
                  </a:solidFill>
                  <a:latin typeface="Space Grotesk SemiBold"/>
                  <a:ea typeface="Space Grotesk SemiBold"/>
                  <a:cs typeface="Space Grotesk SemiBold"/>
                  <a:sym typeface="Space Grotesk SemiBold"/>
                </a:endParaRPr>
              </a:p>
            </p:txBody>
          </p:sp>
          <p:sp>
            <p:nvSpPr>
              <p:cNvPr id="189" name="Google Shape;189;p4"/>
              <p:cNvSpPr txBox="1"/>
              <p:nvPr/>
            </p:nvSpPr>
            <p:spPr>
              <a:xfrm>
                <a:off x="4476750" y="333375"/>
                <a:ext cx="7620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b="0">
                    <a:solidFill>
                      <a:srgbClr val="FFFFFF"/>
                    </a:solidFill>
                    <a:latin typeface="Space Grotesk SemiBold"/>
                    <a:ea typeface="Space Grotesk SemiBold"/>
                    <a:cs typeface="Space Grotesk SemiBold"/>
                    <a:sym typeface="Space Grotesk SemiBold"/>
                  </a:rPr>
                  <a:t>Depth (mm)</a:t>
                </a:r>
                <a:endParaRPr sz="800" b="0">
                  <a:solidFill>
                    <a:srgbClr val="FFFFFF"/>
                  </a:solidFill>
                  <a:latin typeface="Space Grotesk SemiBold"/>
                  <a:ea typeface="Space Grotesk SemiBold"/>
                  <a:cs typeface="Space Grotesk SemiBold"/>
                  <a:sym typeface="Space Grotesk SemiBold"/>
                </a:endParaRPr>
              </a:p>
            </p:txBody>
          </p:sp>
          <p:sp>
            <p:nvSpPr>
              <p:cNvPr id="190" name="Google Shape;190;p4"/>
              <p:cNvSpPr txBox="1"/>
              <p:nvPr/>
            </p:nvSpPr>
            <p:spPr>
              <a:xfrm>
                <a:off x="5238750" y="333375"/>
                <a:ext cx="7620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b="0">
                    <a:solidFill>
                      <a:srgbClr val="FFFFFF"/>
                    </a:solidFill>
                    <a:latin typeface="Space Grotesk SemiBold"/>
                    <a:ea typeface="Space Grotesk SemiBold"/>
                    <a:cs typeface="Space Grotesk SemiBold"/>
                    <a:sym typeface="Space Grotesk SemiBold"/>
                  </a:rPr>
                  <a:t>Alloy Vol %</a:t>
                </a:r>
                <a:endParaRPr sz="800" b="0">
                  <a:solidFill>
                    <a:srgbClr val="FFFFFF"/>
                  </a:solidFill>
                  <a:latin typeface="Space Grotesk SemiBold"/>
                  <a:ea typeface="Space Grotesk SemiBold"/>
                  <a:cs typeface="Space Grotesk SemiBold"/>
                  <a:sym typeface="Space Grotesk SemiBold"/>
                </a:endParaRPr>
              </a:p>
            </p:txBody>
          </p:sp>
          <p:sp>
            <p:nvSpPr>
              <p:cNvPr id="191" name="Google Shape;191;p4"/>
              <p:cNvSpPr txBox="1"/>
              <p:nvPr/>
            </p:nvSpPr>
            <p:spPr>
              <a:xfrm>
                <a:off x="6000750" y="333375"/>
                <a:ext cx="8574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b="0">
                    <a:solidFill>
                      <a:srgbClr val="FFFFFF"/>
                    </a:solidFill>
                    <a:latin typeface="Space Grotesk SemiBold"/>
                    <a:ea typeface="Space Grotesk SemiBold"/>
                    <a:cs typeface="Space Grotesk SemiBold"/>
                    <a:sym typeface="Space Grotesk SemiBold"/>
                  </a:rPr>
                  <a:t>Ceramic Vol %</a:t>
                </a:r>
                <a:endParaRPr sz="800" b="0">
                  <a:solidFill>
                    <a:srgbClr val="FFFFFF"/>
                  </a:solidFill>
                  <a:latin typeface="Space Grotesk SemiBold"/>
                  <a:ea typeface="Space Grotesk SemiBold"/>
                  <a:cs typeface="Space Grotesk SemiBold"/>
                  <a:sym typeface="Space Grotesk SemiBold"/>
                </a:endParaRPr>
              </a:p>
            </p:txBody>
          </p:sp>
          <p:sp>
            <p:nvSpPr>
              <p:cNvPr id="192" name="Google Shape;192;p4"/>
              <p:cNvSpPr txBox="1"/>
              <p:nvPr/>
            </p:nvSpPr>
            <p:spPr>
              <a:xfrm>
                <a:off x="6858000" y="333375"/>
                <a:ext cx="20001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b="0">
                    <a:solidFill>
                      <a:srgbClr val="FFFFFF"/>
                    </a:solidFill>
                    <a:latin typeface="Space Grotesk SemiBold"/>
                    <a:ea typeface="Space Grotesk SemiBold"/>
                    <a:cs typeface="Space Grotesk SemiBold"/>
                    <a:sym typeface="Space Grotesk SemiBold"/>
                  </a:rPr>
                  <a:t>Profile Description</a:t>
                </a:r>
                <a:endParaRPr sz="800" b="0">
                  <a:solidFill>
                    <a:srgbClr val="FFFFFF"/>
                  </a:solidFill>
                  <a:latin typeface="Space Grotesk SemiBold"/>
                  <a:ea typeface="Space Grotesk SemiBold"/>
                  <a:cs typeface="Space Grotesk SemiBold"/>
                  <a:sym typeface="Space Grotesk SemiBold"/>
                </a:endParaRPr>
              </a:p>
            </p:txBody>
          </p:sp>
        </p:grpSp>
        <p:grpSp>
          <p:nvGrpSpPr>
            <p:cNvPr id="193" name="Google Shape;193;p4"/>
            <p:cNvGrpSpPr/>
            <p:nvPr/>
          </p:nvGrpSpPr>
          <p:grpSpPr>
            <a:xfrm>
              <a:off x="4000500" y="714375"/>
              <a:ext cx="4857900" cy="3214838"/>
              <a:chOff x="4000500" y="714375"/>
              <a:chExt cx="4857900" cy="3214838"/>
            </a:xfrm>
          </p:grpSpPr>
          <p:sp>
            <p:nvSpPr>
              <p:cNvPr id="194" name="Google Shape;194;p4"/>
              <p:cNvSpPr/>
              <p:nvPr/>
            </p:nvSpPr>
            <p:spPr>
              <a:xfrm>
                <a:off x="4000500" y="714375"/>
                <a:ext cx="4857900" cy="285900"/>
              </a:xfrm>
              <a:prstGeom prst="rect">
                <a:avLst/>
              </a:prstGeom>
              <a:solidFill>
                <a:srgbClr val="F8FA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95" name="Google Shape;195;p4"/>
              <p:cNvSpPr txBox="1"/>
              <p:nvPr/>
            </p:nvSpPr>
            <p:spPr>
              <a:xfrm>
                <a:off x="4000500" y="714375"/>
                <a:ext cx="476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1</a:t>
                </a:r>
                <a:endParaRPr sz="800">
                  <a:solidFill>
                    <a:srgbClr val="1E293B"/>
                  </a:solidFill>
                  <a:latin typeface="Inter"/>
                  <a:ea typeface="Inter"/>
                  <a:cs typeface="Inter"/>
                  <a:sym typeface="Inter"/>
                </a:endParaRPr>
              </a:p>
            </p:txBody>
          </p:sp>
          <p:sp>
            <p:nvSpPr>
              <p:cNvPr id="196" name="Google Shape;196;p4"/>
              <p:cNvSpPr txBox="1"/>
              <p:nvPr/>
            </p:nvSpPr>
            <p:spPr>
              <a:xfrm>
                <a:off x="4476750" y="714375"/>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0.00</a:t>
                </a:r>
                <a:endParaRPr sz="800">
                  <a:solidFill>
                    <a:srgbClr val="1E293B"/>
                  </a:solidFill>
                  <a:latin typeface="Inter"/>
                  <a:ea typeface="Inter"/>
                  <a:cs typeface="Inter"/>
                  <a:sym typeface="Inter"/>
                </a:endParaRPr>
              </a:p>
            </p:txBody>
          </p:sp>
          <p:sp>
            <p:nvSpPr>
              <p:cNvPr id="197" name="Google Shape;197;p4"/>
              <p:cNvSpPr txBox="1"/>
              <p:nvPr/>
            </p:nvSpPr>
            <p:spPr>
              <a:xfrm>
                <a:off x="5238750" y="714375"/>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100.0%</a:t>
                </a:r>
                <a:endParaRPr sz="800">
                  <a:solidFill>
                    <a:srgbClr val="1E293B"/>
                  </a:solidFill>
                  <a:latin typeface="Inter"/>
                  <a:ea typeface="Inter"/>
                  <a:cs typeface="Inter"/>
                  <a:sym typeface="Inter"/>
                </a:endParaRPr>
              </a:p>
            </p:txBody>
          </p:sp>
          <p:sp>
            <p:nvSpPr>
              <p:cNvPr id="198" name="Google Shape;198;p4"/>
              <p:cNvSpPr txBox="1"/>
              <p:nvPr/>
            </p:nvSpPr>
            <p:spPr>
              <a:xfrm>
                <a:off x="6000750" y="714375"/>
                <a:ext cx="857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0.0%</a:t>
                </a:r>
                <a:endParaRPr sz="800">
                  <a:solidFill>
                    <a:srgbClr val="1E293B"/>
                  </a:solidFill>
                  <a:latin typeface="Inter"/>
                  <a:ea typeface="Inter"/>
                  <a:cs typeface="Inter"/>
                  <a:sym typeface="Inter"/>
                </a:endParaRPr>
              </a:p>
            </p:txBody>
          </p:sp>
          <p:sp>
            <p:nvSpPr>
              <p:cNvPr id="199" name="Google Shape;199;p4"/>
              <p:cNvSpPr txBox="1"/>
              <p:nvPr/>
            </p:nvSpPr>
            <p:spPr>
              <a:xfrm>
                <a:off x="6858000" y="714375"/>
                <a:ext cx="2000100" cy="285900"/>
              </a:xfrm>
              <a:prstGeom prst="rect">
                <a:avLst/>
              </a:prstGeom>
              <a:noFill/>
              <a:ln>
                <a:noFill/>
              </a:ln>
            </p:spPr>
            <p:txBody>
              <a:bodyPr spcFirstLastPara="1" wrap="square" lIns="142875" tIns="0" rIns="0" bIns="0" anchor="ctr" anchorCtr="0">
                <a:noAutofit/>
              </a:bodyPr>
              <a:lstStyle/>
              <a:p>
                <a:pPr marL="0" lvl="0" indent="0" algn="l" rtl="0">
                  <a:spcBef>
                    <a:spcPts val="0"/>
                  </a:spcBef>
                  <a:spcAft>
                    <a:spcPts val="0"/>
                  </a:spcAft>
                  <a:buNone/>
                </a:pPr>
                <a:r>
                  <a:rPr lang="en-US" sz="800">
                    <a:solidFill>
                      <a:srgbClr val="1E293B"/>
                    </a:solidFill>
                    <a:latin typeface="Inter"/>
                    <a:ea typeface="Inter"/>
                    <a:cs typeface="Inter"/>
                    <a:sym typeface="Inter"/>
                  </a:rPr>
                  <a:t>Pure Refractory HEA Base</a:t>
                </a:r>
                <a:endParaRPr sz="800">
                  <a:solidFill>
                    <a:srgbClr val="1E293B"/>
                  </a:solidFill>
                  <a:latin typeface="Inter"/>
                  <a:ea typeface="Inter"/>
                  <a:cs typeface="Inter"/>
                  <a:sym typeface="Inter"/>
                </a:endParaRPr>
              </a:p>
            </p:txBody>
          </p:sp>
          <p:sp>
            <p:nvSpPr>
              <p:cNvPr id="200" name="Google Shape;200;p4"/>
              <p:cNvSpPr/>
              <p:nvPr/>
            </p:nvSpPr>
            <p:spPr>
              <a:xfrm>
                <a:off x="4000500" y="1000125"/>
                <a:ext cx="4857900" cy="285900"/>
              </a:xfrm>
              <a:prstGeom prst="rect">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01" name="Google Shape;201;p4"/>
              <p:cNvSpPr txBox="1"/>
              <p:nvPr/>
            </p:nvSpPr>
            <p:spPr>
              <a:xfrm>
                <a:off x="4000500" y="1000125"/>
                <a:ext cx="476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2</a:t>
                </a:r>
                <a:endParaRPr sz="800">
                  <a:solidFill>
                    <a:srgbClr val="1E293B"/>
                  </a:solidFill>
                  <a:latin typeface="Inter"/>
                  <a:ea typeface="Inter"/>
                  <a:cs typeface="Inter"/>
                  <a:sym typeface="Inter"/>
                </a:endParaRPr>
              </a:p>
            </p:txBody>
          </p:sp>
          <p:sp>
            <p:nvSpPr>
              <p:cNvPr id="202" name="Google Shape;202;p4"/>
              <p:cNvSpPr txBox="1"/>
              <p:nvPr/>
            </p:nvSpPr>
            <p:spPr>
              <a:xfrm>
                <a:off x="4476750" y="1000125"/>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0.50</a:t>
                </a:r>
                <a:endParaRPr sz="800">
                  <a:solidFill>
                    <a:srgbClr val="1E293B"/>
                  </a:solidFill>
                  <a:latin typeface="Inter"/>
                  <a:ea typeface="Inter"/>
                  <a:cs typeface="Inter"/>
                  <a:sym typeface="Inter"/>
                </a:endParaRPr>
              </a:p>
            </p:txBody>
          </p:sp>
          <p:sp>
            <p:nvSpPr>
              <p:cNvPr id="203" name="Google Shape;203;p4"/>
              <p:cNvSpPr txBox="1"/>
              <p:nvPr/>
            </p:nvSpPr>
            <p:spPr>
              <a:xfrm>
                <a:off x="5238750" y="1000125"/>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p:txBody>
          </p:sp>
          <p:sp>
            <p:nvSpPr>
              <p:cNvPr id="204" name="Google Shape;204;p4"/>
              <p:cNvSpPr txBox="1"/>
              <p:nvPr/>
            </p:nvSpPr>
            <p:spPr>
              <a:xfrm>
                <a:off x="6000750" y="1061113"/>
                <a:ext cx="857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1E293B"/>
                  </a:solidFill>
                  <a:latin typeface="Inter"/>
                  <a:ea typeface="Inter"/>
                  <a:cs typeface="Inter"/>
                  <a:sym typeface="Inter"/>
                </a:endParaRPr>
              </a:p>
            </p:txBody>
          </p:sp>
          <p:sp>
            <p:nvSpPr>
              <p:cNvPr id="205" name="Google Shape;205;p4"/>
              <p:cNvSpPr txBox="1"/>
              <p:nvPr/>
            </p:nvSpPr>
            <p:spPr>
              <a:xfrm>
                <a:off x="6858000" y="1000125"/>
                <a:ext cx="2000100" cy="285900"/>
              </a:xfrm>
              <a:prstGeom prst="rect">
                <a:avLst/>
              </a:prstGeom>
              <a:noFill/>
              <a:ln>
                <a:noFill/>
              </a:ln>
            </p:spPr>
            <p:txBody>
              <a:bodyPr spcFirstLastPara="1" wrap="square" lIns="142875" tIns="0" rIns="0" bIns="0" anchor="ctr" anchorCtr="0">
                <a:noAutofit/>
              </a:bodyPr>
              <a:lstStyle/>
              <a:p>
                <a:pPr marL="0" lvl="0" indent="0" algn="l" rtl="0">
                  <a:spcBef>
                    <a:spcPts val="0"/>
                  </a:spcBef>
                  <a:spcAft>
                    <a:spcPts val="0"/>
                  </a:spcAft>
                  <a:buNone/>
                </a:pPr>
                <a:r>
                  <a:rPr lang="en-US" sz="800">
                    <a:solidFill>
                      <a:srgbClr val="1E293B"/>
                    </a:solidFill>
                    <a:latin typeface="Inter"/>
                    <a:ea typeface="Inter"/>
                    <a:cs typeface="Inter"/>
                    <a:sym typeface="Inter"/>
                  </a:rPr>
                  <a:t>Graded Matrix</a:t>
                </a:r>
                <a:endParaRPr sz="800">
                  <a:solidFill>
                    <a:srgbClr val="1E293B"/>
                  </a:solidFill>
                  <a:latin typeface="Inter"/>
                  <a:ea typeface="Inter"/>
                  <a:cs typeface="Inter"/>
                  <a:sym typeface="Inter"/>
                </a:endParaRPr>
              </a:p>
            </p:txBody>
          </p:sp>
          <p:sp>
            <p:nvSpPr>
              <p:cNvPr id="206" name="Google Shape;206;p4"/>
              <p:cNvSpPr/>
              <p:nvPr/>
            </p:nvSpPr>
            <p:spPr>
              <a:xfrm>
                <a:off x="4000500" y="1285875"/>
                <a:ext cx="4857900" cy="285900"/>
              </a:xfrm>
              <a:prstGeom prst="rect">
                <a:avLst/>
              </a:prstGeom>
              <a:solidFill>
                <a:srgbClr val="F8FA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07" name="Google Shape;207;p4"/>
              <p:cNvSpPr txBox="1"/>
              <p:nvPr/>
            </p:nvSpPr>
            <p:spPr>
              <a:xfrm>
                <a:off x="4000500" y="1285875"/>
                <a:ext cx="476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3</a:t>
                </a:r>
                <a:endParaRPr sz="800">
                  <a:solidFill>
                    <a:srgbClr val="1E293B"/>
                  </a:solidFill>
                  <a:latin typeface="Inter"/>
                  <a:ea typeface="Inter"/>
                  <a:cs typeface="Inter"/>
                  <a:sym typeface="Inter"/>
                </a:endParaRPr>
              </a:p>
            </p:txBody>
          </p:sp>
          <p:sp>
            <p:nvSpPr>
              <p:cNvPr id="208" name="Google Shape;208;p4"/>
              <p:cNvSpPr txBox="1"/>
              <p:nvPr/>
            </p:nvSpPr>
            <p:spPr>
              <a:xfrm>
                <a:off x="4476750" y="1285875"/>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1.00</a:t>
                </a:r>
                <a:endParaRPr sz="800">
                  <a:solidFill>
                    <a:srgbClr val="1E293B"/>
                  </a:solidFill>
                  <a:latin typeface="Inter"/>
                  <a:ea typeface="Inter"/>
                  <a:cs typeface="Inter"/>
                  <a:sym typeface="Inter"/>
                </a:endParaRPr>
              </a:p>
            </p:txBody>
          </p:sp>
          <p:sp>
            <p:nvSpPr>
              <p:cNvPr id="209" name="Google Shape;209;p4"/>
              <p:cNvSpPr txBox="1"/>
              <p:nvPr/>
            </p:nvSpPr>
            <p:spPr>
              <a:xfrm>
                <a:off x="5238750" y="1285797"/>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p:txBody>
          </p:sp>
          <p:sp>
            <p:nvSpPr>
              <p:cNvPr id="210" name="Google Shape;210;p4"/>
              <p:cNvSpPr txBox="1"/>
              <p:nvPr/>
            </p:nvSpPr>
            <p:spPr>
              <a:xfrm>
                <a:off x="6000750" y="1305379"/>
                <a:ext cx="857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1E293B"/>
                  </a:solidFill>
                  <a:latin typeface="Inter"/>
                  <a:ea typeface="Inter"/>
                  <a:cs typeface="Inter"/>
                  <a:sym typeface="Inter"/>
                </a:endParaRPr>
              </a:p>
            </p:txBody>
          </p:sp>
          <p:sp>
            <p:nvSpPr>
              <p:cNvPr id="211" name="Google Shape;211;p4"/>
              <p:cNvSpPr txBox="1"/>
              <p:nvPr/>
            </p:nvSpPr>
            <p:spPr>
              <a:xfrm>
                <a:off x="6858000" y="1285875"/>
                <a:ext cx="2000100" cy="285900"/>
              </a:xfrm>
              <a:prstGeom prst="rect">
                <a:avLst/>
              </a:prstGeom>
              <a:noFill/>
              <a:ln>
                <a:noFill/>
              </a:ln>
            </p:spPr>
            <p:txBody>
              <a:bodyPr spcFirstLastPara="1" wrap="square" lIns="142875" tIns="0" rIns="0" bIns="0" anchor="ctr" anchorCtr="0">
                <a:noAutofit/>
              </a:bodyPr>
              <a:lstStyle/>
              <a:p>
                <a:pPr marL="0" lvl="0" indent="0" algn="l" rtl="0">
                  <a:spcBef>
                    <a:spcPts val="0"/>
                  </a:spcBef>
                  <a:spcAft>
                    <a:spcPts val="0"/>
                  </a:spcAft>
                  <a:buNone/>
                </a:pPr>
                <a:r>
                  <a:rPr lang="en-US" sz="800">
                    <a:solidFill>
                      <a:srgbClr val="1E293B"/>
                    </a:solidFill>
                    <a:latin typeface="Inter"/>
                    <a:ea typeface="Inter"/>
                    <a:cs typeface="Inter"/>
                    <a:sym typeface="Inter"/>
                  </a:rPr>
                  <a:t>Graded Matrix</a:t>
                </a:r>
                <a:endParaRPr sz="800">
                  <a:solidFill>
                    <a:srgbClr val="1E293B"/>
                  </a:solidFill>
                  <a:latin typeface="Inter"/>
                  <a:ea typeface="Inter"/>
                  <a:cs typeface="Inter"/>
                  <a:sym typeface="Inter"/>
                </a:endParaRPr>
              </a:p>
            </p:txBody>
          </p:sp>
          <p:sp>
            <p:nvSpPr>
              <p:cNvPr id="212" name="Google Shape;212;p4"/>
              <p:cNvSpPr/>
              <p:nvPr/>
            </p:nvSpPr>
            <p:spPr>
              <a:xfrm>
                <a:off x="4000500" y="1571625"/>
                <a:ext cx="4857900" cy="285900"/>
              </a:xfrm>
              <a:prstGeom prst="rect">
                <a:avLst/>
              </a:prstGeom>
              <a:solidFill>
                <a:srgbClr val="ECFE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4000500" y="1571625"/>
                <a:ext cx="476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b="0">
                    <a:solidFill>
                      <a:srgbClr val="0891B2"/>
                    </a:solidFill>
                    <a:latin typeface="Inter SemiBold"/>
                    <a:ea typeface="Inter SemiBold"/>
                    <a:cs typeface="Inter SemiBold"/>
                    <a:sym typeface="Inter SemiBold"/>
                  </a:rPr>
                  <a:t>4</a:t>
                </a:r>
                <a:endParaRPr sz="800" b="0">
                  <a:solidFill>
                    <a:srgbClr val="0891B2"/>
                  </a:solidFill>
                  <a:latin typeface="Inter SemiBold"/>
                  <a:ea typeface="Inter SemiBold"/>
                  <a:cs typeface="Inter SemiBold"/>
                  <a:sym typeface="Inter SemiBold"/>
                </a:endParaRPr>
              </a:p>
            </p:txBody>
          </p:sp>
          <p:sp>
            <p:nvSpPr>
              <p:cNvPr id="214" name="Google Shape;214;p4"/>
              <p:cNvSpPr txBox="1"/>
              <p:nvPr/>
            </p:nvSpPr>
            <p:spPr>
              <a:xfrm>
                <a:off x="4476750" y="1571625"/>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b="0">
                    <a:solidFill>
                      <a:srgbClr val="0891B2"/>
                    </a:solidFill>
                    <a:latin typeface="Inter SemiBold"/>
                    <a:ea typeface="Inter SemiBold"/>
                    <a:cs typeface="Inter SemiBold"/>
                    <a:sym typeface="Inter SemiBold"/>
                  </a:rPr>
                  <a:t>1.50</a:t>
                </a:r>
                <a:endParaRPr sz="800" b="0">
                  <a:solidFill>
                    <a:srgbClr val="0891B2"/>
                  </a:solidFill>
                  <a:latin typeface="Inter SemiBold"/>
                  <a:ea typeface="Inter SemiBold"/>
                  <a:cs typeface="Inter SemiBold"/>
                  <a:sym typeface="Inter SemiBold"/>
                </a:endParaRPr>
              </a:p>
            </p:txBody>
          </p:sp>
          <p:sp>
            <p:nvSpPr>
              <p:cNvPr id="215" name="Google Shape;215;p4"/>
              <p:cNvSpPr txBox="1"/>
              <p:nvPr/>
            </p:nvSpPr>
            <p:spPr>
              <a:xfrm>
                <a:off x="5238750" y="1649642"/>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0891B2"/>
                  </a:solidFill>
                  <a:latin typeface="Inter SemiBold"/>
                  <a:ea typeface="Inter SemiBold"/>
                  <a:cs typeface="Inter SemiBold"/>
                  <a:sym typeface="Inter SemiBold"/>
                </a:endParaRPr>
              </a:p>
            </p:txBody>
          </p:sp>
          <p:sp>
            <p:nvSpPr>
              <p:cNvPr id="216" name="Google Shape;216;p4"/>
              <p:cNvSpPr txBox="1"/>
              <p:nvPr/>
            </p:nvSpPr>
            <p:spPr>
              <a:xfrm>
                <a:off x="6000750" y="1610634"/>
                <a:ext cx="857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0891B2"/>
                  </a:solidFill>
                  <a:latin typeface="Inter SemiBold"/>
                  <a:ea typeface="Inter SemiBold"/>
                  <a:cs typeface="Inter SemiBold"/>
                  <a:sym typeface="Inter SemiBold"/>
                </a:endParaRPr>
              </a:p>
            </p:txBody>
          </p:sp>
          <p:sp>
            <p:nvSpPr>
              <p:cNvPr id="217" name="Google Shape;217;p4"/>
              <p:cNvSpPr txBox="1"/>
              <p:nvPr/>
            </p:nvSpPr>
            <p:spPr>
              <a:xfrm>
                <a:off x="6858000" y="1571625"/>
                <a:ext cx="2000100" cy="285900"/>
              </a:xfrm>
              <a:prstGeom prst="rect">
                <a:avLst/>
              </a:prstGeom>
              <a:noFill/>
              <a:ln>
                <a:noFill/>
              </a:ln>
            </p:spPr>
            <p:txBody>
              <a:bodyPr spcFirstLastPara="1" wrap="square" lIns="142875" tIns="0" rIns="0" bIns="0" anchor="ctr" anchorCtr="0">
                <a:noAutofit/>
              </a:bodyPr>
              <a:lstStyle/>
              <a:p>
                <a:pPr marL="0" lvl="0" indent="0" algn="l" rtl="0">
                  <a:spcBef>
                    <a:spcPts val="0"/>
                  </a:spcBef>
                  <a:spcAft>
                    <a:spcPts val="0"/>
                  </a:spcAft>
                  <a:buNone/>
                </a:pPr>
                <a:r>
                  <a:rPr lang="en-US" sz="800" b="0">
                    <a:solidFill>
                      <a:srgbClr val="0891B2"/>
                    </a:solidFill>
                    <a:latin typeface="Inter SemiBold"/>
                    <a:ea typeface="Inter SemiBold"/>
                    <a:cs typeface="Inter SemiBold"/>
                    <a:sym typeface="Inter SemiBold"/>
                  </a:rPr>
                  <a:t>Micro-Porosity Zone</a:t>
                </a:r>
                <a:endParaRPr sz="800" b="0">
                  <a:solidFill>
                    <a:srgbClr val="0891B2"/>
                  </a:solidFill>
                  <a:latin typeface="Inter SemiBold"/>
                  <a:ea typeface="Inter SemiBold"/>
                  <a:cs typeface="Inter SemiBold"/>
                  <a:sym typeface="Inter SemiBold"/>
                </a:endParaRPr>
              </a:p>
            </p:txBody>
          </p:sp>
          <p:sp>
            <p:nvSpPr>
              <p:cNvPr id="218" name="Google Shape;218;p4"/>
              <p:cNvSpPr/>
              <p:nvPr/>
            </p:nvSpPr>
            <p:spPr>
              <a:xfrm>
                <a:off x="4000500" y="1857375"/>
                <a:ext cx="4857900" cy="285900"/>
              </a:xfrm>
              <a:prstGeom prst="rect">
                <a:avLst/>
              </a:prstGeom>
              <a:solidFill>
                <a:srgbClr val="ECFE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19" name="Google Shape;219;p4"/>
              <p:cNvSpPr txBox="1"/>
              <p:nvPr/>
            </p:nvSpPr>
            <p:spPr>
              <a:xfrm>
                <a:off x="4000500" y="1857375"/>
                <a:ext cx="476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b="0">
                    <a:solidFill>
                      <a:srgbClr val="0891B2"/>
                    </a:solidFill>
                    <a:latin typeface="Inter SemiBold"/>
                    <a:ea typeface="Inter SemiBold"/>
                    <a:cs typeface="Inter SemiBold"/>
                    <a:sym typeface="Inter SemiBold"/>
                  </a:rPr>
                  <a:t>5</a:t>
                </a:r>
                <a:endParaRPr sz="800" b="0">
                  <a:solidFill>
                    <a:srgbClr val="0891B2"/>
                  </a:solidFill>
                  <a:latin typeface="Inter SemiBold"/>
                  <a:ea typeface="Inter SemiBold"/>
                  <a:cs typeface="Inter SemiBold"/>
                  <a:sym typeface="Inter SemiBold"/>
                </a:endParaRPr>
              </a:p>
            </p:txBody>
          </p:sp>
          <p:sp>
            <p:nvSpPr>
              <p:cNvPr id="220" name="Google Shape;220;p4"/>
              <p:cNvSpPr txBox="1"/>
              <p:nvPr/>
            </p:nvSpPr>
            <p:spPr>
              <a:xfrm>
                <a:off x="4476750" y="1857375"/>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b="0">
                    <a:solidFill>
                      <a:srgbClr val="0891B2"/>
                    </a:solidFill>
                    <a:latin typeface="Inter SemiBold"/>
                    <a:ea typeface="Inter SemiBold"/>
                    <a:cs typeface="Inter SemiBold"/>
                    <a:sym typeface="Inter SemiBold"/>
                  </a:rPr>
                  <a:t>2.00</a:t>
                </a:r>
                <a:endParaRPr sz="800" b="0">
                  <a:solidFill>
                    <a:srgbClr val="0891B2"/>
                  </a:solidFill>
                  <a:latin typeface="Inter SemiBold"/>
                  <a:ea typeface="Inter SemiBold"/>
                  <a:cs typeface="Inter SemiBold"/>
                  <a:sym typeface="Inter SemiBold"/>
                </a:endParaRPr>
              </a:p>
            </p:txBody>
          </p:sp>
          <p:sp>
            <p:nvSpPr>
              <p:cNvPr id="221" name="Google Shape;221;p4"/>
              <p:cNvSpPr txBox="1"/>
              <p:nvPr/>
            </p:nvSpPr>
            <p:spPr>
              <a:xfrm>
                <a:off x="5238750" y="1935392"/>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0891B2"/>
                  </a:solidFill>
                  <a:latin typeface="Inter SemiBold"/>
                  <a:ea typeface="Inter SemiBold"/>
                  <a:cs typeface="Inter SemiBold"/>
                  <a:sym typeface="Inter SemiBold"/>
                </a:endParaRPr>
              </a:p>
            </p:txBody>
          </p:sp>
          <p:sp>
            <p:nvSpPr>
              <p:cNvPr id="222" name="Google Shape;222;p4"/>
              <p:cNvSpPr txBox="1"/>
              <p:nvPr/>
            </p:nvSpPr>
            <p:spPr>
              <a:xfrm>
                <a:off x="6000750" y="1894723"/>
                <a:ext cx="857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0891B2"/>
                  </a:solidFill>
                  <a:latin typeface="Inter SemiBold"/>
                  <a:ea typeface="Inter SemiBold"/>
                  <a:cs typeface="Inter SemiBold"/>
                  <a:sym typeface="Inter SemiBold"/>
                </a:endParaRPr>
              </a:p>
            </p:txBody>
          </p:sp>
          <p:sp>
            <p:nvSpPr>
              <p:cNvPr id="223" name="Google Shape;223;p4"/>
              <p:cNvSpPr txBox="1"/>
              <p:nvPr/>
            </p:nvSpPr>
            <p:spPr>
              <a:xfrm>
                <a:off x="6858000" y="1857375"/>
                <a:ext cx="2000100" cy="285900"/>
              </a:xfrm>
              <a:prstGeom prst="rect">
                <a:avLst/>
              </a:prstGeom>
              <a:noFill/>
              <a:ln>
                <a:noFill/>
              </a:ln>
            </p:spPr>
            <p:txBody>
              <a:bodyPr spcFirstLastPara="1" wrap="square" lIns="142875" tIns="0" rIns="0" bIns="0" anchor="ctr" anchorCtr="0">
                <a:noAutofit/>
              </a:bodyPr>
              <a:lstStyle/>
              <a:p>
                <a:pPr marL="0" lvl="0" indent="0" algn="l" rtl="0">
                  <a:spcBef>
                    <a:spcPts val="0"/>
                  </a:spcBef>
                  <a:spcAft>
                    <a:spcPts val="0"/>
                  </a:spcAft>
                  <a:buNone/>
                </a:pPr>
                <a:r>
                  <a:rPr lang="en-US" sz="800" b="0">
                    <a:solidFill>
                      <a:srgbClr val="0891B2"/>
                    </a:solidFill>
                    <a:latin typeface="Inter SemiBold"/>
                    <a:ea typeface="Inter SemiBold"/>
                    <a:cs typeface="Inter SemiBold"/>
                    <a:sym typeface="Inter SemiBold"/>
                  </a:rPr>
                  <a:t>Micro-Porosity Zone</a:t>
                </a:r>
                <a:endParaRPr sz="800" b="0">
                  <a:solidFill>
                    <a:srgbClr val="0891B2"/>
                  </a:solidFill>
                  <a:latin typeface="Inter SemiBold"/>
                  <a:ea typeface="Inter SemiBold"/>
                  <a:cs typeface="Inter SemiBold"/>
                  <a:sym typeface="Inter SemiBold"/>
                </a:endParaRPr>
              </a:p>
            </p:txBody>
          </p:sp>
          <p:sp>
            <p:nvSpPr>
              <p:cNvPr id="224" name="Google Shape;224;p4"/>
              <p:cNvSpPr/>
              <p:nvPr/>
            </p:nvSpPr>
            <p:spPr>
              <a:xfrm>
                <a:off x="4000500" y="2143125"/>
                <a:ext cx="4857900" cy="285900"/>
              </a:xfrm>
              <a:prstGeom prst="rect">
                <a:avLst/>
              </a:prstGeom>
              <a:solidFill>
                <a:srgbClr val="ECFE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25" name="Google Shape;225;p4"/>
              <p:cNvSpPr txBox="1"/>
              <p:nvPr/>
            </p:nvSpPr>
            <p:spPr>
              <a:xfrm>
                <a:off x="4000500" y="2143125"/>
                <a:ext cx="476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b="0">
                    <a:solidFill>
                      <a:srgbClr val="0891B2"/>
                    </a:solidFill>
                    <a:latin typeface="Inter SemiBold"/>
                    <a:ea typeface="Inter SemiBold"/>
                    <a:cs typeface="Inter SemiBold"/>
                    <a:sym typeface="Inter SemiBold"/>
                  </a:rPr>
                  <a:t>6</a:t>
                </a:r>
                <a:endParaRPr sz="800" b="0">
                  <a:solidFill>
                    <a:srgbClr val="0891B2"/>
                  </a:solidFill>
                  <a:latin typeface="Inter SemiBold"/>
                  <a:ea typeface="Inter SemiBold"/>
                  <a:cs typeface="Inter SemiBold"/>
                  <a:sym typeface="Inter SemiBold"/>
                </a:endParaRPr>
              </a:p>
            </p:txBody>
          </p:sp>
          <p:sp>
            <p:nvSpPr>
              <p:cNvPr id="226" name="Google Shape;226;p4"/>
              <p:cNvSpPr txBox="1"/>
              <p:nvPr/>
            </p:nvSpPr>
            <p:spPr>
              <a:xfrm>
                <a:off x="4476750" y="2143125"/>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b="0">
                    <a:solidFill>
                      <a:srgbClr val="0891B2"/>
                    </a:solidFill>
                    <a:latin typeface="Inter SemiBold"/>
                    <a:ea typeface="Inter SemiBold"/>
                    <a:cs typeface="Inter SemiBold"/>
                    <a:sym typeface="Inter SemiBold"/>
                  </a:rPr>
                  <a:t>2.50</a:t>
                </a:r>
                <a:endParaRPr sz="800" b="0">
                  <a:solidFill>
                    <a:srgbClr val="0891B2"/>
                  </a:solidFill>
                  <a:latin typeface="Inter SemiBold"/>
                  <a:ea typeface="Inter SemiBold"/>
                  <a:cs typeface="Inter SemiBold"/>
                  <a:sym typeface="Inter SemiBold"/>
                </a:endParaRPr>
              </a:p>
            </p:txBody>
          </p:sp>
          <p:sp>
            <p:nvSpPr>
              <p:cNvPr id="227" name="Google Shape;227;p4"/>
              <p:cNvSpPr txBox="1"/>
              <p:nvPr/>
            </p:nvSpPr>
            <p:spPr>
              <a:xfrm>
                <a:off x="5238750" y="2214563"/>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0891B2"/>
                  </a:solidFill>
                  <a:latin typeface="Inter SemiBold"/>
                  <a:ea typeface="Inter SemiBold"/>
                  <a:cs typeface="Inter SemiBold"/>
                  <a:sym typeface="Inter SemiBold"/>
                </a:endParaRPr>
              </a:p>
            </p:txBody>
          </p:sp>
          <p:sp>
            <p:nvSpPr>
              <p:cNvPr id="228" name="Google Shape;228;p4"/>
              <p:cNvSpPr txBox="1"/>
              <p:nvPr/>
            </p:nvSpPr>
            <p:spPr>
              <a:xfrm>
                <a:off x="6000750" y="2217852"/>
                <a:ext cx="857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0891B2"/>
                  </a:solidFill>
                  <a:latin typeface="Inter SemiBold"/>
                  <a:ea typeface="Inter SemiBold"/>
                  <a:cs typeface="Inter SemiBold"/>
                  <a:sym typeface="Inter SemiBold"/>
                </a:endParaRPr>
              </a:p>
            </p:txBody>
          </p:sp>
          <p:sp>
            <p:nvSpPr>
              <p:cNvPr id="229" name="Google Shape;229;p4"/>
              <p:cNvSpPr txBox="1"/>
              <p:nvPr/>
            </p:nvSpPr>
            <p:spPr>
              <a:xfrm>
                <a:off x="6858000" y="2143125"/>
                <a:ext cx="2000100" cy="285900"/>
              </a:xfrm>
              <a:prstGeom prst="rect">
                <a:avLst/>
              </a:prstGeom>
              <a:noFill/>
              <a:ln>
                <a:noFill/>
              </a:ln>
            </p:spPr>
            <p:txBody>
              <a:bodyPr spcFirstLastPara="1" wrap="square" lIns="142875" tIns="0" rIns="0" bIns="0" anchor="ctr" anchorCtr="0">
                <a:noAutofit/>
              </a:bodyPr>
              <a:lstStyle/>
              <a:p>
                <a:pPr marL="0" lvl="0" indent="0" algn="l" rtl="0">
                  <a:spcBef>
                    <a:spcPts val="0"/>
                  </a:spcBef>
                  <a:spcAft>
                    <a:spcPts val="0"/>
                  </a:spcAft>
                  <a:buNone/>
                </a:pPr>
                <a:r>
                  <a:rPr lang="en-US" sz="800" b="0">
                    <a:solidFill>
                      <a:srgbClr val="0891B2"/>
                    </a:solidFill>
                    <a:latin typeface="Inter SemiBold"/>
                    <a:ea typeface="Inter SemiBold"/>
                    <a:cs typeface="Inter SemiBold"/>
                    <a:sym typeface="Inter SemiBold"/>
                  </a:rPr>
                  <a:t>Micro-Porosity Zone</a:t>
                </a:r>
                <a:endParaRPr sz="800" b="0">
                  <a:solidFill>
                    <a:srgbClr val="0891B2"/>
                  </a:solidFill>
                  <a:latin typeface="Inter SemiBold"/>
                  <a:ea typeface="Inter SemiBold"/>
                  <a:cs typeface="Inter SemiBold"/>
                  <a:sym typeface="Inter SemiBold"/>
                </a:endParaRPr>
              </a:p>
            </p:txBody>
          </p:sp>
          <p:sp>
            <p:nvSpPr>
              <p:cNvPr id="230" name="Google Shape;230;p4"/>
              <p:cNvSpPr/>
              <p:nvPr/>
            </p:nvSpPr>
            <p:spPr>
              <a:xfrm>
                <a:off x="4000500" y="2428875"/>
                <a:ext cx="4857900" cy="285900"/>
              </a:xfrm>
              <a:prstGeom prst="rect">
                <a:avLst/>
              </a:prstGeom>
              <a:solidFill>
                <a:srgbClr val="ECFE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31" name="Google Shape;231;p4"/>
              <p:cNvSpPr txBox="1"/>
              <p:nvPr/>
            </p:nvSpPr>
            <p:spPr>
              <a:xfrm>
                <a:off x="4000500" y="2428875"/>
                <a:ext cx="476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b="0">
                    <a:solidFill>
                      <a:srgbClr val="0891B2"/>
                    </a:solidFill>
                    <a:latin typeface="Inter SemiBold"/>
                    <a:ea typeface="Inter SemiBold"/>
                    <a:cs typeface="Inter SemiBold"/>
                    <a:sym typeface="Inter SemiBold"/>
                  </a:rPr>
                  <a:t>7</a:t>
                </a:r>
                <a:endParaRPr sz="800" b="0">
                  <a:solidFill>
                    <a:srgbClr val="0891B2"/>
                  </a:solidFill>
                  <a:latin typeface="Inter SemiBold"/>
                  <a:ea typeface="Inter SemiBold"/>
                  <a:cs typeface="Inter SemiBold"/>
                  <a:sym typeface="Inter SemiBold"/>
                </a:endParaRPr>
              </a:p>
            </p:txBody>
          </p:sp>
          <p:sp>
            <p:nvSpPr>
              <p:cNvPr id="232" name="Google Shape;232;p4"/>
              <p:cNvSpPr txBox="1"/>
              <p:nvPr/>
            </p:nvSpPr>
            <p:spPr>
              <a:xfrm>
                <a:off x="4476750" y="2428875"/>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b="0">
                    <a:solidFill>
                      <a:srgbClr val="0891B2"/>
                    </a:solidFill>
                    <a:latin typeface="Inter SemiBold"/>
                    <a:ea typeface="Inter SemiBold"/>
                    <a:cs typeface="Inter SemiBold"/>
                    <a:sym typeface="Inter SemiBold"/>
                  </a:rPr>
                  <a:t>3.00</a:t>
                </a:r>
                <a:endParaRPr sz="800" b="0">
                  <a:solidFill>
                    <a:srgbClr val="0891B2"/>
                  </a:solidFill>
                  <a:latin typeface="Inter SemiBold"/>
                  <a:ea typeface="Inter SemiBold"/>
                  <a:cs typeface="Inter SemiBold"/>
                  <a:sym typeface="Inter SemiBold"/>
                </a:endParaRPr>
              </a:p>
            </p:txBody>
          </p:sp>
          <p:sp>
            <p:nvSpPr>
              <p:cNvPr id="233" name="Google Shape;233;p4"/>
              <p:cNvSpPr txBox="1"/>
              <p:nvPr/>
            </p:nvSpPr>
            <p:spPr>
              <a:xfrm>
                <a:off x="5238750" y="2500250"/>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0891B2"/>
                  </a:solidFill>
                  <a:latin typeface="Inter SemiBold"/>
                  <a:ea typeface="Inter SemiBold"/>
                  <a:cs typeface="Inter SemiBold"/>
                  <a:sym typeface="Inter SemiBold"/>
                </a:endParaRPr>
              </a:p>
            </p:txBody>
          </p:sp>
          <p:sp>
            <p:nvSpPr>
              <p:cNvPr id="234" name="Google Shape;234;p4"/>
              <p:cNvSpPr txBox="1"/>
              <p:nvPr/>
            </p:nvSpPr>
            <p:spPr>
              <a:xfrm>
                <a:off x="6000750" y="2503602"/>
                <a:ext cx="857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0891B2"/>
                  </a:solidFill>
                  <a:latin typeface="Inter SemiBold"/>
                  <a:ea typeface="Inter SemiBold"/>
                  <a:cs typeface="Inter SemiBold"/>
                  <a:sym typeface="Inter SemiBold"/>
                </a:endParaRPr>
              </a:p>
            </p:txBody>
          </p:sp>
          <p:sp>
            <p:nvSpPr>
              <p:cNvPr id="235" name="Google Shape;235;p4"/>
              <p:cNvSpPr txBox="1"/>
              <p:nvPr/>
            </p:nvSpPr>
            <p:spPr>
              <a:xfrm>
                <a:off x="6858000" y="2428875"/>
                <a:ext cx="2000100" cy="285900"/>
              </a:xfrm>
              <a:prstGeom prst="rect">
                <a:avLst/>
              </a:prstGeom>
              <a:noFill/>
              <a:ln>
                <a:noFill/>
              </a:ln>
            </p:spPr>
            <p:txBody>
              <a:bodyPr spcFirstLastPara="1" wrap="square" lIns="142875" tIns="0" rIns="0" bIns="0" anchor="ctr" anchorCtr="0">
                <a:noAutofit/>
              </a:bodyPr>
              <a:lstStyle/>
              <a:p>
                <a:pPr marL="0" lvl="0" indent="0" algn="l" rtl="0">
                  <a:spcBef>
                    <a:spcPts val="0"/>
                  </a:spcBef>
                  <a:spcAft>
                    <a:spcPts val="0"/>
                  </a:spcAft>
                  <a:buNone/>
                </a:pPr>
                <a:r>
                  <a:rPr lang="en-US" sz="800" b="0">
                    <a:solidFill>
                      <a:srgbClr val="0891B2"/>
                    </a:solidFill>
                    <a:latin typeface="Inter SemiBold"/>
                    <a:ea typeface="Inter SemiBold"/>
                    <a:cs typeface="Inter SemiBold"/>
                    <a:sym typeface="Inter SemiBold"/>
                  </a:rPr>
                  <a:t>Micro-Porosity Zone</a:t>
                </a:r>
                <a:endParaRPr sz="800" b="0">
                  <a:solidFill>
                    <a:srgbClr val="0891B2"/>
                  </a:solidFill>
                  <a:latin typeface="Inter SemiBold"/>
                  <a:ea typeface="Inter SemiBold"/>
                  <a:cs typeface="Inter SemiBold"/>
                  <a:sym typeface="Inter SemiBold"/>
                </a:endParaRPr>
              </a:p>
            </p:txBody>
          </p:sp>
          <p:sp>
            <p:nvSpPr>
              <p:cNvPr id="236" name="Google Shape;236;p4"/>
              <p:cNvSpPr/>
              <p:nvPr/>
            </p:nvSpPr>
            <p:spPr>
              <a:xfrm>
                <a:off x="4000500" y="2714625"/>
                <a:ext cx="4857900" cy="285900"/>
              </a:xfrm>
              <a:prstGeom prst="rect">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37" name="Google Shape;237;p4"/>
              <p:cNvSpPr txBox="1"/>
              <p:nvPr/>
            </p:nvSpPr>
            <p:spPr>
              <a:xfrm>
                <a:off x="4000500" y="2714625"/>
                <a:ext cx="476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8</a:t>
                </a:r>
                <a:endParaRPr sz="800">
                  <a:solidFill>
                    <a:srgbClr val="1E293B"/>
                  </a:solidFill>
                  <a:latin typeface="Inter"/>
                  <a:ea typeface="Inter"/>
                  <a:cs typeface="Inter"/>
                  <a:sym typeface="Inter"/>
                </a:endParaRPr>
              </a:p>
            </p:txBody>
          </p:sp>
          <p:sp>
            <p:nvSpPr>
              <p:cNvPr id="238" name="Google Shape;238;p4"/>
              <p:cNvSpPr txBox="1"/>
              <p:nvPr/>
            </p:nvSpPr>
            <p:spPr>
              <a:xfrm>
                <a:off x="4476750" y="2714625"/>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3.50</a:t>
                </a:r>
                <a:endParaRPr sz="800">
                  <a:solidFill>
                    <a:srgbClr val="1E293B"/>
                  </a:solidFill>
                  <a:latin typeface="Inter"/>
                  <a:ea typeface="Inter"/>
                  <a:cs typeface="Inter"/>
                  <a:sym typeface="Inter"/>
                </a:endParaRPr>
              </a:p>
            </p:txBody>
          </p:sp>
          <p:sp>
            <p:nvSpPr>
              <p:cNvPr id="239" name="Google Shape;239;p4"/>
              <p:cNvSpPr txBox="1"/>
              <p:nvPr/>
            </p:nvSpPr>
            <p:spPr>
              <a:xfrm>
                <a:off x="5238750" y="2786063"/>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1E293B"/>
                  </a:solidFill>
                  <a:latin typeface="Inter"/>
                  <a:ea typeface="Inter"/>
                  <a:cs typeface="Inter"/>
                  <a:sym typeface="Inter"/>
                </a:endParaRPr>
              </a:p>
            </p:txBody>
          </p:sp>
          <p:sp>
            <p:nvSpPr>
              <p:cNvPr id="240" name="Google Shape;240;p4"/>
              <p:cNvSpPr txBox="1"/>
              <p:nvPr/>
            </p:nvSpPr>
            <p:spPr>
              <a:xfrm>
                <a:off x="6000750" y="2786063"/>
                <a:ext cx="857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1E293B"/>
                  </a:solidFill>
                  <a:latin typeface="Inter"/>
                  <a:ea typeface="Inter"/>
                  <a:cs typeface="Inter"/>
                  <a:sym typeface="Inter"/>
                </a:endParaRPr>
              </a:p>
            </p:txBody>
          </p:sp>
          <p:sp>
            <p:nvSpPr>
              <p:cNvPr id="241" name="Google Shape;241;p4"/>
              <p:cNvSpPr txBox="1"/>
              <p:nvPr/>
            </p:nvSpPr>
            <p:spPr>
              <a:xfrm>
                <a:off x="6858000" y="2714625"/>
                <a:ext cx="2000100" cy="285900"/>
              </a:xfrm>
              <a:prstGeom prst="rect">
                <a:avLst/>
              </a:prstGeom>
              <a:noFill/>
              <a:ln>
                <a:noFill/>
              </a:ln>
            </p:spPr>
            <p:txBody>
              <a:bodyPr spcFirstLastPara="1" wrap="square" lIns="142875" tIns="0" rIns="0" bIns="0" anchor="ctr" anchorCtr="0">
                <a:noAutofit/>
              </a:bodyPr>
              <a:lstStyle/>
              <a:p>
                <a:pPr marL="0" lvl="0" indent="0" algn="l" rtl="0">
                  <a:spcBef>
                    <a:spcPts val="0"/>
                  </a:spcBef>
                  <a:spcAft>
                    <a:spcPts val="0"/>
                  </a:spcAft>
                  <a:buNone/>
                </a:pPr>
                <a:r>
                  <a:rPr lang="en-US" sz="800">
                    <a:solidFill>
                      <a:srgbClr val="1E293B"/>
                    </a:solidFill>
                    <a:latin typeface="Inter"/>
                    <a:ea typeface="Inter"/>
                    <a:cs typeface="Inter"/>
                    <a:sym typeface="Inter"/>
                  </a:rPr>
                  <a:t>Graded Matrix</a:t>
                </a:r>
                <a:endParaRPr sz="800">
                  <a:solidFill>
                    <a:srgbClr val="1E293B"/>
                  </a:solidFill>
                  <a:latin typeface="Inter"/>
                  <a:ea typeface="Inter"/>
                  <a:cs typeface="Inter"/>
                  <a:sym typeface="Inter"/>
                </a:endParaRPr>
              </a:p>
            </p:txBody>
          </p:sp>
          <p:sp>
            <p:nvSpPr>
              <p:cNvPr id="242" name="Google Shape;242;p4"/>
              <p:cNvSpPr/>
              <p:nvPr/>
            </p:nvSpPr>
            <p:spPr>
              <a:xfrm>
                <a:off x="4000500" y="3000375"/>
                <a:ext cx="4857900" cy="285900"/>
              </a:xfrm>
              <a:prstGeom prst="rect">
                <a:avLst/>
              </a:prstGeom>
              <a:solidFill>
                <a:srgbClr val="F8FA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43" name="Google Shape;243;p4"/>
              <p:cNvSpPr txBox="1"/>
              <p:nvPr/>
            </p:nvSpPr>
            <p:spPr>
              <a:xfrm>
                <a:off x="4000500" y="3000375"/>
                <a:ext cx="476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9</a:t>
                </a:r>
                <a:endParaRPr sz="800">
                  <a:solidFill>
                    <a:srgbClr val="1E293B"/>
                  </a:solidFill>
                  <a:latin typeface="Inter"/>
                  <a:ea typeface="Inter"/>
                  <a:cs typeface="Inter"/>
                  <a:sym typeface="Inter"/>
                </a:endParaRPr>
              </a:p>
            </p:txBody>
          </p:sp>
          <p:sp>
            <p:nvSpPr>
              <p:cNvPr id="244" name="Google Shape;244;p4"/>
              <p:cNvSpPr txBox="1"/>
              <p:nvPr/>
            </p:nvSpPr>
            <p:spPr>
              <a:xfrm>
                <a:off x="4476750" y="3000375"/>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4.00</a:t>
                </a:r>
                <a:endParaRPr sz="800">
                  <a:solidFill>
                    <a:srgbClr val="1E293B"/>
                  </a:solidFill>
                  <a:latin typeface="Inter"/>
                  <a:ea typeface="Inter"/>
                  <a:cs typeface="Inter"/>
                  <a:sym typeface="Inter"/>
                </a:endParaRPr>
              </a:p>
            </p:txBody>
          </p:sp>
          <p:sp>
            <p:nvSpPr>
              <p:cNvPr id="245" name="Google Shape;245;p4"/>
              <p:cNvSpPr txBox="1"/>
              <p:nvPr/>
            </p:nvSpPr>
            <p:spPr>
              <a:xfrm>
                <a:off x="5238750" y="3071813"/>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1E293B"/>
                  </a:solidFill>
                  <a:latin typeface="Inter"/>
                  <a:ea typeface="Inter"/>
                  <a:cs typeface="Inter"/>
                  <a:sym typeface="Inter"/>
                </a:endParaRPr>
              </a:p>
            </p:txBody>
          </p:sp>
          <p:sp>
            <p:nvSpPr>
              <p:cNvPr id="246" name="Google Shape;246;p4"/>
              <p:cNvSpPr txBox="1"/>
              <p:nvPr/>
            </p:nvSpPr>
            <p:spPr>
              <a:xfrm>
                <a:off x="6000750" y="3071781"/>
                <a:ext cx="857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1E293B"/>
                  </a:solidFill>
                  <a:latin typeface="Inter"/>
                  <a:ea typeface="Inter"/>
                  <a:cs typeface="Inter"/>
                  <a:sym typeface="Inter"/>
                </a:endParaRPr>
              </a:p>
            </p:txBody>
          </p:sp>
          <p:sp>
            <p:nvSpPr>
              <p:cNvPr id="247" name="Google Shape;247;p4"/>
              <p:cNvSpPr txBox="1"/>
              <p:nvPr/>
            </p:nvSpPr>
            <p:spPr>
              <a:xfrm>
                <a:off x="6858000" y="3000375"/>
                <a:ext cx="2000100" cy="285900"/>
              </a:xfrm>
              <a:prstGeom prst="rect">
                <a:avLst/>
              </a:prstGeom>
              <a:noFill/>
              <a:ln>
                <a:noFill/>
              </a:ln>
            </p:spPr>
            <p:txBody>
              <a:bodyPr spcFirstLastPara="1" wrap="square" lIns="142875" tIns="0" rIns="0" bIns="0" anchor="ctr" anchorCtr="0">
                <a:noAutofit/>
              </a:bodyPr>
              <a:lstStyle/>
              <a:p>
                <a:pPr marL="0" lvl="0" indent="0" algn="l" rtl="0">
                  <a:spcBef>
                    <a:spcPts val="0"/>
                  </a:spcBef>
                  <a:spcAft>
                    <a:spcPts val="0"/>
                  </a:spcAft>
                  <a:buNone/>
                </a:pPr>
                <a:r>
                  <a:rPr lang="en-US" sz="800">
                    <a:solidFill>
                      <a:srgbClr val="1E293B"/>
                    </a:solidFill>
                    <a:latin typeface="Inter"/>
                    <a:ea typeface="Inter"/>
                    <a:cs typeface="Inter"/>
                    <a:sym typeface="Inter"/>
                  </a:rPr>
                  <a:t>Graded Matrix</a:t>
                </a:r>
                <a:endParaRPr sz="800">
                  <a:solidFill>
                    <a:srgbClr val="1E293B"/>
                  </a:solidFill>
                  <a:latin typeface="Inter"/>
                  <a:ea typeface="Inter"/>
                  <a:cs typeface="Inter"/>
                  <a:sym typeface="Inter"/>
                </a:endParaRPr>
              </a:p>
            </p:txBody>
          </p:sp>
          <p:sp>
            <p:nvSpPr>
              <p:cNvPr id="248" name="Google Shape;248;p4"/>
              <p:cNvSpPr/>
              <p:nvPr/>
            </p:nvSpPr>
            <p:spPr>
              <a:xfrm>
                <a:off x="4000500" y="3286125"/>
                <a:ext cx="4857900" cy="285900"/>
              </a:xfrm>
              <a:prstGeom prst="rect">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49" name="Google Shape;249;p4"/>
              <p:cNvSpPr txBox="1"/>
              <p:nvPr/>
            </p:nvSpPr>
            <p:spPr>
              <a:xfrm>
                <a:off x="4000500" y="3286125"/>
                <a:ext cx="476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10</a:t>
                </a:r>
                <a:endParaRPr sz="800">
                  <a:solidFill>
                    <a:srgbClr val="1E293B"/>
                  </a:solidFill>
                  <a:latin typeface="Inter"/>
                  <a:ea typeface="Inter"/>
                  <a:cs typeface="Inter"/>
                  <a:sym typeface="Inter"/>
                </a:endParaRPr>
              </a:p>
            </p:txBody>
          </p:sp>
          <p:sp>
            <p:nvSpPr>
              <p:cNvPr id="250" name="Google Shape;250;p4"/>
              <p:cNvSpPr txBox="1"/>
              <p:nvPr/>
            </p:nvSpPr>
            <p:spPr>
              <a:xfrm>
                <a:off x="4476750" y="3286125"/>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4.50</a:t>
                </a:r>
                <a:endParaRPr sz="800">
                  <a:solidFill>
                    <a:srgbClr val="1E293B"/>
                  </a:solidFill>
                  <a:latin typeface="Inter"/>
                  <a:ea typeface="Inter"/>
                  <a:cs typeface="Inter"/>
                  <a:sym typeface="Inter"/>
                </a:endParaRPr>
              </a:p>
            </p:txBody>
          </p:sp>
          <p:sp>
            <p:nvSpPr>
              <p:cNvPr id="251" name="Google Shape;251;p4"/>
              <p:cNvSpPr txBox="1"/>
              <p:nvPr/>
            </p:nvSpPr>
            <p:spPr>
              <a:xfrm>
                <a:off x="5238750" y="3357563"/>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1E293B"/>
                  </a:solidFill>
                  <a:latin typeface="Inter"/>
                  <a:ea typeface="Inter"/>
                  <a:cs typeface="Inter"/>
                  <a:sym typeface="Inter"/>
                </a:endParaRPr>
              </a:p>
            </p:txBody>
          </p:sp>
          <p:sp>
            <p:nvSpPr>
              <p:cNvPr id="252" name="Google Shape;252;p4"/>
              <p:cNvSpPr txBox="1"/>
              <p:nvPr/>
            </p:nvSpPr>
            <p:spPr>
              <a:xfrm>
                <a:off x="6000750" y="3357563"/>
                <a:ext cx="857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1E293B"/>
                  </a:solidFill>
                  <a:latin typeface="Inter"/>
                  <a:ea typeface="Inter"/>
                  <a:cs typeface="Inter"/>
                  <a:sym typeface="Inter"/>
                </a:endParaRPr>
              </a:p>
            </p:txBody>
          </p:sp>
          <p:sp>
            <p:nvSpPr>
              <p:cNvPr id="253" name="Google Shape;253;p4"/>
              <p:cNvSpPr txBox="1"/>
              <p:nvPr/>
            </p:nvSpPr>
            <p:spPr>
              <a:xfrm>
                <a:off x="6858000" y="3286125"/>
                <a:ext cx="2000100" cy="285900"/>
              </a:xfrm>
              <a:prstGeom prst="rect">
                <a:avLst/>
              </a:prstGeom>
              <a:noFill/>
              <a:ln>
                <a:noFill/>
              </a:ln>
            </p:spPr>
            <p:txBody>
              <a:bodyPr spcFirstLastPara="1" wrap="square" lIns="142875" tIns="0" rIns="0" bIns="0" anchor="ctr" anchorCtr="0">
                <a:noAutofit/>
              </a:bodyPr>
              <a:lstStyle/>
              <a:p>
                <a:pPr marL="0" lvl="0" indent="0" algn="l" rtl="0">
                  <a:spcBef>
                    <a:spcPts val="0"/>
                  </a:spcBef>
                  <a:spcAft>
                    <a:spcPts val="0"/>
                  </a:spcAft>
                  <a:buNone/>
                </a:pPr>
                <a:r>
                  <a:rPr lang="en-US" sz="800">
                    <a:solidFill>
                      <a:srgbClr val="1E293B"/>
                    </a:solidFill>
                    <a:latin typeface="Inter"/>
                    <a:ea typeface="Inter"/>
                    <a:cs typeface="Inter"/>
                    <a:sym typeface="Inter"/>
                  </a:rPr>
                  <a:t>Graded Matrix</a:t>
                </a:r>
                <a:endParaRPr sz="800">
                  <a:solidFill>
                    <a:srgbClr val="1E293B"/>
                  </a:solidFill>
                  <a:latin typeface="Inter"/>
                  <a:ea typeface="Inter"/>
                  <a:cs typeface="Inter"/>
                  <a:sym typeface="Inter"/>
                </a:endParaRPr>
              </a:p>
            </p:txBody>
          </p:sp>
          <p:sp>
            <p:nvSpPr>
              <p:cNvPr id="254" name="Google Shape;254;p4"/>
              <p:cNvSpPr/>
              <p:nvPr/>
            </p:nvSpPr>
            <p:spPr>
              <a:xfrm>
                <a:off x="4000500" y="3571875"/>
                <a:ext cx="4857900" cy="285900"/>
              </a:xfrm>
              <a:prstGeom prst="rect">
                <a:avLst/>
              </a:prstGeom>
              <a:solidFill>
                <a:srgbClr val="F8FA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55" name="Google Shape;255;p4"/>
              <p:cNvSpPr txBox="1"/>
              <p:nvPr/>
            </p:nvSpPr>
            <p:spPr>
              <a:xfrm>
                <a:off x="4000500" y="3571875"/>
                <a:ext cx="476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11</a:t>
                </a:r>
                <a:endParaRPr sz="800">
                  <a:solidFill>
                    <a:srgbClr val="1E293B"/>
                  </a:solidFill>
                  <a:latin typeface="Inter"/>
                  <a:ea typeface="Inter"/>
                  <a:cs typeface="Inter"/>
                  <a:sym typeface="Inter"/>
                </a:endParaRPr>
              </a:p>
            </p:txBody>
          </p:sp>
          <p:sp>
            <p:nvSpPr>
              <p:cNvPr id="256" name="Google Shape;256;p4"/>
              <p:cNvSpPr txBox="1"/>
              <p:nvPr/>
            </p:nvSpPr>
            <p:spPr>
              <a:xfrm>
                <a:off x="4476750" y="3571875"/>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5.00</a:t>
                </a:r>
                <a:endParaRPr sz="800">
                  <a:solidFill>
                    <a:srgbClr val="1E293B"/>
                  </a:solidFill>
                  <a:latin typeface="Inter"/>
                  <a:ea typeface="Inter"/>
                  <a:cs typeface="Inter"/>
                  <a:sym typeface="Inter"/>
                </a:endParaRPr>
              </a:p>
            </p:txBody>
          </p:sp>
          <p:sp>
            <p:nvSpPr>
              <p:cNvPr id="257" name="Google Shape;257;p4"/>
              <p:cNvSpPr txBox="1"/>
              <p:nvPr/>
            </p:nvSpPr>
            <p:spPr>
              <a:xfrm>
                <a:off x="5238750" y="3643313"/>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0.00%</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1E293B"/>
                  </a:solidFill>
                  <a:latin typeface="Inter"/>
                  <a:ea typeface="Inter"/>
                  <a:cs typeface="Inter"/>
                  <a:sym typeface="Inter"/>
                </a:endParaRPr>
              </a:p>
            </p:txBody>
          </p:sp>
          <p:sp>
            <p:nvSpPr>
              <p:cNvPr id="258" name="Google Shape;258;p4"/>
              <p:cNvSpPr txBox="1"/>
              <p:nvPr/>
            </p:nvSpPr>
            <p:spPr>
              <a:xfrm>
                <a:off x="6000750" y="3643313"/>
                <a:ext cx="857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100.0%</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1E293B"/>
                  </a:solidFill>
                  <a:latin typeface="Inter"/>
                  <a:ea typeface="Inter"/>
                  <a:cs typeface="Inter"/>
                  <a:sym typeface="Inter"/>
                </a:endParaRPr>
              </a:p>
            </p:txBody>
          </p:sp>
          <p:sp>
            <p:nvSpPr>
              <p:cNvPr id="259" name="Google Shape;259;p4"/>
              <p:cNvSpPr txBox="1"/>
              <p:nvPr/>
            </p:nvSpPr>
            <p:spPr>
              <a:xfrm>
                <a:off x="6858000" y="3571875"/>
                <a:ext cx="2000100" cy="285900"/>
              </a:xfrm>
              <a:prstGeom prst="rect">
                <a:avLst/>
              </a:prstGeom>
              <a:noFill/>
              <a:ln>
                <a:noFill/>
              </a:ln>
            </p:spPr>
            <p:txBody>
              <a:bodyPr spcFirstLastPara="1" wrap="square" lIns="142875" tIns="0" rIns="0" bIns="0" anchor="ctr" anchorCtr="0">
                <a:noAutofit/>
              </a:bodyPr>
              <a:lstStyle/>
              <a:p>
                <a:pPr marL="0" lvl="0" indent="0" algn="l" rtl="0">
                  <a:spcBef>
                    <a:spcPts val="0"/>
                  </a:spcBef>
                  <a:spcAft>
                    <a:spcPts val="0"/>
                  </a:spcAft>
                  <a:buNone/>
                </a:pPr>
                <a:r>
                  <a:rPr lang="en-US" sz="800">
                    <a:solidFill>
                      <a:srgbClr val="1E293B"/>
                    </a:solidFill>
                    <a:latin typeface="Inter"/>
                    <a:ea typeface="Inter"/>
                    <a:cs typeface="Inter"/>
                    <a:sym typeface="Inter"/>
                  </a:rPr>
                  <a:t>Pure Porous LZO Ceramic</a:t>
                </a:r>
                <a:endParaRPr sz="800">
                  <a:solidFill>
                    <a:srgbClr val="1E293B"/>
                  </a:solidFill>
                  <a:latin typeface="Inter"/>
                  <a:ea typeface="Inter"/>
                  <a:cs typeface="Inter"/>
                  <a:sym typeface="Inter"/>
                </a:endParaRPr>
              </a:p>
            </p:txBody>
          </p:sp>
        </p:grpSp>
        <p:sp>
          <p:nvSpPr>
            <p:cNvPr id="260" name="Google Shape;260;p4"/>
            <p:cNvSpPr txBox="1"/>
            <p:nvPr/>
          </p:nvSpPr>
          <p:spPr>
            <a:xfrm>
              <a:off x="4000500" y="4572000"/>
              <a:ext cx="4857900" cy="238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800">
                  <a:solidFill>
                    <a:srgbClr val="94A3B8"/>
                  </a:solidFill>
                  <a:latin typeface="Inter"/>
                  <a:ea typeface="Inter"/>
                  <a:cs typeface="Inter"/>
                  <a:sym typeface="Inter"/>
                </a:rPr>
                <a:t> 			Optimized for 5.0 mm transition zone.</a:t>
              </a:r>
              <a:endParaRPr sz="800">
                <a:solidFill>
                  <a:srgbClr val="94A3B8"/>
                </a:solidFill>
                <a:latin typeface="Inter"/>
                <a:ea typeface="Inter"/>
                <a:cs typeface="Inter"/>
                <a:sym typeface="Inter"/>
              </a:endParaRPr>
            </a:p>
          </p:txBody>
        </p:sp>
      </p:grpSp>
      <p:grpSp>
        <p:nvGrpSpPr>
          <p:cNvPr id="261" name="Google Shape;261;p4"/>
          <p:cNvGrpSpPr/>
          <p:nvPr/>
        </p:nvGrpSpPr>
        <p:grpSpPr>
          <a:xfrm>
            <a:off x="428625" y="4476825"/>
            <a:ext cx="8370825" cy="500400"/>
            <a:chOff x="428625" y="4476825"/>
            <a:chExt cx="8370825" cy="500400"/>
          </a:xfrm>
        </p:grpSpPr>
        <p:sp>
          <p:nvSpPr>
            <p:cNvPr id="262" name="Google Shape;262;p4"/>
            <p:cNvSpPr/>
            <p:nvPr/>
          </p:nvSpPr>
          <p:spPr>
            <a:xfrm>
              <a:off x="428625" y="4619625"/>
              <a:ext cx="3333900" cy="190500"/>
            </a:xfrm>
            <a:prstGeom prst="roundRect">
              <a:avLst>
                <a:gd name="adj" fmla="val 10000"/>
              </a:avLst>
            </a:prstGeom>
            <a:solidFill>
              <a:srgbClr val="F1F5F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63" name="Google Shape;263;p4"/>
            <p:cNvSpPr txBox="1"/>
            <p:nvPr/>
          </p:nvSpPr>
          <p:spPr>
            <a:xfrm>
              <a:off x="476250" y="4476825"/>
              <a:ext cx="8323200" cy="5004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100">
                  <a:solidFill>
                    <a:srgbClr val="1A365D"/>
                  </a:solidFill>
                  <a:latin typeface="Inter Medium"/>
                  <a:ea typeface="Inter Medium"/>
                  <a:cs typeface="Inter Medium"/>
                  <a:sym typeface="Inter Medium"/>
                </a:rPr>
                <a:t>Elemental family details are fully provided (Ta-W-Cr-V-Ti-Zr-Hf-Al-Nb), but exact compositional ratios are proprietary to protect Crystal Paradigm IP; full composition disclosure is available for joint engineering teams during subsequent technical reviews under an NDA </a:t>
              </a:r>
              <a:endParaRPr sz="1100" b="0">
                <a:solidFill>
                  <a:srgbClr val="1A365D"/>
                </a:solidFill>
                <a:latin typeface="Inter Medium"/>
                <a:ea typeface="Inter Medium"/>
                <a:cs typeface="Inter Medium"/>
                <a:sym typeface="Inter Medium"/>
              </a:endParaRPr>
            </a:p>
          </p:txBody>
        </p:sp>
      </p:grpSp>
      <p:sp>
        <p:nvSpPr>
          <p:cNvPr id="264" name="Google Shape;264;p4"/>
          <p:cNvSpPr txBox="1"/>
          <p:nvPr/>
        </p:nvSpPr>
        <p:spPr>
          <a:xfrm>
            <a:off x="4657525" y="211250"/>
            <a:ext cx="4389120" cy="762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b="1">
                <a:solidFill>
                  <a:srgbClr val="1A365D"/>
                </a:solidFill>
                <a:latin typeface="Space Grotesk"/>
                <a:ea typeface="Space Grotesk"/>
                <a:cs typeface="Space Grotesk"/>
                <a:sym typeface="Space Grotesk"/>
              </a:rPr>
              <a:t>          11-Layer Graded FGM Design Profile </a:t>
            </a:r>
            <a:endParaRPr b="1">
              <a:solidFill>
                <a:srgbClr val="1A365D"/>
              </a:solidFill>
              <a:latin typeface="Space Grotesk"/>
              <a:ea typeface="Space Grotesk"/>
              <a:cs typeface="Space Grotesk"/>
              <a:sym typeface="Space Grotesk"/>
            </a:endParaRPr>
          </a:p>
          <a:p>
            <a:pPr marL="0" lvl="0" indent="0" algn="l" rtl="0">
              <a:spcBef>
                <a:spcPts val="0"/>
              </a:spcBef>
              <a:spcAft>
                <a:spcPts val="0"/>
              </a:spcAft>
              <a:buNone/>
            </a:pPr>
            <a:r>
              <a:rPr lang="en-US" sz="1000" b="1">
                <a:solidFill>
                  <a:srgbClr val="1A365D"/>
                </a:solidFill>
                <a:latin typeface="Space Grotesk"/>
                <a:ea typeface="Space Grotesk"/>
                <a:cs typeface="Space Grotesk"/>
                <a:sym typeface="Space Grotesk"/>
              </a:rPr>
              <a:t>(Proprietary Composition Ratios Masked Pending Formal NDA Review) </a:t>
            </a:r>
            <a:endParaRPr sz="1000" b="1">
              <a:solidFill>
                <a:srgbClr val="1A365D"/>
              </a:solidFill>
              <a:latin typeface="Space Grotesk"/>
              <a:ea typeface="Space Grotesk"/>
              <a:cs typeface="Space Grotesk"/>
              <a:sym typeface="Space Grotesk"/>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pic>
        <p:nvPicPr>
          <p:cNvPr id="270" name="Google Shape;270;p5" descr="preencoded.png"/>
          <p:cNvPicPr preferRelativeResize="0"/>
          <p:nvPr/>
        </p:nvPicPr>
        <p:blipFill rotWithShape="1">
          <a:blip r:embed="rId3">
            <a:alphaModFix/>
          </a:blip>
          <a:srcRect/>
          <a:stretch/>
        </p:blipFill>
        <p:spPr>
          <a:xfrm>
            <a:off x="0" y="-26377"/>
            <a:ext cx="9143999" cy="5143500"/>
          </a:xfrm>
          <a:prstGeom prst="rect">
            <a:avLst/>
          </a:prstGeom>
          <a:noFill/>
          <a:ln>
            <a:noFill/>
          </a:ln>
        </p:spPr>
      </p:pic>
      <p:sp>
        <p:nvSpPr>
          <p:cNvPr id="271" name="Google Shape;271;p5"/>
          <p:cNvSpPr/>
          <p:nvPr/>
        </p:nvSpPr>
        <p:spPr>
          <a:xfrm>
            <a:off x="428625" y="428625"/>
            <a:ext cx="8715375" cy="43755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2450"/>
              <a:buFont typeface="Space Grotesk SemiBold"/>
              <a:buNone/>
            </a:pPr>
            <a:r>
              <a:rPr lang="en-US" sz="2450" b="1" i="0" u="none" strike="noStrike" cap="none">
                <a:solidFill>
                  <a:srgbClr val="1A365D"/>
                </a:solidFill>
                <a:latin typeface="Space Grotesk SemiBold"/>
                <a:ea typeface="Space Grotesk SemiBold"/>
                <a:cs typeface="Space Grotesk SemiBold"/>
                <a:sym typeface="Space Grotesk SemiBold"/>
              </a:rPr>
              <a:t>WHY WE WIN TECHNICALLY</a:t>
            </a:r>
            <a:endParaRPr sz="2450" b="0" i="0" u="none" strike="noStrike" cap="none">
              <a:solidFill>
                <a:schemeClr val="dk1"/>
              </a:solidFill>
              <a:latin typeface="Calibri"/>
              <a:ea typeface="Calibri"/>
              <a:cs typeface="Calibri"/>
              <a:sym typeface="Calibri"/>
            </a:endParaRPr>
          </a:p>
        </p:txBody>
      </p:sp>
      <p:sp>
        <p:nvSpPr>
          <p:cNvPr id="272" name="Google Shape;272;p5"/>
          <p:cNvSpPr/>
          <p:nvPr/>
        </p:nvSpPr>
        <p:spPr>
          <a:xfrm>
            <a:off x="428625" y="937617"/>
            <a:ext cx="8715375" cy="21788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2BDEFD"/>
              </a:buClr>
              <a:buSzPts val="1200"/>
              <a:buFont typeface="Space Grotesk SemiBold"/>
              <a:buNone/>
            </a:pPr>
            <a:r>
              <a:rPr lang="en-US" sz="1200" b="0" i="0" u="none" strike="noStrike" cap="none">
                <a:solidFill>
                  <a:srgbClr val="2BDEFD"/>
                </a:solidFill>
                <a:latin typeface="Space Grotesk SemiBold"/>
                <a:ea typeface="Space Grotesk SemiBold"/>
                <a:cs typeface="Space Grotesk SemiBold"/>
                <a:sym typeface="Space Grotesk SemiBold"/>
              </a:rPr>
              <a:t>System-Level Innovation and Active Environmental Armor</a:t>
            </a:r>
            <a:endParaRPr sz="1200" b="0" i="0" u="none" strike="noStrike" cap="none">
              <a:solidFill>
                <a:schemeClr val="dk1"/>
              </a:solidFill>
              <a:latin typeface="Calibri"/>
              <a:ea typeface="Calibri"/>
              <a:cs typeface="Calibri"/>
              <a:sym typeface="Calibri"/>
            </a:endParaRPr>
          </a:p>
        </p:txBody>
      </p:sp>
      <p:sp>
        <p:nvSpPr>
          <p:cNvPr id="273" name="Google Shape;273;p5"/>
          <p:cNvSpPr/>
          <p:nvPr/>
        </p:nvSpPr>
        <p:spPr>
          <a:xfrm>
            <a:off x="600075" y="1369814"/>
            <a:ext cx="8115300" cy="411435"/>
          </a:xfrm>
          <a:prstGeom prst="rect">
            <a:avLst/>
          </a:prstGeom>
          <a:noFill/>
          <a:ln>
            <a:noFill/>
          </a:ln>
        </p:spPr>
        <p:txBody>
          <a:bodyPr spcFirstLastPara="1" wrap="square" lIns="0" tIns="0" rIns="0" bIns="0" anchor="t" anchorCtr="0">
            <a:spAutoFit/>
          </a:bodyPr>
          <a:lstStyle/>
          <a:p>
            <a:pPr marL="0" marR="0" lvl="0" indent="0" algn="l" rtl="0">
              <a:lnSpc>
                <a:spcPct val="128000"/>
              </a:lnSpc>
              <a:spcBef>
                <a:spcPts val="0"/>
              </a:spcBef>
              <a:spcAft>
                <a:spcPts val="0"/>
              </a:spcAft>
              <a:buClr>
                <a:srgbClr val="111111"/>
              </a:buClr>
              <a:buSzPts val="950"/>
              <a:buFont typeface="Inter"/>
              <a:buNone/>
            </a:pPr>
            <a:r>
              <a:rPr lang="en-US" sz="950" b="0" i="0" u="none" strike="noStrike" cap="none">
                <a:solidFill>
                  <a:srgbClr val="111111"/>
                </a:solidFill>
                <a:latin typeface="Inter"/>
                <a:ea typeface="Inter"/>
                <a:cs typeface="Inter"/>
                <a:sym typeface="Inter"/>
              </a:rPr>
              <a:t>Our platform executes a unified optimization run that solves for substrate chemistry, gradient shapes, and active transpiration mechanics concurrently, minimizing interface mismatch to just </a:t>
            </a:r>
            <a:r>
              <a:rPr lang="en-US" sz="900" b="0" i="0" u="none" strike="noStrike" cap="none">
                <a:solidFill>
                  <a:srgbClr val="1A365D"/>
                </a:solidFill>
                <a:latin typeface="Inter"/>
                <a:ea typeface="Inter"/>
                <a:cs typeface="Inter"/>
                <a:sym typeface="Inter"/>
              </a:rPr>
              <a:t>2.66 μm/mK</a:t>
            </a:r>
            <a:r>
              <a:rPr lang="en-US" sz="950" b="0" i="0" u="none" strike="noStrike" cap="none">
                <a:solidFill>
                  <a:srgbClr val="111111"/>
                </a:solidFill>
                <a:latin typeface="Inter"/>
                <a:ea typeface="Inter"/>
                <a:cs typeface="Inter"/>
                <a:sym typeface="Inter"/>
              </a:rPr>
              <a:t>.</a:t>
            </a:r>
            <a:endParaRPr sz="950" b="0" i="0" u="none" strike="noStrike" cap="none">
              <a:solidFill>
                <a:schemeClr val="dk1"/>
              </a:solidFill>
              <a:latin typeface="Calibri"/>
              <a:ea typeface="Calibri"/>
              <a:cs typeface="Calibri"/>
              <a:sym typeface="Calibri"/>
            </a:endParaRPr>
          </a:p>
        </p:txBody>
      </p:sp>
      <p:pic>
        <p:nvPicPr>
          <p:cNvPr id="274" name="Google Shape;274;p5" descr="preencoded.png"/>
          <p:cNvPicPr preferRelativeResize="0"/>
          <p:nvPr/>
        </p:nvPicPr>
        <p:blipFill rotWithShape="1">
          <a:blip r:embed="rId4">
            <a:alphaModFix/>
          </a:blip>
          <a:srcRect/>
          <a:stretch/>
        </p:blipFill>
        <p:spPr>
          <a:xfrm>
            <a:off x="614363" y="2293813"/>
            <a:ext cx="171450" cy="171450"/>
          </a:xfrm>
          <a:prstGeom prst="rect">
            <a:avLst/>
          </a:prstGeom>
          <a:noFill/>
          <a:ln>
            <a:noFill/>
          </a:ln>
        </p:spPr>
      </p:pic>
      <p:sp>
        <p:nvSpPr>
          <p:cNvPr id="275" name="Google Shape;275;p5"/>
          <p:cNvSpPr/>
          <p:nvPr/>
        </p:nvSpPr>
        <p:spPr>
          <a:xfrm>
            <a:off x="892969" y="2288456"/>
            <a:ext cx="1248370" cy="1821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1000"/>
              <a:buFont typeface="Space Grotesk SemiBold"/>
              <a:buNone/>
            </a:pPr>
            <a:r>
              <a:rPr lang="en-US" sz="1000" b="1" i="0" u="none" strike="noStrike" cap="none">
                <a:solidFill>
                  <a:srgbClr val="1A365D"/>
                </a:solidFill>
                <a:latin typeface="Space Grotesk SemiBold"/>
                <a:ea typeface="Space Grotesk SemiBold"/>
                <a:cs typeface="Space Grotesk SemiBold"/>
                <a:sym typeface="Space Grotesk SemiBold"/>
              </a:rPr>
              <a:t>PHASE STABILITY</a:t>
            </a:r>
            <a:endParaRPr sz="1000" b="0" i="0" u="none" strike="noStrike" cap="none">
              <a:solidFill>
                <a:schemeClr val="dk1"/>
              </a:solidFill>
              <a:latin typeface="Calibri"/>
              <a:ea typeface="Calibri"/>
              <a:cs typeface="Calibri"/>
              <a:sym typeface="Calibri"/>
            </a:endParaRPr>
          </a:p>
        </p:txBody>
      </p:sp>
      <p:sp>
        <p:nvSpPr>
          <p:cNvPr id="276" name="Google Shape;276;p5"/>
          <p:cNvSpPr/>
          <p:nvPr/>
        </p:nvSpPr>
        <p:spPr>
          <a:xfrm>
            <a:off x="614363" y="2577778"/>
            <a:ext cx="3664744" cy="320018"/>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111111"/>
              </a:buClr>
              <a:buSzPts val="850"/>
              <a:buFont typeface="Inter"/>
              <a:buNone/>
            </a:pPr>
            <a:r>
              <a:rPr lang="en-US" sz="850" b="0" i="0" u="none" strike="noStrike" cap="none">
                <a:solidFill>
                  <a:srgbClr val="111111"/>
                </a:solidFill>
                <a:latin typeface="Inter"/>
                <a:ea typeface="Inter"/>
                <a:cs typeface="Inter"/>
                <a:sym typeface="Inter"/>
              </a:rPr>
              <a:t>Audited VEC of </a:t>
            </a:r>
            <a:r>
              <a:rPr lang="en-US" sz="800" b="0" i="0" u="none" strike="noStrike" cap="none">
                <a:solidFill>
                  <a:srgbClr val="1A365D"/>
                </a:solidFill>
                <a:latin typeface="Inter"/>
                <a:ea typeface="Inter"/>
                <a:cs typeface="Inter"/>
                <a:sym typeface="Inter"/>
              </a:rPr>
              <a:t>5.02</a:t>
            </a:r>
            <a:r>
              <a:rPr lang="en-US" sz="850" b="0" i="0" u="none" strike="noStrike" cap="none">
                <a:solidFill>
                  <a:srgbClr val="111111"/>
                </a:solidFill>
                <a:latin typeface="Inter"/>
                <a:ea typeface="Inter"/>
                <a:cs typeface="Inter"/>
                <a:sym typeface="Inter"/>
              </a:rPr>
              <a:t> ensures a stable single-phase BCC solid solution with zero sigma phase risk up to its solidus limit (What this means: 3x longer component life). </a:t>
            </a:r>
            <a:r>
              <a:rPr lang="en-US" sz="850">
                <a:solidFill>
                  <a:srgbClr val="111111"/>
                </a:solidFill>
                <a:latin typeface="Inter"/>
                <a:ea typeface="Inter"/>
                <a:cs typeface="Inter"/>
                <a:sym typeface="Inter"/>
              </a:rPr>
              <a:t>its solidus limit of 2727^K</a:t>
            </a:r>
            <a:r>
              <a:rPr lang="en-US" sz="850" b="0" i="0" u="none" strike="noStrike" cap="none">
                <a:solidFill>
                  <a:srgbClr val="111111"/>
                </a:solidFill>
                <a:latin typeface="Inter"/>
                <a:ea typeface="Inter"/>
                <a:cs typeface="Inter"/>
                <a:sym typeface="Inter"/>
              </a:rPr>
              <a:t>.</a:t>
            </a:r>
            <a:endParaRPr sz="850" b="0" i="0" u="none" strike="noStrike" cap="none">
              <a:solidFill>
                <a:schemeClr val="dk1"/>
              </a:solidFill>
              <a:latin typeface="Calibri"/>
              <a:ea typeface="Calibri"/>
              <a:cs typeface="Calibri"/>
              <a:sym typeface="Calibri"/>
            </a:endParaRPr>
          </a:p>
        </p:txBody>
      </p:sp>
      <p:pic>
        <p:nvPicPr>
          <p:cNvPr id="277" name="Google Shape;277;p5" descr="preencoded.png"/>
          <p:cNvPicPr preferRelativeResize="0"/>
          <p:nvPr/>
        </p:nvPicPr>
        <p:blipFill rotWithShape="1">
          <a:blip r:embed="rId5">
            <a:alphaModFix/>
          </a:blip>
          <a:srcRect/>
          <a:stretch/>
        </p:blipFill>
        <p:spPr>
          <a:xfrm>
            <a:off x="4864894" y="2293813"/>
            <a:ext cx="171450" cy="171450"/>
          </a:xfrm>
          <a:prstGeom prst="rect">
            <a:avLst/>
          </a:prstGeom>
          <a:noFill/>
          <a:ln>
            <a:noFill/>
          </a:ln>
        </p:spPr>
      </p:pic>
      <p:sp>
        <p:nvSpPr>
          <p:cNvPr id="278" name="Google Shape;278;p5"/>
          <p:cNvSpPr/>
          <p:nvPr/>
        </p:nvSpPr>
        <p:spPr>
          <a:xfrm>
            <a:off x="5143500" y="2288456"/>
            <a:ext cx="1696641" cy="1821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1000"/>
              <a:buFont typeface="Space Grotesk SemiBold"/>
              <a:buNone/>
            </a:pPr>
            <a:r>
              <a:rPr lang="en-US" sz="1000" b="1" i="0" u="none" strike="noStrike" cap="none">
                <a:solidFill>
                  <a:srgbClr val="1A365D"/>
                </a:solidFill>
                <a:latin typeface="Space Grotesk SemiBold"/>
                <a:ea typeface="Space Grotesk SemiBold"/>
                <a:cs typeface="Space Grotesk SemiBold"/>
                <a:sym typeface="Space Grotesk SemiBold"/>
              </a:rPr>
              <a:t>OXIDATION RESISTANCE</a:t>
            </a:r>
            <a:endParaRPr sz="1000" b="0" i="0" u="none" strike="noStrike" cap="none">
              <a:solidFill>
                <a:schemeClr val="dk1"/>
              </a:solidFill>
              <a:latin typeface="Calibri"/>
              <a:ea typeface="Calibri"/>
              <a:cs typeface="Calibri"/>
              <a:sym typeface="Calibri"/>
            </a:endParaRPr>
          </a:p>
        </p:txBody>
      </p:sp>
      <p:sp>
        <p:nvSpPr>
          <p:cNvPr id="279" name="Google Shape;279;p5"/>
          <p:cNvSpPr/>
          <p:nvPr/>
        </p:nvSpPr>
        <p:spPr>
          <a:xfrm>
            <a:off x="4864894" y="2577778"/>
            <a:ext cx="3664744" cy="320018"/>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111111"/>
              </a:buClr>
              <a:buSzPts val="850"/>
              <a:buFont typeface="Inter"/>
              <a:buNone/>
            </a:pPr>
            <a:r>
              <a:rPr lang="en-US" sz="850" b="0" i="0" u="none" strike="noStrike" cap="none">
                <a:solidFill>
                  <a:srgbClr val="111111"/>
                </a:solidFill>
                <a:latin typeface="Inter"/>
                <a:ea typeface="Inter"/>
                <a:cs typeface="Inter"/>
                <a:sym typeface="Inter"/>
              </a:rPr>
              <a:t>Self-healing Alumina armor limits high-temperature scale growth to </a:t>
            </a:r>
            <a:r>
              <a:rPr lang="en-US" sz="800" b="0" i="0" u="none" strike="noStrike" cap="none">
                <a:solidFill>
                  <a:srgbClr val="1A365D"/>
                </a:solidFill>
                <a:latin typeface="Inter"/>
                <a:ea typeface="Inter"/>
                <a:cs typeface="Inter"/>
                <a:sym typeface="Inter"/>
              </a:rPr>
              <a:t>&lt; 10 mg/cm²</a:t>
            </a:r>
            <a:r>
              <a:rPr lang="en-US" sz="850" b="0" i="0" u="none" strike="noStrike" cap="none">
                <a:solidFill>
                  <a:srgbClr val="111111"/>
                </a:solidFill>
                <a:latin typeface="Inter"/>
                <a:ea typeface="Inter"/>
                <a:cs typeface="Inter"/>
                <a:sym typeface="Inter"/>
              </a:rPr>
              <a:t> (exceptional 7.5 mg/cm² achieved - Survives at 200°C higher temperatures).</a:t>
            </a:r>
            <a:endParaRPr sz="850" b="0" i="0" u="none" strike="noStrike" cap="none">
              <a:solidFill>
                <a:schemeClr val="dk1"/>
              </a:solidFill>
              <a:latin typeface="Calibri"/>
              <a:ea typeface="Calibri"/>
              <a:cs typeface="Calibri"/>
              <a:sym typeface="Calibri"/>
            </a:endParaRPr>
          </a:p>
        </p:txBody>
      </p:sp>
      <p:pic>
        <p:nvPicPr>
          <p:cNvPr id="280" name="Google Shape;280;p5" descr="preencoded.png"/>
          <p:cNvPicPr preferRelativeResize="0"/>
          <p:nvPr/>
        </p:nvPicPr>
        <p:blipFill rotWithShape="1">
          <a:blip r:embed="rId6">
            <a:alphaModFix/>
          </a:blip>
          <a:srcRect/>
          <a:stretch/>
        </p:blipFill>
        <p:spPr>
          <a:xfrm>
            <a:off x="614363" y="3794001"/>
            <a:ext cx="171450" cy="171450"/>
          </a:xfrm>
          <a:prstGeom prst="rect">
            <a:avLst/>
          </a:prstGeom>
          <a:noFill/>
          <a:ln>
            <a:noFill/>
          </a:ln>
        </p:spPr>
      </p:pic>
      <p:sp>
        <p:nvSpPr>
          <p:cNvPr id="281" name="Google Shape;281;p5"/>
          <p:cNvSpPr/>
          <p:nvPr/>
        </p:nvSpPr>
        <p:spPr>
          <a:xfrm>
            <a:off x="892969" y="3788643"/>
            <a:ext cx="1852017" cy="1821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1000"/>
              <a:buFont typeface="Space Grotesk SemiBold"/>
              <a:buNone/>
            </a:pPr>
            <a:r>
              <a:rPr lang="en-US" sz="1000" b="1" i="0" u="none" strike="noStrike" cap="none">
                <a:solidFill>
                  <a:srgbClr val="1A365D"/>
                </a:solidFill>
                <a:latin typeface="Space Grotesk SemiBold"/>
                <a:ea typeface="Space Grotesk SemiBold"/>
                <a:cs typeface="Space Grotesk SemiBold"/>
                <a:sym typeface="Space Grotesk SemiBold"/>
              </a:rPr>
              <a:t>ADHESION PERFORMANCE</a:t>
            </a:r>
            <a:endParaRPr sz="1000" b="0" i="0" u="none" strike="noStrike" cap="none">
              <a:solidFill>
                <a:schemeClr val="dk1"/>
              </a:solidFill>
              <a:latin typeface="Calibri"/>
              <a:ea typeface="Calibri"/>
              <a:cs typeface="Calibri"/>
              <a:sym typeface="Calibri"/>
            </a:endParaRPr>
          </a:p>
        </p:txBody>
      </p:sp>
      <p:sp>
        <p:nvSpPr>
          <p:cNvPr id="282" name="Google Shape;282;p5"/>
          <p:cNvSpPr/>
          <p:nvPr/>
        </p:nvSpPr>
        <p:spPr>
          <a:xfrm>
            <a:off x="614363" y="4077965"/>
            <a:ext cx="3664744" cy="320018"/>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111111"/>
              </a:buClr>
              <a:buSzPts val="850"/>
              <a:buFont typeface="Inter"/>
              <a:buNone/>
            </a:pPr>
            <a:r>
              <a:rPr lang="en-US" sz="850" b="0" i="0" u="none" strike="noStrike" cap="none">
                <a:solidFill>
                  <a:srgbClr val="111111"/>
                </a:solidFill>
                <a:latin typeface="Inter"/>
                <a:ea typeface="Inter"/>
                <a:cs typeface="Inter"/>
                <a:sym typeface="Inter"/>
              </a:rPr>
              <a:t>Power-law gradient curves (</a:t>
            </a:r>
            <a:r>
              <a:rPr lang="en-US" sz="800" b="0" i="0" u="none" strike="noStrike" cap="none">
                <a:solidFill>
                  <a:srgbClr val="1A365D"/>
                </a:solidFill>
                <a:latin typeface="Inter"/>
                <a:ea typeface="Inter"/>
                <a:cs typeface="Inter"/>
                <a:sym typeface="Inter"/>
              </a:rPr>
              <a:t>n=1.1</a:t>
            </a:r>
            <a:r>
              <a:rPr lang="en-US" sz="850" b="0" i="0" u="none" strike="noStrike" cap="none">
                <a:solidFill>
                  <a:srgbClr val="111111"/>
                </a:solidFill>
                <a:latin typeface="Inter"/>
                <a:ea typeface="Inter"/>
                <a:cs typeface="Inter"/>
                <a:sym typeface="Inter"/>
              </a:rPr>
              <a:t>) minimize internal shear forces and prevent coating spallation at 1400°C.</a:t>
            </a:r>
            <a:endParaRPr sz="850" b="0" i="0" u="none" strike="noStrike" cap="none">
              <a:solidFill>
                <a:schemeClr val="dk1"/>
              </a:solidFill>
              <a:latin typeface="Calibri"/>
              <a:ea typeface="Calibri"/>
              <a:cs typeface="Calibri"/>
              <a:sym typeface="Calibri"/>
            </a:endParaRPr>
          </a:p>
        </p:txBody>
      </p:sp>
      <p:pic>
        <p:nvPicPr>
          <p:cNvPr id="283" name="Google Shape;283;p5" descr="preencoded.png"/>
          <p:cNvPicPr preferRelativeResize="0"/>
          <p:nvPr/>
        </p:nvPicPr>
        <p:blipFill rotWithShape="1">
          <a:blip r:embed="rId7">
            <a:alphaModFix/>
          </a:blip>
          <a:srcRect/>
          <a:stretch/>
        </p:blipFill>
        <p:spPr>
          <a:xfrm>
            <a:off x="4864894" y="3794001"/>
            <a:ext cx="192881" cy="171450"/>
          </a:xfrm>
          <a:prstGeom prst="rect">
            <a:avLst/>
          </a:prstGeom>
          <a:noFill/>
          <a:ln>
            <a:noFill/>
          </a:ln>
        </p:spPr>
      </p:pic>
      <p:sp>
        <p:nvSpPr>
          <p:cNvPr id="284" name="Google Shape;284;p5"/>
          <p:cNvSpPr/>
          <p:nvPr/>
        </p:nvSpPr>
        <p:spPr>
          <a:xfrm>
            <a:off x="5164931" y="3788643"/>
            <a:ext cx="1559123" cy="1821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1000"/>
              <a:buFont typeface="Space Grotesk SemiBold"/>
              <a:buNone/>
            </a:pPr>
            <a:r>
              <a:rPr lang="en-US" sz="1000" b="1" i="0" u="none" strike="noStrike" cap="none">
                <a:solidFill>
                  <a:srgbClr val="1A365D"/>
                </a:solidFill>
                <a:latin typeface="Space Grotesk SemiBold"/>
                <a:ea typeface="Space Grotesk SemiBold"/>
                <a:cs typeface="Space Grotesk SemiBold"/>
                <a:sym typeface="Space Grotesk SemiBold"/>
              </a:rPr>
              <a:t>MANUFACTURABILITY</a:t>
            </a:r>
            <a:endParaRPr sz="1000" b="0" i="0" u="none" strike="noStrike" cap="none">
              <a:solidFill>
                <a:schemeClr val="dk1"/>
              </a:solidFill>
              <a:latin typeface="Calibri"/>
              <a:ea typeface="Calibri"/>
              <a:cs typeface="Calibri"/>
              <a:sym typeface="Calibri"/>
            </a:endParaRPr>
          </a:p>
        </p:txBody>
      </p:sp>
      <p:sp>
        <p:nvSpPr>
          <p:cNvPr id="285" name="Google Shape;285;p5"/>
          <p:cNvSpPr/>
          <p:nvPr/>
        </p:nvSpPr>
        <p:spPr>
          <a:xfrm>
            <a:off x="4864894" y="4077965"/>
            <a:ext cx="3664744" cy="320018"/>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111111"/>
              </a:buClr>
              <a:buSzPts val="850"/>
              <a:buFont typeface="Inter"/>
              <a:buNone/>
            </a:pPr>
            <a:r>
              <a:rPr lang="en-US" sz="850" b="0" i="0" u="none" strike="noStrike" cap="none">
                <a:solidFill>
                  <a:srgbClr val="111111"/>
                </a:solidFill>
                <a:latin typeface="Inter"/>
                <a:ea typeface="Inter"/>
                <a:cs typeface="Inter"/>
                <a:sym typeface="Inter"/>
              </a:rPr>
              <a:t>The universal </a:t>
            </a:r>
            <a:r>
              <a:rPr lang="en-US" sz="800">
                <a:solidFill>
                  <a:srgbClr val="1A365D"/>
                </a:solidFill>
                <a:latin typeface="Inter"/>
                <a:ea typeface="Inter"/>
                <a:cs typeface="Inter"/>
                <a:sym typeface="Inter"/>
              </a:rPr>
              <a:t>proprietary LENS  printing matrix</a:t>
            </a:r>
            <a:r>
              <a:rPr lang="en-US" sz="850" b="0" i="0" u="none" strike="noStrike" cap="none">
                <a:solidFill>
                  <a:srgbClr val="111111"/>
                </a:solidFill>
                <a:latin typeface="Inter"/>
                <a:ea typeface="Inter"/>
                <a:cs typeface="Inter"/>
                <a:sym typeface="Inter"/>
              </a:rPr>
              <a:t> maps composition directly to commercial multi-hopper 3D printers.</a:t>
            </a:r>
            <a:endParaRPr sz="850" b="0" i="0" u="none" strike="noStrike" cap="non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6"/>
          <p:cNvSpPr/>
          <p:nvPr/>
        </p:nvSpPr>
        <p:spPr>
          <a:xfrm>
            <a:off x="428625" y="357188"/>
            <a:ext cx="8715375" cy="43755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2450"/>
              <a:buFont typeface="Space Grotesk SemiBold"/>
              <a:buNone/>
            </a:pPr>
            <a:r>
              <a:rPr lang="en-US" sz="2450" b="1" i="0" u="none" strike="noStrike" cap="none">
                <a:solidFill>
                  <a:srgbClr val="1A365D"/>
                </a:solidFill>
                <a:latin typeface="Space Grotesk SemiBold"/>
                <a:ea typeface="Space Grotesk SemiBold"/>
                <a:cs typeface="Space Grotesk SemiBold"/>
                <a:sym typeface="Space Grotesk SemiBold"/>
              </a:rPr>
              <a:t>WHAT IS PROVEN TODAY AND WHAT IS NOT</a:t>
            </a:r>
            <a:endParaRPr sz="2450" b="0" i="0" u="none" strike="noStrike" cap="none">
              <a:solidFill>
                <a:schemeClr val="dk1"/>
              </a:solidFill>
              <a:latin typeface="Calibri"/>
              <a:ea typeface="Calibri"/>
              <a:cs typeface="Calibri"/>
              <a:sym typeface="Calibri"/>
            </a:endParaRPr>
          </a:p>
        </p:txBody>
      </p:sp>
      <p:sp>
        <p:nvSpPr>
          <p:cNvPr id="292" name="Google Shape;292;p6"/>
          <p:cNvSpPr/>
          <p:nvPr/>
        </p:nvSpPr>
        <p:spPr>
          <a:xfrm>
            <a:off x="428625" y="866180"/>
            <a:ext cx="8715375" cy="21788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2BDEFD"/>
              </a:buClr>
              <a:buSzPts val="1200"/>
              <a:buFont typeface="Space Grotesk SemiBold"/>
              <a:buNone/>
            </a:pPr>
            <a:r>
              <a:rPr lang="en-US" sz="1200" b="0" i="0" u="none" strike="noStrike" cap="none">
                <a:solidFill>
                  <a:srgbClr val="2BDEFD"/>
                </a:solidFill>
                <a:latin typeface="Space Grotesk SemiBold"/>
                <a:ea typeface="Space Grotesk SemiBold"/>
                <a:cs typeface="Space Grotesk SemiBold"/>
                <a:sym typeface="Space Grotesk SemiBold"/>
              </a:rPr>
              <a:t>High-Fidelity Verification Metrics and TRL Maturity Status</a:t>
            </a:r>
            <a:endParaRPr sz="1200" b="0" i="0" u="none" strike="noStrike" cap="none">
              <a:solidFill>
                <a:schemeClr val="dk1"/>
              </a:solidFill>
              <a:latin typeface="Calibri"/>
              <a:ea typeface="Calibri"/>
              <a:cs typeface="Calibri"/>
              <a:sym typeface="Calibri"/>
            </a:endParaRPr>
          </a:p>
        </p:txBody>
      </p:sp>
      <p:sp>
        <p:nvSpPr>
          <p:cNvPr id="293" name="Google Shape;293;p6"/>
          <p:cNvSpPr/>
          <p:nvPr/>
        </p:nvSpPr>
        <p:spPr>
          <a:xfrm>
            <a:off x="600075" y="1298377"/>
            <a:ext cx="3829050" cy="1821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1000"/>
              <a:buFont typeface="Space Grotesk SemiBold"/>
              <a:buNone/>
            </a:pPr>
            <a:r>
              <a:rPr lang="en-US" sz="1000" b="1" i="0" u="none" strike="noStrike" cap="none">
                <a:solidFill>
                  <a:srgbClr val="1A365D"/>
                </a:solidFill>
                <a:latin typeface="Space Grotesk SemiBold"/>
                <a:ea typeface="Space Grotesk SemiBold"/>
                <a:cs typeface="Space Grotesk SemiBold"/>
                <a:sym typeface="Space Grotesk SemiBold"/>
              </a:rPr>
              <a:t>High-Fidelity Models</a:t>
            </a:r>
            <a:endParaRPr sz="1000" b="0" i="0" u="none" strike="noStrike" cap="none">
              <a:solidFill>
                <a:schemeClr val="dk1"/>
              </a:solidFill>
              <a:latin typeface="Calibri"/>
              <a:ea typeface="Calibri"/>
              <a:cs typeface="Calibri"/>
              <a:sym typeface="Calibri"/>
            </a:endParaRPr>
          </a:p>
        </p:txBody>
      </p:sp>
      <p:sp>
        <p:nvSpPr>
          <p:cNvPr id="294" name="Google Shape;294;p6"/>
          <p:cNvSpPr/>
          <p:nvPr/>
        </p:nvSpPr>
        <p:spPr>
          <a:xfrm>
            <a:off x="600075" y="1516261"/>
            <a:ext cx="3829050" cy="480027"/>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111111"/>
              </a:buClr>
              <a:buSzPts val="850"/>
              <a:buFont typeface="Inter"/>
              <a:buNone/>
            </a:pPr>
            <a:r>
              <a:rPr lang="en-US" sz="850" b="0" i="0" u="none" strike="noStrike" cap="none">
                <a:solidFill>
                  <a:srgbClr val="111111"/>
                </a:solidFill>
                <a:latin typeface="Inter"/>
                <a:ea typeface="Inter"/>
                <a:cs typeface="Inter"/>
                <a:sym typeface="Inter"/>
              </a:rPr>
              <a:t>In-memory properties surrogate model audited at </a:t>
            </a:r>
            <a:r>
              <a:rPr lang="en-US" sz="800" b="1" i="0" u="none" strike="noStrike" cap="none">
                <a:solidFill>
                  <a:srgbClr val="111111"/>
                </a:solidFill>
                <a:latin typeface="Inter"/>
                <a:ea typeface="Inter"/>
                <a:cs typeface="Inter"/>
                <a:sym typeface="Inter"/>
              </a:rPr>
              <a:t>Test R^2 = 0.977</a:t>
            </a:r>
            <a:r>
              <a:rPr lang="en-US" sz="850" b="0" i="0" u="none" strike="noStrike" cap="none">
                <a:solidFill>
                  <a:srgbClr val="111111"/>
                </a:solidFill>
                <a:latin typeface="Inter"/>
                <a:ea typeface="Inter"/>
                <a:cs typeface="Inter"/>
                <a:sym typeface="Inter"/>
              </a:rPr>
              <a:t> and </a:t>
            </a:r>
            <a:r>
              <a:rPr lang="en-US" sz="800" b="1" i="0" u="none" strike="noStrike" cap="none">
                <a:solidFill>
                  <a:srgbClr val="111111"/>
                </a:solidFill>
                <a:latin typeface="Inter"/>
                <a:ea typeface="Inter"/>
                <a:cs typeface="Inter"/>
                <a:sym typeface="Inter"/>
              </a:rPr>
              <a:t>MAE = 8.11 GPa</a:t>
            </a:r>
            <a:r>
              <a:rPr lang="en-US" sz="850" b="0" i="0" u="none" strike="noStrike" cap="none">
                <a:solidFill>
                  <a:srgbClr val="111111"/>
                </a:solidFill>
                <a:latin typeface="Inter"/>
                <a:ea typeface="Inter"/>
                <a:cs typeface="Inter"/>
                <a:sym typeface="Inter"/>
              </a:rPr>
              <a:t>. Verified via cloud-scaled 3D FEniCS FEA stress grids.</a:t>
            </a:r>
            <a:endParaRPr sz="850" b="0" i="0" u="none" strike="noStrike" cap="none">
              <a:solidFill>
                <a:schemeClr val="dk1"/>
              </a:solidFill>
              <a:latin typeface="Calibri"/>
              <a:ea typeface="Calibri"/>
              <a:cs typeface="Calibri"/>
              <a:sym typeface="Calibri"/>
            </a:endParaRPr>
          </a:p>
        </p:txBody>
      </p:sp>
      <p:sp>
        <p:nvSpPr>
          <p:cNvPr id="295" name="Google Shape;295;p6"/>
          <p:cNvSpPr/>
          <p:nvPr/>
        </p:nvSpPr>
        <p:spPr>
          <a:xfrm>
            <a:off x="4886325" y="1298377"/>
            <a:ext cx="3829050" cy="1821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1000"/>
              <a:buFont typeface="Space Grotesk SemiBold"/>
              <a:buNone/>
            </a:pPr>
            <a:r>
              <a:rPr lang="en-US" sz="1000" b="1" i="0" u="none" strike="noStrike" cap="none">
                <a:solidFill>
                  <a:srgbClr val="1A365D"/>
                </a:solidFill>
                <a:latin typeface="Space Grotesk SemiBold"/>
                <a:ea typeface="Space Grotesk SemiBold"/>
                <a:cs typeface="Space Grotesk SemiBold"/>
                <a:sym typeface="Space Grotesk SemiBold"/>
              </a:rPr>
              <a:t>Ab Initio Phase Consistency</a:t>
            </a:r>
            <a:endParaRPr sz="1000" b="0" i="0" u="none" strike="noStrike" cap="none">
              <a:solidFill>
                <a:schemeClr val="dk1"/>
              </a:solidFill>
              <a:latin typeface="Calibri"/>
              <a:ea typeface="Calibri"/>
              <a:cs typeface="Calibri"/>
              <a:sym typeface="Calibri"/>
            </a:endParaRPr>
          </a:p>
        </p:txBody>
      </p:sp>
      <p:sp>
        <p:nvSpPr>
          <p:cNvPr id="296" name="Google Shape;296;p6"/>
          <p:cNvSpPr/>
          <p:nvPr/>
        </p:nvSpPr>
        <p:spPr>
          <a:xfrm>
            <a:off x="4886325" y="1516261"/>
            <a:ext cx="3829050" cy="480027"/>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111111"/>
              </a:buClr>
              <a:buSzPts val="850"/>
              <a:buFont typeface="Inter"/>
              <a:buNone/>
            </a:pPr>
            <a:r>
              <a:rPr lang="en-US" sz="850" b="0" i="0" u="none" strike="noStrike" cap="none">
                <a:solidFill>
                  <a:srgbClr val="111111"/>
                </a:solidFill>
                <a:latin typeface="Inter"/>
                <a:ea typeface="Inter"/>
                <a:cs typeface="Inter"/>
                <a:sym typeface="Inter"/>
              </a:rPr>
              <a:t>CALPHAD sweeps and Gradient Boosting regressors (R^2 = 0.958) confirm stable </a:t>
            </a:r>
            <a:r>
              <a:rPr lang="en-US" sz="800" b="1" i="0" u="none" strike="noStrike" cap="none">
                <a:solidFill>
                  <a:srgbClr val="111111"/>
                </a:solidFill>
                <a:latin typeface="Inter"/>
                <a:ea typeface="Inter"/>
                <a:cs typeface="Inter"/>
                <a:sym typeface="Inter"/>
              </a:rPr>
              <a:t>single-phase BCC matrix</a:t>
            </a:r>
            <a:r>
              <a:rPr lang="en-US" sz="850" b="0" i="0" u="none" strike="noStrike" cap="none">
                <a:solidFill>
                  <a:srgbClr val="111111"/>
                </a:solidFill>
                <a:latin typeface="Inter"/>
                <a:ea typeface="Inter"/>
                <a:cs typeface="Inter"/>
                <a:sym typeface="Inter"/>
              </a:rPr>
              <a:t> across extreme thermal envelopes.</a:t>
            </a:r>
            <a:endParaRPr sz="850" b="0" i="0" u="none" strike="noStrike" cap="none">
              <a:solidFill>
                <a:schemeClr val="dk1"/>
              </a:solidFill>
              <a:latin typeface="Calibri"/>
              <a:ea typeface="Calibri"/>
              <a:cs typeface="Calibri"/>
              <a:sym typeface="Calibri"/>
            </a:endParaRPr>
          </a:p>
        </p:txBody>
      </p:sp>
      <p:sp>
        <p:nvSpPr>
          <p:cNvPr id="297" name="Google Shape;297;p6"/>
          <p:cNvSpPr/>
          <p:nvPr/>
        </p:nvSpPr>
        <p:spPr>
          <a:xfrm>
            <a:off x="428625" y="2282037"/>
            <a:ext cx="1861170" cy="298252"/>
          </a:xfrm>
          <a:prstGeom prst="rect">
            <a:avLst/>
          </a:prstGeom>
          <a:solidFill>
            <a:srgbClr val="1A36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6"/>
          <p:cNvSpPr/>
          <p:nvPr/>
        </p:nvSpPr>
        <p:spPr>
          <a:xfrm>
            <a:off x="428625" y="2282037"/>
            <a:ext cx="1861170" cy="29825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FFFFFF"/>
              </a:buClr>
              <a:buSzPts val="700"/>
              <a:buFont typeface="Space Grotesk SemiBold"/>
              <a:buNone/>
            </a:pPr>
            <a:r>
              <a:rPr lang="en-US" sz="700" b="0" i="0" u="none" strike="noStrike" cap="none">
                <a:solidFill>
                  <a:srgbClr val="FFFFFF"/>
                </a:solidFill>
                <a:latin typeface="Space Grotesk SemiBold"/>
                <a:ea typeface="Space Grotesk SemiBold"/>
                <a:cs typeface="Space Grotesk SemiBold"/>
                <a:sym typeface="Space Grotesk SemiBold"/>
              </a:rPr>
              <a:t>Evaluation Vector</a:t>
            </a:r>
            <a:endParaRPr sz="700" b="0" i="0" u="none" strike="noStrike" cap="none">
              <a:solidFill>
                <a:schemeClr val="dk1"/>
              </a:solidFill>
              <a:latin typeface="Calibri"/>
              <a:ea typeface="Calibri"/>
              <a:cs typeface="Calibri"/>
              <a:sym typeface="Calibri"/>
            </a:endParaRPr>
          </a:p>
        </p:txBody>
      </p:sp>
      <p:sp>
        <p:nvSpPr>
          <p:cNvPr id="299" name="Google Shape;299;p6"/>
          <p:cNvSpPr/>
          <p:nvPr/>
        </p:nvSpPr>
        <p:spPr>
          <a:xfrm>
            <a:off x="2289795" y="2282037"/>
            <a:ext cx="1677302" cy="298252"/>
          </a:xfrm>
          <a:prstGeom prst="rect">
            <a:avLst/>
          </a:prstGeom>
          <a:solidFill>
            <a:srgbClr val="1A36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6"/>
          <p:cNvSpPr/>
          <p:nvPr/>
        </p:nvSpPr>
        <p:spPr>
          <a:xfrm>
            <a:off x="2289795" y="2282037"/>
            <a:ext cx="1677302" cy="29825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FFFFFF"/>
              </a:buClr>
              <a:buSzPts val="700"/>
              <a:buFont typeface="Space Grotesk SemiBold"/>
              <a:buNone/>
            </a:pPr>
            <a:r>
              <a:rPr lang="en-US" sz="700" b="0" i="0" u="none" strike="noStrike" cap="none">
                <a:solidFill>
                  <a:srgbClr val="FFFFFF"/>
                </a:solidFill>
                <a:latin typeface="Space Grotesk SemiBold"/>
                <a:ea typeface="Space Grotesk SemiBold"/>
                <a:cs typeface="Space Grotesk SemiBold"/>
                <a:sym typeface="Space Grotesk SemiBold"/>
              </a:rPr>
              <a:t>Model / In Silico Status</a:t>
            </a:r>
            <a:endParaRPr sz="700" b="0" i="0" u="none" strike="noStrike" cap="none">
              <a:solidFill>
                <a:schemeClr val="dk1"/>
              </a:solidFill>
              <a:latin typeface="Calibri"/>
              <a:ea typeface="Calibri"/>
              <a:cs typeface="Calibri"/>
              <a:sym typeface="Calibri"/>
            </a:endParaRPr>
          </a:p>
        </p:txBody>
      </p:sp>
      <p:sp>
        <p:nvSpPr>
          <p:cNvPr id="301" name="Google Shape;301;p6"/>
          <p:cNvSpPr/>
          <p:nvPr/>
        </p:nvSpPr>
        <p:spPr>
          <a:xfrm>
            <a:off x="3967097" y="2282037"/>
            <a:ext cx="1774915" cy="298252"/>
          </a:xfrm>
          <a:prstGeom prst="rect">
            <a:avLst/>
          </a:prstGeom>
          <a:solidFill>
            <a:srgbClr val="1A36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6"/>
          <p:cNvSpPr/>
          <p:nvPr/>
        </p:nvSpPr>
        <p:spPr>
          <a:xfrm>
            <a:off x="3967097" y="2282037"/>
            <a:ext cx="1774915" cy="29825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FFFFFF"/>
              </a:buClr>
              <a:buSzPts val="700"/>
              <a:buFont typeface="Space Grotesk SemiBold"/>
              <a:buNone/>
            </a:pPr>
            <a:r>
              <a:rPr lang="en-US" sz="700" b="0" i="0" u="none" strike="noStrike" cap="none">
                <a:solidFill>
                  <a:srgbClr val="FFFFFF"/>
                </a:solidFill>
                <a:latin typeface="Space Grotesk SemiBold"/>
                <a:ea typeface="Space Grotesk SemiBold"/>
                <a:cs typeface="Space Grotesk SemiBold"/>
                <a:sym typeface="Space Grotesk SemiBold"/>
              </a:rPr>
              <a:t>Experimental Lab Status</a:t>
            </a:r>
            <a:endParaRPr sz="700" b="0" i="0" u="none" strike="noStrike" cap="none">
              <a:solidFill>
                <a:schemeClr val="dk1"/>
              </a:solidFill>
              <a:latin typeface="Calibri"/>
              <a:ea typeface="Calibri"/>
              <a:cs typeface="Calibri"/>
              <a:sym typeface="Calibri"/>
            </a:endParaRPr>
          </a:p>
        </p:txBody>
      </p:sp>
      <p:sp>
        <p:nvSpPr>
          <p:cNvPr id="303" name="Google Shape;303;p6"/>
          <p:cNvSpPr/>
          <p:nvPr/>
        </p:nvSpPr>
        <p:spPr>
          <a:xfrm>
            <a:off x="5742012" y="2282037"/>
            <a:ext cx="1849813" cy="298252"/>
          </a:xfrm>
          <a:prstGeom prst="rect">
            <a:avLst/>
          </a:prstGeom>
          <a:solidFill>
            <a:srgbClr val="1A36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6"/>
          <p:cNvSpPr/>
          <p:nvPr/>
        </p:nvSpPr>
        <p:spPr>
          <a:xfrm>
            <a:off x="5742012" y="2282037"/>
            <a:ext cx="1849813" cy="29825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FFFFFF"/>
              </a:buClr>
              <a:buSzPts val="700"/>
              <a:buFont typeface="Space Grotesk SemiBold"/>
              <a:buNone/>
            </a:pPr>
            <a:r>
              <a:rPr lang="en-US" sz="700" b="0" i="0" u="none" strike="noStrike" cap="none">
                <a:solidFill>
                  <a:srgbClr val="FFFFFF"/>
                </a:solidFill>
                <a:latin typeface="Space Grotesk SemiBold"/>
                <a:ea typeface="Space Grotesk SemiBold"/>
                <a:cs typeface="Space Grotesk SemiBold"/>
                <a:sym typeface="Space Grotesk SemiBold"/>
              </a:rPr>
              <a:t>Validation Target</a:t>
            </a:r>
            <a:endParaRPr sz="700" b="0" i="0" u="none" strike="noStrike" cap="none">
              <a:solidFill>
                <a:schemeClr val="dk1"/>
              </a:solidFill>
              <a:latin typeface="Calibri"/>
              <a:ea typeface="Calibri"/>
              <a:cs typeface="Calibri"/>
              <a:sym typeface="Calibri"/>
            </a:endParaRPr>
          </a:p>
        </p:txBody>
      </p:sp>
      <p:sp>
        <p:nvSpPr>
          <p:cNvPr id="305" name="Google Shape;305;p6"/>
          <p:cNvSpPr/>
          <p:nvPr/>
        </p:nvSpPr>
        <p:spPr>
          <a:xfrm>
            <a:off x="7591825" y="2282037"/>
            <a:ext cx="1123550" cy="298252"/>
          </a:xfrm>
          <a:prstGeom prst="rect">
            <a:avLst/>
          </a:prstGeom>
          <a:solidFill>
            <a:srgbClr val="1A36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6"/>
          <p:cNvSpPr/>
          <p:nvPr/>
        </p:nvSpPr>
        <p:spPr>
          <a:xfrm>
            <a:off x="7591825" y="2282037"/>
            <a:ext cx="1123550" cy="29825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FFFFFF"/>
              </a:buClr>
              <a:buSzPts val="700"/>
              <a:buFont typeface="Space Grotesk SemiBold"/>
              <a:buNone/>
            </a:pPr>
            <a:r>
              <a:rPr lang="en-US" sz="700" b="0" i="0" u="none" strike="noStrike" cap="none">
                <a:solidFill>
                  <a:srgbClr val="FFFFFF"/>
                </a:solidFill>
                <a:latin typeface="Space Grotesk SemiBold"/>
                <a:ea typeface="Space Grotesk SemiBold"/>
                <a:cs typeface="Space Grotesk SemiBold"/>
                <a:sym typeface="Space Grotesk SemiBold"/>
              </a:rPr>
              <a:t>Status</a:t>
            </a:r>
            <a:endParaRPr sz="700" b="0" i="0" u="none" strike="noStrike" cap="none">
              <a:solidFill>
                <a:schemeClr val="dk1"/>
              </a:solidFill>
              <a:latin typeface="Calibri"/>
              <a:ea typeface="Calibri"/>
              <a:cs typeface="Calibri"/>
              <a:sym typeface="Calibri"/>
            </a:endParaRPr>
          </a:p>
        </p:txBody>
      </p:sp>
      <p:sp>
        <p:nvSpPr>
          <p:cNvPr id="307" name="Google Shape;307;p6"/>
          <p:cNvSpPr/>
          <p:nvPr/>
        </p:nvSpPr>
        <p:spPr>
          <a:xfrm>
            <a:off x="428625" y="2580289"/>
            <a:ext cx="1861170" cy="351830"/>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BCC Phase Security</a:t>
            </a:r>
            <a:endParaRPr sz="750" b="0" i="0" u="none" strike="noStrike" cap="none">
              <a:solidFill>
                <a:schemeClr val="dk1"/>
              </a:solidFill>
              <a:latin typeface="Calibri"/>
              <a:ea typeface="Calibri"/>
              <a:cs typeface="Calibri"/>
              <a:sym typeface="Calibri"/>
            </a:endParaRPr>
          </a:p>
        </p:txBody>
      </p:sp>
      <p:sp>
        <p:nvSpPr>
          <p:cNvPr id="308" name="Google Shape;308;p6"/>
          <p:cNvSpPr/>
          <p:nvPr/>
        </p:nvSpPr>
        <p:spPr>
          <a:xfrm>
            <a:off x="2289795" y="2580289"/>
            <a:ext cx="1677302" cy="351830"/>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Verified (CALPHAD)</a:t>
            </a:r>
            <a:endParaRPr sz="750" b="0" i="0" u="none" strike="noStrike" cap="none">
              <a:solidFill>
                <a:schemeClr val="dk1"/>
              </a:solidFill>
              <a:latin typeface="Calibri"/>
              <a:ea typeface="Calibri"/>
              <a:cs typeface="Calibri"/>
              <a:sym typeface="Calibri"/>
            </a:endParaRPr>
          </a:p>
        </p:txBody>
      </p:sp>
      <p:sp>
        <p:nvSpPr>
          <p:cNvPr id="309" name="Google Shape;309;p6"/>
          <p:cNvSpPr/>
          <p:nvPr/>
        </p:nvSpPr>
        <p:spPr>
          <a:xfrm>
            <a:off x="3967097" y="2580289"/>
            <a:ext cx="1774915" cy="351830"/>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Pending Lab Sweep</a:t>
            </a:r>
            <a:endParaRPr sz="750" b="0" i="0" u="none" strike="noStrike" cap="none">
              <a:solidFill>
                <a:schemeClr val="dk1"/>
              </a:solidFill>
              <a:latin typeface="Calibri"/>
              <a:ea typeface="Calibri"/>
              <a:cs typeface="Calibri"/>
              <a:sym typeface="Calibri"/>
            </a:endParaRPr>
          </a:p>
        </p:txBody>
      </p:sp>
      <p:sp>
        <p:nvSpPr>
          <p:cNvPr id="310" name="Google Shape;310;p6"/>
          <p:cNvSpPr/>
          <p:nvPr/>
        </p:nvSpPr>
        <p:spPr>
          <a:xfrm>
            <a:off x="5742012" y="2580289"/>
            <a:ext cx="1849813" cy="351830"/>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0% Brittle Sigma Phase</a:t>
            </a:r>
            <a:endParaRPr sz="750" b="0" i="0" u="none" strike="noStrike" cap="none">
              <a:solidFill>
                <a:schemeClr val="dk1"/>
              </a:solidFill>
              <a:latin typeface="Calibri"/>
              <a:ea typeface="Calibri"/>
              <a:cs typeface="Calibri"/>
              <a:sym typeface="Calibri"/>
            </a:endParaRPr>
          </a:p>
        </p:txBody>
      </p:sp>
      <p:sp>
        <p:nvSpPr>
          <p:cNvPr id="311" name="Google Shape;311;p6"/>
          <p:cNvSpPr/>
          <p:nvPr/>
        </p:nvSpPr>
        <p:spPr>
          <a:xfrm>
            <a:off x="7698974" y="2666025"/>
            <a:ext cx="773100" cy="176700"/>
          </a:xfrm>
          <a:prstGeom prst="rect">
            <a:avLst/>
          </a:prstGeom>
          <a:gradFill>
            <a:gsLst>
              <a:gs pos="0">
                <a:srgbClr val="DCECD5"/>
              </a:gs>
              <a:gs pos="100000">
                <a:srgbClr val="92BC81"/>
              </a:gs>
            </a:gsLst>
            <a:path path="circle">
              <a:fillToRect l="50000" t="50000" r="50000" b="50000"/>
            </a:path>
            <a:tileRect/>
          </a:gradFill>
          <a:ln w="9525" cap="flat" cmpd="sng">
            <a:solidFill>
              <a:srgbClr val="05966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6"/>
          <p:cNvSpPr/>
          <p:nvPr/>
        </p:nvSpPr>
        <p:spPr>
          <a:xfrm>
            <a:off x="7913294" y="2694589"/>
            <a:ext cx="287536" cy="10537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59669"/>
              </a:buClr>
              <a:buSzPts val="600"/>
              <a:buFont typeface="Inter"/>
              <a:buNone/>
            </a:pPr>
            <a:r>
              <a:rPr lang="en-US" sz="600">
                <a:solidFill>
                  <a:srgbClr val="059669"/>
                </a:solidFill>
                <a:latin typeface="Inter"/>
                <a:ea typeface="Inter"/>
                <a:cs typeface="Inter"/>
                <a:sym typeface="Inter"/>
              </a:rPr>
              <a:t> </a:t>
            </a:r>
            <a:r>
              <a:rPr lang="en-US" sz="600" b="1" i="0" u="none" strike="noStrike" cap="none">
                <a:solidFill>
                  <a:srgbClr val="059669"/>
                </a:solidFill>
                <a:latin typeface="Inter"/>
                <a:ea typeface="Inter"/>
                <a:cs typeface="Inter"/>
                <a:sym typeface="Inter"/>
              </a:rPr>
              <a:t>GREEN</a:t>
            </a:r>
            <a:endParaRPr sz="600" b="1" i="0" u="none" strike="noStrike" cap="none">
              <a:solidFill>
                <a:schemeClr val="dk1"/>
              </a:solidFill>
              <a:latin typeface="Calibri"/>
              <a:ea typeface="Calibri"/>
              <a:cs typeface="Calibri"/>
              <a:sym typeface="Calibri"/>
            </a:endParaRPr>
          </a:p>
        </p:txBody>
      </p:sp>
      <p:sp>
        <p:nvSpPr>
          <p:cNvPr id="313" name="Google Shape;313;p6"/>
          <p:cNvSpPr/>
          <p:nvPr/>
        </p:nvSpPr>
        <p:spPr>
          <a:xfrm>
            <a:off x="428625" y="2917831"/>
            <a:ext cx="1861170"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Elastic Modulus Surface</a:t>
            </a:r>
            <a:endParaRPr sz="750" b="0" i="0" u="none" strike="noStrike" cap="none">
              <a:solidFill>
                <a:schemeClr val="dk1"/>
              </a:solidFill>
              <a:latin typeface="Calibri"/>
              <a:ea typeface="Calibri"/>
              <a:cs typeface="Calibri"/>
              <a:sym typeface="Calibri"/>
            </a:endParaRPr>
          </a:p>
        </p:txBody>
      </p:sp>
      <p:sp>
        <p:nvSpPr>
          <p:cNvPr id="314" name="Google Shape;314;p6"/>
          <p:cNvSpPr/>
          <p:nvPr/>
        </p:nvSpPr>
        <p:spPr>
          <a:xfrm>
            <a:off x="2289795" y="2917831"/>
            <a:ext cx="1677302"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Audited (R^2=0.977$)</a:t>
            </a:r>
            <a:endParaRPr sz="750" b="0" i="0" u="none" strike="noStrike" cap="none">
              <a:solidFill>
                <a:schemeClr val="dk1"/>
              </a:solidFill>
              <a:latin typeface="Calibri"/>
              <a:ea typeface="Calibri"/>
              <a:cs typeface="Calibri"/>
              <a:sym typeface="Calibri"/>
            </a:endParaRPr>
          </a:p>
        </p:txBody>
      </p:sp>
      <p:sp>
        <p:nvSpPr>
          <p:cNvPr id="315" name="Google Shape;315;p6"/>
          <p:cNvSpPr/>
          <p:nvPr/>
        </p:nvSpPr>
        <p:spPr>
          <a:xfrm>
            <a:off x="3967097" y="2917831"/>
            <a:ext cx="1774915"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Pending Coupon Tensile</a:t>
            </a:r>
            <a:endParaRPr sz="750" b="0" i="0" u="none" strike="noStrike" cap="none">
              <a:solidFill>
                <a:schemeClr val="dk1"/>
              </a:solidFill>
              <a:latin typeface="Calibri"/>
              <a:ea typeface="Calibri"/>
              <a:cs typeface="Calibri"/>
              <a:sym typeface="Calibri"/>
            </a:endParaRPr>
          </a:p>
        </p:txBody>
      </p:sp>
      <p:sp>
        <p:nvSpPr>
          <p:cNvPr id="316" name="Google Shape;316;p6"/>
          <p:cNvSpPr/>
          <p:nvPr/>
        </p:nvSpPr>
        <p:spPr>
          <a:xfrm>
            <a:off x="5742012" y="2917831"/>
            <a:ext cx="1849813"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MAE ≤ 8.11 GPa</a:t>
            </a:r>
            <a:endParaRPr sz="750" b="0" i="0" u="none" strike="noStrike" cap="none">
              <a:solidFill>
                <a:schemeClr val="dk1"/>
              </a:solidFill>
              <a:latin typeface="Calibri"/>
              <a:ea typeface="Calibri"/>
              <a:cs typeface="Calibri"/>
              <a:sym typeface="Calibri"/>
            </a:endParaRPr>
          </a:p>
        </p:txBody>
      </p:sp>
      <p:sp>
        <p:nvSpPr>
          <p:cNvPr id="317" name="Google Shape;317;p6"/>
          <p:cNvSpPr/>
          <p:nvPr/>
        </p:nvSpPr>
        <p:spPr>
          <a:xfrm>
            <a:off x="7698973" y="3007125"/>
            <a:ext cx="773100" cy="176700"/>
          </a:xfrm>
          <a:prstGeom prst="rect">
            <a:avLst/>
          </a:prstGeom>
          <a:gradFill>
            <a:gsLst>
              <a:gs pos="0">
                <a:srgbClr val="DCECD5"/>
              </a:gs>
              <a:gs pos="100000">
                <a:srgbClr val="92BC81"/>
              </a:gs>
            </a:gsLst>
            <a:path path="circle">
              <a:fillToRect l="50000" t="50000" r="50000" b="50000"/>
            </a:path>
            <a:tileRect/>
          </a:gradFill>
          <a:ln w="9525" cap="flat" cmpd="sng">
            <a:solidFill>
              <a:srgbClr val="05966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6"/>
          <p:cNvSpPr/>
          <p:nvPr/>
        </p:nvSpPr>
        <p:spPr>
          <a:xfrm>
            <a:off x="7913302" y="3035775"/>
            <a:ext cx="387600" cy="105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59669"/>
              </a:buClr>
              <a:buSzPts val="600"/>
              <a:buFont typeface="Inter"/>
              <a:buNone/>
            </a:pPr>
            <a:r>
              <a:rPr lang="en-US" sz="600">
                <a:solidFill>
                  <a:srgbClr val="059669"/>
                </a:solidFill>
                <a:latin typeface="Inter"/>
                <a:ea typeface="Inter"/>
                <a:cs typeface="Inter"/>
                <a:sym typeface="Inter"/>
              </a:rPr>
              <a:t> </a:t>
            </a:r>
            <a:r>
              <a:rPr lang="en-US" sz="600" b="1" i="0" u="none" strike="noStrike" cap="none">
                <a:solidFill>
                  <a:srgbClr val="059669"/>
                </a:solidFill>
                <a:latin typeface="Inter"/>
                <a:ea typeface="Inter"/>
                <a:cs typeface="Inter"/>
                <a:sym typeface="Inter"/>
              </a:rPr>
              <a:t>GREEN</a:t>
            </a:r>
            <a:endParaRPr sz="600" b="1" i="0" u="none" strike="noStrike" cap="none">
              <a:solidFill>
                <a:schemeClr val="dk1"/>
              </a:solidFill>
              <a:latin typeface="Calibri"/>
              <a:ea typeface="Calibri"/>
              <a:cs typeface="Calibri"/>
              <a:sym typeface="Calibri"/>
            </a:endParaRPr>
          </a:p>
        </p:txBody>
      </p:sp>
      <p:sp>
        <p:nvSpPr>
          <p:cNvPr id="319" name="Google Shape;319;p6"/>
          <p:cNvSpPr/>
          <p:nvPr/>
        </p:nvSpPr>
        <p:spPr>
          <a:xfrm>
            <a:off x="428625" y="3258945"/>
            <a:ext cx="1861170"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Oxidation Scale Kinetics</a:t>
            </a:r>
            <a:endParaRPr sz="750" b="0" i="0" u="none" strike="noStrike" cap="none">
              <a:solidFill>
                <a:schemeClr val="dk1"/>
              </a:solidFill>
              <a:latin typeface="Calibri"/>
              <a:ea typeface="Calibri"/>
              <a:cs typeface="Calibri"/>
              <a:sym typeface="Calibri"/>
            </a:endParaRPr>
          </a:p>
        </p:txBody>
      </p:sp>
      <p:sp>
        <p:nvSpPr>
          <p:cNvPr id="320" name="Google Shape;320;p6"/>
          <p:cNvSpPr/>
          <p:nvPr/>
        </p:nvSpPr>
        <p:spPr>
          <a:xfrm>
            <a:off x="2289795" y="3258945"/>
            <a:ext cx="1677302"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Verified (MACE MD)</a:t>
            </a:r>
            <a:endParaRPr sz="750" b="0" i="0" u="none" strike="noStrike" cap="none">
              <a:solidFill>
                <a:schemeClr val="dk1"/>
              </a:solidFill>
              <a:latin typeface="Calibri"/>
              <a:ea typeface="Calibri"/>
              <a:cs typeface="Calibri"/>
              <a:sym typeface="Calibri"/>
            </a:endParaRPr>
          </a:p>
        </p:txBody>
      </p:sp>
      <p:sp>
        <p:nvSpPr>
          <p:cNvPr id="321" name="Google Shape;321;p6"/>
          <p:cNvSpPr/>
          <p:nvPr/>
        </p:nvSpPr>
        <p:spPr>
          <a:xfrm>
            <a:off x="3967097" y="3258945"/>
            <a:ext cx="1774915"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Pending TGA Weight</a:t>
            </a:r>
            <a:endParaRPr sz="750" b="0" i="0" u="none" strike="noStrike" cap="none">
              <a:solidFill>
                <a:schemeClr val="dk1"/>
              </a:solidFill>
              <a:latin typeface="Calibri"/>
              <a:ea typeface="Calibri"/>
              <a:cs typeface="Calibri"/>
              <a:sym typeface="Calibri"/>
            </a:endParaRPr>
          </a:p>
        </p:txBody>
      </p:sp>
      <p:sp>
        <p:nvSpPr>
          <p:cNvPr id="322" name="Google Shape;322;p6"/>
          <p:cNvSpPr/>
          <p:nvPr/>
        </p:nvSpPr>
        <p:spPr>
          <a:xfrm>
            <a:off x="5742012" y="3258945"/>
            <a:ext cx="1849813"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Mass Gain &lt; 10 mg/cm²</a:t>
            </a:r>
            <a:endParaRPr sz="750" b="0" i="0" u="none" strike="noStrike" cap="none">
              <a:solidFill>
                <a:schemeClr val="dk1"/>
              </a:solidFill>
              <a:latin typeface="Calibri"/>
              <a:ea typeface="Calibri"/>
              <a:cs typeface="Calibri"/>
              <a:sym typeface="Calibri"/>
            </a:endParaRPr>
          </a:p>
        </p:txBody>
      </p:sp>
      <p:sp>
        <p:nvSpPr>
          <p:cNvPr id="323" name="Google Shape;323;p6"/>
          <p:cNvSpPr/>
          <p:nvPr/>
        </p:nvSpPr>
        <p:spPr>
          <a:xfrm>
            <a:off x="7698973" y="3348250"/>
            <a:ext cx="773100" cy="176700"/>
          </a:xfrm>
          <a:prstGeom prst="rect">
            <a:avLst/>
          </a:prstGeom>
          <a:gradFill>
            <a:gsLst>
              <a:gs pos="0">
                <a:srgbClr val="DCECD5"/>
              </a:gs>
              <a:gs pos="100000">
                <a:srgbClr val="92BC81"/>
              </a:gs>
            </a:gsLst>
            <a:path path="circle">
              <a:fillToRect l="50000" t="50000" r="50000" b="50000"/>
            </a:path>
            <a:tileRect/>
          </a:gradFill>
          <a:ln w="9525" cap="flat" cmpd="sng">
            <a:solidFill>
              <a:srgbClr val="05966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6"/>
          <p:cNvSpPr/>
          <p:nvPr/>
        </p:nvSpPr>
        <p:spPr>
          <a:xfrm>
            <a:off x="7913294" y="3376817"/>
            <a:ext cx="287536" cy="10537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59669"/>
              </a:buClr>
              <a:buSzPts val="600"/>
              <a:buFont typeface="Inter"/>
              <a:buNone/>
            </a:pPr>
            <a:r>
              <a:rPr lang="en-US" sz="600" b="1">
                <a:solidFill>
                  <a:srgbClr val="059669"/>
                </a:solidFill>
                <a:latin typeface="Inter"/>
                <a:ea typeface="Inter"/>
                <a:cs typeface="Inter"/>
                <a:sym typeface="Inter"/>
              </a:rPr>
              <a:t> </a:t>
            </a:r>
            <a:r>
              <a:rPr lang="en-US" sz="600" b="1" i="0" u="none" strike="noStrike" cap="none">
                <a:solidFill>
                  <a:srgbClr val="059669"/>
                </a:solidFill>
                <a:latin typeface="Inter"/>
                <a:ea typeface="Inter"/>
                <a:cs typeface="Inter"/>
                <a:sym typeface="Inter"/>
              </a:rPr>
              <a:t>GREEN</a:t>
            </a:r>
            <a:endParaRPr sz="600" b="1" i="0" u="none" strike="noStrike" cap="none">
              <a:solidFill>
                <a:schemeClr val="dk1"/>
              </a:solidFill>
              <a:latin typeface="Calibri"/>
              <a:ea typeface="Calibri"/>
              <a:cs typeface="Calibri"/>
              <a:sym typeface="Calibri"/>
            </a:endParaRPr>
          </a:p>
        </p:txBody>
      </p:sp>
      <p:sp>
        <p:nvSpPr>
          <p:cNvPr id="325" name="Google Shape;325;p6"/>
          <p:cNvSpPr/>
          <p:nvPr/>
        </p:nvSpPr>
        <p:spPr>
          <a:xfrm>
            <a:off x="428625" y="3600059"/>
            <a:ext cx="1861170"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Interfacial Bond Safety</a:t>
            </a:r>
            <a:endParaRPr sz="750" b="0" i="0" u="none" strike="noStrike" cap="none">
              <a:solidFill>
                <a:schemeClr val="dk1"/>
              </a:solidFill>
              <a:latin typeface="Calibri"/>
              <a:ea typeface="Calibri"/>
              <a:cs typeface="Calibri"/>
              <a:sym typeface="Calibri"/>
            </a:endParaRPr>
          </a:p>
        </p:txBody>
      </p:sp>
      <p:sp>
        <p:nvSpPr>
          <p:cNvPr id="326" name="Google Shape;326;p6"/>
          <p:cNvSpPr/>
          <p:nvPr/>
        </p:nvSpPr>
        <p:spPr>
          <a:xfrm>
            <a:off x="2289795" y="3600059"/>
            <a:ext cx="1677302"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Verified (1D/3D FEA)</a:t>
            </a:r>
            <a:endParaRPr sz="750" b="0" i="0" u="none" strike="noStrike" cap="none">
              <a:solidFill>
                <a:schemeClr val="dk1"/>
              </a:solidFill>
              <a:latin typeface="Calibri"/>
              <a:ea typeface="Calibri"/>
              <a:cs typeface="Calibri"/>
              <a:sym typeface="Calibri"/>
            </a:endParaRPr>
          </a:p>
        </p:txBody>
      </p:sp>
      <p:sp>
        <p:nvSpPr>
          <p:cNvPr id="327" name="Google Shape;327;p6"/>
          <p:cNvSpPr/>
          <p:nvPr/>
        </p:nvSpPr>
        <p:spPr>
          <a:xfrm>
            <a:off x="3967097" y="3600059"/>
            <a:ext cx="1774915"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Pending Adhesion Test</a:t>
            </a:r>
            <a:endParaRPr sz="750" b="0" i="0" u="none" strike="noStrike" cap="none">
              <a:solidFill>
                <a:schemeClr val="dk1"/>
              </a:solidFill>
              <a:latin typeface="Calibri"/>
              <a:ea typeface="Calibri"/>
              <a:cs typeface="Calibri"/>
              <a:sym typeface="Calibri"/>
            </a:endParaRPr>
          </a:p>
        </p:txBody>
      </p:sp>
      <p:sp>
        <p:nvSpPr>
          <p:cNvPr id="328" name="Google Shape;328;p6"/>
          <p:cNvSpPr/>
          <p:nvPr/>
        </p:nvSpPr>
        <p:spPr>
          <a:xfrm>
            <a:off x="5742012" y="3600059"/>
            <a:ext cx="1849813"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Safety Factor ≥ 1.50</a:t>
            </a:r>
            <a:endParaRPr sz="750" b="0" i="0" u="none" strike="noStrike" cap="none">
              <a:solidFill>
                <a:schemeClr val="dk1"/>
              </a:solidFill>
              <a:latin typeface="Calibri"/>
              <a:ea typeface="Calibri"/>
              <a:cs typeface="Calibri"/>
              <a:sym typeface="Calibri"/>
            </a:endParaRPr>
          </a:p>
        </p:txBody>
      </p:sp>
      <p:sp>
        <p:nvSpPr>
          <p:cNvPr id="329" name="Google Shape;329;p6"/>
          <p:cNvSpPr/>
          <p:nvPr/>
        </p:nvSpPr>
        <p:spPr>
          <a:xfrm>
            <a:off x="7699026" y="3689375"/>
            <a:ext cx="773100" cy="176700"/>
          </a:xfrm>
          <a:prstGeom prst="rect">
            <a:avLst/>
          </a:prstGeom>
          <a:gradFill>
            <a:gsLst>
              <a:gs pos="0">
                <a:srgbClr val="DCECD5"/>
              </a:gs>
              <a:gs pos="100000">
                <a:srgbClr val="92BC81"/>
              </a:gs>
            </a:gsLst>
            <a:path path="circle">
              <a:fillToRect l="50000" t="50000" r="50000" b="50000"/>
            </a:path>
            <a:tileRect/>
          </a:gradFill>
          <a:ln w="9525" cap="flat" cmpd="sng">
            <a:solidFill>
              <a:srgbClr val="05966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6"/>
          <p:cNvSpPr/>
          <p:nvPr/>
        </p:nvSpPr>
        <p:spPr>
          <a:xfrm>
            <a:off x="7913294" y="3717931"/>
            <a:ext cx="287400" cy="105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59669"/>
              </a:buClr>
              <a:buSzPts val="600"/>
              <a:buFont typeface="Inter"/>
              <a:buNone/>
            </a:pPr>
            <a:r>
              <a:rPr lang="en-US" sz="600" b="1">
                <a:solidFill>
                  <a:srgbClr val="059669"/>
                </a:solidFill>
                <a:latin typeface="Inter"/>
                <a:ea typeface="Inter"/>
                <a:cs typeface="Inter"/>
                <a:sym typeface="Inter"/>
              </a:rPr>
              <a:t> </a:t>
            </a:r>
            <a:r>
              <a:rPr lang="en-US" sz="600" b="1" i="0" u="none" strike="noStrike" cap="none">
                <a:solidFill>
                  <a:srgbClr val="059669"/>
                </a:solidFill>
                <a:latin typeface="Inter"/>
                <a:ea typeface="Inter"/>
                <a:cs typeface="Inter"/>
                <a:sym typeface="Inter"/>
              </a:rPr>
              <a:t>GREEN </a:t>
            </a:r>
            <a:endParaRPr sz="600" b="1" i="0" u="none" strike="noStrike" cap="none">
              <a:solidFill>
                <a:schemeClr val="dk1"/>
              </a:solidFill>
              <a:latin typeface="Calibri"/>
              <a:ea typeface="Calibri"/>
              <a:cs typeface="Calibri"/>
              <a:sym typeface="Calibri"/>
            </a:endParaRPr>
          </a:p>
        </p:txBody>
      </p:sp>
      <p:sp>
        <p:nvSpPr>
          <p:cNvPr id="331" name="Google Shape;331;p6"/>
          <p:cNvSpPr/>
          <p:nvPr/>
        </p:nvSpPr>
        <p:spPr>
          <a:xfrm>
            <a:off x="428625" y="3941173"/>
            <a:ext cx="1861170"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Forging Die Thermal Fit</a:t>
            </a:r>
            <a:endParaRPr sz="750" b="0" i="0" u="none" strike="noStrike" cap="none">
              <a:solidFill>
                <a:schemeClr val="dk1"/>
              </a:solidFill>
              <a:latin typeface="Calibri"/>
              <a:ea typeface="Calibri"/>
              <a:cs typeface="Calibri"/>
              <a:sym typeface="Calibri"/>
            </a:endParaRPr>
          </a:p>
        </p:txBody>
      </p:sp>
      <p:sp>
        <p:nvSpPr>
          <p:cNvPr id="332" name="Google Shape;332;p6"/>
          <p:cNvSpPr/>
          <p:nvPr/>
        </p:nvSpPr>
        <p:spPr>
          <a:xfrm>
            <a:off x="2289795" y="3941173"/>
            <a:ext cx="1677302"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Simulated via 3D FEA</a:t>
            </a:r>
            <a:endParaRPr sz="750" b="0" i="0" u="none" strike="noStrike" cap="none">
              <a:solidFill>
                <a:schemeClr val="dk1"/>
              </a:solidFill>
              <a:latin typeface="Calibri"/>
              <a:ea typeface="Calibri"/>
              <a:cs typeface="Calibri"/>
              <a:sym typeface="Calibri"/>
            </a:endParaRPr>
          </a:p>
        </p:txBody>
      </p:sp>
      <p:sp>
        <p:nvSpPr>
          <p:cNvPr id="333" name="Google Shape;333;p6"/>
          <p:cNvSpPr/>
          <p:nvPr/>
        </p:nvSpPr>
        <p:spPr>
          <a:xfrm>
            <a:off x="3967097" y="3941173"/>
            <a:ext cx="1774915"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Pending Die Trial — Plant</a:t>
            </a:r>
            <a:endParaRPr sz="750" b="0" i="0" u="none" strike="noStrike" cap="none">
              <a:solidFill>
                <a:schemeClr val="dk1"/>
              </a:solidFill>
              <a:latin typeface="Calibri"/>
              <a:ea typeface="Calibri"/>
              <a:cs typeface="Calibri"/>
              <a:sym typeface="Calibri"/>
            </a:endParaRPr>
          </a:p>
        </p:txBody>
      </p:sp>
      <p:sp>
        <p:nvSpPr>
          <p:cNvPr id="334" name="Google Shape;334;p6"/>
          <p:cNvSpPr/>
          <p:nvPr/>
        </p:nvSpPr>
        <p:spPr>
          <a:xfrm>
            <a:off x="5742012" y="3941173"/>
            <a:ext cx="1849813"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Zero Boundary Separation</a:t>
            </a:r>
            <a:endParaRPr sz="750" b="0" i="0" u="none" strike="noStrike" cap="none">
              <a:solidFill>
                <a:schemeClr val="dk1"/>
              </a:solidFill>
              <a:latin typeface="Calibri"/>
              <a:ea typeface="Calibri"/>
              <a:cs typeface="Calibri"/>
              <a:sym typeface="Calibri"/>
            </a:endParaRPr>
          </a:p>
        </p:txBody>
      </p:sp>
      <p:sp>
        <p:nvSpPr>
          <p:cNvPr id="335" name="Google Shape;335;p6"/>
          <p:cNvSpPr/>
          <p:nvPr/>
        </p:nvSpPr>
        <p:spPr>
          <a:xfrm>
            <a:off x="428625" y="4282287"/>
            <a:ext cx="1865244"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Physical Prototyping</a:t>
            </a:r>
            <a:endParaRPr sz="750" b="0" i="0" u="none" strike="noStrike" cap="none">
              <a:solidFill>
                <a:schemeClr val="dk1"/>
              </a:solidFill>
              <a:latin typeface="Calibri"/>
              <a:ea typeface="Calibri"/>
              <a:cs typeface="Calibri"/>
              <a:sym typeface="Calibri"/>
            </a:endParaRPr>
          </a:p>
        </p:txBody>
      </p:sp>
      <p:sp>
        <p:nvSpPr>
          <p:cNvPr id="336" name="Google Shape;336;p6"/>
          <p:cNvSpPr/>
          <p:nvPr/>
        </p:nvSpPr>
        <p:spPr>
          <a:xfrm>
            <a:off x="2293869" y="4282287"/>
            <a:ext cx="1680986"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Fully Formulated</a:t>
            </a:r>
            <a:endParaRPr sz="750" b="0" i="0" u="none" strike="noStrike" cap="none">
              <a:solidFill>
                <a:schemeClr val="dk1"/>
              </a:solidFill>
              <a:latin typeface="Calibri"/>
              <a:ea typeface="Calibri"/>
              <a:cs typeface="Calibri"/>
              <a:sym typeface="Calibri"/>
            </a:endParaRPr>
          </a:p>
        </p:txBody>
      </p:sp>
      <p:sp>
        <p:nvSpPr>
          <p:cNvPr id="337" name="Google Shape;337;p6"/>
          <p:cNvSpPr/>
          <p:nvPr/>
        </p:nvSpPr>
        <p:spPr>
          <a:xfrm>
            <a:off x="3974855" y="4282287"/>
            <a:ext cx="1778794"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Not Yet Tested</a:t>
            </a:r>
            <a:endParaRPr sz="750" b="0" i="0" u="none" strike="noStrike" cap="none">
              <a:solidFill>
                <a:schemeClr val="dk1"/>
              </a:solidFill>
              <a:latin typeface="Calibri"/>
              <a:ea typeface="Calibri"/>
              <a:cs typeface="Calibri"/>
              <a:sym typeface="Calibri"/>
            </a:endParaRPr>
          </a:p>
        </p:txBody>
      </p:sp>
      <p:sp>
        <p:nvSpPr>
          <p:cNvPr id="338" name="Google Shape;338;p6"/>
          <p:cNvSpPr/>
          <p:nvPr/>
        </p:nvSpPr>
        <p:spPr>
          <a:xfrm>
            <a:off x="5753649" y="4282287"/>
            <a:ext cx="1853859"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TRL 4 Coupon Assembly</a:t>
            </a:r>
            <a:endParaRPr sz="750" b="0" i="0" u="none" strike="noStrike" cap="none">
              <a:solidFill>
                <a:schemeClr val="dk1"/>
              </a:solidFill>
              <a:latin typeface="Calibri"/>
              <a:ea typeface="Calibri"/>
              <a:cs typeface="Calibri"/>
              <a:sym typeface="Calibri"/>
            </a:endParaRPr>
          </a:p>
        </p:txBody>
      </p:sp>
      <p:sp>
        <p:nvSpPr>
          <p:cNvPr id="339" name="Google Shape;339;p6"/>
          <p:cNvSpPr txBox="1"/>
          <p:nvPr/>
        </p:nvSpPr>
        <p:spPr>
          <a:xfrm>
            <a:off x="6294025" y="4877000"/>
            <a:ext cx="773100" cy="176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0" name="Google Shape;340;p6"/>
          <p:cNvSpPr txBox="1"/>
          <p:nvPr/>
        </p:nvSpPr>
        <p:spPr>
          <a:xfrm>
            <a:off x="7870275" y="4120300"/>
            <a:ext cx="601800" cy="21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1" name="Google Shape;341;p6"/>
          <p:cNvSpPr/>
          <p:nvPr/>
        </p:nvSpPr>
        <p:spPr>
          <a:xfrm>
            <a:off x="7682025" y="4023388"/>
            <a:ext cx="807000" cy="182100"/>
          </a:xfrm>
          <a:prstGeom prst="rect">
            <a:avLst/>
          </a:prstGeom>
          <a:gradFill>
            <a:gsLst>
              <a:gs pos="0">
                <a:srgbClr val="FFF6DB"/>
              </a:gs>
              <a:gs pos="100000">
                <a:srgbClr val="FAD15C"/>
              </a:gs>
            </a:gsLst>
            <a:path path="circle">
              <a:fillToRect l="50000" t="50000" r="50000" b="50000"/>
            </a:path>
            <a:tileRect/>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US" sz="600">
                <a:solidFill>
                  <a:schemeClr val="accent4"/>
                </a:solidFill>
              </a:rPr>
              <a:t>      </a:t>
            </a:r>
            <a:r>
              <a:rPr lang="en-US" sz="600" b="1">
                <a:solidFill>
                  <a:srgbClr val="F1C232"/>
                </a:solidFill>
              </a:rPr>
              <a:t>YELLOW</a:t>
            </a:r>
            <a:endParaRPr sz="600" b="1">
              <a:solidFill>
                <a:srgbClr val="F1C232"/>
              </a:solidFill>
            </a:endParaRPr>
          </a:p>
        </p:txBody>
      </p:sp>
      <p:sp>
        <p:nvSpPr>
          <p:cNvPr id="342" name="Google Shape;342;p6"/>
          <p:cNvSpPr/>
          <p:nvPr/>
        </p:nvSpPr>
        <p:spPr>
          <a:xfrm>
            <a:off x="7682075" y="4362825"/>
            <a:ext cx="807000" cy="176700"/>
          </a:xfrm>
          <a:prstGeom prst="rect">
            <a:avLst/>
          </a:prstGeom>
          <a:gradFill>
            <a:gsLst>
              <a:gs pos="0">
                <a:srgbClr val="FFF6DB"/>
              </a:gs>
              <a:gs pos="100000">
                <a:srgbClr val="FAD15C"/>
              </a:gs>
            </a:gsLst>
            <a:path path="circle">
              <a:fillToRect l="50000" t="50000" r="50000" b="50000"/>
            </a:path>
            <a:tileRect/>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US" sz="600">
                <a:solidFill>
                  <a:schemeClr val="accent4"/>
                </a:solidFill>
              </a:rPr>
              <a:t>   </a:t>
            </a:r>
            <a:r>
              <a:rPr lang="en-US" sz="600" b="1">
                <a:solidFill>
                  <a:schemeClr val="accent4"/>
                </a:solidFill>
              </a:rPr>
              <a:t>NEXT PHASE</a:t>
            </a:r>
            <a:endParaRPr sz="600" b="1">
              <a:solidFill>
                <a:schemeClr val="accent4"/>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pic>
        <p:nvPicPr>
          <p:cNvPr id="348" name="Google Shape;348;p7" descr="preencoded.png"/>
          <p:cNvPicPr preferRelativeResize="0"/>
          <p:nvPr/>
        </p:nvPicPr>
        <p:blipFill rotWithShape="1">
          <a:blip r:embed="rId3">
            <a:alphaModFix/>
          </a:blip>
          <a:srcRect/>
          <a:stretch/>
        </p:blipFill>
        <p:spPr>
          <a:xfrm>
            <a:off x="0" y="11990"/>
            <a:ext cx="9143999" cy="5143500"/>
          </a:xfrm>
          <a:prstGeom prst="rect">
            <a:avLst/>
          </a:prstGeom>
          <a:noFill/>
          <a:ln>
            <a:noFill/>
          </a:ln>
        </p:spPr>
      </p:pic>
      <p:sp>
        <p:nvSpPr>
          <p:cNvPr id="349" name="Google Shape;349;p7"/>
          <p:cNvSpPr/>
          <p:nvPr/>
        </p:nvSpPr>
        <p:spPr>
          <a:xfrm>
            <a:off x="428625" y="98925"/>
            <a:ext cx="8715300" cy="437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2450"/>
              <a:buFont typeface="Space Grotesk SemiBold"/>
              <a:buNone/>
            </a:pPr>
            <a:r>
              <a:rPr lang="en-US" sz="2450" b="1" i="0" u="none" strike="noStrike" cap="none">
                <a:solidFill>
                  <a:srgbClr val="1A365D"/>
                </a:solidFill>
                <a:latin typeface="Space Grotesk SemiBold"/>
                <a:ea typeface="Space Grotesk SemiBold"/>
                <a:cs typeface="Space Grotesk SemiBold"/>
                <a:sym typeface="Space Grotesk SemiBold"/>
              </a:rPr>
              <a:t>VALIDATION PLAN TO TRL 4+</a:t>
            </a:r>
            <a:endParaRPr sz="2450" b="0" i="0" u="none" strike="noStrike" cap="none">
              <a:solidFill>
                <a:schemeClr val="dk1"/>
              </a:solidFill>
              <a:latin typeface="Calibri"/>
              <a:ea typeface="Calibri"/>
              <a:cs typeface="Calibri"/>
              <a:sym typeface="Calibri"/>
            </a:endParaRPr>
          </a:p>
        </p:txBody>
      </p:sp>
      <p:sp>
        <p:nvSpPr>
          <p:cNvPr id="350" name="Google Shape;350;p7"/>
          <p:cNvSpPr/>
          <p:nvPr/>
        </p:nvSpPr>
        <p:spPr>
          <a:xfrm>
            <a:off x="428588" y="554642"/>
            <a:ext cx="8715300" cy="217800"/>
          </a:xfrm>
          <a:prstGeom prst="rect">
            <a:avLst/>
          </a:prstGeom>
          <a:noFill/>
          <a:ln w="9525" cap="flat" cmpd="sng">
            <a:solidFill>
              <a:srgbClr val="000000"/>
            </a:solidFill>
            <a:prstDash val="solid"/>
            <a:round/>
            <a:headEnd type="none" w="sm" len="sm"/>
            <a:tailEnd type="none" w="sm" len="sm"/>
          </a:ln>
        </p:spPr>
        <p:txBody>
          <a:bodyPr spcFirstLastPara="1" wrap="square" lIns="0" tIns="0" rIns="0" bIns="0" anchor="t" anchorCtr="0">
            <a:spAutoFit/>
          </a:bodyPr>
          <a:lstStyle/>
          <a:p>
            <a:pPr marL="0" marR="0" lvl="0" indent="0" algn="l" rtl="0">
              <a:spcBef>
                <a:spcPts val="0"/>
              </a:spcBef>
              <a:spcAft>
                <a:spcPts val="0"/>
              </a:spcAft>
              <a:buClr>
                <a:srgbClr val="2BDEFD"/>
              </a:buClr>
              <a:buSzPts val="1200"/>
              <a:buFont typeface="Space Grotesk SemiBold"/>
              <a:buNone/>
            </a:pPr>
            <a:r>
              <a:rPr lang="en-US" sz="1050" b="1" dirty="0">
                <a:solidFill>
                  <a:srgbClr val="2BDEFD"/>
                </a:solidFill>
                <a:highlight>
                  <a:srgbClr val="FFFFFF"/>
                </a:highlight>
              </a:rPr>
              <a:t>Validation Plan to TRL 4+ - Incubation Milestone Framework</a:t>
            </a:r>
            <a:endParaRPr sz="1200" b="0" i="0" u="none" strike="noStrike" cap="none" dirty="0">
              <a:solidFill>
                <a:schemeClr val="dk1"/>
              </a:solidFill>
              <a:latin typeface="Calibri"/>
              <a:ea typeface="Calibri"/>
              <a:cs typeface="Calibri"/>
              <a:sym typeface="Calibri"/>
            </a:endParaRPr>
          </a:p>
        </p:txBody>
      </p:sp>
      <p:sp>
        <p:nvSpPr>
          <p:cNvPr id="351" name="Google Shape;351;p7"/>
          <p:cNvSpPr/>
          <p:nvPr/>
        </p:nvSpPr>
        <p:spPr>
          <a:xfrm>
            <a:off x="578644" y="1341239"/>
            <a:ext cx="589359" cy="198239"/>
          </a:xfrm>
          <a:prstGeom prst="rect">
            <a:avLst/>
          </a:prstGeom>
          <a:solidFill>
            <a:srgbClr val="2BDE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7"/>
          <p:cNvSpPr/>
          <p:nvPr/>
        </p:nvSpPr>
        <p:spPr>
          <a:xfrm>
            <a:off x="578644" y="1341239"/>
            <a:ext cx="589359" cy="198239"/>
          </a:xfrm>
          <a:prstGeom prst="rect">
            <a:avLst/>
          </a:prstGeom>
          <a:noFill/>
          <a:ln>
            <a:noFill/>
          </a:ln>
        </p:spPr>
        <p:txBody>
          <a:bodyPr spcFirstLastPara="1" wrap="square" lIns="127500" tIns="42525" rIns="127500" bIns="42525" anchor="t" anchorCtr="0">
            <a:spAutoFit/>
          </a:bodyPr>
          <a:lstStyle/>
          <a:p>
            <a:pPr marL="0" marR="0" lvl="0" indent="0" algn="l" rtl="0">
              <a:spcBef>
                <a:spcPts val="0"/>
              </a:spcBef>
              <a:spcAft>
                <a:spcPts val="0"/>
              </a:spcAft>
              <a:buClr>
                <a:srgbClr val="1A365D"/>
              </a:buClr>
              <a:buSzPts val="700"/>
              <a:buFont typeface="Space Grotesk SemiBold"/>
              <a:buNone/>
            </a:pPr>
            <a:r>
              <a:rPr lang="en-US" sz="700" b="0" i="0" u="none" strike="noStrike" cap="none">
                <a:solidFill>
                  <a:srgbClr val="1A365D"/>
                </a:solidFill>
                <a:latin typeface="Space Grotesk SemiBold"/>
                <a:ea typeface="Space Grotesk SemiBold"/>
                <a:cs typeface="Space Grotesk SemiBold"/>
                <a:sym typeface="Space Grotesk SemiBold"/>
              </a:rPr>
              <a:t>PHASE 1</a:t>
            </a:r>
            <a:endParaRPr sz="700" b="0" i="0" u="none" strike="noStrike" cap="none">
              <a:solidFill>
                <a:schemeClr val="dk1"/>
              </a:solidFill>
              <a:latin typeface="Calibri"/>
              <a:ea typeface="Calibri"/>
              <a:cs typeface="Calibri"/>
              <a:sym typeface="Calibri"/>
            </a:endParaRPr>
          </a:p>
        </p:txBody>
      </p:sp>
      <p:sp>
        <p:nvSpPr>
          <p:cNvPr id="353" name="Google Shape;353;p7"/>
          <p:cNvSpPr/>
          <p:nvPr/>
        </p:nvSpPr>
        <p:spPr>
          <a:xfrm>
            <a:off x="578644" y="1803797"/>
            <a:ext cx="2366953" cy="154288"/>
          </a:xfrm>
          <a:prstGeom prst="rect">
            <a:avLst/>
          </a:prstGeom>
          <a:noFill/>
          <a:ln>
            <a:noFill/>
          </a:ln>
        </p:spPr>
        <p:txBody>
          <a:bodyPr spcFirstLastPara="1" wrap="square" lIns="0" tIns="0" rIns="0" bIns="0" anchor="t" anchorCtr="0">
            <a:spAutoFit/>
          </a:bodyPr>
          <a:lstStyle/>
          <a:p>
            <a:pPr marL="0" marR="0" lvl="0" indent="0" algn="l" rtl="0">
              <a:lnSpc>
                <a:spcPct val="96000"/>
              </a:lnSpc>
              <a:spcBef>
                <a:spcPts val="0"/>
              </a:spcBef>
              <a:spcAft>
                <a:spcPts val="0"/>
              </a:spcAft>
              <a:buClr>
                <a:srgbClr val="1A365D"/>
              </a:buClr>
              <a:buSzPts val="900"/>
              <a:buFont typeface="Space Grotesk SemiBold"/>
              <a:buNone/>
            </a:pPr>
            <a:r>
              <a:rPr lang="en-US" sz="900" b="1" i="0" u="none" strike="noStrike" cap="none">
                <a:solidFill>
                  <a:srgbClr val="1A365D"/>
                </a:solidFill>
                <a:latin typeface="Space Grotesk"/>
                <a:ea typeface="Space Grotesk"/>
                <a:cs typeface="Space Grotesk"/>
                <a:sym typeface="Space Grotesk"/>
              </a:rPr>
              <a:t>Multi-Physics Structural Audits</a:t>
            </a:r>
            <a:endParaRPr sz="900" b="1" i="0" u="none" strike="noStrike" cap="none">
              <a:solidFill>
                <a:schemeClr val="dk1"/>
              </a:solidFill>
              <a:latin typeface="Calibri"/>
              <a:ea typeface="Calibri"/>
              <a:cs typeface="Calibri"/>
              <a:sym typeface="Calibri"/>
            </a:endParaRPr>
          </a:p>
        </p:txBody>
      </p:sp>
      <p:sp>
        <p:nvSpPr>
          <p:cNvPr id="354" name="Google Shape;354;p7"/>
          <p:cNvSpPr/>
          <p:nvPr/>
        </p:nvSpPr>
        <p:spPr>
          <a:xfrm>
            <a:off x="578650" y="2065250"/>
            <a:ext cx="2367000" cy="15537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111111"/>
              </a:buClr>
              <a:buSzPts val="750"/>
              <a:buFont typeface="Inter"/>
              <a:buNone/>
            </a:pPr>
            <a:r>
              <a:rPr lang="en-US" sz="1050">
                <a:solidFill>
                  <a:srgbClr val="111111"/>
                </a:solidFill>
                <a:latin typeface="Inter"/>
                <a:ea typeface="Inter"/>
                <a:cs typeface="Inter"/>
                <a:sym typeface="Inter"/>
              </a:rPr>
              <a:t>Final certification of ALREADY ACHIEVED structural aerospace Safety Factor of 1.71 via 3D FEniCS FEA and MACE Molecular Dynamics on High-end  cloud supercomputing. Extending validation to 20,000+ thermal cycles.</a:t>
            </a:r>
            <a:endParaRPr sz="1050" b="0" i="0" u="none" strike="noStrike" cap="none">
              <a:solidFill>
                <a:schemeClr val="dk1"/>
              </a:solidFill>
              <a:latin typeface="Calibri"/>
              <a:ea typeface="Calibri"/>
              <a:cs typeface="Calibri"/>
              <a:sym typeface="Calibri"/>
            </a:endParaRPr>
          </a:p>
        </p:txBody>
      </p:sp>
      <p:sp>
        <p:nvSpPr>
          <p:cNvPr id="355" name="Google Shape;355;p7"/>
          <p:cNvSpPr/>
          <p:nvPr/>
        </p:nvSpPr>
        <p:spPr>
          <a:xfrm>
            <a:off x="3388509" y="1341239"/>
            <a:ext cx="603647" cy="198239"/>
          </a:xfrm>
          <a:prstGeom prst="rect">
            <a:avLst/>
          </a:prstGeom>
          <a:solidFill>
            <a:srgbClr val="2BDE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7"/>
          <p:cNvSpPr/>
          <p:nvPr/>
        </p:nvSpPr>
        <p:spPr>
          <a:xfrm>
            <a:off x="3388509" y="1341239"/>
            <a:ext cx="603647" cy="198239"/>
          </a:xfrm>
          <a:prstGeom prst="rect">
            <a:avLst/>
          </a:prstGeom>
          <a:noFill/>
          <a:ln>
            <a:noFill/>
          </a:ln>
        </p:spPr>
        <p:txBody>
          <a:bodyPr spcFirstLastPara="1" wrap="square" lIns="127500" tIns="42525" rIns="127500" bIns="42525" anchor="t" anchorCtr="0">
            <a:spAutoFit/>
          </a:bodyPr>
          <a:lstStyle/>
          <a:p>
            <a:pPr marL="0" marR="0" lvl="0" indent="0" algn="l" rtl="0">
              <a:spcBef>
                <a:spcPts val="0"/>
              </a:spcBef>
              <a:spcAft>
                <a:spcPts val="0"/>
              </a:spcAft>
              <a:buClr>
                <a:srgbClr val="1A365D"/>
              </a:buClr>
              <a:buSzPts val="700"/>
              <a:buFont typeface="Space Grotesk SemiBold"/>
              <a:buNone/>
            </a:pPr>
            <a:r>
              <a:rPr lang="en-US" sz="700" b="0" i="0" u="none" strike="noStrike" cap="none">
                <a:solidFill>
                  <a:srgbClr val="1A365D"/>
                </a:solidFill>
                <a:latin typeface="Space Grotesk SemiBold"/>
                <a:ea typeface="Space Grotesk SemiBold"/>
                <a:cs typeface="Space Grotesk SemiBold"/>
                <a:sym typeface="Space Grotesk SemiBold"/>
              </a:rPr>
              <a:t>PHASE 2</a:t>
            </a:r>
            <a:endParaRPr sz="700" b="0" i="0" u="none" strike="noStrike" cap="none">
              <a:solidFill>
                <a:schemeClr val="dk1"/>
              </a:solidFill>
              <a:latin typeface="Calibri"/>
              <a:ea typeface="Calibri"/>
              <a:cs typeface="Calibri"/>
              <a:sym typeface="Calibri"/>
            </a:endParaRPr>
          </a:p>
        </p:txBody>
      </p:sp>
      <p:sp>
        <p:nvSpPr>
          <p:cNvPr id="357" name="Google Shape;357;p7"/>
          <p:cNvSpPr/>
          <p:nvPr/>
        </p:nvSpPr>
        <p:spPr>
          <a:xfrm>
            <a:off x="3388509" y="1803797"/>
            <a:ext cx="2366953" cy="308577"/>
          </a:xfrm>
          <a:prstGeom prst="rect">
            <a:avLst/>
          </a:prstGeom>
          <a:noFill/>
          <a:ln>
            <a:noFill/>
          </a:ln>
        </p:spPr>
        <p:txBody>
          <a:bodyPr spcFirstLastPara="1" wrap="square" lIns="0" tIns="0" rIns="0" bIns="0" anchor="t" anchorCtr="0">
            <a:spAutoFit/>
          </a:bodyPr>
          <a:lstStyle/>
          <a:p>
            <a:pPr marL="0" marR="0" lvl="0" indent="0" algn="l" rtl="0">
              <a:lnSpc>
                <a:spcPct val="96000"/>
              </a:lnSpc>
              <a:spcBef>
                <a:spcPts val="0"/>
              </a:spcBef>
              <a:spcAft>
                <a:spcPts val="0"/>
              </a:spcAft>
              <a:buClr>
                <a:srgbClr val="1A365D"/>
              </a:buClr>
              <a:buSzPts val="900"/>
              <a:buFont typeface="Space Grotesk SemiBold"/>
              <a:buNone/>
            </a:pPr>
            <a:r>
              <a:rPr lang="en-US" sz="900" b="1" i="0" u="none" strike="noStrike" cap="none">
                <a:solidFill>
                  <a:srgbClr val="1A365D"/>
                </a:solidFill>
                <a:latin typeface="Space Grotesk"/>
                <a:ea typeface="Space Grotesk"/>
                <a:cs typeface="Space Grotesk"/>
                <a:sym typeface="Space Grotesk"/>
              </a:rPr>
              <a:t>Additive Prototyping &amp; Porosity Programming</a:t>
            </a:r>
            <a:endParaRPr sz="900" b="1" i="0" u="none" strike="noStrike" cap="none">
              <a:solidFill>
                <a:schemeClr val="dk1"/>
              </a:solidFill>
              <a:latin typeface="Calibri"/>
              <a:ea typeface="Calibri"/>
              <a:cs typeface="Calibri"/>
              <a:sym typeface="Calibri"/>
            </a:endParaRPr>
          </a:p>
        </p:txBody>
      </p:sp>
      <p:sp>
        <p:nvSpPr>
          <p:cNvPr id="358" name="Google Shape;358;p7"/>
          <p:cNvSpPr/>
          <p:nvPr/>
        </p:nvSpPr>
        <p:spPr>
          <a:xfrm>
            <a:off x="3388500" y="2219519"/>
            <a:ext cx="2367000" cy="13173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111111"/>
              </a:buClr>
              <a:buSzPts val="750"/>
              <a:buFont typeface="Inter"/>
              <a:buNone/>
            </a:pPr>
            <a:r>
              <a:rPr lang="en-US" sz="1050" b="0" i="0" u="none" strike="noStrike" cap="none">
                <a:solidFill>
                  <a:srgbClr val="111111"/>
                </a:solidFill>
                <a:latin typeface="Inter"/>
                <a:ea typeface="Inter"/>
                <a:cs typeface="Inter"/>
                <a:sym typeface="Inter"/>
              </a:rPr>
              <a:t>Feeding the universal reference matrix into a dual-line </a:t>
            </a:r>
            <a:r>
              <a:rPr lang="en-US" sz="1000" b="1" i="0" u="none" strike="noStrike" cap="none">
                <a:solidFill>
                  <a:srgbClr val="111111"/>
                </a:solidFill>
                <a:latin typeface="Inter"/>
                <a:ea typeface="Inter"/>
                <a:cs typeface="Inter"/>
                <a:sym typeface="Inter"/>
              </a:rPr>
              <a:t>multi-hopper LENS system</a:t>
            </a:r>
            <a:r>
              <a:rPr lang="en-US" sz="1050" b="0" i="0" u="none" strike="noStrike" cap="none">
                <a:solidFill>
                  <a:srgbClr val="111111"/>
                </a:solidFill>
                <a:latin typeface="Inter"/>
                <a:ea typeface="Inter"/>
                <a:cs typeface="Inter"/>
                <a:sym typeface="Inter"/>
              </a:rPr>
              <a:t>. Optimizing laser power and powder flow to program the integrated transpiration micro-pores.</a:t>
            </a:r>
            <a:endParaRPr sz="1050" b="0" i="0" u="none" strike="noStrike" cap="none">
              <a:solidFill>
                <a:schemeClr val="dk1"/>
              </a:solidFill>
              <a:latin typeface="Calibri"/>
              <a:ea typeface="Calibri"/>
              <a:cs typeface="Calibri"/>
              <a:sym typeface="Calibri"/>
            </a:endParaRPr>
          </a:p>
        </p:txBody>
      </p:sp>
      <p:sp>
        <p:nvSpPr>
          <p:cNvPr id="359" name="Google Shape;359;p7"/>
          <p:cNvSpPr/>
          <p:nvPr/>
        </p:nvSpPr>
        <p:spPr>
          <a:xfrm>
            <a:off x="6198375" y="1341239"/>
            <a:ext cx="605433" cy="198239"/>
          </a:xfrm>
          <a:prstGeom prst="rect">
            <a:avLst/>
          </a:prstGeom>
          <a:solidFill>
            <a:srgbClr val="2BDE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7"/>
          <p:cNvSpPr/>
          <p:nvPr/>
        </p:nvSpPr>
        <p:spPr>
          <a:xfrm>
            <a:off x="6198375" y="1341239"/>
            <a:ext cx="605433" cy="198239"/>
          </a:xfrm>
          <a:prstGeom prst="rect">
            <a:avLst/>
          </a:prstGeom>
          <a:noFill/>
          <a:ln>
            <a:noFill/>
          </a:ln>
        </p:spPr>
        <p:txBody>
          <a:bodyPr spcFirstLastPara="1" wrap="square" lIns="127500" tIns="42525" rIns="127500" bIns="42525" anchor="t" anchorCtr="0">
            <a:spAutoFit/>
          </a:bodyPr>
          <a:lstStyle/>
          <a:p>
            <a:pPr marL="0" marR="0" lvl="0" indent="0" algn="l" rtl="0">
              <a:spcBef>
                <a:spcPts val="0"/>
              </a:spcBef>
              <a:spcAft>
                <a:spcPts val="0"/>
              </a:spcAft>
              <a:buClr>
                <a:srgbClr val="1A365D"/>
              </a:buClr>
              <a:buSzPts val="700"/>
              <a:buFont typeface="Space Grotesk SemiBold"/>
              <a:buNone/>
            </a:pPr>
            <a:r>
              <a:rPr lang="en-US" sz="700" b="0" i="0" u="none" strike="noStrike" cap="none">
                <a:solidFill>
                  <a:srgbClr val="1A365D"/>
                </a:solidFill>
                <a:latin typeface="Space Grotesk SemiBold"/>
                <a:ea typeface="Space Grotesk SemiBold"/>
                <a:cs typeface="Space Grotesk SemiBold"/>
                <a:sym typeface="Space Grotesk SemiBold"/>
              </a:rPr>
              <a:t>PHASE 3</a:t>
            </a:r>
            <a:endParaRPr sz="700" b="0" i="0" u="none" strike="noStrike" cap="none">
              <a:solidFill>
                <a:schemeClr val="dk1"/>
              </a:solidFill>
              <a:latin typeface="Calibri"/>
              <a:ea typeface="Calibri"/>
              <a:cs typeface="Calibri"/>
              <a:sym typeface="Calibri"/>
            </a:endParaRPr>
          </a:p>
        </p:txBody>
      </p:sp>
      <p:sp>
        <p:nvSpPr>
          <p:cNvPr id="361" name="Google Shape;361;p7"/>
          <p:cNvSpPr/>
          <p:nvPr/>
        </p:nvSpPr>
        <p:spPr>
          <a:xfrm>
            <a:off x="6198375" y="1803797"/>
            <a:ext cx="2366953" cy="154288"/>
          </a:xfrm>
          <a:prstGeom prst="rect">
            <a:avLst/>
          </a:prstGeom>
          <a:noFill/>
          <a:ln>
            <a:noFill/>
          </a:ln>
        </p:spPr>
        <p:txBody>
          <a:bodyPr spcFirstLastPara="1" wrap="square" lIns="0" tIns="0" rIns="0" bIns="0" anchor="t" anchorCtr="0">
            <a:spAutoFit/>
          </a:bodyPr>
          <a:lstStyle/>
          <a:p>
            <a:pPr marL="0" marR="0" lvl="0" indent="0" algn="l" rtl="0">
              <a:lnSpc>
                <a:spcPct val="96000"/>
              </a:lnSpc>
              <a:spcBef>
                <a:spcPts val="0"/>
              </a:spcBef>
              <a:spcAft>
                <a:spcPts val="0"/>
              </a:spcAft>
              <a:buClr>
                <a:srgbClr val="1A365D"/>
              </a:buClr>
              <a:buSzPts val="900"/>
              <a:buFont typeface="Space Grotesk SemiBold"/>
              <a:buNone/>
            </a:pPr>
            <a:r>
              <a:rPr lang="en-US" sz="900" b="1" i="0" u="none" strike="noStrike" cap="none">
                <a:solidFill>
                  <a:srgbClr val="1A365D"/>
                </a:solidFill>
                <a:latin typeface="Space Grotesk"/>
                <a:ea typeface="Space Grotesk"/>
                <a:cs typeface="Space Grotesk"/>
                <a:sym typeface="Space Grotesk"/>
              </a:rPr>
              <a:t>High-Temperature Characterization</a:t>
            </a:r>
            <a:endParaRPr sz="900" b="1" i="0" u="none" strike="noStrike" cap="none">
              <a:solidFill>
                <a:schemeClr val="dk1"/>
              </a:solidFill>
              <a:latin typeface="Calibri"/>
              <a:ea typeface="Calibri"/>
              <a:cs typeface="Calibri"/>
              <a:sym typeface="Calibri"/>
            </a:endParaRPr>
          </a:p>
        </p:txBody>
      </p:sp>
      <p:sp>
        <p:nvSpPr>
          <p:cNvPr id="362" name="Google Shape;362;p7"/>
          <p:cNvSpPr/>
          <p:nvPr/>
        </p:nvSpPr>
        <p:spPr>
          <a:xfrm>
            <a:off x="6198375" y="2065262"/>
            <a:ext cx="2367000" cy="13173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111111"/>
              </a:buClr>
              <a:buSzPts val="750"/>
              <a:buFont typeface="Inter"/>
              <a:buNone/>
            </a:pPr>
            <a:r>
              <a:rPr lang="en-US" sz="1050" b="0" i="0" u="none" strike="noStrike" cap="none">
                <a:solidFill>
                  <a:srgbClr val="111111"/>
                </a:solidFill>
                <a:latin typeface="Inter"/>
                <a:ea typeface="Inter"/>
                <a:cs typeface="Inter"/>
                <a:sym typeface="Inter"/>
              </a:rPr>
              <a:t>Exposure of fabricated coupons to 1,000 continuous thermal shock cycles inside an automated </a:t>
            </a:r>
            <a:r>
              <a:rPr lang="en-US" sz="1000" b="1" i="0" u="none" strike="noStrike" cap="none">
                <a:solidFill>
                  <a:srgbClr val="111111"/>
                </a:solidFill>
                <a:latin typeface="Inter"/>
                <a:ea typeface="Inter"/>
                <a:cs typeface="Inter"/>
                <a:sym typeface="Inter"/>
              </a:rPr>
              <a:t>Automated Thermal Cycling Rig</a:t>
            </a:r>
            <a:r>
              <a:rPr lang="en-US" sz="1050" b="0" i="0" u="none" strike="noStrike" cap="none">
                <a:solidFill>
                  <a:srgbClr val="111111"/>
                </a:solidFill>
                <a:latin typeface="Inter"/>
                <a:ea typeface="Inter"/>
                <a:cs typeface="Inter"/>
                <a:sym typeface="Inter"/>
              </a:rPr>
              <a:t> at a real gas temperature of 1400°C (1673 K).</a:t>
            </a:r>
            <a:endParaRPr sz="1050" b="0" i="0" u="none" strike="noStrike" cap="none">
              <a:solidFill>
                <a:schemeClr val="dk1"/>
              </a:solidFill>
              <a:latin typeface="Calibri"/>
              <a:ea typeface="Calibri"/>
              <a:cs typeface="Calibri"/>
              <a:sym typeface="Calibri"/>
            </a:endParaRPr>
          </a:p>
        </p:txBody>
      </p:sp>
      <p:sp>
        <p:nvSpPr>
          <p:cNvPr id="363" name="Google Shape;363;p7"/>
          <p:cNvSpPr/>
          <p:nvPr/>
        </p:nvSpPr>
        <p:spPr>
          <a:xfrm>
            <a:off x="428625" y="4013002"/>
            <a:ext cx="8286750" cy="553641"/>
          </a:xfrm>
          <a:prstGeom prst="rect">
            <a:avLst/>
          </a:prstGeom>
          <a:solidFill>
            <a:srgbClr val="000000">
              <a:alpha val="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7"/>
          <p:cNvSpPr/>
          <p:nvPr/>
        </p:nvSpPr>
        <p:spPr>
          <a:xfrm>
            <a:off x="428625" y="4013002"/>
            <a:ext cx="28575" cy="553641"/>
          </a:xfrm>
          <a:prstGeom prst="rect">
            <a:avLst/>
          </a:prstGeom>
          <a:solidFill>
            <a:srgbClr val="2BDE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7"/>
          <p:cNvSpPr/>
          <p:nvPr/>
        </p:nvSpPr>
        <p:spPr>
          <a:xfrm>
            <a:off x="571500" y="4013002"/>
            <a:ext cx="8143875" cy="1821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1000"/>
              <a:buFont typeface="Space Grotesk SemiBold"/>
              <a:buNone/>
            </a:pPr>
            <a:r>
              <a:rPr lang="en-US" sz="1000" b="0" i="0" u="none" strike="noStrike" cap="none">
                <a:solidFill>
                  <a:srgbClr val="1A365D"/>
                </a:solidFill>
                <a:latin typeface="Space Grotesk SemiBold"/>
                <a:ea typeface="Space Grotesk SemiBold"/>
                <a:cs typeface="Space Grotesk SemiBold"/>
                <a:sym typeface="Space Grotesk SemiBold"/>
              </a:rPr>
              <a:t>Go/No-Go Gatekeeping Criteria</a:t>
            </a:r>
            <a:endParaRPr sz="1000" b="0" i="0" u="none" strike="noStrike" cap="none">
              <a:solidFill>
                <a:schemeClr val="dk1"/>
              </a:solidFill>
              <a:latin typeface="Calibri"/>
              <a:ea typeface="Calibri"/>
              <a:cs typeface="Calibri"/>
              <a:sym typeface="Calibri"/>
            </a:endParaRPr>
          </a:p>
        </p:txBody>
      </p:sp>
      <p:sp>
        <p:nvSpPr>
          <p:cNvPr id="366" name="Google Shape;366;p7"/>
          <p:cNvSpPr/>
          <p:nvPr/>
        </p:nvSpPr>
        <p:spPr>
          <a:xfrm>
            <a:off x="571500" y="4266605"/>
            <a:ext cx="8143875" cy="300038"/>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111111"/>
              </a:buClr>
              <a:buSzPts val="800"/>
              <a:buFont typeface="Inter"/>
              <a:buNone/>
            </a:pPr>
            <a:r>
              <a:rPr lang="en-US" sz="800" b="0" i="0" u="none" strike="noStrike" cap="none">
                <a:solidFill>
                  <a:srgbClr val="111111"/>
                </a:solidFill>
                <a:latin typeface="Inter"/>
                <a:ea typeface="Inter"/>
                <a:cs typeface="Inter"/>
                <a:sym typeface="Inter"/>
              </a:rPr>
              <a:t>Microstructural characterization via </a:t>
            </a:r>
            <a:r>
              <a:rPr lang="en-US" sz="750" b="1" i="0" u="none" strike="noStrike" cap="none">
                <a:solidFill>
                  <a:srgbClr val="111111"/>
                </a:solidFill>
                <a:latin typeface="Inter"/>
                <a:ea typeface="Inter"/>
                <a:cs typeface="Inter"/>
                <a:sym typeface="Inter"/>
              </a:rPr>
              <a:t>SEM/EDS</a:t>
            </a:r>
            <a:r>
              <a:rPr lang="en-US" sz="800" b="0" i="0" u="none" strike="noStrike" cap="none">
                <a:solidFill>
                  <a:srgbClr val="111111"/>
                </a:solidFill>
                <a:latin typeface="Inter"/>
                <a:ea typeface="Inter"/>
                <a:cs typeface="Inter"/>
                <a:sym typeface="Inter"/>
              </a:rPr>
              <a:t> must confirm clear layer-wise compositional layout and verify the complete absence of processing voids or macro-cracking before advancing to full turbine blade geometries.</a:t>
            </a:r>
            <a:endParaRPr sz="800" b="0" i="0" u="none" strike="noStrike" cap="none">
              <a:solidFill>
                <a:schemeClr val="dk1"/>
              </a:solidFill>
              <a:latin typeface="Calibri"/>
              <a:ea typeface="Calibri"/>
              <a:cs typeface="Calibri"/>
              <a:sym typeface="Calibri"/>
            </a:endParaRPr>
          </a:p>
        </p:txBody>
      </p:sp>
      <p:sp>
        <p:nvSpPr>
          <p:cNvPr id="367" name="Google Shape;367;p7"/>
          <p:cNvSpPr txBox="1"/>
          <p:nvPr/>
        </p:nvSpPr>
        <p:spPr>
          <a:xfrm>
            <a:off x="525898" y="954850"/>
            <a:ext cx="4932600" cy="30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200">
                <a:latin typeface="Inter"/>
                <a:ea typeface="Inter"/>
                <a:cs typeface="Inter"/>
                <a:sym typeface="Inter"/>
              </a:rPr>
              <a:t>Note: Timeline to be mutually agreed .</a:t>
            </a:r>
            <a:endParaRPr sz="1200">
              <a:latin typeface="Inter"/>
              <a:ea typeface="Inter"/>
              <a:cs typeface="Inter"/>
              <a:sym typeface="Inte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pic>
        <p:nvPicPr>
          <p:cNvPr id="373" name="Google Shape;373;p8" descr="preencoded.png"/>
          <p:cNvPicPr preferRelativeResize="0"/>
          <p:nvPr/>
        </p:nvPicPr>
        <p:blipFill rotWithShape="1">
          <a:blip r:embed="rId3">
            <a:alphaModFix/>
          </a:blip>
          <a:srcRect/>
          <a:stretch/>
        </p:blipFill>
        <p:spPr>
          <a:xfrm>
            <a:off x="0" y="0"/>
            <a:ext cx="9144000" cy="5143500"/>
          </a:xfrm>
          <a:prstGeom prst="rect">
            <a:avLst/>
          </a:prstGeom>
          <a:noFill/>
          <a:ln>
            <a:noFill/>
          </a:ln>
        </p:spPr>
      </p:pic>
      <p:sp>
        <p:nvSpPr>
          <p:cNvPr id="374" name="Google Shape;374;p8"/>
          <p:cNvSpPr/>
          <p:nvPr/>
        </p:nvSpPr>
        <p:spPr>
          <a:xfrm>
            <a:off x="428625" y="428625"/>
            <a:ext cx="8715375" cy="43755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2450"/>
              <a:buFont typeface="Space Grotesk SemiBold"/>
              <a:buNone/>
            </a:pPr>
            <a:r>
              <a:rPr lang="en-US" sz="2450" b="1" i="0" u="none" strike="noStrike" cap="none">
                <a:solidFill>
                  <a:srgbClr val="1A365D"/>
                </a:solidFill>
                <a:latin typeface="Space Grotesk SemiBold"/>
                <a:ea typeface="Space Grotesk SemiBold"/>
                <a:cs typeface="Space Grotesk SemiBold"/>
                <a:sym typeface="Space Grotesk SemiBold"/>
              </a:rPr>
              <a:t>TECHNOLOGY VALIDATION &amp; DEPLOYMENT ROADMAP</a:t>
            </a:r>
            <a:endParaRPr sz="2450" b="0" i="0" u="none" strike="noStrike" cap="none">
              <a:solidFill>
                <a:schemeClr val="dk1"/>
              </a:solidFill>
              <a:latin typeface="Calibri"/>
              <a:ea typeface="Calibri"/>
              <a:cs typeface="Calibri"/>
              <a:sym typeface="Calibri"/>
            </a:endParaRPr>
          </a:p>
        </p:txBody>
      </p:sp>
      <p:sp>
        <p:nvSpPr>
          <p:cNvPr id="375" name="Google Shape;375;p8"/>
          <p:cNvSpPr/>
          <p:nvPr/>
        </p:nvSpPr>
        <p:spPr>
          <a:xfrm>
            <a:off x="428625" y="937617"/>
            <a:ext cx="8715375" cy="21788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2BDEFD"/>
              </a:buClr>
              <a:buSzPts val="1200"/>
              <a:buFont typeface="Space Grotesk SemiBold"/>
              <a:buNone/>
            </a:pPr>
            <a:r>
              <a:rPr lang="en-US" sz="1200" b="0" i="0" u="none" strike="noStrike" cap="none">
                <a:solidFill>
                  <a:srgbClr val="2BDEFD"/>
                </a:solidFill>
                <a:latin typeface="Space Grotesk SemiBold"/>
                <a:ea typeface="Space Grotesk SemiBold"/>
                <a:cs typeface="Space Grotesk SemiBold"/>
                <a:sym typeface="Space Grotesk SemiBold"/>
              </a:rPr>
              <a:t>From In Silico Design to Physical Validation &amp; Deployment</a:t>
            </a:r>
            <a:endParaRPr sz="1200" b="0" i="0" u="none" strike="noStrike" cap="none">
              <a:solidFill>
                <a:schemeClr val="dk1"/>
              </a:solidFill>
              <a:latin typeface="Calibri"/>
              <a:ea typeface="Calibri"/>
              <a:cs typeface="Calibri"/>
              <a:sym typeface="Calibri"/>
            </a:endParaRPr>
          </a:p>
        </p:txBody>
      </p:sp>
      <p:sp>
        <p:nvSpPr>
          <p:cNvPr id="376" name="Google Shape;376;p8"/>
          <p:cNvSpPr/>
          <p:nvPr/>
        </p:nvSpPr>
        <p:spPr>
          <a:xfrm>
            <a:off x="428625" y="1441252"/>
            <a:ext cx="1571625" cy="571500"/>
          </a:xfrm>
          <a:prstGeom prst="rect">
            <a:avLst/>
          </a:prstGeom>
          <a:solidFill>
            <a:srgbClr val="1A36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8"/>
          <p:cNvSpPr/>
          <p:nvPr/>
        </p:nvSpPr>
        <p:spPr>
          <a:xfrm>
            <a:off x="548283" y="1663601"/>
            <a:ext cx="1332309" cy="126802"/>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Clr>
                <a:srgbClr val="FFFFFF"/>
              </a:buClr>
              <a:buSzPts val="700"/>
              <a:buFont typeface="Space Grotesk SemiBold"/>
              <a:buNone/>
            </a:pPr>
            <a:r>
              <a:rPr lang="en-US" sz="700" b="0" i="0" u="none" strike="noStrike" cap="none">
                <a:solidFill>
                  <a:srgbClr val="FFFFFF"/>
                </a:solidFill>
                <a:latin typeface="Space Grotesk SemiBold"/>
                <a:ea typeface="Space Grotesk SemiBold"/>
                <a:cs typeface="Space Grotesk SemiBold"/>
                <a:sym typeface="Space Grotesk SemiBold"/>
              </a:rPr>
              <a:t>IN SILICO DESIGN SCREENING</a:t>
            </a:r>
            <a:endParaRPr sz="700" b="0" i="0" u="none" strike="noStrike" cap="none">
              <a:solidFill>
                <a:schemeClr val="dk1"/>
              </a:solidFill>
              <a:latin typeface="Calibri"/>
              <a:ea typeface="Calibri"/>
              <a:cs typeface="Calibri"/>
              <a:sym typeface="Calibri"/>
            </a:endParaRPr>
          </a:p>
        </p:txBody>
      </p:sp>
      <p:sp>
        <p:nvSpPr>
          <p:cNvPr id="378" name="Google Shape;378;p8"/>
          <p:cNvSpPr/>
          <p:nvPr/>
        </p:nvSpPr>
        <p:spPr>
          <a:xfrm>
            <a:off x="2107406" y="1441252"/>
            <a:ext cx="1571625" cy="571500"/>
          </a:xfrm>
          <a:prstGeom prst="rect">
            <a:avLst/>
          </a:prstGeom>
          <a:solidFill>
            <a:srgbClr val="1A36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8"/>
          <p:cNvSpPr/>
          <p:nvPr/>
        </p:nvSpPr>
        <p:spPr>
          <a:xfrm>
            <a:off x="2197596" y="1663601"/>
            <a:ext cx="1391245" cy="126802"/>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Clr>
                <a:srgbClr val="FFFFFF"/>
              </a:buClr>
              <a:buSzPts val="700"/>
              <a:buFont typeface="Space Grotesk SemiBold"/>
              <a:buNone/>
            </a:pPr>
            <a:r>
              <a:rPr lang="en-US" sz="700" b="0" i="0" u="none" strike="noStrike" cap="none">
                <a:solidFill>
                  <a:srgbClr val="FFFFFF"/>
                </a:solidFill>
                <a:latin typeface="Space Grotesk SemiBold"/>
                <a:ea typeface="Space Grotesk SemiBold"/>
                <a:cs typeface="Space Grotesk SemiBold"/>
                <a:sym typeface="Space Grotesk SemiBold"/>
              </a:rPr>
              <a:t>LENS FGM WITNESS COUPONS</a:t>
            </a:r>
            <a:endParaRPr sz="700" b="0" i="0" u="none" strike="noStrike" cap="none">
              <a:solidFill>
                <a:schemeClr val="dk1"/>
              </a:solidFill>
              <a:latin typeface="Calibri"/>
              <a:ea typeface="Calibri"/>
              <a:cs typeface="Calibri"/>
              <a:sym typeface="Calibri"/>
            </a:endParaRPr>
          </a:p>
        </p:txBody>
      </p:sp>
      <p:sp>
        <p:nvSpPr>
          <p:cNvPr id="380" name="Google Shape;380;p8"/>
          <p:cNvSpPr/>
          <p:nvPr/>
        </p:nvSpPr>
        <p:spPr>
          <a:xfrm>
            <a:off x="3786188" y="1441252"/>
            <a:ext cx="1571625" cy="571500"/>
          </a:xfrm>
          <a:prstGeom prst="rect">
            <a:avLst/>
          </a:prstGeom>
          <a:solidFill>
            <a:srgbClr val="1A36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8"/>
          <p:cNvSpPr/>
          <p:nvPr/>
        </p:nvSpPr>
        <p:spPr>
          <a:xfrm>
            <a:off x="3857625" y="1600200"/>
            <a:ext cx="1428750" cy="253603"/>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Clr>
                <a:srgbClr val="FFFFFF"/>
              </a:buClr>
              <a:buSzPts val="700"/>
              <a:buFont typeface="Space Grotesk SemiBold"/>
              <a:buNone/>
            </a:pPr>
            <a:r>
              <a:rPr lang="en-US" sz="700" b="0" i="0" u="none" strike="noStrike" cap="none">
                <a:solidFill>
                  <a:srgbClr val="FFFFFF"/>
                </a:solidFill>
                <a:latin typeface="Space Grotesk SemiBold"/>
                <a:ea typeface="Space Grotesk SemiBold"/>
                <a:cs typeface="Space Grotesk SemiBold"/>
                <a:sym typeface="Space Grotesk SemiBold"/>
              </a:rPr>
              <a:t>THERMAL CYCLING VALIDATION</a:t>
            </a:r>
            <a:endParaRPr sz="700" b="0" i="0" u="none" strike="noStrike" cap="none">
              <a:solidFill>
                <a:schemeClr val="dk1"/>
              </a:solidFill>
              <a:latin typeface="Calibri"/>
              <a:ea typeface="Calibri"/>
              <a:cs typeface="Calibri"/>
              <a:sym typeface="Calibri"/>
            </a:endParaRPr>
          </a:p>
        </p:txBody>
      </p:sp>
      <p:sp>
        <p:nvSpPr>
          <p:cNvPr id="382" name="Google Shape;382;p8"/>
          <p:cNvSpPr/>
          <p:nvPr/>
        </p:nvSpPr>
        <p:spPr>
          <a:xfrm>
            <a:off x="5464969" y="1441252"/>
            <a:ext cx="1571625" cy="571500"/>
          </a:xfrm>
          <a:prstGeom prst="rect">
            <a:avLst/>
          </a:prstGeom>
          <a:solidFill>
            <a:srgbClr val="1A36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8"/>
          <p:cNvSpPr/>
          <p:nvPr/>
        </p:nvSpPr>
        <p:spPr>
          <a:xfrm>
            <a:off x="5536406" y="1600200"/>
            <a:ext cx="1428750" cy="253603"/>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Clr>
                <a:srgbClr val="FFFFFF"/>
              </a:buClr>
              <a:buSzPts val="700"/>
              <a:buFont typeface="Space Grotesk SemiBold"/>
              <a:buNone/>
            </a:pPr>
            <a:r>
              <a:rPr lang="en-US" sz="700" b="0" i="0" u="none" strike="noStrike" cap="none">
                <a:solidFill>
                  <a:srgbClr val="FFFFFF"/>
                </a:solidFill>
                <a:latin typeface="Space Grotesk SemiBold"/>
                <a:ea typeface="Space Grotesk SemiBold"/>
                <a:cs typeface="Space Grotesk SemiBold"/>
                <a:sym typeface="Space Grotesk SemiBold"/>
              </a:rPr>
              <a:t>SUBSCALE COMPONENT VALIDATION</a:t>
            </a:r>
            <a:endParaRPr sz="700" b="0" i="0" u="none" strike="noStrike" cap="none">
              <a:solidFill>
                <a:schemeClr val="dk1"/>
              </a:solidFill>
              <a:latin typeface="Calibri"/>
              <a:ea typeface="Calibri"/>
              <a:cs typeface="Calibri"/>
              <a:sym typeface="Calibri"/>
            </a:endParaRPr>
          </a:p>
        </p:txBody>
      </p:sp>
      <p:sp>
        <p:nvSpPr>
          <p:cNvPr id="384" name="Google Shape;384;p8"/>
          <p:cNvSpPr/>
          <p:nvPr/>
        </p:nvSpPr>
        <p:spPr>
          <a:xfrm>
            <a:off x="7143750" y="1441252"/>
            <a:ext cx="1571625" cy="571500"/>
          </a:xfrm>
          <a:prstGeom prst="rect">
            <a:avLst/>
          </a:prstGeom>
          <a:solidFill>
            <a:srgbClr val="2BDE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8"/>
          <p:cNvSpPr/>
          <p:nvPr/>
        </p:nvSpPr>
        <p:spPr>
          <a:xfrm>
            <a:off x="7143750" y="1441252"/>
            <a:ext cx="1571625" cy="571500"/>
          </a:xfrm>
          <a:prstGeom prst="rect">
            <a:avLst/>
          </a:prstGeom>
          <a:noFill/>
          <a:ln>
            <a:noFill/>
          </a:ln>
        </p:spPr>
        <p:txBody>
          <a:bodyPr spcFirstLastPara="1" wrap="square" lIns="85075" tIns="85075" rIns="85075" bIns="85075" anchor="ctr" anchorCtr="0">
            <a:spAutoFit/>
          </a:bodyPr>
          <a:lstStyle/>
          <a:p>
            <a:pPr marL="0" marR="0" lvl="0" indent="0" algn="ctr" rtl="0">
              <a:spcBef>
                <a:spcPts val="0"/>
              </a:spcBef>
              <a:spcAft>
                <a:spcPts val="0"/>
              </a:spcAft>
              <a:buClr>
                <a:srgbClr val="1A365D"/>
              </a:buClr>
              <a:buSzPts val="700"/>
              <a:buFont typeface="Space Grotesk SemiBold"/>
              <a:buNone/>
            </a:pPr>
            <a:r>
              <a:rPr lang="en-US" sz="700" b="0" i="0" u="none" strike="noStrike" cap="none">
                <a:solidFill>
                  <a:srgbClr val="1A365D"/>
                </a:solidFill>
                <a:latin typeface="Space Grotesk SemiBold"/>
                <a:ea typeface="Space Grotesk SemiBold"/>
                <a:cs typeface="Space Grotesk SemiBold"/>
                <a:sym typeface="Space Grotesk SemiBold"/>
              </a:rPr>
              <a:t>INDUSTRY DEPLOYMENT &amp; CERTIFICATION</a:t>
            </a:r>
            <a:endParaRPr sz="700" b="0" i="0" u="none" strike="noStrike" cap="none">
              <a:solidFill>
                <a:schemeClr val="dk1"/>
              </a:solidFill>
              <a:latin typeface="Calibri"/>
              <a:ea typeface="Calibri"/>
              <a:cs typeface="Calibri"/>
              <a:sym typeface="Calibri"/>
            </a:endParaRPr>
          </a:p>
        </p:txBody>
      </p:sp>
      <p:sp>
        <p:nvSpPr>
          <p:cNvPr id="386" name="Google Shape;386;p8"/>
          <p:cNvSpPr/>
          <p:nvPr/>
        </p:nvSpPr>
        <p:spPr>
          <a:xfrm>
            <a:off x="600075" y="2369939"/>
            <a:ext cx="3829050" cy="1821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1000"/>
              <a:buFont typeface="Space Grotesk SemiBold"/>
              <a:buNone/>
            </a:pPr>
            <a:r>
              <a:rPr lang="en-US" sz="1000" b="1" i="0" u="none" strike="noStrike" cap="none">
                <a:solidFill>
                  <a:srgbClr val="1A365D"/>
                </a:solidFill>
                <a:latin typeface="Space Grotesk SemiBold"/>
                <a:ea typeface="Space Grotesk SemiBold"/>
                <a:cs typeface="Space Grotesk SemiBold"/>
                <a:sym typeface="Space Grotesk SemiBold"/>
              </a:rPr>
              <a:t>Witness Coupon Baseline</a:t>
            </a:r>
            <a:endParaRPr sz="1000" b="0" i="0" u="none" strike="noStrike" cap="none">
              <a:solidFill>
                <a:schemeClr val="dk1"/>
              </a:solidFill>
              <a:latin typeface="Calibri"/>
              <a:ea typeface="Calibri"/>
              <a:cs typeface="Calibri"/>
              <a:sym typeface="Calibri"/>
            </a:endParaRPr>
          </a:p>
        </p:txBody>
      </p:sp>
      <p:sp>
        <p:nvSpPr>
          <p:cNvPr id="387" name="Google Shape;387;p8"/>
          <p:cNvSpPr/>
          <p:nvPr/>
        </p:nvSpPr>
        <p:spPr>
          <a:xfrm>
            <a:off x="600075" y="2609255"/>
            <a:ext cx="3829050" cy="51435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111111"/>
              </a:buClr>
              <a:buSzPts val="850"/>
              <a:buFont typeface="Inter"/>
              <a:buNone/>
            </a:pPr>
            <a:r>
              <a:rPr lang="en-US" sz="850" b="0" i="0" u="none" strike="noStrike" cap="none">
                <a:solidFill>
                  <a:srgbClr val="111111"/>
                </a:solidFill>
                <a:latin typeface="Inter"/>
                <a:ea typeface="Inter"/>
                <a:cs typeface="Inter"/>
                <a:sym typeface="Inter"/>
              </a:rPr>
              <a:t>Fabricate flat, graded FGM witness coupons using our hardware-agnostic composition standard, providing a cost-effective platform for initial evaluation.</a:t>
            </a:r>
            <a:endParaRPr sz="850" b="0" i="0" u="none" strike="noStrike" cap="none">
              <a:solidFill>
                <a:schemeClr val="dk1"/>
              </a:solidFill>
              <a:latin typeface="Calibri"/>
              <a:ea typeface="Calibri"/>
              <a:cs typeface="Calibri"/>
              <a:sym typeface="Calibri"/>
            </a:endParaRPr>
          </a:p>
        </p:txBody>
      </p:sp>
      <p:sp>
        <p:nvSpPr>
          <p:cNvPr id="388" name="Google Shape;388;p8"/>
          <p:cNvSpPr/>
          <p:nvPr/>
        </p:nvSpPr>
        <p:spPr>
          <a:xfrm>
            <a:off x="4886325" y="2369939"/>
            <a:ext cx="3829050" cy="1821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1000"/>
              <a:buFont typeface="Space Grotesk SemiBold"/>
              <a:buNone/>
            </a:pPr>
            <a:r>
              <a:rPr lang="en-US" sz="1000" b="1" i="0" u="none" strike="noStrike" cap="none">
                <a:solidFill>
                  <a:srgbClr val="1A365D"/>
                </a:solidFill>
                <a:latin typeface="Space Grotesk SemiBold"/>
                <a:ea typeface="Space Grotesk SemiBold"/>
                <a:cs typeface="Space Grotesk SemiBold"/>
                <a:sym typeface="Space Grotesk SemiBold"/>
              </a:rPr>
              <a:t>Comparative Performance</a:t>
            </a:r>
            <a:endParaRPr sz="1000" b="0" i="0" u="none" strike="noStrike" cap="none">
              <a:solidFill>
                <a:schemeClr val="dk1"/>
              </a:solidFill>
              <a:latin typeface="Calibri"/>
              <a:ea typeface="Calibri"/>
              <a:cs typeface="Calibri"/>
              <a:sym typeface="Calibri"/>
            </a:endParaRPr>
          </a:p>
        </p:txBody>
      </p:sp>
      <p:sp>
        <p:nvSpPr>
          <p:cNvPr id="389" name="Google Shape;389;p8"/>
          <p:cNvSpPr/>
          <p:nvPr/>
        </p:nvSpPr>
        <p:spPr>
          <a:xfrm>
            <a:off x="4886325" y="2609255"/>
            <a:ext cx="3829050" cy="51435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111111"/>
              </a:buClr>
              <a:buSzPts val="850"/>
              <a:buFont typeface="Inter"/>
              <a:buNone/>
            </a:pPr>
            <a:r>
              <a:rPr lang="en-US" sz="850" b="0" i="0" u="none" strike="noStrike" cap="none">
                <a:solidFill>
                  <a:srgbClr val="111111"/>
                </a:solidFill>
                <a:latin typeface="Inter"/>
                <a:ea typeface="Inter"/>
                <a:cs typeface="Inter"/>
                <a:sym typeface="Inter"/>
              </a:rPr>
              <a:t>Subject our transpiration-cooled HEA coupons to concurrent testing alongside current industry-standard single-crystal Nickel superalloys to measure structural gains.</a:t>
            </a:r>
            <a:endParaRPr sz="850" b="0" i="0" u="none" strike="noStrike" cap="none">
              <a:solidFill>
                <a:schemeClr val="dk1"/>
              </a:solidFill>
              <a:latin typeface="Calibri"/>
              <a:ea typeface="Calibri"/>
              <a:cs typeface="Calibri"/>
              <a:sym typeface="Calibri"/>
            </a:endParaRPr>
          </a:p>
        </p:txBody>
      </p:sp>
      <p:sp>
        <p:nvSpPr>
          <p:cNvPr id="390" name="Google Shape;390;p8"/>
          <p:cNvSpPr/>
          <p:nvPr/>
        </p:nvSpPr>
        <p:spPr>
          <a:xfrm>
            <a:off x="600075" y="3409355"/>
            <a:ext cx="3829050" cy="1821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1000"/>
              <a:buFont typeface="Space Grotesk SemiBold"/>
              <a:buNone/>
            </a:pPr>
            <a:r>
              <a:rPr lang="en-US" sz="1000" b="1" i="0" u="none" strike="noStrike" cap="none">
                <a:solidFill>
                  <a:srgbClr val="1A365D"/>
                </a:solidFill>
                <a:latin typeface="Space Grotesk SemiBold"/>
                <a:ea typeface="Space Grotesk SemiBold"/>
                <a:cs typeface="Space Grotesk SemiBold"/>
                <a:sym typeface="Space Grotesk SemiBold"/>
              </a:rPr>
              <a:t>Adaptive Learning Loops</a:t>
            </a:r>
            <a:endParaRPr sz="1000" b="0" i="0" u="none" strike="noStrike" cap="none">
              <a:solidFill>
                <a:schemeClr val="dk1"/>
              </a:solidFill>
              <a:latin typeface="Calibri"/>
              <a:ea typeface="Calibri"/>
              <a:cs typeface="Calibri"/>
              <a:sym typeface="Calibri"/>
            </a:endParaRPr>
          </a:p>
        </p:txBody>
      </p:sp>
      <p:sp>
        <p:nvSpPr>
          <p:cNvPr id="391" name="Google Shape;391;p8"/>
          <p:cNvSpPr/>
          <p:nvPr/>
        </p:nvSpPr>
        <p:spPr>
          <a:xfrm>
            <a:off x="600075" y="3648670"/>
            <a:ext cx="3829050" cy="51435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111111"/>
              </a:buClr>
              <a:buSzPts val="850"/>
              <a:buFont typeface="Inter"/>
              <a:buNone/>
            </a:pPr>
            <a:r>
              <a:rPr lang="en-US" sz="850" b="0" i="0" u="none" strike="noStrike" cap="none">
                <a:solidFill>
                  <a:srgbClr val="111111"/>
                </a:solidFill>
                <a:latin typeface="Inter"/>
                <a:ea typeface="Inter"/>
                <a:cs typeface="Inter"/>
                <a:sym typeface="Inter"/>
              </a:rPr>
              <a:t>Real-world discrepancies provide data to retrain surrogate models, close the digital twin gap, and calibrate multi-hopper additive manufacturing parameters.</a:t>
            </a:r>
            <a:endParaRPr sz="850" b="0" i="0" u="none" strike="noStrike" cap="none">
              <a:solidFill>
                <a:schemeClr val="dk1"/>
              </a:solidFill>
              <a:latin typeface="Calibri"/>
              <a:ea typeface="Calibri"/>
              <a:cs typeface="Calibri"/>
              <a:sym typeface="Calibri"/>
            </a:endParaRPr>
          </a:p>
        </p:txBody>
      </p:sp>
      <p:sp>
        <p:nvSpPr>
          <p:cNvPr id="392" name="Google Shape;392;p8"/>
          <p:cNvSpPr/>
          <p:nvPr/>
        </p:nvSpPr>
        <p:spPr>
          <a:xfrm>
            <a:off x="4886325" y="3409355"/>
            <a:ext cx="3829050" cy="1821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1000"/>
              <a:buFont typeface="Space Grotesk SemiBold"/>
              <a:buNone/>
            </a:pPr>
            <a:r>
              <a:rPr lang="en-US" sz="1000" b="1" i="0" u="none" strike="noStrike" cap="none">
                <a:solidFill>
                  <a:srgbClr val="1A365D"/>
                </a:solidFill>
                <a:latin typeface="Space Grotesk SemiBold"/>
                <a:ea typeface="Space Grotesk SemiBold"/>
                <a:cs typeface="Space Grotesk SemiBold"/>
                <a:sym typeface="Space Grotesk SemiBold"/>
              </a:rPr>
              <a:t>Factory-Floor Integration</a:t>
            </a:r>
            <a:endParaRPr sz="1000" b="0" i="0" u="none" strike="noStrike" cap="none">
              <a:solidFill>
                <a:schemeClr val="dk1"/>
              </a:solidFill>
              <a:latin typeface="Calibri"/>
              <a:ea typeface="Calibri"/>
              <a:cs typeface="Calibri"/>
              <a:sym typeface="Calibri"/>
            </a:endParaRPr>
          </a:p>
        </p:txBody>
      </p:sp>
      <p:sp>
        <p:nvSpPr>
          <p:cNvPr id="393" name="Google Shape;393;p8"/>
          <p:cNvSpPr/>
          <p:nvPr/>
        </p:nvSpPr>
        <p:spPr>
          <a:xfrm>
            <a:off x="4886325" y="3648670"/>
            <a:ext cx="3829050" cy="51435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111111"/>
              </a:buClr>
              <a:buSzPts val="850"/>
              <a:buFont typeface="Inter"/>
              <a:buNone/>
            </a:pPr>
            <a:r>
              <a:rPr lang="en-US" sz="850" b="0" i="0" u="none" strike="noStrike" cap="none">
                <a:solidFill>
                  <a:srgbClr val="111111"/>
                </a:solidFill>
                <a:latin typeface="Inter"/>
                <a:ea typeface="Inter"/>
                <a:cs typeface="Inter"/>
                <a:sym typeface="Inter"/>
              </a:rPr>
              <a:t>Upon successful TRL 4 validation, move to manufacturing subscale blade-feature coupons to establish a long-term, industry qualification and certification roadmap.</a:t>
            </a:r>
            <a:endParaRPr sz="850" b="0" i="0" u="none" strike="noStrike" cap="non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98"/>
        <p:cNvGrpSpPr/>
        <p:nvPr/>
      </p:nvGrpSpPr>
      <p:grpSpPr>
        <a:xfrm>
          <a:off x="0" y="0"/>
          <a:ext cx="0" cy="0"/>
          <a:chOff x="0" y="0"/>
          <a:chExt cx="0" cy="0"/>
        </a:xfrm>
      </p:grpSpPr>
      <p:sp>
        <p:nvSpPr>
          <p:cNvPr id="399" name="Google Shape;399;p9"/>
          <p:cNvSpPr/>
          <p:nvPr/>
        </p:nvSpPr>
        <p:spPr>
          <a:xfrm>
            <a:off x="0" y="0"/>
            <a:ext cx="9144000" cy="1143000"/>
          </a:xfrm>
          <a:prstGeom prst="rect">
            <a:avLst/>
          </a:prstGeom>
          <a:solidFill>
            <a:srgbClr val="F8FA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00" name="Google Shape;400;p9"/>
          <p:cNvSpPr/>
          <p:nvPr/>
        </p:nvSpPr>
        <p:spPr>
          <a:xfrm>
            <a:off x="428625" y="381000"/>
            <a:ext cx="8286900" cy="381000"/>
          </a:xfrm>
          <a:prstGeom prst="rect">
            <a:avLst/>
          </a:prstGeom>
          <a:solidFill>
            <a:srgbClr val="000000">
              <a:alpha val="0"/>
            </a:srgbClr>
          </a:solidFill>
          <a:ln>
            <a:noFill/>
          </a:ln>
        </p:spPr>
        <p:txBody>
          <a:bodyPr spcFirstLastPara="1" wrap="square" lIns="0" tIns="0" rIns="0" bIns="0" anchor="ctr" anchorCtr="0">
            <a:spAutoFit/>
          </a:bodyPr>
          <a:lstStyle/>
          <a:p>
            <a:pPr marL="0" lvl="0" indent="0" algn="l" rtl="0">
              <a:spcBef>
                <a:spcPts val="0"/>
              </a:spcBef>
              <a:spcAft>
                <a:spcPts val="0"/>
              </a:spcAft>
              <a:buNone/>
            </a:pPr>
            <a:r>
              <a:rPr lang="en-US" sz="2400" b="1">
                <a:solidFill>
                  <a:srgbClr val="1A365D"/>
                </a:solidFill>
                <a:latin typeface="Space Grotesk"/>
                <a:ea typeface="Space Grotesk"/>
                <a:cs typeface="Space Grotesk"/>
                <a:sym typeface="Space Grotesk"/>
              </a:rPr>
              <a:t>ECONOMIC VALUE &amp; OPERATING SAVINGS LEDGER</a:t>
            </a:r>
            <a:endParaRPr sz="2400" b="1">
              <a:solidFill>
                <a:srgbClr val="1A365D"/>
              </a:solidFill>
              <a:latin typeface="Space Grotesk"/>
              <a:ea typeface="Space Grotesk"/>
              <a:cs typeface="Space Grotesk"/>
              <a:sym typeface="Space Grotesk"/>
            </a:endParaRPr>
          </a:p>
        </p:txBody>
      </p:sp>
      <p:sp>
        <p:nvSpPr>
          <p:cNvPr id="401" name="Google Shape;401;p9"/>
          <p:cNvSpPr/>
          <p:nvPr/>
        </p:nvSpPr>
        <p:spPr>
          <a:xfrm>
            <a:off x="428625" y="762000"/>
            <a:ext cx="8286900" cy="238200"/>
          </a:xfrm>
          <a:prstGeom prst="rect">
            <a:avLst/>
          </a:prstGeom>
          <a:solidFill>
            <a:srgbClr val="000000">
              <a:alpha val="0"/>
            </a:srgbClr>
          </a:solidFill>
          <a:ln>
            <a:noFill/>
          </a:ln>
        </p:spPr>
        <p:txBody>
          <a:bodyPr spcFirstLastPara="1" wrap="square" lIns="0" tIns="0" rIns="0" bIns="0" anchor="t" anchorCtr="0">
            <a:spAutoFit/>
          </a:bodyPr>
          <a:lstStyle/>
          <a:p>
            <a:pPr marL="0" lvl="0" indent="0" algn="l" rtl="0">
              <a:spcBef>
                <a:spcPts val="0"/>
              </a:spcBef>
              <a:spcAft>
                <a:spcPts val="0"/>
              </a:spcAft>
              <a:buNone/>
            </a:pPr>
            <a:r>
              <a:rPr lang="en-US" sz="1200" b="0">
                <a:solidFill>
                  <a:srgbClr val="2BDEFD"/>
                </a:solidFill>
                <a:latin typeface="Space Grotesk SemiBold"/>
                <a:ea typeface="Space Grotesk SemiBold"/>
                <a:cs typeface="Space Grotesk SemiBold"/>
                <a:sym typeface="Space Grotesk SemiBold"/>
              </a:rPr>
              <a:t>Quantified ROI: Forging Die Upgrades, EV Motor Materials &amp; ESG Compliance</a:t>
            </a:r>
            <a:endParaRPr sz="1200" b="0">
              <a:solidFill>
                <a:srgbClr val="2BDEFD"/>
              </a:solidFill>
              <a:latin typeface="Space Grotesk SemiBold"/>
              <a:ea typeface="Space Grotesk SemiBold"/>
              <a:cs typeface="Space Grotesk SemiBold"/>
              <a:sym typeface="Space Grotesk SemiBold"/>
            </a:endParaRPr>
          </a:p>
        </p:txBody>
      </p:sp>
      <p:grpSp>
        <p:nvGrpSpPr>
          <p:cNvPr id="402" name="Google Shape;402;p9"/>
          <p:cNvGrpSpPr/>
          <p:nvPr/>
        </p:nvGrpSpPr>
        <p:grpSpPr>
          <a:xfrm>
            <a:off x="428625" y="1285875"/>
            <a:ext cx="8286825" cy="714300"/>
            <a:chOff x="428625" y="1285875"/>
            <a:chExt cx="8286825" cy="714300"/>
          </a:xfrm>
        </p:grpSpPr>
        <p:sp>
          <p:nvSpPr>
            <p:cNvPr id="403" name="Google Shape;403;p9"/>
            <p:cNvSpPr/>
            <p:nvPr/>
          </p:nvSpPr>
          <p:spPr>
            <a:xfrm>
              <a:off x="428625" y="1285875"/>
              <a:ext cx="4048200" cy="714300"/>
            </a:xfrm>
            <a:prstGeom prst="roundRect">
              <a:avLst>
                <a:gd name="adj" fmla="val 10666"/>
              </a:avLst>
            </a:prstGeom>
            <a:solidFill>
              <a:srgbClr val="F1F5F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04" name="Google Shape;404;p9"/>
            <p:cNvSpPr txBox="1"/>
            <p:nvPr/>
          </p:nvSpPr>
          <p:spPr>
            <a:xfrm>
              <a:off x="571500" y="1381125"/>
              <a:ext cx="3762300" cy="523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000" b="1">
                  <a:solidFill>
                    <a:srgbClr val="1A365D"/>
                  </a:solidFill>
                  <a:latin typeface="Space Grotesk"/>
                  <a:ea typeface="Space Grotesk"/>
                  <a:cs typeface="Space Grotesk"/>
                  <a:sym typeface="Space Grotesk"/>
                </a:rPr>
                <a:t>Parasitic Air Reductions</a:t>
              </a:r>
              <a:endParaRPr sz="1000" b="1">
                <a:solidFill>
                  <a:srgbClr val="1A365D"/>
                </a:solidFill>
                <a:latin typeface="Space Grotesk"/>
                <a:ea typeface="Space Grotesk"/>
                <a:cs typeface="Space Grotesk"/>
                <a:sym typeface="Space Grotesk"/>
              </a:endParaRPr>
            </a:p>
            <a:p>
              <a:pPr marL="0" lvl="0" indent="0" algn="l" rtl="0">
                <a:spcBef>
                  <a:spcPts val="300"/>
                </a:spcBef>
                <a:spcAft>
                  <a:spcPts val="0"/>
                </a:spcAft>
                <a:buNone/>
              </a:pPr>
              <a:r>
                <a:rPr lang="en-US" sz="850">
                  <a:solidFill>
                    <a:srgbClr val="475569"/>
                  </a:solidFill>
                  <a:latin typeface="Inter"/>
                  <a:ea typeface="Inter"/>
                  <a:cs typeface="Inter"/>
                  <a:sym typeface="Inter"/>
                </a:rPr>
                <a:t>11-layer insulation matrix drops substrate temperatures by 150K-200K, cutting reliance on compressor parasitic bleed air by </a:t>
              </a:r>
              <a:r>
                <a:rPr lang="en-US" sz="850" b="1">
                  <a:solidFill>
                    <a:srgbClr val="1A365D"/>
                  </a:solidFill>
                  <a:latin typeface="Inter"/>
                  <a:ea typeface="Inter"/>
                  <a:cs typeface="Inter"/>
                  <a:sym typeface="Inter"/>
                </a:rPr>
                <a:t>15%</a:t>
              </a:r>
              <a:r>
                <a:rPr lang="en-US" sz="850">
                  <a:solidFill>
                    <a:srgbClr val="475569"/>
                  </a:solidFill>
                  <a:latin typeface="Inter"/>
                  <a:ea typeface="Inter"/>
                  <a:cs typeface="Inter"/>
                  <a:sym typeface="Inter"/>
                </a:rPr>
                <a:t>.</a:t>
              </a:r>
              <a:endParaRPr sz="850">
                <a:solidFill>
                  <a:srgbClr val="475569"/>
                </a:solidFill>
                <a:latin typeface="Inter"/>
                <a:ea typeface="Inter"/>
                <a:cs typeface="Inter"/>
                <a:sym typeface="Inter"/>
              </a:endParaRPr>
            </a:p>
          </p:txBody>
        </p:sp>
        <p:sp>
          <p:nvSpPr>
            <p:cNvPr id="405" name="Google Shape;405;p9"/>
            <p:cNvSpPr/>
            <p:nvPr/>
          </p:nvSpPr>
          <p:spPr>
            <a:xfrm>
              <a:off x="4667250" y="1285875"/>
              <a:ext cx="4048200" cy="714300"/>
            </a:xfrm>
            <a:prstGeom prst="roundRect">
              <a:avLst>
                <a:gd name="adj" fmla="val 10666"/>
              </a:avLst>
            </a:prstGeom>
            <a:solidFill>
              <a:srgbClr val="F1F5F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06" name="Google Shape;406;p9"/>
            <p:cNvSpPr txBox="1"/>
            <p:nvPr/>
          </p:nvSpPr>
          <p:spPr>
            <a:xfrm>
              <a:off x="4810125" y="1381125"/>
              <a:ext cx="3762300" cy="523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000" b="1">
                  <a:solidFill>
                    <a:srgbClr val="1A365D"/>
                  </a:solidFill>
                  <a:latin typeface="Space Grotesk"/>
                  <a:ea typeface="Space Grotesk"/>
                  <a:cs typeface="Space Grotesk"/>
                  <a:sym typeface="Space Grotesk"/>
                </a:rPr>
                <a:t>Annual Volumetric Yield</a:t>
              </a:r>
              <a:endParaRPr sz="1000" b="1">
                <a:solidFill>
                  <a:srgbClr val="1A365D"/>
                </a:solidFill>
                <a:latin typeface="Space Grotesk"/>
                <a:ea typeface="Space Grotesk"/>
                <a:cs typeface="Space Grotesk"/>
                <a:sym typeface="Space Grotesk"/>
              </a:endParaRPr>
            </a:p>
            <a:p>
              <a:pPr marL="0" lvl="0" indent="0" algn="l" rtl="0">
                <a:spcBef>
                  <a:spcPts val="300"/>
                </a:spcBef>
                <a:spcAft>
                  <a:spcPts val="0"/>
                </a:spcAft>
                <a:buNone/>
              </a:pPr>
              <a:r>
                <a:rPr lang="en-US" sz="850">
                  <a:solidFill>
                    <a:srgbClr val="475569"/>
                  </a:solidFill>
                  <a:latin typeface="Inter"/>
                  <a:ea typeface="Inter"/>
                  <a:cs typeface="Inter"/>
                  <a:sym typeface="Inter"/>
                </a:rPr>
                <a:t>For a standard narrowbody (3,000 hr/yr), our platform saves </a:t>
              </a:r>
              <a:r>
                <a:rPr lang="en-US" sz="850" b="1">
                  <a:solidFill>
                    <a:srgbClr val="1A365D"/>
                  </a:solidFill>
                  <a:latin typeface="Inter"/>
                  <a:ea typeface="Inter"/>
                  <a:cs typeface="Inter"/>
                  <a:sym typeface="Inter"/>
                </a:rPr>
                <a:t>108 metric tons (135,000 liters)</a:t>
              </a:r>
              <a:r>
                <a:rPr lang="en-US" sz="850">
                  <a:solidFill>
                    <a:srgbClr val="475569"/>
                  </a:solidFill>
                  <a:latin typeface="Inter"/>
                  <a:ea typeface="Inter"/>
                  <a:cs typeface="Inter"/>
                  <a:sym typeface="Inter"/>
                </a:rPr>
                <a:t> of Jet A-1 fuel per aircraft annually.</a:t>
              </a:r>
              <a:endParaRPr sz="850">
                <a:solidFill>
                  <a:srgbClr val="475569"/>
                </a:solidFill>
                <a:latin typeface="Inter"/>
                <a:ea typeface="Inter"/>
                <a:cs typeface="Inter"/>
                <a:sym typeface="Inter"/>
              </a:endParaRPr>
            </a:p>
          </p:txBody>
        </p:sp>
      </p:grpSp>
      <p:sp>
        <p:nvSpPr>
          <p:cNvPr id="407" name="Google Shape;407;p9"/>
          <p:cNvSpPr/>
          <p:nvPr/>
        </p:nvSpPr>
        <p:spPr>
          <a:xfrm>
            <a:off x="428625" y="2143125"/>
            <a:ext cx="8286900" cy="381000"/>
          </a:xfrm>
          <a:prstGeom prst="rect">
            <a:avLst/>
          </a:prstGeom>
          <a:solidFill>
            <a:srgbClr val="1A365D"/>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08" name="Google Shape;408;p9"/>
          <p:cNvSpPr/>
          <p:nvPr/>
        </p:nvSpPr>
        <p:spPr>
          <a:xfrm>
            <a:off x="428625" y="2143125"/>
            <a:ext cx="1905000" cy="381000"/>
          </a:xfrm>
          <a:prstGeom prst="rect">
            <a:avLst/>
          </a:prstGeom>
          <a:solidFill>
            <a:srgbClr val="000000">
              <a:alpha val="0"/>
            </a:srgbClr>
          </a:solidFill>
          <a:ln>
            <a:noFill/>
          </a:ln>
        </p:spPr>
        <p:txBody>
          <a:bodyPr spcFirstLastPara="1" wrap="square" lIns="142875" tIns="0" rIns="0" bIns="0" anchor="ctr" anchorCtr="0">
            <a:spAutoFit/>
          </a:bodyPr>
          <a:lstStyle/>
          <a:p>
            <a:pPr marL="0" lvl="0" indent="0" algn="l" rtl="0">
              <a:spcBef>
                <a:spcPts val="0"/>
              </a:spcBef>
              <a:spcAft>
                <a:spcPts val="0"/>
              </a:spcAft>
              <a:buNone/>
            </a:pPr>
            <a:r>
              <a:rPr lang="en-US" sz="800" b="0">
                <a:solidFill>
                  <a:srgbClr val="FFFFFF"/>
                </a:solidFill>
                <a:latin typeface="Space Grotesk SemiBold"/>
                <a:ea typeface="Space Grotesk SemiBold"/>
                <a:cs typeface="Space Grotesk SemiBold"/>
                <a:sym typeface="Space Grotesk SemiBold"/>
              </a:rPr>
              <a:t>Assessment Parameter</a:t>
            </a:r>
            <a:endParaRPr sz="800" b="0">
              <a:solidFill>
                <a:srgbClr val="FFFFFF"/>
              </a:solidFill>
              <a:latin typeface="Space Grotesk SemiBold"/>
              <a:ea typeface="Space Grotesk SemiBold"/>
              <a:cs typeface="Space Grotesk SemiBold"/>
              <a:sym typeface="Space Grotesk SemiBold"/>
            </a:endParaRPr>
          </a:p>
        </p:txBody>
      </p:sp>
      <p:sp>
        <p:nvSpPr>
          <p:cNvPr id="409" name="Google Shape;409;p9"/>
          <p:cNvSpPr/>
          <p:nvPr/>
        </p:nvSpPr>
        <p:spPr>
          <a:xfrm>
            <a:off x="2333625" y="2143125"/>
            <a:ext cx="2667000" cy="381000"/>
          </a:xfrm>
          <a:prstGeom prst="rect">
            <a:avLst/>
          </a:prstGeom>
          <a:solidFill>
            <a:srgbClr val="000000">
              <a:alpha val="0"/>
            </a:srgbClr>
          </a:solidFill>
          <a:ln>
            <a:noFill/>
          </a:ln>
        </p:spPr>
        <p:txBody>
          <a:bodyPr spcFirstLastPara="1" wrap="square" lIns="95250" tIns="0" rIns="0" bIns="0" anchor="ctr" anchorCtr="0">
            <a:spAutoFit/>
          </a:bodyPr>
          <a:lstStyle/>
          <a:p>
            <a:pPr marL="0" lvl="0" indent="0" algn="l" rtl="0">
              <a:spcBef>
                <a:spcPts val="0"/>
              </a:spcBef>
              <a:spcAft>
                <a:spcPts val="0"/>
              </a:spcAft>
              <a:buNone/>
            </a:pPr>
            <a:r>
              <a:rPr lang="en-US" sz="800" b="0">
                <a:solidFill>
                  <a:srgbClr val="FFFFFF"/>
                </a:solidFill>
                <a:latin typeface="Space Grotesk SemiBold"/>
                <a:ea typeface="Space Grotesk SemiBold"/>
                <a:cs typeface="Space Grotesk SemiBold"/>
                <a:sym typeface="Space Grotesk SemiBold"/>
              </a:rPr>
              <a:t>Economic Mechanism</a:t>
            </a:r>
            <a:endParaRPr sz="800" b="0">
              <a:solidFill>
                <a:srgbClr val="FFFFFF"/>
              </a:solidFill>
              <a:latin typeface="Space Grotesk SemiBold"/>
              <a:ea typeface="Space Grotesk SemiBold"/>
              <a:cs typeface="Space Grotesk SemiBold"/>
              <a:sym typeface="Space Grotesk SemiBold"/>
            </a:endParaRPr>
          </a:p>
        </p:txBody>
      </p:sp>
      <p:sp>
        <p:nvSpPr>
          <p:cNvPr id="410" name="Google Shape;410;p9"/>
          <p:cNvSpPr/>
          <p:nvPr/>
        </p:nvSpPr>
        <p:spPr>
          <a:xfrm>
            <a:off x="5000625" y="2143125"/>
            <a:ext cx="1809600" cy="381000"/>
          </a:xfrm>
          <a:prstGeom prst="rect">
            <a:avLst/>
          </a:prstGeom>
          <a:solidFill>
            <a:srgbClr val="000000">
              <a:alpha val="0"/>
            </a:srgbClr>
          </a:solidFill>
          <a:ln>
            <a:noFill/>
          </a:ln>
        </p:spPr>
        <p:txBody>
          <a:bodyPr spcFirstLastPara="1" wrap="square" lIns="95250" tIns="0" rIns="0" bIns="0" anchor="ctr" anchorCtr="0">
            <a:spAutoFit/>
          </a:bodyPr>
          <a:lstStyle/>
          <a:p>
            <a:pPr marL="0" lvl="0" indent="0" algn="l" rtl="0">
              <a:spcBef>
                <a:spcPts val="0"/>
              </a:spcBef>
              <a:spcAft>
                <a:spcPts val="0"/>
              </a:spcAft>
              <a:buNone/>
            </a:pPr>
            <a:r>
              <a:rPr lang="en-US" sz="800" b="0">
                <a:solidFill>
                  <a:srgbClr val="FFFFFF"/>
                </a:solidFill>
                <a:latin typeface="Space Grotesk SemiBold"/>
                <a:ea typeface="Space Grotesk SemiBold"/>
                <a:cs typeface="Space Grotesk SemiBold"/>
                <a:sym typeface="Space Grotesk SemiBold"/>
              </a:rPr>
              <a:t>Crystal Paradigm Value</a:t>
            </a:r>
            <a:endParaRPr sz="800" b="0">
              <a:solidFill>
                <a:srgbClr val="FFFFFF"/>
              </a:solidFill>
              <a:latin typeface="Space Grotesk SemiBold"/>
              <a:ea typeface="Space Grotesk SemiBold"/>
              <a:cs typeface="Space Grotesk SemiBold"/>
              <a:sym typeface="Space Grotesk SemiBold"/>
            </a:endParaRPr>
          </a:p>
        </p:txBody>
      </p:sp>
      <p:sp>
        <p:nvSpPr>
          <p:cNvPr id="411" name="Google Shape;411;p9"/>
          <p:cNvSpPr/>
          <p:nvPr/>
        </p:nvSpPr>
        <p:spPr>
          <a:xfrm>
            <a:off x="6810375" y="2143125"/>
            <a:ext cx="1905000" cy="381000"/>
          </a:xfrm>
          <a:prstGeom prst="rect">
            <a:avLst/>
          </a:prstGeom>
          <a:solidFill>
            <a:srgbClr val="000000">
              <a:alpha val="0"/>
            </a:srgbClr>
          </a:solidFill>
          <a:ln>
            <a:noFill/>
          </a:ln>
        </p:spPr>
        <p:txBody>
          <a:bodyPr spcFirstLastPara="1" wrap="square" lIns="0" tIns="0" rIns="142875" bIns="0" anchor="ctr" anchorCtr="0">
            <a:spAutoFit/>
          </a:bodyPr>
          <a:lstStyle/>
          <a:p>
            <a:pPr marL="0" lvl="0" indent="0" algn="r" rtl="0">
              <a:spcBef>
                <a:spcPts val="0"/>
              </a:spcBef>
              <a:spcAft>
                <a:spcPts val="0"/>
              </a:spcAft>
              <a:buNone/>
            </a:pPr>
            <a:r>
              <a:rPr lang="en-US" sz="800" b="0">
                <a:solidFill>
                  <a:srgbClr val="FFFFFF"/>
                </a:solidFill>
                <a:latin typeface="Space Grotesk SemiBold"/>
                <a:ea typeface="Space Grotesk SemiBold"/>
                <a:cs typeface="Space Grotesk SemiBold"/>
                <a:sym typeface="Space Grotesk SemiBold"/>
              </a:rPr>
              <a:t>Sona Comstar Benefit</a:t>
            </a:r>
            <a:endParaRPr sz="800" b="0">
              <a:solidFill>
                <a:srgbClr val="FFFFFF"/>
              </a:solidFill>
              <a:latin typeface="Space Grotesk SemiBold"/>
              <a:ea typeface="Space Grotesk SemiBold"/>
              <a:cs typeface="Space Grotesk SemiBold"/>
              <a:sym typeface="Space Grotesk SemiBold"/>
            </a:endParaRPr>
          </a:p>
        </p:txBody>
      </p:sp>
      <p:sp>
        <p:nvSpPr>
          <p:cNvPr id="412" name="Google Shape;412;p9"/>
          <p:cNvSpPr/>
          <p:nvPr/>
        </p:nvSpPr>
        <p:spPr>
          <a:xfrm>
            <a:off x="428625" y="2524125"/>
            <a:ext cx="1905000" cy="333300"/>
          </a:xfrm>
          <a:prstGeom prst="rect">
            <a:avLst/>
          </a:prstGeom>
          <a:solidFill>
            <a:srgbClr val="000000">
              <a:alpha val="0"/>
            </a:srgbClr>
          </a:solidFill>
          <a:ln>
            <a:noFill/>
          </a:ln>
        </p:spPr>
        <p:txBody>
          <a:bodyPr spcFirstLastPara="1" wrap="square" lIns="142875" tIns="0" rIns="0" bIns="0" anchor="ctr" anchorCtr="0">
            <a:spAutoFit/>
          </a:bodyPr>
          <a:lstStyle/>
          <a:p>
            <a:pPr marL="0" lvl="0" indent="0" algn="l" rtl="0">
              <a:spcBef>
                <a:spcPts val="0"/>
              </a:spcBef>
              <a:spcAft>
                <a:spcPts val="0"/>
              </a:spcAft>
              <a:buNone/>
            </a:pPr>
            <a:r>
              <a:rPr lang="en-US" sz="850" b="0">
                <a:solidFill>
                  <a:srgbClr val="1A365D"/>
                </a:solidFill>
                <a:latin typeface="Inter SemiBold"/>
                <a:ea typeface="Inter SemiBold"/>
                <a:cs typeface="Inter SemiBold"/>
                <a:sym typeface="Inter SemiBold"/>
              </a:rPr>
              <a:t>H13 Die Cost Reduction</a:t>
            </a:r>
            <a:endParaRPr sz="850" b="0">
              <a:solidFill>
                <a:srgbClr val="1A365D"/>
              </a:solidFill>
              <a:latin typeface="Inter SemiBold"/>
              <a:ea typeface="Inter SemiBold"/>
              <a:cs typeface="Inter SemiBold"/>
              <a:sym typeface="Inter SemiBold"/>
            </a:endParaRPr>
          </a:p>
        </p:txBody>
      </p:sp>
      <p:sp>
        <p:nvSpPr>
          <p:cNvPr id="413" name="Google Shape;413;p9"/>
          <p:cNvSpPr/>
          <p:nvPr/>
        </p:nvSpPr>
        <p:spPr>
          <a:xfrm>
            <a:off x="2333625" y="2524125"/>
            <a:ext cx="2667000" cy="333300"/>
          </a:xfrm>
          <a:prstGeom prst="rect">
            <a:avLst/>
          </a:prstGeom>
          <a:solidFill>
            <a:srgbClr val="000000">
              <a:alpha val="0"/>
            </a:srgbClr>
          </a:solidFill>
          <a:ln>
            <a:noFill/>
          </a:ln>
        </p:spPr>
        <p:txBody>
          <a:bodyPr spcFirstLastPara="1" wrap="square" lIns="95250" tIns="0" rIns="0" bIns="0" anchor="ctr" anchorCtr="0">
            <a:spAutoFit/>
          </a:bodyPr>
          <a:lstStyle/>
          <a:p>
            <a:pPr marL="0" lvl="0" indent="0" algn="l" rtl="0">
              <a:spcBef>
                <a:spcPts val="0"/>
              </a:spcBef>
              <a:spcAft>
                <a:spcPts val="0"/>
              </a:spcAft>
              <a:buNone/>
            </a:pPr>
            <a:r>
              <a:rPr lang="en-US" sz="850">
                <a:solidFill>
                  <a:srgbClr val="475569"/>
                </a:solidFill>
                <a:latin typeface="Inter"/>
                <a:ea typeface="Inter"/>
                <a:cs typeface="Inter"/>
                <a:sym typeface="Inter"/>
              </a:rPr>
              <a:t>Ta-W-Cr-V-Ti HEA; ~$170/kg vs $280/kg Hf-alloy</a:t>
            </a:r>
            <a:endParaRPr sz="850">
              <a:solidFill>
                <a:srgbClr val="475569"/>
              </a:solidFill>
              <a:latin typeface="Inter"/>
              <a:ea typeface="Inter"/>
              <a:cs typeface="Inter"/>
              <a:sym typeface="Inter"/>
            </a:endParaRPr>
          </a:p>
        </p:txBody>
      </p:sp>
      <p:sp>
        <p:nvSpPr>
          <p:cNvPr id="414" name="Google Shape;414;p9"/>
          <p:cNvSpPr/>
          <p:nvPr/>
        </p:nvSpPr>
        <p:spPr>
          <a:xfrm>
            <a:off x="5000625" y="2524125"/>
            <a:ext cx="1809600" cy="333300"/>
          </a:xfrm>
          <a:prstGeom prst="rect">
            <a:avLst/>
          </a:prstGeom>
          <a:solidFill>
            <a:srgbClr val="000000">
              <a:alpha val="0"/>
            </a:srgbClr>
          </a:solidFill>
          <a:ln>
            <a:noFill/>
          </a:ln>
        </p:spPr>
        <p:txBody>
          <a:bodyPr spcFirstLastPara="1" wrap="square" lIns="95250" tIns="0" rIns="0" bIns="0" anchor="ctr" anchorCtr="0">
            <a:spAutoFit/>
          </a:bodyPr>
          <a:lstStyle/>
          <a:p>
            <a:pPr marL="0" lvl="0" indent="0" algn="l" rtl="0">
              <a:spcBef>
                <a:spcPts val="0"/>
              </a:spcBef>
              <a:spcAft>
                <a:spcPts val="0"/>
              </a:spcAft>
              <a:buNone/>
            </a:pPr>
            <a:r>
              <a:rPr lang="en-US" sz="850">
                <a:solidFill>
                  <a:srgbClr val="475569"/>
                </a:solidFill>
                <a:latin typeface="Inter"/>
                <a:ea typeface="Inter"/>
                <a:cs typeface="Inter"/>
                <a:sym typeface="Inter"/>
              </a:rPr>
              <a:t>15–20% alloy material cost drop</a:t>
            </a:r>
            <a:endParaRPr sz="850">
              <a:solidFill>
                <a:srgbClr val="475569"/>
              </a:solidFill>
              <a:latin typeface="Inter"/>
              <a:ea typeface="Inter"/>
              <a:cs typeface="Inter"/>
              <a:sym typeface="Inter"/>
            </a:endParaRPr>
          </a:p>
        </p:txBody>
      </p:sp>
      <p:sp>
        <p:nvSpPr>
          <p:cNvPr id="415" name="Google Shape;415;p9"/>
          <p:cNvSpPr/>
          <p:nvPr/>
        </p:nvSpPr>
        <p:spPr>
          <a:xfrm>
            <a:off x="6810375" y="2524125"/>
            <a:ext cx="1905000" cy="333300"/>
          </a:xfrm>
          <a:prstGeom prst="rect">
            <a:avLst/>
          </a:prstGeom>
          <a:solidFill>
            <a:srgbClr val="000000">
              <a:alpha val="0"/>
            </a:srgbClr>
          </a:solidFill>
          <a:ln>
            <a:noFill/>
          </a:ln>
        </p:spPr>
        <p:txBody>
          <a:bodyPr spcFirstLastPara="1" wrap="square" lIns="0" tIns="0" rIns="142875" bIns="0" anchor="ctr" anchorCtr="0">
            <a:spAutoFit/>
          </a:bodyPr>
          <a:lstStyle/>
          <a:p>
            <a:pPr marL="0" lvl="0" indent="0" algn="r" rtl="0">
              <a:spcBef>
                <a:spcPts val="0"/>
              </a:spcBef>
              <a:spcAft>
                <a:spcPts val="0"/>
              </a:spcAft>
              <a:buNone/>
            </a:pPr>
            <a:r>
              <a:rPr lang="en-US" sz="850" b="1">
                <a:solidFill>
                  <a:srgbClr val="059669"/>
                </a:solidFill>
                <a:latin typeface="Inter"/>
                <a:ea typeface="Inter"/>
                <a:cs typeface="Inter"/>
                <a:sym typeface="Inter"/>
              </a:rPr>
              <a:t>₹2–4 Cr/Year saved across 9 plants</a:t>
            </a:r>
            <a:endParaRPr sz="850" b="1">
              <a:solidFill>
                <a:srgbClr val="059669"/>
              </a:solidFill>
              <a:latin typeface="Inter"/>
              <a:ea typeface="Inter"/>
              <a:cs typeface="Inter"/>
              <a:sym typeface="Inter"/>
            </a:endParaRPr>
          </a:p>
        </p:txBody>
      </p:sp>
      <p:sp>
        <p:nvSpPr>
          <p:cNvPr id="416" name="Google Shape;416;p9"/>
          <p:cNvSpPr/>
          <p:nvPr/>
        </p:nvSpPr>
        <p:spPr>
          <a:xfrm>
            <a:off x="428625" y="2857500"/>
            <a:ext cx="8286900" cy="333300"/>
          </a:xfrm>
          <a:prstGeom prst="rect">
            <a:avLst/>
          </a:prstGeom>
          <a:solidFill>
            <a:srgbClr val="F8FA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17" name="Google Shape;417;p9"/>
          <p:cNvSpPr/>
          <p:nvPr/>
        </p:nvSpPr>
        <p:spPr>
          <a:xfrm>
            <a:off x="428625" y="2857500"/>
            <a:ext cx="1905000" cy="333300"/>
          </a:xfrm>
          <a:prstGeom prst="rect">
            <a:avLst/>
          </a:prstGeom>
          <a:solidFill>
            <a:srgbClr val="000000">
              <a:alpha val="0"/>
            </a:srgbClr>
          </a:solidFill>
          <a:ln>
            <a:noFill/>
          </a:ln>
        </p:spPr>
        <p:txBody>
          <a:bodyPr spcFirstLastPara="1" wrap="square" lIns="142875" tIns="0" rIns="0" bIns="0" anchor="ctr" anchorCtr="0">
            <a:spAutoFit/>
          </a:bodyPr>
          <a:lstStyle/>
          <a:p>
            <a:pPr marL="0" lvl="0" indent="0" algn="l" rtl="0">
              <a:spcBef>
                <a:spcPts val="0"/>
              </a:spcBef>
              <a:spcAft>
                <a:spcPts val="0"/>
              </a:spcAft>
              <a:buNone/>
            </a:pPr>
            <a:r>
              <a:rPr lang="en-US" sz="850" b="0">
                <a:solidFill>
                  <a:srgbClr val="1A365D"/>
                </a:solidFill>
                <a:latin typeface="Inter SemiBold"/>
                <a:ea typeface="Inter SemiBold"/>
                <a:cs typeface="Inter SemiBold"/>
                <a:sym typeface="Inter SemiBold"/>
              </a:rPr>
              <a:t>Forging Die Lifespan Extension</a:t>
            </a:r>
            <a:endParaRPr sz="850" b="0">
              <a:solidFill>
                <a:srgbClr val="1A365D"/>
              </a:solidFill>
              <a:latin typeface="Inter SemiBold"/>
              <a:ea typeface="Inter SemiBold"/>
              <a:cs typeface="Inter SemiBold"/>
              <a:sym typeface="Inter SemiBold"/>
            </a:endParaRPr>
          </a:p>
        </p:txBody>
      </p:sp>
      <p:sp>
        <p:nvSpPr>
          <p:cNvPr id="418" name="Google Shape;418;p9"/>
          <p:cNvSpPr/>
          <p:nvPr/>
        </p:nvSpPr>
        <p:spPr>
          <a:xfrm>
            <a:off x="2333625" y="2857500"/>
            <a:ext cx="2667000" cy="333300"/>
          </a:xfrm>
          <a:prstGeom prst="rect">
            <a:avLst/>
          </a:prstGeom>
          <a:solidFill>
            <a:srgbClr val="000000">
              <a:alpha val="0"/>
            </a:srgbClr>
          </a:solidFill>
          <a:ln>
            <a:noFill/>
          </a:ln>
        </p:spPr>
        <p:txBody>
          <a:bodyPr spcFirstLastPara="1" wrap="square" lIns="95250" tIns="0" rIns="0" bIns="0" anchor="ctr" anchorCtr="0">
            <a:spAutoFit/>
          </a:bodyPr>
          <a:lstStyle/>
          <a:p>
            <a:pPr marL="0" lvl="0" indent="0" algn="l" rtl="0">
              <a:spcBef>
                <a:spcPts val="0"/>
              </a:spcBef>
              <a:spcAft>
                <a:spcPts val="0"/>
              </a:spcAft>
              <a:buNone/>
            </a:pPr>
            <a:r>
              <a:rPr lang="en-US" sz="850">
                <a:solidFill>
                  <a:srgbClr val="475569"/>
                </a:solidFill>
                <a:latin typeface="Inter"/>
                <a:ea typeface="Inter"/>
                <a:cs typeface="Inter"/>
                <a:sym typeface="Inter"/>
              </a:rPr>
              <a:t>Candidate C: &gt;917.7 MPa at 1,200°C</a:t>
            </a:r>
            <a:endParaRPr sz="850">
              <a:solidFill>
                <a:srgbClr val="475569"/>
              </a:solidFill>
              <a:latin typeface="Inter"/>
              <a:ea typeface="Inter"/>
              <a:cs typeface="Inter"/>
              <a:sym typeface="Inter"/>
            </a:endParaRPr>
          </a:p>
        </p:txBody>
      </p:sp>
      <p:sp>
        <p:nvSpPr>
          <p:cNvPr id="419" name="Google Shape;419;p9"/>
          <p:cNvSpPr/>
          <p:nvPr/>
        </p:nvSpPr>
        <p:spPr>
          <a:xfrm>
            <a:off x="5000625" y="2857500"/>
            <a:ext cx="1809600" cy="333300"/>
          </a:xfrm>
          <a:prstGeom prst="rect">
            <a:avLst/>
          </a:prstGeom>
          <a:solidFill>
            <a:srgbClr val="000000">
              <a:alpha val="0"/>
            </a:srgbClr>
          </a:solidFill>
          <a:ln>
            <a:noFill/>
          </a:ln>
        </p:spPr>
        <p:txBody>
          <a:bodyPr spcFirstLastPara="1" wrap="square" lIns="95250" tIns="0" rIns="0" bIns="0" anchor="ctr" anchorCtr="0">
            <a:spAutoFit/>
          </a:bodyPr>
          <a:lstStyle/>
          <a:p>
            <a:pPr marL="0" lvl="0" indent="0" algn="l" rtl="0">
              <a:spcBef>
                <a:spcPts val="0"/>
              </a:spcBef>
              <a:spcAft>
                <a:spcPts val="0"/>
              </a:spcAft>
              <a:buNone/>
            </a:pPr>
            <a:r>
              <a:rPr lang="en-US" sz="850">
                <a:solidFill>
                  <a:srgbClr val="475569"/>
                </a:solidFill>
                <a:latin typeface="Inter"/>
                <a:ea typeface="Inter"/>
                <a:cs typeface="Inter"/>
                <a:sym typeface="Inter"/>
              </a:rPr>
              <a:t>3× longer tooling life</a:t>
            </a:r>
            <a:endParaRPr sz="850">
              <a:solidFill>
                <a:srgbClr val="475569"/>
              </a:solidFill>
              <a:latin typeface="Inter"/>
              <a:ea typeface="Inter"/>
              <a:cs typeface="Inter"/>
              <a:sym typeface="Inter"/>
            </a:endParaRPr>
          </a:p>
        </p:txBody>
      </p:sp>
      <p:sp>
        <p:nvSpPr>
          <p:cNvPr id="420" name="Google Shape;420;p9"/>
          <p:cNvSpPr/>
          <p:nvPr/>
        </p:nvSpPr>
        <p:spPr>
          <a:xfrm>
            <a:off x="6810375" y="2857500"/>
            <a:ext cx="1905000" cy="333300"/>
          </a:xfrm>
          <a:prstGeom prst="rect">
            <a:avLst/>
          </a:prstGeom>
          <a:solidFill>
            <a:srgbClr val="000000">
              <a:alpha val="0"/>
            </a:srgbClr>
          </a:solidFill>
          <a:ln>
            <a:noFill/>
          </a:ln>
        </p:spPr>
        <p:txBody>
          <a:bodyPr spcFirstLastPara="1" wrap="square" lIns="0" tIns="0" rIns="142875" bIns="0" anchor="ctr" anchorCtr="0">
            <a:spAutoFit/>
          </a:bodyPr>
          <a:lstStyle/>
          <a:p>
            <a:pPr marL="0" lvl="0" indent="0" algn="r" rtl="0">
              <a:spcBef>
                <a:spcPts val="0"/>
              </a:spcBef>
              <a:spcAft>
                <a:spcPts val="0"/>
              </a:spcAft>
              <a:buNone/>
            </a:pPr>
            <a:r>
              <a:rPr lang="en-US" sz="850" b="1">
                <a:solidFill>
                  <a:srgbClr val="059669"/>
                </a:solidFill>
                <a:latin typeface="Inter"/>
                <a:ea typeface="Inter"/>
                <a:cs typeface="Inter"/>
                <a:sym typeface="Inter"/>
              </a:rPr>
              <a:t>₹5–8 Cr/Year in MRO downtime savings</a:t>
            </a:r>
            <a:endParaRPr sz="850" b="1">
              <a:solidFill>
                <a:srgbClr val="059669"/>
              </a:solidFill>
              <a:latin typeface="Inter"/>
              <a:ea typeface="Inter"/>
              <a:cs typeface="Inter"/>
              <a:sym typeface="Inter"/>
            </a:endParaRPr>
          </a:p>
        </p:txBody>
      </p:sp>
      <p:sp>
        <p:nvSpPr>
          <p:cNvPr id="421" name="Google Shape;421;p9"/>
          <p:cNvSpPr/>
          <p:nvPr/>
        </p:nvSpPr>
        <p:spPr>
          <a:xfrm>
            <a:off x="428625" y="3190875"/>
            <a:ext cx="1905000" cy="333300"/>
          </a:xfrm>
          <a:prstGeom prst="rect">
            <a:avLst/>
          </a:prstGeom>
          <a:solidFill>
            <a:srgbClr val="000000">
              <a:alpha val="0"/>
            </a:srgbClr>
          </a:solidFill>
          <a:ln>
            <a:noFill/>
          </a:ln>
        </p:spPr>
        <p:txBody>
          <a:bodyPr spcFirstLastPara="1" wrap="square" lIns="142875" tIns="0" rIns="0" bIns="0" anchor="ctr" anchorCtr="0">
            <a:spAutoFit/>
          </a:bodyPr>
          <a:lstStyle/>
          <a:p>
            <a:pPr marL="0" lvl="0" indent="0" algn="l" rtl="0">
              <a:spcBef>
                <a:spcPts val="0"/>
              </a:spcBef>
              <a:spcAft>
                <a:spcPts val="0"/>
              </a:spcAft>
              <a:buNone/>
            </a:pPr>
            <a:r>
              <a:rPr lang="en-US" sz="850" b="0">
                <a:solidFill>
                  <a:srgbClr val="1A365D"/>
                </a:solidFill>
                <a:latin typeface="Inter SemiBold"/>
                <a:ea typeface="Inter SemiBold"/>
                <a:cs typeface="Inter SemiBold"/>
                <a:sym typeface="Inter SemiBold"/>
              </a:rPr>
              <a:t>EV SRM Motor Thermal Material</a:t>
            </a:r>
            <a:endParaRPr sz="850" b="0">
              <a:solidFill>
                <a:srgbClr val="1A365D"/>
              </a:solidFill>
              <a:latin typeface="Inter SemiBold"/>
              <a:ea typeface="Inter SemiBold"/>
              <a:cs typeface="Inter SemiBold"/>
              <a:sym typeface="Inter SemiBold"/>
            </a:endParaRPr>
          </a:p>
        </p:txBody>
      </p:sp>
      <p:sp>
        <p:nvSpPr>
          <p:cNvPr id="422" name="Google Shape;422;p9"/>
          <p:cNvSpPr/>
          <p:nvPr/>
        </p:nvSpPr>
        <p:spPr>
          <a:xfrm>
            <a:off x="2333625" y="3190875"/>
            <a:ext cx="2667000" cy="333300"/>
          </a:xfrm>
          <a:prstGeom prst="rect">
            <a:avLst/>
          </a:prstGeom>
          <a:solidFill>
            <a:srgbClr val="000000">
              <a:alpha val="0"/>
            </a:srgbClr>
          </a:solidFill>
          <a:ln>
            <a:noFill/>
          </a:ln>
        </p:spPr>
        <p:txBody>
          <a:bodyPr spcFirstLastPara="1" wrap="square" lIns="95250" tIns="0" rIns="0" bIns="0" anchor="ctr" anchorCtr="0">
            <a:spAutoFit/>
          </a:bodyPr>
          <a:lstStyle/>
          <a:p>
            <a:pPr marL="0" lvl="0" indent="0" algn="l" rtl="0">
              <a:spcBef>
                <a:spcPts val="0"/>
              </a:spcBef>
              <a:spcAft>
                <a:spcPts val="0"/>
              </a:spcAft>
              <a:buNone/>
            </a:pPr>
            <a:r>
              <a:rPr lang="en-US" sz="850">
                <a:solidFill>
                  <a:srgbClr val="475569"/>
                </a:solidFill>
                <a:latin typeface="Inter"/>
                <a:ea typeface="Inter"/>
                <a:cs typeface="Inter"/>
                <a:sym typeface="Inter"/>
              </a:rPr>
              <a:t>FGM shield: 15.95 MPa interface</a:t>
            </a:r>
            <a:endParaRPr sz="850">
              <a:solidFill>
                <a:srgbClr val="475569"/>
              </a:solidFill>
              <a:latin typeface="Inter"/>
              <a:ea typeface="Inter"/>
              <a:cs typeface="Inter"/>
              <a:sym typeface="Inter"/>
            </a:endParaRPr>
          </a:p>
        </p:txBody>
      </p:sp>
      <p:sp>
        <p:nvSpPr>
          <p:cNvPr id="423" name="Google Shape;423;p9"/>
          <p:cNvSpPr/>
          <p:nvPr/>
        </p:nvSpPr>
        <p:spPr>
          <a:xfrm>
            <a:off x="5000625" y="3190875"/>
            <a:ext cx="1809600" cy="333300"/>
          </a:xfrm>
          <a:prstGeom prst="rect">
            <a:avLst/>
          </a:prstGeom>
          <a:solidFill>
            <a:srgbClr val="000000">
              <a:alpha val="0"/>
            </a:srgbClr>
          </a:solidFill>
          <a:ln>
            <a:noFill/>
          </a:ln>
        </p:spPr>
        <p:txBody>
          <a:bodyPr spcFirstLastPara="1" wrap="square" lIns="95250" tIns="0" rIns="0" bIns="0" anchor="ctr" anchorCtr="0">
            <a:spAutoFit/>
          </a:bodyPr>
          <a:lstStyle/>
          <a:p>
            <a:pPr marL="0" lvl="0" indent="0" algn="l" rtl="0">
              <a:spcBef>
                <a:spcPts val="0"/>
              </a:spcBef>
              <a:spcAft>
                <a:spcPts val="0"/>
              </a:spcAft>
              <a:buNone/>
            </a:pPr>
            <a:r>
              <a:rPr lang="en-US" sz="850">
                <a:solidFill>
                  <a:srgbClr val="475569"/>
                </a:solidFill>
                <a:latin typeface="Inter"/>
                <a:ea typeface="Inter"/>
                <a:cs typeface="Inter"/>
                <a:sym typeface="Inter"/>
              </a:rPr>
              <a:t>Rare-Earth-Free SRM at scale</a:t>
            </a:r>
            <a:endParaRPr sz="850">
              <a:solidFill>
                <a:srgbClr val="475569"/>
              </a:solidFill>
              <a:latin typeface="Inter"/>
              <a:ea typeface="Inter"/>
              <a:cs typeface="Inter"/>
              <a:sym typeface="Inter"/>
            </a:endParaRPr>
          </a:p>
        </p:txBody>
      </p:sp>
      <p:sp>
        <p:nvSpPr>
          <p:cNvPr id="424" name="Google Shape;424;p9"/>
          <p:cNvSpPr/>
          <p:nvPr/>
        </p:nvSpPr>
        <p:spPr>
          <a:xfrm>
            <a:off x="6810375" y="3190875"/>
            <a:ext cx="1905000" cy="333300"/>
          </a:xfrm>
          <a:prstGeom prst="rect">
            <a:avLst/>
          </a:prstGeom>
          <a:solidFill>
            <a:srgbClr val="000000">
              <a:alpha val="0"/>
            </a:srgbClr>
          </a:solidFill>
          <a:ln>
            <a:noFill/>
          </a:ln>
        </p:spPr>
        <p:txBody>
          <a:bodyPr spcFirstLastPara="1" wrap="square" lIns="0" tIns="0" rIns="142875" bIns="0" anchor="ctr" anchorCtr="0">
            <a:spAutoFit/>
          </a:bodyPr>
          <a:lstStyle/>
          <a:p>
            <a:pPr marL="0" lvl="0" indent="0" algn="r" rtl="0">
              <a:spcBef>
                <a:spcPts val="0"/>
              </a:spcBef>
              <a:spcAft>
                <a:spcPts val="0"/>
              </a:spcAft>
              <a:buNone/>
            </a:pPr>
            <a:r>
              <a:rPr lang="en-US" sz="850" b="1">
                <a:solidFill>
                  <a:srgbClr val="059669"/>
                </a:solidFill>
                <a:latin typeface="Inter"/>
                <a:ea typeface="Inter"/>
                <a:cs typeface="Inter"/>
                <a:sym typeface="Inter"/>
              </a:rPr>
              <a:t>Eliminates ₹50–80 Cr Nd import cost</a:t>
            </a:r>
            <a:endParaRPr sz="850" b="1">
              <a:solidFill>
                <a:srgbClr val="059669"/>
              </a:solidFill>
              <a:latin typeface="Inter"/>
              <a:ea typeface="Inter"/>
              <a:cs typeface="Inter"/>
              <a:sym typeface="Inter"/>
            </a:endParaRPr>
          </a:p>
        </p:txBody>
      </p:sp>
      <p:sp>
        <p:nvSpPr>
          <p:cNvPr id="425" name="Google Shape;425;p9"/>
          <p:cNvSpPr/>
          <p:nvPr/>
        </p:nvSpPr>
        <p:spPr>
          <a:xfrm>
            <a:off x="428625" y="3524250"/>
            <a:ext cx="8286900" cy="333300"/>
          </a:xfrm>
          <a:prstGeom prst="rect">
            <a:avLst/>
          </a:prstGeom>
          <a:solidFill>
            <a:srgbClr val="F8FA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26" name="Google Shape;426;p9"/>
          <p:cNvSpPr/>
          <p:nvPr/>
        </p:nvSpPr>
        <p:spPr>
          <a:xfrm>
            <a:off x="428625" y="3524250"/>
            <a:ext cx="1905000" cy="333300"/>
          </a:xfrm>
          <a:prstGeom prst="rect">
            <a:avLst/>
          </a:prstGeom>
          <a:solidFill>
            <a:srgbClr val="000000">
              <a:alpha val="0"/>
            </a:srgbClr>
          </a:solidFill>
          <a:ln>
            <a:noFill/>
          </a:ln>
        </p:spPr>
        <p:txBody>
          <a:bodyPr spcFirstLastPara="1" wrap="square" lIns="142875" tIns="0" rIns="0" bIns="0" anchor="ctr" anchorCtr="0">
            <a:spAutoFit/>
          </a:bodyPr>
          <a:lstStyle/>
          <a:p>
            <a:pPr marL="0" lvl="0" indent="0" algn="l" rtl="0">
              <a:spcBef>
                <a:spcPts val="0"/>
              </a:spcBef>
              <a:spcAft>
                <a:spcPts val="0"/>
              </a:spcAft>
              <a:buNone/>
            </a:pPr>
            <a:r>
              <a:rPr lang="en-US" sz="850" b="0">
                <a:solidFill>
                  <a:srgbClr val="1A365D"/>
                </a:solidFill>
                <a:latin typeface="Inter SemiBold"/>
                <a:ea typeface="Inter SemiBold"/>
                <a:cs typeface="Inter SemiBold"/>
                <a:sym typeface="Inter SemiBold"/>
              </a:rPr>
              <a:t>ESG Supplier Compliance</a:t>
            </a:r>
            <a:endParaRPr sz="850" b="0">
              <a:solidFill>
                <a:srgbClr val="1A365D"/>
              </a:solidFill>
              <a:latin typeface="Inter SemiBold"/>
              <a:ea typeface="Inter SemiBold"/>
              <a:cs typeface="Inter SemiBold"/>
              <a:sym typeface="Inter SemiBold"/>
            </a:endParaRPr>
          </a:p>
        </p:txBody>
      </p:sp>
      <p:sp>
        <p:nvSpPr>
          <p:cNvPr id="427" name="Google Shape;427;p9"/>
          <p:cNvSpPr/>
          <p:nvPr/>
        </p:nvSpPr>
        <p:spPr>
          <a:xfrm>
            <a:off x="2333625" y="3524250"/>
            <a:ext cx="2667000" cy="333300"/>
          </a:xfrm>
          <a:prstGeom prst="rect">
            <a:avLst/>
          </a:prstGeom>
          <a:solidFill>
            <a:srgbClr val="000000">
              <a:alpha val="0"/>
            </a:srgbClr>
          </a:solidFill>
          <a:ln>
            <a:noFill/>
          </a:ln>
        </p:spPr>
        <p:txBody>
          <a:bodyPr spcFirstLastPara="1" wrap="square" lIns="95250" tIns="0" rIns="0" bIns="0" anchor="ctr" anchorCtr="0">
            <a:spAutoFit/>
          </a:bodyPr>
          <a:lstStyle/>
          <a:p>
            <a:pPr marL="0" lvl="0" indent="0" algn="l" rtl="0">
              <a:spcBef>
                <a:spcPts val="0"/>
              </a:spcBef>
              <a:spcAft>
                <a:spcPts val="0"/>
              </a:spcAft>
              <a:buNone/>
            </a:pPr>
            <a:r>
              <a:rPr lang="en-US" sz="850">
                <a:solidFill>
                  <a:srgbClr val="475569"/>
                </a:solidFill>
                <a:latin typeface="Inter"/>
                <a:ea typeface="Inter"/>
                <a:cs typeface="Inter"/>
                <a:sym typeface="Inter"/>
              </a:rPr>
              <a:t>Embodied Energy: 1,680 MJ/kg</a:t>
            </a:r>
            <a:endParaRPr sz="850">
              <a:solidFill>
                <a:srgbClr val="475569"/>
              </a:solidFill>
              <a:latin typeface="Inter"/>
              <a:ea typeface="Inter"/>
              <a:cs typeface="Inter"/>
              <a:sym typeface="Inter"/>
            </a:endParaRPr>
          </a:p>
        </p:txBody>
      </p:sp>
      <p:sp>
        <p:nvSpPr>
          <p:cNvPr id="428" name="Google Shape;428;p9"/>
          <p:cNvSpPr/>
          <p:nvPr/>
        </p:nvSpPr>
        <p:spPr>
          <a:xfrm>
            <a:off x="5000625" y="3524250"/>
            <a:ext cx="1809600" cy="333300"/>
          </a:xfrm>
          <a:prstGeom prst="rect">
            <a:avLst/>
          </a:prstGeom>
          <a:solidFill>
            <a:srgbClr val="000000">
              <a:alpha val="0"/>
            </a:srgbClr>
          </a:solidFill>
          <a:ln>
            <a:noFill/>
          </a:ln>
        </p:spPr>
        <p:txBody>
          <a:bodyPr spcFirstLastPara="1" wrap="square" lIns="95250" tIns="0" rIns="0" bIns="0" anchor="ctr" anchorCtr="0">
            <a:spAutoFit/>
          </a:bodyPr>
          <a:lstStyle/>
          <a:p>
            <a:pPr marL="0" lvl="0" indent="0" algn="l" rtl="0">
              <a:spcBef>
                <a:spcPts val="0"/>
              </a:spcBef>
              <a:spcAft>
                <a:spcPts val="0"/>
              </a:spcAft>
              <a:buNone/>
            </a:pPr>
            <a:r>
              <a:rPr lang="en-US" sz="850">
                <a:solidFill>
                  <a:srgbClr val="475569"/>
                </a:solidFill>
                <a:latin typeface="Inter"/>
                <a:ea typeface="Inter"/>
                <a:cs typeface="Inter"/>
                <a:sym typeface="Inter"/>
              </a:rPr>
              <a:t>Qualifies 75% ESG supplier mandate</a:t>
            </a:r>
            <a:endParaRPr sz="850">
              <a:solidFill>
                <a:srgbClr val="475569"/>
              </a:solidFill>
              <a:latin typeface="Inter"/>
              <a:ea typeface="Inter"/>
              <a:cs typeface="Inter"/>
              <a:sym typeface="Inter"/>
            </a:endParaRPr>
          </a:p>
        </p:txBody>
      </p:sp>
      <p:sp>
        <p:nvSpPr>
          <p:cNvPr id="429" name="Google Shape;429;p9"/>
          <p:cNvSpPr/>
          <p:nvPr/>
        </p:nvSpPr>
        <p:spPr>
          <a:xfrm>
            <a:off x="6992525" y="3524250"/>
            <a:ext cx="1722900" cy="333300"/>
          </a:xfrm>
          <a:prstGeom prst="rect">
            <a:avLst/>
          </a:prstGeom>
          <a:solidFill>
            <a:srgbClr val="000000">
              <a:alpha val="0"/>
            </a:srgbClr>
          </a:solidFill>
          <a:ln>
            <a:noFill/>
          </a:ln>
        </p:spPr>
        <p:txBody>
          <a:bodyPr spcFirstLastPara="1" wrap="square" lIns="0" tIns="0" rIns="142875" bIns="0" anchor="ctr" anchorCtr="0">
            <a:spAutoFit/>
          </a:bodyPr>
          <a:lstStyle/>
          <a:p>
            <a:pPr marL="0" lvl="0" indent="0" algn="r" rtl="0">
              <a:spcBef>
                <a:spcPts val="0"/>
              </a:spcBef>
              <a:spcAft>
                <a:spcPts val="0"/>
              </a:spcAft>
              <a:buNone/>
            </a:pPr>
            <a:r>
              <a:rPr lang="en-US" sz="850" b="1">
                <a:solidFill>
                  <a:srgbClr val="059669"/>
                </a:solidFill>
                <a:latin typeface="Inter"/>
                <a:ea typeface="Inter"/>
                <a:cs typeface="Inter"/>
                <a:sym typeface="Inter"/>
              </a:rPr>
              <a:t>Unlocks full EPIC tier access           </a:t>
            </a:r>
            <a:endParaRPr sz="1050">
              <a:solidFill>
                <a:srgbClr val="FD971F"/>
              </a:solidFill>
              <a:highlight>
                <a:srgbClr val="1E1E1E"/>
              </a:highlight>
              <a:latin typeface="Courier New"/>
              <a:ea typeface="Courier New"/>
              <a:cs typeface="Courier New"/>
              <a:sym typeface="Courier New"/>
            </a:endParaRPr>
          </a:p>
          <a:p>
            <a:pPr marL="0" lvl="0" indent="0" algn="r" rtl="0">
              <a:spcBef>
                <a:spcPts val="0"/>
              </a:spcBef>
              <a:spcAft>
                <a:spcPts val="0"/>
              </a:spcAft>
              <a:buNone/>
            </a:pPr>
            <a:endParaRPr sz="850" b="1">
              <a:solidFill>
                <a:srgbClr val="059669"/>
              </a:solidFill>
              <a:latin typeface="Inter"/>
              <a:ea typeface="Inter"/>
              <a:cs typeface="Inter"/>
              <a:sym typeface="Inter"/>
            </a:endParaRPr>
          </a:p>
        </p:txBody>
      </p:sp>
      <p:sp>
        <p:nvSpPr>
          <p:cNvPr id="430" name="Google Shape;430;p9"/>
          <p:cNvSpPr/>
          <p:nvPr/>
        </p:nvSpPr>
        <p:spPr>
          <a:xfrm>
            <a:off x="428625" y="3857625"/>
            <a:ext cx="8286900" cy="381000"/>
          </a:xfrm>
          <a:prstGeom prst="rect">
            <a:avLst/>
          </a:prstGeom>
          <a:solidFill>
            <a:srgbClr val="1A365D"/>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31" name="Google Shape;431;p9"/>
          <p:cNvSpPr/>
          <p:nvPr/>
        </p:nvSpPr>
        <p:spPr>
          <a:xfrm>
            <a:off x="428625" y="3857625"/>
            <a:ext cx="1905000" cy="381000"/>
          </a:xfrm>
          <a:prstGeom prst="rect">
            <a:avLst/>
          </a:prstGeom>
          <a:solidFill>
            <a:srgbClr val="000000">
              <a:alpha val="0"/>
            </a:srgbClr>
          </a:solidFill>
          <a:ln>
            <a:noFill/>
          </a:ln>
        </p:spPr>
        <p:txBody>
          <a:bodyPr spcFirstLastPara="1" wrap="square" lIns="142875" tIns="0" rIns="0" bIns="0" anchor="ctr" anchorCtr="0">
            <a:spAutoFit/>
          </a:bodyPr>
          <a:lstStyle/>
          <a:p>
            <a:pPr marL="0" lvl="0" indent="0" algn="l" rtl="0">
              <a:spcBef>
                <a:spcPts val="0"/>
              </a:spcBef>
              <a:spcAft>
                <a:spcPts val="0"/>
              </a:spcAft>
              <a:buNone/>
            </a:pPr>
            <a:r>
              <a:rPr lang="en-US" sz="900" b="1">
                <a:solidFill>
                  <a:srgbClr val="2BDEFD"/>
                </a:solidFill>
                <a:latin typeface="Space Grotesk"/>
                <a:ea typeface="Space Grotesk"/>
                <a:cs typeface="Space Grotesk"/>
                <a:sym typeface="Space Grotesk"/>
              </a:rPr>
              <a:t>Total Commercialization Potential</a:t>
            </a:r>
            <a:endParaRPr sz="900" b="1">
              <a:solidFill>
                <a:srgbClr val="2BDEFD"/>
              </a:solidFill>
              <a:latin typeface="Space Grotesk"/>
              <a:ea typeface="Space Grotesk"/>
              <a:cs typeface="Space Grotesk"/>
              <a:sym typeface="Space Grotesk"/>
            </a:endParaRPr>
          </a:p>
        </p:txBody>
      </p:sp>
      <p:sp>
        <p:nvSpPr>
          <p:cNvPr id="432" name="Google Shape;432;p9"/>
          <p:cNvSpPr/>
          <p:nvPr/>
        </p:nvSpPr>
        <p:spPr>
          <a:xfrm>
            <a:off x="2333625" y="3857625"/>
            <a:ext cx="2667000" cy="381000"/>
          </a:xfrm>
          <a:prstGeom prst="rect">
            <a:avLst/>
          </a:prstGeom>
          <a:solidFill>
            <a:srgbClr val="000000">
              <a:alpha val="0"/>
            </a:srgbClr>
          </a:solidFill>
          <a:ln>
            <a:noFill/>
          </a:ln>
        </p:spPr>
        <p:txBody>
          <a:bodyPr spcFirstLastPara="1" wrap="square" lIns="95250" tIns="0" rIns="0" bIns="0" anchor="ctr" anchorCtr="0">
            <a:spAutoFit/>
          </a:bodyPr>
          <a:lstStyle/>
          <a:p>
            <a:pPr marL="0" lvl="0" indent="0" algn="l" rtl="0">
              <a:spcBef>
                <a:spcPts val="0"/>
              </a:spcBef>
              <a:spcAft>
                <a:spcPts val="0"/>
              </a:spcAft>
              <a:buNone/>
            </a:pPr>
            <a:r>
              <a:rPr lang="en-US" sz="850">
                <a:solidFill>
                  <a:srgbClr val="FFFFFF"/>
                </a:solidFill>
                <a:latin typeface="Inter"/>
                <a:ea typeface="Inter"/>
                <a:cs typeface="Inter"/>
                <a:sym typeface="Inter"/>
              </a:rPr>
              <a:t>AI pipeline → materials for all EPIC verticals</a:t>
            </a:r>
            <a:endParaRPr sz="850">
              <a:solidFill>
                <a:srgbClr val="FFFFFF"/>
              </a:solidFill>
              <a:latin typeface="Inter"/>
              <a:ea typeface="Inter"/>
              <a:cs typeface="Inter"/>
              <a:sym typeface="Inter"/>
            </a:endParaRPr>
          </a:p>
        </p:txBody>
      </p:sp>
      <p:sp>
        <p:nvSpPr>
          <p:cNvPr id="433" name="Google Shape;433;p9"/>
          <p:cNvSpPr/>
          <p:nvPr/>
        </p:nvSpPr>
        <p:spPr>
          <a:xfrm>
            <a:off x="5000625" y="3857625"/>
            <a:ext cx="1809600" cy="381000"/>
          </a:xfrm>
          <a:prstGeom prst="rect">
            <a:avLst/>
          </a:prstGeom>
          <a:solidFill>
            <a:srgbClr val="000000">
              <a:alpha val="0"/>
            </a:srgbClr>
          </a:solidFill>
          <a:ln>
            <a:noFill/>
          </a:ln>
        </p:spPr>
        <p:txBody>
          <a:bodyPr spcFirstLastPara="1" wrap="square" lIns="95250" tIns="0" rIns="0" bIns="0" anchor="ctr" anchorCtr="0">
            <a:spAutoFit/>
          </a:bodyPr>
          <a:lstStyle/>
          <a:p>
            <a:pPr marL="0" lvl="0" indent="0" algn="l" rtl="0">
              <a:spcBef>
                <a:spcPts val="0"/>
              </a:spcBef>
              <a:spcAft>
                <a:spcPts val="0"/>
              </a:spcAft>
              <a:buNone/>
            </a:pPr>
            <a:r>
              <a:rPr lang="en-US" sz="850">
                <a:solidFill>
                  <a:srgbClr val="FFFFFF"/>
                </a:solidFill>
                <a:latin typeface="Inter"/>
                <a:ea typeface="Inter"/>
                <a:cs typeface="Inter"/>
                <a:sym typeface="Inter"/>
              </a:rPr>
              <a:t>₹15–20 Cr / Year (conservative)</a:t>
            </a:r>
            <a:endParaRPr sz="850">
              <a:solidFill>
                <a:srgbClr val="FFFFFF"/>
              </a:solidFill>
              <a:latin typeface="Inter"/>
              <a:ea typeface="Inter"/>
              <a:cs typeface="Inter"/>
              <a:sym typeface="Inter"/>
            </a:endParaRPr>
          </a:p>
        </p:txBody>
      </p:sp>
      <p:sp>
        <p:nvSpPr>
          <p:cNvPr id="434" name="Google Shape;434;p9"/>
          <p:cNvSpPr/>
          <p:nvPr/>
        </p:nvSpPr>
        <p:spPr>
          <a:xfrm>
            <a:off x="6810375" y="3857625"/>
            <a:ext cx="1905000" cy="381000"/>
          </a:xfrm>
          <a:prstGeom prst="rect">
            <a:avLst/>
          </a:prstGeom>
          <a:solidFill>
            <a:srgbClr val="000000">
              <a:alpha val="0"/>
            </a:srgbClr>
          </a:solidFill>
          <a:ln>
            <a:noFill/>
          </a:ln>
        </p:spPr>
        <p:txBody>
          <a:bodyPr spcFirstLastPara="1" wrap="square" lIns="0" tIns="0" rIns="142875" bIns="0" anchor="ctr" anchorCtr="0">
            <a:spAutoFit/>
          </a:bodyPr>
          <a:lstStyle/>
          <a:p>
            <a:pPr marL="0" lvl="0" indent="0" algn="r" rtl="0">
              <a:spcBef>
                <a:spcPts val="0"/>
              </a:spcBef>
              <a:spcAft>
                <a:spcPts val="0"/>
              </a:spcAft>
              <a:buNone/>
            </a:pPr>
            <a:r>
              <a:rPr lang="en-US" sz="1100" b="1">
                <a:solidFill>
                  <a:srgbClr val="FFFFFF"/>
                </a:solidFill>
                <a:latin typeface="Space Grotesk"/>
                <a:ea typeface="Space Grotesk"/>
                <a:cs typeface="Space Grotesk"/>
                <a:sym typeface="Space Grotesk"/>
              </a:rPr>
              <a:t>+ JV / Acquisition pathway</a:t>
            </a:r>
            <a:endParaRPr sz="1100" b="1">
              <a:solidFill>
                <a:srgbClr val="FFFFFF"/>
              </a:solidFill>
              <a:latin typeface="Space Grotesk"/>
              <a:ea typeface="Space Grotesk"/>
              <a:cs typeface="Space Grotesk"/>
              <a:sym typeface="Space Grotesk"/>
            </a:endParaRPr>
          </a:p>
        </p:txBody>
      </p:sp>
      <p:sp>
        <p:nvSpPr>
          <p:cNvPr id="435" name="Google Shape;435;p9"/>
          <p:cNvSpPr/>
          <p:nvPr/>
        </p:nvSpPr>
        <p:spPr>
          <a:xfrm>
            <a:off x="428625" y="4381500"/>
            <a:ext cx="8286900" cy="190500"/>
          </a:xfrm>
          <a:prstGeom prst="rect">
            <a:avLst/>
          </a:prstGeom>
          <a:solidFill>
            <a:srgbClr val="000000">
              <a:alpha val="0"/>
            </a:srgbClr>
          </a:solidFill>
          <a:ln>
            <a:noFill/>
          </a:ln>
        </p:spPr>
        <p:txBody>
          <a:bodyPr spcFirstLastPara="1" wrap="square" lIns="0" tIns="0" rIns="0" bIns="0" anchor="t" anchorCtr="0">
            <a:spAutoFit/>
          </a:bodyPr>
          <a:lstStyle/>
          <a:p>
            <a:pPr marL="0" lvl="0" indent="0" algn="l" rtl="0">
              <a:spcBef>
                <a:spcPts val="0"/>
              </a:spcBef>
              <a:spcAft>
                <a:spcPts val="0"/>
              </a:spcAft>
              <a:buNone/>
            </a:pPr>
            <a:r>
              <a:rPr lang="en-US" sz="700" b="0">
                <a:solidFill>
                  <a:srgbClr val="94A3B8"/>
                </a:solidFill>
                <a:latin typeface="Inter"/>
                <a:ea typeface="Inter"/>
                <a:cs typeface="Inter"/>
                <a:sym typeface="Inter"/>
              </a:rPr>
              <a:t>*Calculations based on global average aviation fuel procurement costs and standard narrowbody operational profiles.</a:t>
            </a:r>
            <a:endParaRPr sz="700" b="0">
              <a:solidFill>
                <a:srgbClr val="94A3B8"/>
              </a:solidFill>
              <a:latin typeface="Inter"/>
              <a:ea typeface="Inter"/>
              <a:cs typeface="Inter"/>
              <a:sym typeface="Inte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40"/>
        <p:cNvGrpSpPr/>
        <p:nvPr/>
      </p:nvGrpSpPr>
      <p:grpSpPr>
        <a:xfrm>
          <a:off x="0" y="0"/>
          <a:ext cx="0" cy="0"/>
          <a:chOff x="0" y="0"/>
          <a:chExt cx="0" cy="0"/>
        </a:xfrm>
      </p:grpSpPr>
      <p:grpSp>
        <p:nvGrpSpPr>
          <p:cNvPr id="441" name="Google Shape;441;p10"/>
          <p:cNvGrpSpPr/>
          <p:nvPr/>
        </p:nvGrpSpPr>
        <p:grpSpPr>
          <a:xfrm>
            <a:off x="428625" y="381000"/>
            <a:ext cx="8286900" cy="666825"/>
            <a:chOff x="428625" y="381000"/>
            <a:chExt cx="8286900" cy="666825"/>
          </a:xfrm>
        </p:grpSpPr>
        <p:sp>
          <p:nvSpPr>
            <p:cNvPr id="442" name="Google Shape;442;p10"/>
            <p:cNvSpPr txBox="1"/>
            <p:nvPr/>
          </p:nvSpPr>
          <p:spPr>
            <a:xfrm>
              <a:off x="428625" y="381000"/>
              <a:ext cx="8286900" cy="428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2400" b="1">
                  <a:solidFill>
                    <a:srgbClr val="1A365D"/>
                  </a:solidFill>
                  <a:latin typeface="Space Grotesk"/>
                  <a:ea typeface="Space Grotesk"/>
                  <a:cs typeface="Space Grotesk"/>
                  <a:sym typeface="Space Grotesk"/>
                </a:rPr>
                <a:t>DEFENSIBILITY AND IP PERIMETER</a:t>
              </a:r>
              <a:endParaRPr sz="2400" b="1">
                <a:solidFill>
                  <a:srgbClr val="1A365D"/>
                </a:solidFill>
                <a:latin typeface="Space Grotesk"/>
                <a:ea typeface="Space Grotesk"/>
                <a:cs typeface="Space Grotesk"/>
                <a:sym typeface="Space Grotesk"/>
              </a:endParaRPr>
            </a:p>
          </p:txBody>
        </p:sp>
        <p:sp>
          <p:nvSpPr>
            <p:cNvPr id="443" name="Google Shape;443;p10"/>
            <p:cNvSpPr txBox="1"/>
            <p:nvPr/>
          </p:nvSpPr>
          <p:spPr>
            <a:xfrm>
              <a:off x="428625" y="809625"/>
              <a:ext cx="8286900" cy="238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200" b="0">
                  <a:solidFill>
                    <a:srgbClr val="2BDEFD"/>
                  </a:solidFill>
                  <a:latin typeface="Space Grotesk SemiBold"/>
                  <a:ea typeface="Space Grotesk SemiBold"/>
                  <a:cs typeface="Space Grotesk SemiBold"/>
                  <a:sym typeface="Space Grotesk SemiBold"/>
                </a:rPr>
                <a:t>Multi-Layered Protection Strategy</a:t>
              </a:r>
              <a:endParaRPr sz="1200" b="0">
                <a:solidFill>
                  <a:srgbClr val="2BDEFD"/>
                </a:solidFill>
                <a:latin typeface="Space Grotesk SemiBold"/>
                <a:ea typeface="Space Grotesk SemiBold"/>
                <a:cs typeface="Space Grotesk SemiBold"/>
                <a:sym typeface="Space Grotesk SemiBold"/>
              </a:endParaRPr>
            </a:p>
          </p:txBody>
        </p:sp>
      </p:grpSp>
      <p:grpSp>
        <p:nvGrpSpPr>
          <p:cNvPr id="444" name="Google Shape;444;p10"/>
          <p:cNvGrpSpPr/>
          <p:nvPr/>
        </p:nvGrpSpPr>
        <p:grpSpPr>
          <a:xfrm>
            <a:off x="428625" y="1333500"/>
            <a:ext cx="3905400" cy="3238500"/>
            <a:chOff x="428625" y="1333500"/>
            <a:chExt cx="3905400" cy="3238500"/>
          </a:xfrm>
        </p:grpSpPr>
        <p:sp>
          <p:nvSpPr>
            <p:cNvPr id="445" name="Google Shape;445;p10"/>
            <p:cNvSpPr/>
            <p:nvPr/>
          </p:nvSpPr>
          <p:spPr>
            <a:xfrm>
              <a:off x="428625" y="1333500"/>
              <a:ext cx="3905400" cy="3238500"/>
            </a:xfrm>
            <a:prstGeom prst="roundRect">
              <a:avLst>
                <a:gd name="adj" fmla="val 2352"/>
              </a:avLst>
            </a:prstGeom>
            <a:solidFill>
              <a:srgbClr val="F8FAFC"/>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446" name="Google Shape;446;p10"/>
            <p:cNvGrpSpPr/>
            <p:nvPr/>
          </p:nvGrpSpPr>
          <p:grpSpPr>
            <a:xfrm>
              <a:off x="714375" y="1619250"/>
              <a:ext cx="3333900" cy="428700"/>
              <a:chOff x="714375" y="1619250"/>
              <a:chExt cx="3333900" cy="428700"/>
            </a:xfrm>
          </p:grpSpPr>
          <p:sp>
            <p:nvSpPr>
              <p:cNvPr id="447" name="Google Shape;447;p10"/>
              <p:cNvSpPr/>
              <p:nvPr/>
            </p:nvSpPr>
            <p:spPr>
              <a:xfrm>
                <a:off x="714375" y="1619250"/>
                <a:ext cx="3333900" cy="428700"/>
              </a:xfrm>
              <a:prstGeom prst="roundRect">
                <a:avLst>
                  <a:gd name="adj" fmla="val 8888"/>
                </a:avLst>
              </a:prstGeom>
              <a:solidFill>
                <a:srgbClr val="E2E8F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48" name="Google Shape;448;p10"/>
              <p:cNvSpPr txBox="1"/>
              <p:nvPr/>
            </p:nvSpPr>
            <p:spPr>
              <a:xfrm>
                <a:off x="714375" y="1619250"/>
                <a:ext cx="3333900" cy="4287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900" b="1">
                    <a:solidFill>
                      <a:srgbClr val="1A365D"/>
                    </a:solidFill>
                    <a:latin typeface="Space Grotesk"/>
                    <a:ea typeface="Space Grotesk"/>
                    <a:cs typeface="Space Grotesk"/>
                    <a:sym typeface="Space Grotesk"/>
                  </a:rPr>
                  <a:t>LAYER 1: RHEA CHEMISTRY PATENTS</a:t>
                </a:r>
                <a:endParaRPr sz="900" b="1">
                  <a:solidFill>
                    <a:srgbClr val="1A365D"/>
                  </a:solidFill>
                  <a:latin typeface="Space Grotesk"/>
                  <a:ea typeface="Space Grotesk"/>
                  <a:cs typeface="Space Grotesk"/>
                  <a:sym typeface="Space Grotesk"/>
                </a:endParaRPr>
              </a:p>
            </p:txBody>
          </p:sp>
        </p:grpSp>
        <p:grpSp>
          <p:nvGrpSpPr>
            <p:cNvPr id="449" name="Google Shape;449;p10"/>
            <p:cNvGrpSpPr/>
            <p:nvPr/>
          </p:nvGrpSpPr>
          <p:grpSpPr>
            <a:xfrm>
              <a:off x="714375" y="2143125"/>
              <a:ext cx="3333900" cy="428700"/>
              <a:chOff x="714375" y="2143125"/>
              <a:chExt cx="3333900" cy="428700"/>
            </a:xfrm>
          </p:grpSpPr>
          <p:sp>
            <p:nvSpPr>
              <p:cNvPr id="450" name="Google Shape;450;p10"/>
              <p:cNvSpPr/>
              <p:nvPr/>
            </p:nvSpPr>
            <p:spPr>
              <a:xfrm>
                <a:off x="714375" y="2143125"/>
                <a:ext cx="3333900" cy="428700"/>
              </a:xfrm>
              <a:prstGeom prst="roundRect">
                <a:avLst>
                  <a:gd name="adj" fmla="val 8888"/>
                </a:avLst>
              </a:prstGeom>
              <a:solidFill>
                <a:srgbClr val="2BDEFD">
                  <a:alpha val="2000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51" name="Google Shape;451;p10"/>
              <p:cNvSpPr txBox="1"/>
              <p:nvPr/>
            </p:nvSpPr>
            <p:spPr>
              <a:xfrm>
                <a:off x="714375" y="2143125"/>
                <a:ext cx="3333900" cy="4287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900" b="1">
                    <a:solidFill>
                      <a:srgbClr val="1A365D"/>
                    </a:solidFill>
                    <a:latin typeface="Space Grotesk"/>
                    <a:ea typeface="Space Grotesk"/>
                    <a:cs typeface="Space Grotesk"/>
                    <a:sym typeface="Space Grotesk"/>
                  </a:rPr>
                  <a:t>LAYER 2: 11-LAYER SPATIAL FGM ARCHITECTURE</a:t>
                </a:r>
                <a:endParaRPr sz="900" b="1">
                  <a:solidFill>
                    <a:srgbClr val="1A365D"/>
                  </a:solidFill>
                  <a:latin typeface="Space Grotesk"/>
                  <a:ea typeface="Space Grotesk"/>
                  <a:cs typeface="Space Grotesk"/>
                  <a:sym typeface="Space Grotesk"/>
                </a:endParaRPr>
              </a:p>
            </p:txBody>
          </p:sp>
        </p:grpSp>
        <p:grpSp>
          <p:nvGrpSpPr>
            <p:cNvPr id="452" name="Google Shape;452;p10"/>
            <p:cNvGrpSpPr/>
            <p:nvPr/>
          </p:nvGrpSpPr>
          <p:grpSpPr>
            <a:xfrm>
              <a:off x="714375" y="2667000"/>
              <a:ext cx="3333900" cy="428700"/>
              <a:chOff x="714375" y="2667000"/>
              <a:chExt cx="3333900" cy="428700"/>
            </a:xfrm>
          </p:grpSpPr>
          <p:sp>
            <p:nvSpPr>
              <p:cNvPr id="453" name="Google Shape;453;p10"/>
              <p:cNvSpPr/>
              <p:nvPr/>
            </p:nvSpPr>
            <p:spPr>
              <a:xfrm>
                <a:off x="714375" y="2667000"/>
                <a:ext cx="3333900" cy="428700"/>
              </a:xfrm>
              <a:prstGeom prst="roundRect">
                <a:avLst>
                  <a:gd name="adj" fmla="val 8888"/>
                </a:avLst>
              </a:prstGeom>
              <a:solidFill>
                <a:srgbClr val="E2E8F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54" name="Google Shape;454;p10"/>
              <p:cNvSpPr txBox="1"/>
              <p:nvPr/>
            </p:nvSpPr>
            <p:spPr>
              <a:xfrm>
                <a:off x="714375" y="2667000"/>
                <a:ext cx="3333900" cy="4287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900" b="1">
                    <a:solidFill>
                      <a:srgbClr val="1A365D"/>
                    </a:solidFill>
                    <a:latin typeface="Space Grotesk"/>
                    <a:ea typeface="Space Grotesk"/>
                    <a:cs typeface="Space Grotesk"/>
                    <a:sym typeface="Space Grotesk"/>
                  </a:rPr>
                  <a:t>LAYER 3: SINTERED TRANSPIRATION PROCESS</a:t>
                </a:r>
                <a:endParaRPr sz="900" b="1">
                  <a:solidFill>
                    <a:srgbClr val="1A365D"/>
                  </a:solidFill>
                  <a:latin typeface="Space Grotesk"/>
                  <a:ea typeface="Space Grotesk"/>
                  <a:cs typeface="Space Grotesk"/>
                  <a:sym typeface="Space Grotesk"/>
                </a:endParaRPr>
              </a:p>
            </p:txBody>
          </p:sp>
        </p:grpSp>
        <p:grpSp>
          <p:nvGrpSpPr>
            <p:cNvPr id="455" name="Google Shape;455;p10"/>
            <p:cNvGrpSpPr/>
            <p:nvPr/>
          </p:nvGrpSpPr>
          <p:grpSpPr>
            <a:xfrm>
              <a:off x="714375" y="3190875"/>
              <a:ext cx="3333900" cy="1095300"/>
              <a:chOff x="714375" y="3190875"/>
              <a:chExt cx="3333900" cy="1095300"/>
            </a:xfrm>
          </p:grpSpPr>
          <p:sp>
            <p:nvSpPr>
              <p:cNvPr id="456" name="Google Shape;456;p10"/>
              <p:cNvSpPr/>
              <p:nvPr/>
            </p:nvSpPr>
            <p:spPr>
              <a:xfrm>
                <a:off x="714375" y="3190875"/>
                <a:ext cx="3333900" cy="1095300"/>
              </a:xfrm>
              <a:prstGeom prst="roundRect">
                <a:avLst>
                  <a:gd name="adj" fmla="val 3478"/>
                </a:avLst>
              </a:prstGeom>
              <a:solidFill>
                <a:srgbClr val="1A365D"/>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57" name="Google Shape;457;p10"/>
              <p:cNvSpPr txBox="1"/>
              <p:nvPr/>
            </p:nvSpPr>
            <p:spPr>
              <a:xfrm>
                <a:off x="714375" y="3190875"/>
                <a:ext cx="3333900" cy="10953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100" b="1">
                    <a:solidFill>
                      <a:srgbClr val="FFFFFF"/>
                    </a:solidFill>
                    <a:latin typeface="Space Grotesk"/>
                    <a:ea typeface="Space Grotesk"/>
                    <a:cs typeface="Space Grotesk"/>
                    <a:sym typeface="Space Grotesk"/>
                  </a:rPr>
                  <a:t>LAYER 4:</a:t>
                </a:r>
                <a:endParaRPr sz="1100" b="1">
                  <a:solidFill>
                    <a:srgbClr val="FFFFFF"/>
                  </a:solidFill>
                  <a:latin typeface="Space Grotesk"/>
                  <a:ea typeface="Space Grotesk"/>
                  <a:cs typeface="Space Grotesk"/>
                  <a:sym typeface="Space Grotesk"/>
                </a:endParaRPr>
              </a:p>
              <a:p>
                <a:pPr marL="0" lvl="0" indent="0" algn="ctr" rtl="0">
                  <a:spcBef>
                    <a:spcPts val="0"/>
                  </a:spcBef>
                  <a:spcAft>
                    <a:spcPts val="0"/>
                  </a:spcAft>
                  <a:buNone/>
                </a:pPr>
                <a:r>
                  <a:rPr lang="en-US" sz="1100" b="1">
                    <a:solidFill>
                      <a:srgbClr val="FFFFFF"/>
                    </a:solidFill>
                    <a:latin typeface="Space Grotesk"/>
                    <a:ea typeface="Space Grotesk"/>
                    <a:cs typeface="Space Grotesk"/>
                    <a:sym typeface="Space Grotesk"/>
                  </a:rPr>
                  <a:t>IN-MEMORY MATERIALS</a:t>
                </a:r>
                <a:endParaRPr sz="1100" b="1">
                  <a:solidFill>
                    <a:srgbClr val="FFFFFF"/>
                  </a:solidFill>
                  <a:latin typeface="Space Grotesk"/>
                  <a:ea typeface="Space Grotesk"/>
                  <a:cs typeface="Space Grotesk"/>
                  <a:sym typeface="Space Grotesk"/>
                </a:endParaRPr>
              </a:p>
              <a:p>
                <a:pPr marL="0" lvl="0" indent="0" algn="ctr" rtl="0">
                  <a:spcBef>
                    <a:spcPts val="0"/>
                  </a:spcBef>
                  <a:spcAft>
                    <a:spcPts val="0"/>
                  </a:spcAft>
                  <a:buNone/>
                </a:pPr>
                <a:r>
                  <a:rPr lang="en-US" sz="1100" b="1">
                    <a:solidFill>
                      <a:srgbClr val="FFFFFF"/>
                    </a:solidFill>
                    <a:latin typeface="Space Grotesk"/>
                    <a:ea typeface="Space Grotesk"/>
                    <a:cs typeface="Space Grotesk"/>
                    <a:sym typeface="Space Grotesk"/>
                  </a:rPr>
                  <a:t>INFORMATICS DATA MOAT</a:t>
                </a:r>
                <a:endParaRPr sz="1100" b="1">
                  <a:solidFill>
                    <a:srgbClr val="FFFFFF"/>
                  </a:solidFill>
                  <a:latin typeface="Space Grotesk"/>
                  <a:ea typeface="Space Grotesk"/>
                  <a:cs typeface="Space Grotesk"/>
                  <a:sym typeface="Space Grotesk"/>
                </a:endParaRPr>
              </a:p>
            </p:txBody>
          </p:sp>
        </p:grpSp>
      </p:grpSp>
      <p:grpSp>
        <p:nvGrpSpPr>
          <p:cNvPr id="458" name="Google Shape;458;p10"/>
          <p:cNvGrpSpPr/>
          <p:nvPr/>
        </p:nvGrpSpPr>
        <p:grpSpPr>
          <a:xfrm>
            <a:off x="4714875" y="1333500"/>
            <a:ext cx="4000500" cy="3143175"/>
            <a:chOff x="4714875" y="1333500"/>
            <a:chExt cx="4000500" cy="3143175"/>
          </a:xfrm>
        </p:grpSpPr>
        <p:grpSp>
          <p:nvGrpSpPr>
            <p:cNvPr id="459" name="Google Shape;459;p10"/>
            <p:cNvGrpSpPr/>
            <p:nvPr/>
          </p:nvGrpSpPr>
          <p:grpSpPr>
            <a:xfrm>
              <a:off x="4714875" y="1333500"/>
              <a:ext cx="4000500" cy="714300"/>
              <a:chOff x="4714875" y="1333500"/>
              <a:chExt cx="4000500" cy="714300"/>
            </a:xfrm>
          </p:grpSpPr>
          <p:sp>
            <p:nvSpPr>
              <p:cNvPr id="460" name="Google Shape;460;p10"/>
              <p:cNvSpPr/>
              <p:nvPr/>
            </p:nvSpPr>
            <p:spPr>
              <a:xfrm>
                <a:off x="4714875" y="1333500"/>
                <a:ext cx="4000500" cy="7143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61" name="Google Shape;461;p10"/>
              <p:cNvSpPr txBox="1"/>
              <p:nvPr/>
            </p:nvSpPr>
            <p:spPr>
              <a:xfrm>
                <a:off x="4714875" y="1333500"/>
                <a:ext cx="4000500" cy="7143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100" b="1">
                    <a:solidFill>
                      <a:srgbClr val="1A365D"/>
                    </a:solidFill>
                    <a:latin typeface="Space Grotesk"/>
                    <a:ea typeface="Space Grotesk"/>
                    <a:cs typeface="Space Grotesk"/>
                    <a:sym typeface="Space Grotesk"/>
                  </a:rPr>
                  <a:t>Compositional Windows</a:t>
                </a:r>
                <a:endParaRPr sz="1100" b="1">
                  <a:solidFill>
                    <a:srgbClr val="1A365D"/>
                  </a:solidFill>
                  <a:latin typeface="Space Grotesk"/>
                  <a:ea typeface="Space Grotesk"/>
                  <a:cs typeface="Space Grotesk"/>
                  <a:sym typeface="Space Grotesk"/>
                </a:endParaRPr>
              </a:p>
              <a:p>
                <a:pPr marL="0" lvl="0" indent="0" algn="l" rtl="0">
                  <a:spcBef>
                    <a:spcPts val="300"/>
                  </a:spcBef>
                  <a:spcAft>
                    <a:spcPts val="0"/>
                  </a:spcAft>
                  <a:buNone/>
                </a:pPr>
                <a:r>
                  <a:rPr lang="en-US" sz="900" b="0">
                    <a:solidFill>
                      <a:srgbClr val="111111"/>
                    </a:solidFill>
                    <a:latin typeface="Inter"/>
                    <a:ea typeface="Inter"/>
                    <a:cs typeface="Inter"/>
                    <a:sym typeface="Inter"/>
                  </a:rPr>
                  <a:t>Protecting the exact chemical boundaries of our optimized quinary and senary refractory HEA spaces via </a:t>
                </a:r>
                <a:r>
                  <a:rPr lang="en-US" sz="900" b="0">
                    <a:solidFill>
                      <a:srgbClr val="1A365D"/>
                    </a:solidFill>
                    <a:latin typeface="Inter SemiBold"/>
                    <a:ea typeface="Inter SemiBold"/>
                    <a:cs typeface="Inter SemiBold"/>
                    <a:sym typeface="Inter SemiBold"/>
                  </a:rPr>
                  <a:t>composition patent filings</a:t>
                </a:r>
                <a:r>
                  <a:rPr lang="en-US" sz="900" b="0">
                    <a:solidFill>
                      <a:srgbClr val="111111"/>
                    </a:solidFill>
                    <a:latin typeface="Inter"/>
                    <a:ea typeface="Inter"/>
                    <a:cs typeface="Inter"/>
                    <a:sym typeface="Inter"/>
                  </a:rPr>
                  <a:t>.</a:t>
                </a:r>
                <a:endParaRPr sz="900" b="0">
                  <a:solidFill>
                    <a:srgbClr val="111111"/>
                  </a:solidFill>
                  <a:latin typeface="Inter"/>
                  <a:ea typeface="Inter"/>
                  <a:cs typeface="Inter"/>
                  <a:sym typeface="Inter"/>
                </a:endParaRPr>
              </a:p>
            </p:txBody>
          </p:sp>
        </p:grpSp>
        <p:grpSp>
          <p:nvGrpSpPr>
            <p:cNvPr id="462" name="Google Shape;462;p10"/>
            <p:cNvGrpSpPr/>
            <p:nvPr/>
          </p:nvGrpSpPr>
          <p:grpSpPr>
            <a:xfrm>
              <a:off x="4714875" y="2143125"/>
              <a:ext cx="4000500" cy="714300"/>
              <a:chOff x="4714875" y="2143125"/>
              <a:chExt cx="4000500" cy="714300"/>
            </a:xfrm>
          </p:grpSpPr>
          <p:sp>
            <p:nvSpPr>
              <p:cNvPr id="463" name="Google Shape;463;p10"/>
              <p:cNvSpPr/>
              <p:nvPr/>
            </p:nvSpPr>
            <p:spPr>
              <a:xfrm>
                <a:off x="4714875" y="2143125"/>
                <a:ext cx="4000500" cy="7143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64" name="Google Shape;464;p10"/>
              <p:cNvSpPr txBox="1"/>
              <p:nvPr/>
            </p:nvSpPr>
            <p:spPr>
              <a:xfrm>
                <a:off x="4714875" y="2143125"/>
                <a:ext cx="4000500" cy="7143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100" b="1">
                    <a:solidFill>
                      <a:srgbClr val="1A365D"/>
                    </a:solidFill>
                    <a:latin typeface="Space Grotesk"/>
                    <a:ea typeface="Space Grotesk"/>
                    <a:cs typeface="Space Grotesk"/>
                    <a:sym typeface="Space Grotesk"/>
                  </a:rPr>
                  <a:t>Gradient Architecture Claims</a:t>
                </a:r>
                <a:endParaRPr sz="1100" b="1">
                  <a:solidFill>
                    <a:srgbClr val="1A365D"/>
                  </a:solidFill>
                  <a:latin typeface="Space Grotesk"/>
                  <a:ea typeface="Space Grotesk"/>
                  <a:cs typeface="Space Grotesk"/>
                  <a:sym typeface="Space Grotesk"/>
                </a:endParaRPr>
              </a:p>
              <a:p>
                <a:pPr marL="0" lvl="0" indent="0" algn="l" rtl="0">
                  <a:spcBef>
                    <a:spcPts val="300"/>
                  </a:spcBef>
                  <a:spcAft>
                    <a:spcPts val="0"/>
                  </a:spcAft>
                  <a:buNone/>
                </a:pPr>
                <a:r>
                  <a:rPr lang="en-US" sz="900" b="0">
                    <a:solidFill>
                      <a:srgbClr val="111111"/>
                    </a:solidFill>
                    <a:latin typeface="Inter"/>
                    <a:ea typeface="Inter"/>
                    <a:cs typeface="Inter"/>
                    <a:sym typeface="Inter"/>
                  </a:rPr>
                  <a:t>Patenting the 11-layer power-law distribution profile (</a:t>
                </a:r>
                <a:r>
                  <a:rPr lang="en-US" sz="900" b="0">
                    <a:solidFill>
                      <a:srgbClr val="1A365D"/>
                    </a:solidFill>
                    <a:latin typeface="Inter SemiBold"/>
                    <a:ea typeface="Inter SemiBold"/>
                    <a:cs typeface="Inter SemiBold"/>
                    <a:sym typeface="Inter SemiBold"/>
                  </a:rPr>
                  <a:t>n=1.1</a:t>
                </a:r>
                <a:r>
                  <a:rPr lang="en-US" sz="900" b="0">
                    <a:solidFill>
                      <a:srgbClr val="111111"/>
                    </a:solidFill>
                    <a:latin typeface="Inter"/>
                    <a:ea typeface="Inter"/>
                    <a:cs typeface="Inter"/>
                    <a:sym typeface="Inter"/>
                  </a:rPr>
                  <a:t>) and the specific spatial arrangement of the co-deposited metal-ceramic transition zone.</a:t>
                </a:r>
                <a:endParaRPr sz="900" b="0">
                  <a:solidFill>
                    <a:srgbClr val="111111"/>
                  </a:solidFill>
                  <a:latin typeface="Inter"/>
                  <a:ea typeface="Inter"/>
                  <a:cs typeface="Inter"/>
                  <a:sym typeface="Inter"/>
                </a:endParaRPr>
              </a:p>
            </p:txBody>
          </p:sp>
        </p:grpSp>
        <p:grpSp>
          <p:nvGrpSpPr>
            <p:cNvPr id="465" name="Google Shape;465;p10"/>
            <p:cNvGrpSpPr/>
            <p:nvPr/>
          </p:nvGrpSpPr>
          <p:grpSpPr>
            <a:xfrm>
              <a:off x="4714875" y="2952750"/>
              <a:ext cx="4000500" cy="714300"/>
              <a:chOff x="4714875" y="2952750"/>
              <a:chExt cx="4000500" cy="714300"/>
            </a:xfrm>
          </p:grpSpPr>
          <p:sp>
            <p:nvSpPr>
              <p:cNvPr id="466" name="Google Shape;466;p10"/>
              <p:cNvSpPr/>
              <p:nvPr/>
            </p:nvSpPr>
            <p:spPr>
              <a:xfrm>
                <a:off x="4714875" y="2952750"/>
                <a:ext cx="4000500" cy="7143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67" name="Google Shape;467;p10"/>
              <p:cNvSpPr txBox="1"/>
              <p:nvPr/>
            </p:nvSpPr>
            <p:spPr>
              <a:xfrm>
                <a:off x="4714875" y="2952750"/>
                <a:ext cx="4000500" cy="7143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100" b="1">
                    <a:solidFill>
                      <a:srgbClr val="1A365D"/>
                    </a:solidFill>
                    <a:latin typeface="Space Grotesk"/>
                    <a:ea typeface="Space Grotesk"/>
                    <a:cs typeface="Space Grotesk"/>
                    <a:sym typeface="Space Grotesk"/>
                  </a:rPr>
                  <a:t>Process Recipe Protections</a:t>
                </a:r>
                <a:endParaRPr sz="1100" b="1">
                  <a:solidFill>
                    <a:srgbClr val="1A365D"/>
                  </a:solidFill>
                  <a:latin typeface="Space Grotesk"/>
                  <a:ea typeface="Space Grotesk"/>
                  <a:cs typeface="Space Grotesk"/>
                  <a:sym typeface="Space Grotesk"/>
                </a:endParaRPr>
              </a:p>
              <a:p>
                <a:pPr marL="0" lvl="0" indent="0" algn="l" rtl="0">
                  <a:spcBef>
                    <a:spcPts val="300"/>
                  </a:spcBef>
                  <a:spcAft>
                    <a:spcPts val="0"/>
                  </a:spcAft>
                  <a:buNone/>
                </a:pPr>
                <a:r>
                  <a:rPr lang="en-US" sz="900" b="0">
                    <a:solidFill>
                      <a:srgbClr val="111111"/>
                    </a:solidFill>
                    <a:latin typeface="Inter"/>
                    <a:ea typeface="Inter"/>
                    <a:cs typeface="Inter"/>
                    <a:sym typeface="Inter"/>
                  </a:rPr>
                  <a:t>Filing defensive patents covering the multi-hopper powder feeding conditions, operational pressure fields, and geometric turbine casing constraints.</a:t>
                </a:r>
                <a:endParaRPr sz="900" b="0">
                  <a:solidFill>
                    <a:srgbClr val="111111"/>
                  </a:solidFill>
                  <a:latin typeface="Inter"/>
                  <a:ea typeface="Inter"/>
                  <a:cs typeface="Inter"/>
                  <a:sym typeface="Inter"/>
                </a:endParaRPr>
              </a:p>
            </p:txBody>
          </p:sp>
        </p:grpSp>
        <p:grpSp>
          <p:nvGrpSpPr>
            <p:cNvPr id="468" name="Google Shape;468;p10"/>
            <p:cNvGrpSpPr/>
            <p:nvPr/>
          </p:nvGrpSpPr>
          <p:grpSpPr>
            <a:xfrm>
              <a:off x="4714875" y="3762375"/>
              <a:ext cx="4000500" cy="714300"/>
              <a:chOff x="4714875" y="3762375"/>
              <a:chExt cx="4000500" cy="714300"/>
            </a:xfrm>
          </p:grpSpPr>
          <p:sp>
            <p:nvSpPr>
              <p:cNvPr id="469" name="Google Shape;469;p10"/>
              <p:cNvSpPr/>
              <p:nvPr/>
            </p:nvSpPr>
            <p:spPr>
              <a:xfrm>
                <a:off x="4714875" y="3762375"/>
                <a:ext cx="4000500" cy="7143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70" name="Google Shape;470;p10"/>
              <p:cNvSpPr txBox="1"/>
              <p:nvPr/>
            </p:nvSpPr>
            <p:spPr>
              <a:xfrm>
                <a:off x="4714875" y="3762375"/>
                <a:ext cx="4000500" cy="7143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100" b="1">
                    <a:solidFill>
                      <a:srgbClr val="1A365D"/>
                    </a:solidFill>
                    <a:latin typeface="Space Grotesk"/>
                    <a:ea typeface="Space Grotesk"/>
                    <a:cs typeface="Space Grotesk"/>
                    <a:sym typeface="Space Grotesk"/>
                  </a:rPr>
                  <a:t>Data Moat &amp; Trade Secrets</a:t>
                </a:r>
                <a:endParaRPr sz="1100" b="1">
                  <a:solidFill>
                    <a:srgbClr val="1A365D"/>
                  </a:solidFill>
                  <a:latin typeface="Space Grotesk"/>
                  <a:ea typeface="Space Grotesk"/>
                  <a:cs typeface="Space Grotesk"/>
                  <a:sym typeface="Space Grotesk"/>
                </a:endParaRPr>
              </a:p>
              <a:p>
                <a:pPr marL="0" lvl="0" indent="0" algn="l" rtl="0">
                  <a:spcBef>
                    <a:spcPts val="300"/>
                  </a:spcBef>
                  <a:spcAft>
                    <a:spcPts val="0"/>
                  </a:spcAft>
                  <a:buNone/>
                </a:pPr>
                <a:r>
                  <a:rPr lang="en-US" sz="900" b="0">
                    <a:solidFill>
                      <a:srgbClr val="111111"/>
                    </a:solidFill>
                    <a:latin typeface="Inter"/>
                    <a:ea typeface="Inter"/>
                    <a:cs typeface="Inter"/>
                    <a:sym typeface="Inter"/>
                  </a:rPr>
                  <a:t>Securing the proprietary </a:t>
                </a:r>
                <a:r>
                  <a:rPr lang="en-US" sz="900" b="0">
                    <a:solidFill>
                      <a:srgbClr val="1A365D"/>
                    </a:solidFill>
                    <a:latin typeface="Inter SemiBold"/>
                    <a:ea typeface="Inter SemiBold"/>
                    <a:cs typeface="Inter SemiBold"/>
                    <a:sym typeface="Inter SemiBold"/>
                  </a:rPr>
                  <a:t>surrogate model weights</a:t>
                </a:r>
                <a:r>
                  <a:rPr lang="en-US" sz="900" b="0">
                    <a:solidFill>
                      <a:srgbClr val="111111"/>
                    </a:solidFill>
                    <a:latin typeface="Inter"/>
                    <a:ea typeface="Inter"/>
                    <a:cs typeface="Inter"/>
                    <a:sym typeface="Inter"/>
                  </a:rPr>
                  <a:t> and the unreduced multi-physics training datasets that anchor our optimization runs.</a:t>
                </a:r>
                <a:endParaRPr sz="900" b="0">
                  <a:solidFill>
                    <a:srgbClr val="111111"/>
                  </a:solidFill>
                  <a:latin typeface="Inter"/>
                  <a:ea typeface="Inter"/>
                  <a:cs typeface="Inter"/>
                  <a:sym typeface="Inter"/>
                </a:endParaRPr>
              </a:p>
            </p:txBody>
          </p:sp>
        </p:gr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75"/>
        <p:cNvGrpSpPr/>
        <p:nvPr/>
      </p:nvGrpSpPr>
      <p:grpSpPr>
        <a:xfrm>
          <a:off x="0" y="0"/>
          <a:ext cx="0" cy="0"/>
          <a:chOff x="0" y="0"/>
          <a:chExt cx="0" cy="0"/>
        </a:xfrm>
      </p:grpSpPr>
      <p:grpSp>
        <p:nvGrpSpPr>
          <p:cNvPr id="476" name="Google Shape;476;p11"/>
          <p:cNvGrpSpPr/>
          <p:nvPr/>
        </p:nvGrpSpPr>
        <p:grpSpPr>
          <a:xfrm>
            <a:off x="428625" y="428625"/>
            <a:ext cx="8286900" cy="4286250"/>
            <a:chOff x="428625" y="428625"/>
            <a:chExt cx="8286900" cy="4286250"/>
          </a:xfrm>
        </p:grpSpPr>
        <p:sp>
          <p:nvSpPr>
            <p:cNvPr id="477" name="Google Shape;477;p11"/>
            <p:cNvSpPr/>
            <p:nvPr/>
          </p:nvSpPr>
          <p:spPr>
            <a:xfrm>
              <a:off x="428625" y="1190625"/>
              <a:ext cx="8286900" cy="1047900"/>
            </a:xfrm>
            <a:prstGeom prst="roundRect">
              <a:avLst>
                <a:gd name="adj" fmla="val 9090"/>
              </a:avLst>
            </a:prstGeom>
            <a:solidFill>
              <a:srgbClr val="F8FAFC"/>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478" name="Google Shape;478;p11"/>
            <p:cNvGrpSpPr/>
            <p:nvPr/>
          </p:nvGrpSpPr>
          <p:grpSpPr>
            <a:xfrm>
              <a:off x="428625" y="428625"/>
              <a:ext cx="8286900" cy="714450"/>
              <a:chOff x="428625" y="428625"/>
              <a:chExt cx="8286900" cy="714450"/>
            </a:xfrm>
          </p:grpSpPr>
          <p:sp>
            <p:nvSpPr>
              <p:cNvPr id="479" name="Google Shape;479;p11"/>
              <p:cNvSpPr txBox="1"/>
              <p:nvPr/>
            </p:nvSpPr>
            <p:spPr>
              <a:xfrm>
                <a:off x="428625" y="428625"/>
                <a:ext cx="8286900" cy="476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2800" b="1">
                    <a:solidFill>
                      <a:srgbClr val="1A365D"/>
                    </a:solidFill>
                    <a:latin typeface="Space Grotesk"/>
                    <a:ea typeface="Space Grotesk"/>
                    <a:cs typeface="Space Grotesk"/>
                    <a:sym typeface="Space Grotesk"/>
                  </a:rPr>
                  <a:t>BUSINESS MODEL AND ASK</a:t>
                </a:r>
                <a:endParaRPr sz="2800" b="1">
                  <a:solidFill>
                    <a:srgbClr val="1A365D"/>
                  </a:solidFill>
                  <a:latin typeface="Space Grotesk"/>
                  <a:ea typeface="Space Grotesk"/>
                  <a:cs typeface="Space Grotesk"/>
                  <a:sym typeface="Space Grotesk"/>
                </a:endParaRPr>
              </a:p>
            </p:txBody>
          </p:sp>
          <p:sp>
            <p:nvSpPr>
              <p:cNvPr id="480" name="Google Shape;480;p11"/>
              <p:cNvSpPr txBox="1"/>
              <p:nvPr/>
            </p:nvSpPr>
            <p:spPr>
              <a:xfrm>
                <a:off x="428625" y="904875"/>
                <a:ext cx="8286900" cy="2382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200" b="0">
                    <a:solidFill>
                      <a:srgbClr val="2BDEFD"/>
                    </a:solidFill>
                    <a:latin typeface="Space Grotesk SemiBold"/>
                    <a:ea typeface="Space Grotesk SemiBold"/>
                    <a:cs typeface="Space Grotesk SemiBold"/>
                    <a:sym typeface="Space Grotesk SemiBold"/>
                  </a:rPr>
                  <a:t>What We Bring and What We Need from SCIDIP</a:t>
                </a:r>
                <a:endParaRPr sz="1200" b="0">
                  <a:solidFill>
                    <a:srgbClr val="2BDEFD"/>
                  </a:solidFill>
                  <a:latin typeface="Space Grotesk SemiBold"/>
                  <a:ea typeface="Space Grotesk SemiBold"/>
                  <a:cs typeface="Space Grotesk SemiBold"/>
                  <a:sym typeface="Space Grotesk SemiBold"/>
                </a:endParaRPr>
              </a:p>
            </p:txBody>
          </p:sp>
        </p:grpSp>
        <p:grpSp>
          <p:nvGrpSpPr>
            <p:cNvPr id="481" name="Google Shape;481;p11"/>
            <p:cNvGrpSpPr/>
            <p:nvPr/>
          </p:nvGrpSpPr>
          <p:grpSpPr>
            <a:xfrm>
              <a:off x="619125" y="1333500"/>
              <a:ext cx="3619500" cy="809625"/>
              <a:chOff x="619125" y="1333500"/>
              <a:chExt cx="3619500" cy="809625"/>
            </a:xfrm>
          </p:grpSpPr>
          <p:sp>
            <p:nvSpPr>
              <p:cNvPr id="482" name="Google Shape;482;p11"/>
              <p:cNvSpPr txBox="1"/>
              <p:nvPr/>
            </p:nvSpPr>
            <p:spPr>
              <a:xfrm>
                <a:off x="619125" y="1333500"/>
                <a:ext cx="3619500" cy="190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000" b="1">
                    <a:solidFill>
                      <a:srgbClr val="1A365D"/>
                    </a:solidFill>
                    <a:latin typeface="Space Grotesk"/>
                    <a:ea typeface="Space Grotesk"/>
                    <a:cs typeface="Space Grotesk"/>
                    <a:sym typeface="Space Grotesk"/>
                  </a:rPr>
                  <a:t>Project Structure</a:t>
                </a:r>
                <a:endParaRPr sz="1000" b="1">
                  <a:solidFill>
                    <a:srgbClr val="1A365D"/>
                  </a:solidFill>
                  <a:latin typeface="Space Grotesk"/>
                  <a:ea typeface="Space Grotesk"/>
                  <a:cs typeface="Space Grotesk"/>
                  <a:sym typeface="Space Grotesk"/>
                </a:endParaRPr>
              </a:p>
            </p:txBody>
          </p:sp>
          <p:sp>
            <p:nvSpPr>
              <p:cNvPr id="483" name="Google Shape;483;p11"/>
              <p:cNvSpPr txBox="1"/>
              <p:nvPr/>
            </p:nvSpPr>
            <p:spPr>
              <a:xfrm>
                <a:off x="619125" y="1571625"/>
                <a:ext cx="3619500" cy="571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900" b="0">
                    <a:solidFill>
                      <a:srgbClr val="475569"/>
                    </a:solidFill>
                    <a:latin typeface="Inter"/>
                    <a:ea typeface="Inter"/>
                    <a:cs typeface="Inter"/>
                    <a:sym typeface="Inter"/>
                  </a:rPr>
                  <a:t>Incubation ask: Access to IIT Delhi's advanced characterization labs and Sona Comstar's industry mentorship.</a:t>
                </a:r>
                <a:endParaRPr sz="900" b="0">
                  <a:solidFill>
                    <a:srgbClr val="475569"/>
                  </a:solidFill>
                  <a:latin typeface="Inter"/>
                  <a:ea typeface="Inter"/>
                  <a:cs typeface="Inter"/>
                  <a:sym typeface="Inter"/>
                </a:endParaRPr>
              </a:p>
            </p:txBody>
          </p:sp>
        </p:grpSp>
        <p:grpSp>
          <p:nvGrpSpPr>
            <p:cNvPr id="484" name="Google Shape;484;p11"/>
            <p:cNvGrpSpPr/>
            <p:nvPr/>
          </p:nvGrpSpPr>
          <p:grpSpPr>
            <a:xfrm>
              <a:off x="4905375" y="1333500"/>
              <a:ext cx="3619500" cy="809625"/>
              <a:chOff x="4905375" y="1333500"/>
              <a:chExt cx="3619500" cy="809625"/>
            </a:xfrm>
          </p:grpSpPr>
          <p:sp>
            <p:nvSpPr>
              <p:cNvPr id="485" name="Google Shape;485;p11"/>
              <p:cNvSpPr txBox="1"/>
              <p:nvPr/>
            </p:nvSpPr>
            <p:spPr>
              <a:xfrm>
                <a:off x="4905375" y="1333500"/>
                <a:ext cx="3619500" cy="190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000" b="1">
                    <a:solidFill>
                      <a:srgbClr val="1A365D"/>
                    </a:solidFill>
                    <a:latin typeface="Space Grotesk"/>
                    <a:ea typeface="Space Grotesk"/>
                    <a:cs typeface="Space Grotesk"/>
                    <a:sym typeface="Space Grotesk"/>
                  </a:rPr>
                  <a:t>Success Criteria</a:t>
                </a:r>
                <a:endParaRPr sz="1000" b="1">
                  <a:solidFill>
                    <a:srgbClr val="1A365D"/>
                  </a:solidFill>
                  <a:latin typeface="Space Grotesk"/>
                  <a:ea typeface="Space Grotesk"/>
                  <a:cs typeface="Space Grotesk"/>
                  <a:sym typeface="Space Grotesk"/>
                </a:endParaRPr>
              </a:p>
            </p:txBody>
          </p:sp>
          <p:sp>
            <p:nvSpPr>
              <p:cNvPr id="486" name="Google Shape;486;p11"/>
              <p:cNvSpPr txBox="1"/>
              <p:nvPr/>
            </p:nvSpPr>
            <p:spPr>
              <a:xfrm>
                <a:off x="4905375" y="1571625"/>
                <a:ext cx="3619500" cy="571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900" b="0">
                    <a:solidFill>
                      <a:srgbClr val="475569"/>
                    </a:solidFill>
                    <a:latin typeface="Inter"/>
                    <a:ea typeface="Inter"/>
                    <a:cs typeface="Inter"/>
                    <a:sym typeface="Inter"/>
                  </a:rPr>
                  <a:t>Zero interface delamination under burner rig testing and verification of a physical </a:t>
                </a:r>
                <a:r>
                  <a:rPr lang="en-US" sz="900" b="1">
                    <a:solidFill>
                      <a:srgbClr val="1A365D"/>
                    </a:solidFill>
                    <a:latin typeface="Inter"/>
                    <a:ea typeface="Inter"/>
                    <a:cs typeface="Inter"/>
                    <a:sym typeface="Inter"/>
                  </a:rPr>
                  <a:t>Safety Factor ≥ 1.50</a:t>
                </a:r>
                <a:r>
                  <a:rPr lang="en-US" sz="900" b="0">
                    <a:solidFill>
                      <a:srgbClr val="475569"/>
                    </a:solidFill>
                    <a:latin typeface="Inter"/>
                    <a:ea typeface="Inter"/>
                    <a:cs typeface="Inter"/>
                    <a:sym typeface="Inter"/>
                  </a:rPr>
                  <a:t>.</a:t>
                </a:r>
                <a:endParaRPr sz="900" b="0">
                  <a:solidFill>
                    <a:srgbClr val="475569"/>
                  </a:solidFill>
                  <a:latin typeface="Inter"/>
                  <a:ea typeface="Inter"/>
                  <a:cs typeface="Inter"/>
                  <a:sym typeface="Inter"/>
                </a:endParaRPr>
              </a:p>
            </p:txBody>
          </p:sp>
        </p:grpSp>
        <p:grpSp>
          <p:nvGrpSpPr>
            <p:cNvPr id="487" name="Google Shape;487;p11"/>
            <p:cNvGrpSpPr/>
            <p:nvPr/>
          </p:nvGrpSpPr>
          <p:grpSpPr>
            <a:xfrm>
              <a:off x="428625" y="2381250"/>
              <a:ext cx="8286900" cy="2000250"/>
              <a:chOff x="428625" y="2381250"/>
              <a:chExt cx="8286900" cy="2000250"/>
            </a:xfrm>
          </p:grpSpPr>
          <p:sp>
            <p:nvSpPr>
              <p:cNvPr id="488" name="Google Shape;488;p11"/>
              <p:cNvSpPr/>
              <p:nvPr/>
            </p:nvSpPr>
            <p:spPr>
              <a:xfrm>
                <a:off x="428625" y="2381250"/>
                <a:ext cx="8286900" cy="381000"/>
              </a:xfrm>
              <a:prstGeom prst="roundRect">
                <a:avLst>
                  <a:gd name="adj" fmla="val 10000"/>
                </a:avLst>
              </a:prstGeom>
              <a:solidFill>
                <a:srgbClr val="1A365D"/>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89" name="Google Shape;489;p11"/>
              <p:cNvSpPr txBox="1"/>
              <p:nvPr/>
            </p:nvSpPr>
            <p:spPr>
              <a:xfrm>
                <a:off x="428625" y="2381250"/>
                <a:ext cx="1905000" cy="381000"/>
              </a:xfrm>
              <a:prstGeom prst="rect">
                <a:avLst/>
              </a:prstGeom>
              <a:noFill/>
              <a:ln>
                <a:noFill/>
              </a:ln>
            </p:spPr>
            <p:txBody>
              <a:bodyPr spcFirstLastPara="1" wrap="square" lIns="190500" tIns="0" rIns="0" bIns="0" anchor="ctr" anchorCtr="0">
                <a:noAutofit/>
              </a:bodyPr>
              <a:lstStyle/>
              <a:p>
                <a:pPr marL="0" lvl="0" indent="0" algn="l" rtl="0">
                  <a:spcBef>
                    <a:spcPts val="0"/>
                  </a:spcBef>
                  <a:spcAft>
                    <a:spcPts val="0"/>
                  </a:spcAft>
                  <a:buNone/>
                </a:pPr>
                <a:r>
                  <a:rPr lang="en-US" sz="900" b="1">
                    <a:solidFill>
                      <a:srgbClr val="FFFFFF"/>
                    </a:solidFill>
                    <a:latin typeface="Space Grotesk"/>
                    <a:ea typeface="Space Grotesk"/>
                    <a:cs typeface="Space Grotesk"/>
                    <a:sym typeface="Space Grotesk"/>
                  </a:rPr>
                  <a:t>Collaborative Phase</a:t>
                </a:r>
                <a:endParaRPr sz="900" b="1">
                  <a:solidFill>
                    <a:srgbClr val="FFFFFF"/>
                  </a:solidFill>
                  <a:latin typeface="Space Grotesk"/>
                  <a:ea typeface="Space Grotesk"/>
                  <a:cs typeface="Space Grotesk"/>
                  <a:sym typeface="Space Grotesk"/>
                </a:endParaRPr>
              </a:p>
            </p:txBody>
          </p:sp>
          <p:sp>
            <p:nvSpPr>
              <p:cNvPr id="490" name="Google Shape;490;p11"/>
              <p:cNvSpPr txBox="1"/>
              <p:nvPr/>
            </p:nvSpPr>
            <p:spPr>
              <a:xfrm>
                <a:off x="2333625" y="2381250"/>
                <a:ext cx="3190800" cy="381000"/>
              </a:xfrm>
              <a:prstGeom prst="rect">
                <a:avLst/>
              </a:prstGeom>
              <a:noFill/>
              <a:ln>
                <a:noFill/>
              </a:ln>
            </p:spPr>
            <p:txBody>
              <a:bodyPr spcFirstLastPara="1" wrap="square" lIns="190500" tIns="0" rIns="0" bIns="0" anchor="ctr" anchorCtr="0">
                <a:noAutofit/>
              </a:bodyPr>
              <a:lstStyle/>
              <a:p>
                <a:pPr marL="0" lvl="0" indent="0" algn="l" rtl="0">
                  <a:spcBef>
                    <a:spcPts val="0"/>
                  </a:spcBef>
                  <a:spcAft>
                    <a:spcPts val="0"/>
                  </a:spcAft>
                  <a:buNone/>
                </a:pPr>
                <a:r>
                  <a:rPr lang="en-US" sz="900" b="1">
                    <a:solidFill>
                      <a:srgbClr val="FFFFFF"/>
                    </a:solidFill>
                    <a:latin typeface="Space Grotesk"/>
                    <a:ea typeface="Space Grotesk"/>
                    <a:cs typeface="Space Grotesk"/>
                    <a:sym typeface="Space Grotesk"/>
                  </a:rPr>
                  <a:t>Crystal Paradigm Delivers</a:t>
                </a:r>
                <a:endParaRPr sz="900" b="1">
                  <a:solidFill>
                    <a:srgbClr val="FFFFFF"/>
                  </a:solidFill>
                  <a:latin typeface="Space Grotesk"/>
                  <a:ea typeface="Space Grotesk"/>
                  <a:cs typeface="Space Grotesk"/>
                  <a:sym typeface="Space Grotesk"/>
                </a:endParaRPr>
              </a:p>
            </p:txBody>
          </p:sp>
          <p:sp>
            <p:nvSpPr>
              <p:cNvPr id="491" name="Google Shape;491;p11"/>
              <p:cNvSpPr txBox="1"/>
              <p:nvPr/>
            </p:nvSpPr>
            <p:spPr>
              <a:xfrm>
                <a:off x="5524500" y="2381250"/>
                <a:ext cx="3190800" cy="381000"/>
              </a:xfrm>
              <a:prstGeom prst="rect">
                <a:avLst/>
              </a:prstGeom>
              <a:noFill/>
              <a:ln>
                <a:noFill/>
              </a:ln>
            </p:spPr>
            <p:txBody>
              <a:bodyPr spcFirstLastPara="1" wrap="square" lIns="190500" tIns="0" rIns="0" bIns="0" anchor="ctr" anchorCtr="0">
                <a:noAutofit/>
              </a:bodyPr>
              <a:lstStyle/>
              <a:p>
                <a:pPr marL="0" lvl="0" indent="0" algn="l" rtl="0">
                  <a:spcBef>
                    <a:spcPts val="0"/>
                  </a:spcBef>
                  <a:spcAft>
                    <a:spcPts val="0"/>
                  </a:spcAft>
                  <a:buNone/>
                </a:pPr>
                <a:r>
                  <a:rPr lang="en-US" sz="900" b="1">
                    <a:solidFill>
                      <a:srgbClr val="FFFFFF"/>
                    </a:solidFill>
                    <a:latin typeface="Space Grotesk"/>
                    <a:ea typeface="Space Grotesk"/>
                    <a:cs typeface="Space Grotesk"/>
                    <a:sym typeface="Space Grotesk"/>
                  </a:rPr>
                  <a:t>What We Need from SCIDIP</a:t>
                </a:r>
                <a:endParaRPr sz="900" b="1">
                  <a:solidFill>
                    <a:srgbClr val="FFFFFF"/>
                  </a:solidFill>
                  <a:latin typeface="Space Grotesk"/>
                  <a:ea typeface="Space Grotesk"/>
                  <a:cs typeface="Space Grotesk"/>
                  <a:sym typeface="Space Grotesk"/>
                </a:endParaRPr>
              </a:p>
            </p:txBody>
          </p:sp>
          <p:grpSp>
            <p:nvGrpSpPr>
              <p:cNvPr id="492" name="Google Shape;492;p11"/>
              <p:cNvGrpSpPr/>
              <p:nvPr/>
            </p:nvGrpSpPr>
            <p:grpSpPr>
              <a:xfrm>
                <a:off x="428625" y="2809875"/>
                <a:ext cx="8286900" cy="762000"/>
                <a:chOff x="428625" y="2809875"/>
                <a:chExt cx="8286900" cy="762000"/>
              </a:xfrm>
            </p:grpSpPr>
            <p:sp>
              <p:nvSpPr>
                <p:cNvPr id="493" name="Google Shape;493;p11"/>
                <p:cNvSpPr/>
                <p:nvPr/>
              </p:nvSpPr>
              <p:spPr>
                <a:xfrm>
                  <a:off x="428625" y="2809875"/>
                  <a:ext cx="8286900" cy="762000"/>
                </a:xfrm>
                <a:prstGeom prst="roundRect">
                  <a:avLst>
                    <a:gd name="adj" fmla="val 5000"/>
                  </a:avLst>
                </a:prstGeom>
                <a:solidFill>
                  <a:srgbClr val="F8FA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94" name="Google Shape;494;p11"/>
                <p:cNvSpPr txBox="1"/>
                <p:nvPr/>
              </p:nvSpPr>
              <p:spPr>
                <a:xfrm>
                  <a:off x="428625" y="2809875"/>
                  <a:ext cx="1905000" cy="762000"/>
                </a:xfrm>
                <a:prstGeom prst="rect">
                  <a:avLst/>
                </a:prstGeom>
                <a:noFill/>
                <a:ln>
                  <a:noFill/>
                </a:ln>
              </p:spPr>
              <p:txBody>
                <a:bodyPr spcFirstLastPara="1" wrap="square" lIns="190500" tIns="0" rIns="0" bIns="0" anchor="ctr" anchorCtr="0">
                  <a:noAutofit/>
                </a:bodyPr>
                <a:lstStyle/>
                <a:p>
                  <a:pPr marL="0" lvl="0" indent="0" algn="l" rtl="0">
                    <a:spcBef>
                      <a:spcPts val="0"/>
                    </a:spcBef>
                    <a:spcAft>
                      <a:spcPts val="0"/>
                    </a:spcAft>
                    <a:buNone/>
                  </a:pPr>
                  <a:r>
                    <a:rPr lang="en-US" sz="900" b="1">
                      <a:solidFill>
                        <a:srgbClr val="1A365D"/>
                      </a:solidFill>
                      <a:latin typeface="Inter"/>
                      <a:ea typeface="Inter"/>
                      <a:cs typeface="Inter"/>
                      <a:sym typeface="Inter"/>
                    </a:rPr>
                    <a:t>Phase 1:</a:t>
                  </a:r>
                  <a:endParaRPr sz="900" b="1">
                    <a:solidFill>
                      <a:srgbClr val="1A365D"/>
                    </a:solidFill>
                    <a:latin typeface="Inter"/>
                    <a:ea typeface="Inter"/>
                    <a:cs typeface="Inter"/>
                    <a:sym typeface="Inter"/>
                  </a:endParaRPr>
                </a:p>
                <a:p>
                  <a:pPr marL="0" lvl="0" indent="0" algn="l" rtl="0">
                    <a:spcBef>
                      <a:spcPts val="0"/>
                    </a:spcBef>
                    <a:spcAft>
                      <a:spcPts val="0"/>
                    </a:spcAft>
                    <a:buNone/>
                  </a:pPr>
                  <a:r>
                    <a:rPr lang="en-US" sz="900">
                      <a:solidFill>
                        <a:srgbClr val="1A365D"/>
                      </a:solidFill>
                      <a:latin typeface="Inter"/>
                      <a:ea typeface="Inter"/>
                      <a:cs typeface="Inter"/>
                      <a:sym typeface="Inter"/>
                    </a:rPr>
                    <a:t>Shared POC Sprint</a:t>
                  </a:r>
                  <a:endParaRPr sz="900">
                    <a:solidFill>
                      <a:srgbClr val="1A365D"/>
                    </a:solidFill>
                    <a:latin typeface="Inter"/>
                    <a:ea typeface="Inter"/>
                    <a:cs typeface="Inter"/>
                    <a:sym typeface="Inter"/>
                  </a:endParaRPr>
                </a:p>
              </p:txBody>
            </p:sp>
            <p:sp>
              <p:nvSpPr>
                <p:cNvPr id="495" name="Google Shape;495;p11"/>
                <p:cNvSpPr txBox="1"/>
                <p:nvPr/>
              </p:nvSpPr>
              <p:spPr>
                <a:xfrm>
                  <a:off x="2333625" y="2809875"/>
                  <a:ext cx="3190800" cy="762000"/>
                </a:xfrm>
                <a:prstGeom prst="rect">
                  <a:avLst/>
                </a:prstGeom>
                <a:noFill/>
                <a:ln>
                  <a:noFill/>
                </a:ln>
              </p:spPr>
              <p:txBody>
                <a:bodyPr spcFirstLastPara="1" wrap="square" lIns="190500" tIns="0" rIns="190500" bIns="0" anchor="ctr" anchorCtr="0">
                  <a:noAutofit/>
                </a:bodyPr>
                <a:lstStyle/>
                <a:p>
                  <a:pPr marL="0" lvl="0" indent="0" algn="l" rtl="0">
                    <a:spcBef>
                      <a:spcPts val="0"/>
                    </a:spcBef>
                    <a:spcAft>
                      <a:spcPts val="0"/>
                    </a:spcAft>
                    <a:buNone/>
                  </a:pPr>
                  <a:r>
                    <a:rPr lang="en-US" sz="850">
                      <a:solidFill>
                        <a:srgbClr val="475569"/>
                      </a:solidFill>
                      <a:latin typeface="Inter"/>
                      <a:ea typeface="Inter"/>
                      <a:cs typeface="Inter"/>
                      <a:sym typeface="Inter"/>
                    </a:rPr>
                    <a:t>Deliver production-ready AI models, complete multi-physics validation, and provide all digital twin data.</a:t>
                  </a:r>
                  <a:endParaRPr sz="850">
                    <a:solidFill>
                      <a:srgbClr val="475569"/>
                    </a:solidFill>
                    <a:latin typeface="Inter"/>
                    <a:ea typeface="Inter"/>
                    <a:cs typeface="Inter"/>
                    <a:sym typeface="Inter"/>
                  </a:endParaRPr>
                </a:p>
              </p:txBody>
            </p:sp>
            <p:sp>
              <p:nvSpPr>
                <p:cNvPr id="496" name="Google Shape;496;p11"/>
                <p:cNvSpPr txBox="1"/>
                <p:nvPr/>
              </p:nvSpPr>
              <p:spPr>
                <a:xfrm>
                  <a:off x="5524500" y="2809875"/>
                  <a:ext cx="3190800" cy="762000"/>
                </a:xfrm>
                <a:prstGeom prst="rect">
                  <a:avLst/>
                </a:prstGeom>
                <a:noFill/>
                <a:ln>
                  <a:noFill/>
                </a:ln>
              </p:spPr>
              <p:txBody>
                <a:bodyPr spcFirstLastPara="1" wrap="square" lIns="190500" tIns="0" rIns="190500" bIns="0" anchor="ctr" anchorCtr="0">
                  <a:noAutofit/>
                </a:bodyPr>
                <a:lstStyle/>
                <a:p>
                  <a:pPr marL="0" lvl="0" indent="0" algn="l" rtl="0">
                    <a:spcBef>
                      <a:spcPts val="0"/>
                    </a:spcBef>
                    <a:spcAft>
                      <a:spcPts val="0"/>
                    </a:spcAft>
                    <a:buNone/>
                  </a:pPr>
                  <a:r>
                    <a:rPr lang="en-US" sz="850">
                      <a:solidFill>
                        <a:srgbClr val="475569"/>
                      </a:solidFill>
                      <a:latin typeface="Inter"/>
                      <a:ea typeface="Inter"/>
                      <a:cs typeface="Inter"/>
                      <a:sym typeface="Inter"/>
                    </a:rPr>
                    <a:t>Access to IIT Delhi HPC resources and faculty mentorship on materials characterization methodology.</a:t>
                  </a:r>
                  <a:endParaRPr sz="850">
                    <a:solidFill>
                      <a:srgbClr val="475569"/>
                    </a:solidFill>
                    <a:latin typeface="Inter"/>
                    <a:ea typeface="Inter"/>
                    <a:cs typeface="Inter"/>
                    <a:sym typeface="Inter"/>
                  </a:endParaRPr>
                </a:p>
              </p:txBody>
            </p:sp>
          </p:grpSp>
          <p:grpSp>
            <p:nvGrpSpPr>
              <p:cNvPr id="497" name="Google Shape;497;p11"/>
              <p:cNvGrpSpPr/>
              <p:nvPr/>
            </p:nvGrpSpPr>
            <p:grpSpPr>
              <a:xfrm>
                <a:off x="428625" y="3619500"/>
                <a:ext cx="8286900" cy="762000"/>
                <a:chOff x="428625" y="3619500"/>
                <a:chExt cx="8286900" cy="762000"/>
              </a:xfrm>
            </p:grpSpPr>
            <p:sp>
              <p:nvSpPr>
                <p:cNvPr id="498" name="Google Shape;498;p11"/>
                <p:cNvSpPr/>
                <p:nvPr/>
              </p:nvSpPr>
              <p:spPr>
                <a:xfrm>
                  <a:off x="428625" y="3619500"/>
                  <a:ext cx="8286900" cy="762000"/>
                </a:xfrm>
                <a:prstGeom prst="roundRect">
                  <a:avLst>
                    <a:gd name="adj" fmla="val 5000"/>
                  </a:avLst>
                </a:prstGeom>
                <a:solidFill>
                  <a:srgbClr val="FFFFFF"/>
                </a:solidFill>
                <a:ln w="9525" cap="flat" cmpd="sng">
                  <a:solidFill>
                    <a:srgbClr val="F1F5F9"/>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99" name="Google Shape;499;p11"/>
                <p:cNvSpPr txBox="1"/>
                <p:nvPr/>
              </p:nvSpPr>
              <p:spPr>
                <a:xfrm>
                  <a:off x="428625" y="3619500"/>
                  <a:ext cx="1905000" cy="762000"/>
                </a:xfrm>
                <a:prstGeom prst="rect">
                  <a:avLst/>
                </a:prstGeom>
                <a:noFill/>
                <a:ln>
                  <a:noFill/>
                </a:ln>
              </p:spPr>
              <p:txBody>
                <a:bodyPr spcFirstLastPara="1" wrap="square" lIns="190500" tIns="0" rIns="0" bIns="0" anchor="ctr" anchorCtr="0">
                  <a:noAutofit/>
                </a:bodyPr>
                <a:lstStyle/>
                <a:p>
                  <a:pPr marL="0" lvl="0" indent="0" algn="l" rtl="0">
                    <a:spcBef>
                      <a:spcPts val="0"/>
                    </a:spcBef>
                    <a:spcAft>
                      <a:spcPts val="0"/>
                    </a:spcAft>
                    <a:buNone/>
                  </a:pPr>
                  <a:r>
                    <a:rPr lang="en-US" sz="900" b="1">
                      <a:solidFill>
                        <a:srgbClr val="1A365D"/>
                      </a:solidFill>
                      <a:latin typeface="Inter"/>
                      <a:ea typeface="Inter"/>
                      <a:cs typeface="Inter"/>
                      <a:sym typeface="Inter"/>
                    </a:rPr>
                    <a:t>Phase 2:</a:t>
                  </a:r>
                  <a:endParaRPr sz="900" b="1">
                    <a:solidFill>
                      <a:srgbClr val="1A365D"/>
                    </a:solidFill>
                    <a:latin typeface="Inter"/>
                    <a:ea typeface="Inter"/>
                    <a:cs typeface="Inter"/>
                    <a:sym typeface="Inter"/>
                  </a:endParaRPr>
                </a:p>
                <a:p>
                  <a:pPr marL="0" lvl="0" indent="0" algn="l" rtl="0">
                    <a:spcBef>
                      <a:spcPts val="0"/>
                    </a:spcBef>
                    <a:spcAft>
                      <a:spcPts val="0"/>
                    </a:spcAft>
                    <a:buNone/>
                  </a:pPr>
                  <a:r>
                    <a:rPr lang="en-US" sz="900">
                      <a:solidFill>
                        <a:srgbClr val="1A365D"/>
                      </a:solidFill>
                      <a:latin typeface="Inter"/>
                      <a:ea typeface="Inter"/>
                      <a:cs typeface="Inter"/>
                      <a:sym typeface="Inter"/>
                    </a:rPr>
                    <a:t>Scale-Out JDA</a:t>
                  </a:r>
                  <a:endParaRPr sz="900">
                    <a:solidFill>
                      <a:srgbClr val="1A365D"/>
                    </a:solidFill>
                    <a:latin typeface="Inter"/>
                    <a:ea typeface="Inter"/>
                    <a:cs typeface="Inter"/>
                    <a:sym typeface="Inter"/>
                  </a:endParaRPr>
                </a:p>
              </p:txBody>
            </p:sp>
            <p:sp>
              <p:nvSpPr>
                <p:cNvPr id="500" name="Google Shape;500;p11"/>
                <p:cNvSpPr txBox="1"/>
                <p:nvPr/>
              </p:nvSpPr>
              <p:spPr>
                <a:xfrm>
                  <a:off x="2333625" y="3619500"/>
                  <a:ext cx="3190800" cy="762000"/>
                </a:xfrm>
                <a:prstGeom prst="rect">
                  <a:avLst/>
                </a:prstGeom>
                <a:noFill/>
                <a:ln>
                  <a:noFill/>
                </a:ln>
              </p:spPr>
              <p:txBody>
                <a:bodyPr spcFirstLastPara="1" wrap="square" lIns="190500" tIns="0" rIns="190500" bIns="0" anchor="ctr" anchorCtr="0">
                  <a:noAutofit/>
                </a:bodyPr>
                <a:lstStyle/>
                <a:p>
                  <a:pPr marL="0" lvl="0" indent="0" algn="l" rtl="0">
                    <a:spcBef>
                      <a:spcPts val="0"/>
                    </a:spcBef>
                    <a:spcAft>
                      <a:spcPts val="0"/>
                    </a:spcAft>
                    <a:buNone/>
                  </a:pPr>
                  <a:r>
                    <a:rPr lang="en-US" sz="850">
                      <a:solidFill>
                        <a:srgbClr val="475569"/>
                      </a:solidFill>
                      <a:latin typeface="Inter"/>
                      <a:ea typeface="Inter"/>
                      <a:cs typeface="Inter"/>
                      <a:sym typeface="Inter"/>
                    </a:rPr>
                    <a:t>Provide 11-layer FGM manufacturing recipes and oversee coupon fabrication &amp; validation.</a:t>
                  </a:r>
                  <a:endParaRPr sz="850">
                    <a:solidFill>
                      <a:srgbClr val="475569"/>
                    </a:solidFill>
                    <a:latin typeface="Inter"/>
                    <a:ea typeface="Inter"/>
                    <a:cs typeface="Inter"/>
                    <a:sym typeface="Inter"/>
                  </a:endParaRPr>
                </a:p>
              </p:txBody>
            </p:sp>
            <p:sp>
              <p:nvSpPr>
                <p:cNvPr id="501" name="Google Shape;501;p11"/>
                <p:cNvSpPr txBox="1"/>
                <p:nvPr/>
              </p:nvSpPr>
              <p:spPr>
                <a:xfrm>
                  <a:off x="5524500" y="3619500"/>
                  <a:ext cx="3190800" cy="762000"/>
                </a:xfrm>
                <a:prstGeom prst="rect">
                  <a:avLst/>
                </a:prstGeom>
                <a:noFill/>
                <a:ln>
                  <a:noFill/>
                </a:ln>
              </p:spPr>
              <p:txBody>
                <a:bodyPr spcFirstLastPara="1" wrap="square" lIns="190500" tIns="0" rIns="190500" bIns="0" anchor="ctr" anchorCtr="0">
                  <a:noAutofit/>
                </a:bodyPr>
                <a:lstStyle/>
                <a:p>
                  <a:pPr marL="0" lvl="0" indent="0" algn="l" rtl="0">
                    <a:spcBef>
                      <a:spcPts val="0"/>
                    </a:spcBef>
                    <a:spcAft>
                      <a:spcPts val="0"/>
                    </a:spcAft>
                    <a:buNone/>
                  </a:pPr>
                  <a:r>
                    <a:rPr lang="en-US" sz="850">
                      <a:solidFill>
                        <a:srgbClr val="475569"/>
                      </a:solidFill>
                      <a:latin typeface="Inter"/>
                      <a:ea typeface="Inter"/>
                      <a:cs typeface="Inter"/>
                      <a:sym typeface="Inter"/>
                    </a:rPr>
                    <a:t>Access to high-temperature burner rigs, LENS/DED labs, SEM/EDS/XRD equipment, and TGA facilities.</a:t>
                  </a:r>
                  <a:endParaRPr sz="850">
                    <a:solidFill>
                      <a:srgbClr val="475569"/>
                    </a:solidFill>
                    <a:latin typeface="Inter"/>
                    <a:ea typeface="Inter"/>
                    <a:cs typeface="Inter"/>
                    <a:sym typeface="Inter"/>
                  </a:endParaRPr>
                </a:p>
              </p:txBody>
            </p:sp>
          </p:grpSp>
        </p:grpSp>
        <p:sp>
          <p:nvSpPr>
            <p:cNvPr id="502" name="Google Shape;502;p11"/>
            <p:cNvSpPr txBox="1"/>
            <p:nvPr/>
          </p:nvSpPr>
          <p:spPr>
            <a:xfrm>
              <a:off x="428625" y="4524375"/>
              <a:ext cx="8286900" cy="190500"/>
            </a:xfrm>
            <a:prstGeom prst="rect">
              <a:avLst/>
            </a:prstGeom>
            <a:noFill/>
            <a:ln>
              <a:noFill/>
            </a:ln>
          </p:spPr>
          <p:txBody>
            <a:bodyPr spcFirstLastPara="1" wrap="square" lIns="190500" tIns="0" rIns="0" bIns="0" anchor="t" anchorCtr="0">
              <a:noAutofit/>
            </a:bodyPr>
            <a:lstStyle/>
            <a:p>
              <a:pPr marL="0" lvl="0" indent="0" algn="l" rtl="0">
                <a:spcBef>
                  <a:spcPts val="0"/>
                </a:spcBef>
                <a:spcAft>
                  <a:spcPts val="0"/>
                </a:spcAft>
                <a:buNone/>
              </a:pPr>
              <a:r>
                <a:rPr lang="en-US" sz="750" b="0">
                  <a:solidFill>
                    <a:srgbClr val="94A3B8"/>
                  </a:solidFill>
                  <a:latin typeface="Inter"/>
                  <a:ea typeface="Inter"/>
                  <a:cs typeface="Inter"/>
                  <a:sym typeface="Inter"/>
                </a:rPr>
                <a:t>*Transitioning to a structured technology licensing model upon POC validation. Platform Application: Precision Forging, EV Thermal Management, and Railway Systems.</a:t>
              </a:r>
              <a:endParaRPr sz="750" b="0">
                <a:solidFill>
                  <a:srgbClr val="94A3B8"/>
                </a:solidFill>
                <a:latin typeface="Inter"/>
                <a:ea typeface="Inter"/>
                <a:cs typeface="Inter"/>
                <a:sym typeface="Inter"/>
              </a:endParaRPr>
            </a:p>
          </p:txBody>
        </p:sp>
      </p:gr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9144000" cy="868680"/>
          </a:xfrm>
          <a:prstGeom prst="rect">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9144000" cy="36576"/>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8229600" cy="347472"/>
          </a:xfrm>
          <a:prstGeom prst="rect">
            <a:avLst/>
          </a:prstGeom>
          <a:noFill/>
        </p:spPr>
        <p:txBody>
          <a:bodyPr wrap="square">
            <a:spAutoFit/>
          </a:bodyPr>
          <a:lstStyle/>
          <a:p>
            <a:pPr algn="l"/>
            <a:r>
              <a:rPr sz="1800" b="1" i="0">
                <a:solidFill>
                  <a:srgbClr val="FFFFFF"/>
                </a:solidFill>
              </a:rPr>
              <a:t>THE SCIDIP CROSSOVER: FROM AEROSPACE TO EPIC MOBILITY</a:t>
            </a:r>
          </a:p>
        </p:txBody>
      </p:sp>
      <p:sp>
        <p:nvSpPr>
          <p:cNvPr id="5" name="TextBox 4"/>
          <p:cNvSpPr txBox="1"/>
          <p:nvPr/>
        </p:nvSpPr>
        <p:spPr>
          <a:xfrm>
            <a:off x="365760" y="502920"/>
            <a:ext cx="8229600" cy="256032"/>
          </a:xfrm>
          <a:prstGeom prst="rect">
            <a:avLst/>
          </a:prstGeom>
          <a:noFill/>
        </p:spPr>
        <p:txBody>
          <a:bodyPr wrap="square">
            <a:spAutoFit/>
          </a:bodyPr>
          <a:lstStyle/>
          <a:p>
            <a:pPr algn="l"/>
            <a:r>
              <a:rPr sz="900" b="0" i="0">
                <a:solidFill>
                  <a:srgbClr val="00B4D8"/>
                </a:solidFill>
              </a:rPr>
              <a:t>If our AI can prevent a jet turbine from melting at 1400°C, it can revolutionize terrestrial mobility.</a:t>
            </a:r>
          </a:p>
        </p:txBody>
      </p:sp>
      <p:sp>
        <p:nvSpPr>
          <p:cNvPr id="6" name="Rectangle 5"/>
          <p:cNvSpPr/>
          <p:nvPr/>
        </p:nvSpPr>
        <p:spPr>
          <a:xfrm>
            <a:off x="8686800" y="182880"/>
            <a:ext cx="73152" cy="73152"/>
          </a:xfrm>
          <a:prstGeom prst="roundRect">
            <a:avLst>
              <a:gd name="adj" fmla="val 50000"/>
            </a:avLst>
          </a:prstGeom>
          <a:solidFill>
            <a:srgbClr val="2BDE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549640" y="320040"/>
            <a:ext cx="73152" cy="73152"/>
          </a:xfrm>
          <a:prstGeom prst="roundRect">
            <a:avLst>
              <a:gd name="adj" fmla="val 5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412480" y="164592"/>
            <a:ext cx="73152" cy="73152"/>
          </a:xfrm>
          <a:prstGeom prst="roundRect">
            <a:avLst>
              <a:gd name="adj" fmla="val 50000"/>
            </a:avLst>
          </a:prstGeom>
          <a:solidFill>
            <a:srgbClr val="00E5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1005840"/>
            <a:ext cx="8412480" cy="384048"/>
          </a:xfrm>
          <a:prstGeom prst="rect">
            <a:avLst/>
          </a:prstGeom>
          <a:noFill/>
        </p:spPr>
        <p:txBody>
          <a:bodyPr wrap="square">
            <a:spAutoFit/>
          </a:bodyPr>
          <a:lstStyle/>
          <a:p>
            <a:pPr algn="l"/>
            <a:r>
              <a:rPr sz="950" b="0" i="0">
                <a:solidFill>
                  <a:srgbClr val="5580A0"/>
                </a:solidFill>
              </a:rPr>
              <a:t>We are entering the IIT Delhi SCIDIP program under the Advanced Materials category because Sona Comstar's EPIC roadmap is directly bottlenecked by the same thermodynamics that cap aerospace performance.</a:t>
            </a:r>
          </a:p>
        </p:txBody>
      </p:sp>
      <p:sp>
        <p:nvSpPr>
          <p:cNvPr id="10" name="Rectangle 9"/>
          <p:cNvSpPr/>
          <p:nvPr/>
        </p:nvSpPr>
        <p:spPr>
          <a:xfrm>
            <a:off x="274320" y="1444752"/>
            <a:ext cx="2423160" cy="1664208"/>
          </a:xfrm>
          <a:prstGeom prst="roundRect">
            <a:avLst>
              <a:gd name="adj" fmla="val 10000"/>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74320" y="1444752"/>
            <a:ext cx="2423160" cy="36576"/>
          </a:xfrm>
          <a:prstGeom prst="roundRect">
            <a:avLst>
              <a:gd name="adj" fmla="val 10000"/>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84048" y="1517904"/>
            <a:ext cx="2240279" cy="292608"/>
          </a:xfrm>
          <a:prstGeom prst="rect">
            <a:avLst/>
          </a:prstGeom>
          <a:noFill/>
        </p:spPr>
        <p:txBody>
          <a:bodyPr wrap="square">
            <a:spAutoFit/>
          </a:bodyPr>
          <a:lstStyle/>
          <a:p>
            <a:pPr algn="ctr"/>
            <a:r>
              <a:rPr sz="800" b="1" i="0">
                <a:solidFill>
                  <a:srgbClr val="1A365D"/>
                </a:solidFill>
              </a:rPr>
              <a:t>AEROSPACE
EXTREMES</a:t>
            </a:r>
          </a:p>
        </p:txBody>
      </p:sp>
      <p:sp>
        <p:nvSpPr>
          <p:cNvPr id="13" name="Rectangle 12"/>
          <p:cNvSpPr/>
          <p:nvPr/>
        </p:nvSpPr>
        <p:spPr>
          <a:xfrm>
            <a:off x="438912" y="1828800"/>
            <a:ext cx="2093976" cy="594360"/>
          </a:xfrm>
          <a:prstGeom prst="roundRect">
            <a:avLst>
              <a:gd name="adj" fmla="val 8000"/>
            </a:avLst>
          </a:prstGeom>
          <a:solidFill>
            <a:srgbClr val="F8FAFC"/>
          </a:solidFill>
          <a:ln w="635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8912" y="1874519"/>
            <a:ext cx="2093976" cy="502920"/>
          </a:xfrm>
          <a:prstGeom prst="rect">
            <a:avLst/>
          </a:prstGeom>
          <a:noFill/>
        </p:spPr>
        <p:txBody>
          <a:bodyPr wrap="square">
            <a:spAutoFit/>
          </a:bodyPr>
          <a:lstStyle/>
          <a:p>
            <a:pPr algn="ctr"/>
            <a:r>
              <a:rPr sz="1400" b="1" i="0">
                <a:solidFill>
                  <a:srgbClr val="1A365D"/>
                </a:solidFill>
              </a:rPr>
              <a:t>1400°C
Turbine TET</a:t>
            </a:r>
          </a:p>
        </p:txBody>
      </p:sp>
      <p:sp>
        <p:nvSpPr>
          <p:cNvPr id="15" name="TextBox 14"/>
          <p:cNvSpPr txBox="1"/>
          <p:nvPr/>
        </p:nvSpPr>
        <p:spPr>
          <a:xfrm>
            <a:off x="384048" y="2487168"/>
            <a:ext cx="2240279" cy="502920"/>
          </a:xfrm>
          <a:prstGeom prst="rect">
            <a:avLst/>
          </a:prstGeom>
          <a:noFill/>
        </p:spPr>
        <p:txBody>
          <a:bodyPr wrap="square">
            <a:spAutoFit/>
          </a:bodyPr>
          <a:lstStyle/>
          <a:p>
            <a:pPr algn="ctr"/>
            <a:r>
              <a:rPr sz="850" b="0" i="0">
                <a:solidFill>
                  <a:srgbClr val="5580A0"/>
                </a:solidFill>
              </a:rPr>
              <a:t>Safran RISE Program</a:t>
            </a:r>
          </a:p>
        </p:txBody>
      </p:sp>
      <p:sp>
        <p:nvSpPr>
          <p:cNvPr id="16" name="TextBox 15"/>
          <p:cNvSpPr txBox="1"/>
          <p:nvPr/>
        </p:nvSpPr>
        <p:spPr>
          <a:xfrm>
            <a:off x="2752344" y="1847088"/>
            <a:ext cx="411480" cy="365760"/>
          </a:xfrm>
          <a:prstGeom prst="rect">
            <a:avLst/>
          </a:prstGeom>
          <a:noFill/>
        </p:spPr>
        <p:txBody>
          <a:bodyPr wrap="square">
            <a:spAutoFit/>
          </a:bodyPr>
          <a:lstStyle/>
          <a:p>
            <a:pPr algn="ctr"/>
            <a:r>
              <a:rPr sz="2000" b="1" i="0">
                <a:solidFill>
                  <a:srgbClr val="00B4D8"/>
                </a:solidFill>
              </a:rPr>
              <a:t>→</a:t>
            </a:r>
          </a:p>
        </p:txBody>
      </p:sp>
      <p:sp>
        <p:nvSpPr>
          <p:cNvPr id="17" name="Rectangle 16"/>
          <p:cNvSpPr/>
          <p:nvPr/>
        </p:nvSpPr>
        <p:spPr>
          <a:xfrm>
            <a:off x="3200400" y="1444752"/>
            <a:ext cx="2423160" cy="1664208"/>
          </a:xfrm>
          <a:prstGeom prst="roundRect">
            <a:avLst>
              <a:gd name="adj" fmla="val 10000"/>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200400" y="1444752"/>
            <a:ext cx="2423160" cy="36576"/>
          </a:xfrm>
          <a:prstGeom prst="roundRect">
            <a:avLst>
              <a:gd name="adj" fmla="val 1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310128" y="1517904"/>
            <a:ext cx="2240279" cy="292608"/>
          </a:xfrm>
          <a:prstGeom prst="rect">
            <a:avLst/>
          </a:prstGeom>
          <a:noFill/>
        </p:spPr>
        <p:txBody>
          <a:bodyPr wrap="square">
            <a:spAutoFit/>
          </a:bodyPr>
          <a:lstStyle/>
          <a:p>
            <a:pPr algn="ctr"/>
            <a:r>
              <a:rPr sz="800" b="1" i="0">
                <a:solidFill>
                  <a:srgbClr val="00B4D8"/>
                </a:solidFill>
              </a:rPr>
              <a:t>CRYSTAL PARADIGM
AI ENGINE</a:t>
            </a:r>
          </a:p>
        </p:txBody>
      </p:sp>
      <p:sp>
        <p:nvSpPr>
          <p:cNvPr id="20" name="Rectangle 19"/>
          <p:cNvSpPr/>
          <p:nvPr/>
        </p:nvSpPr>
        <p:spPr>
          <a:xfrm>
            <a:off x="3364992" y="1828800"/>
            <a:ext cx="2093976" cy="594360"/>
          </a:xfrm>
          <a:prstGeom prst="roundRect">
            <a:avLst>
              <a:gd name="adj" fmla="val 8000"/>
            </a:avLst>
          </a:prstGeom>
          <a:solidFill>
            <a:srgbClr val="F8FAFC"/>
          </a:solidFill>
          <a:ln w="63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364992" y="1874519"/>
            <a:ext cx="2093976" cy="502920"/>
          </a:xfrm>
          <a:prstGeom prst="rect">
            <a:avLst/>
          </a:prstGeom>
          <a:noFill/>
        </p:spPr>
        <p:txBody>
          <a:bodyPr wrap="square">
            <a:spAutoFit/>
          </a:bodyPr>
          <a:lstStyle/>
          <a:p>
            <a:pPr algn="ctr"/>
            <a:r>
              <a:rPr sz="1400" b="1" i="0">
                <a:solidFill>
                  <a:srgbClr val="00B4D8"/>
                </a:solidFill>
              </a:rPr>
              <a:t>Universal
Materials Optimizer</a:t>
            </a:r>
          </a:p>
        </p:txBody>
      </p:sp>
      <p:sp>
        <p:nvSpPr>
          <p:cNvPr id="22" name="TextBox 21"/>
          <p:cNvSpPr txBox="1"/>
          <p:nvPr/>
        </p:nvSpPr>
        <p:spPr>
          <a:xfrm>
            <a:off x="3310128" y="2487168"/>
            <a:ext cx="2240279" cy="502920"/>
          </a:xfrm>
          <a:prstGeom prst="rect">
            <a:avLst/>
          </a:prstGeom>
          <a:noFill/>
        </p:spPr>
        <p:txBody>
          <a:bodyPr wrap="square">
            <a:spAutoFit/>
          </a:bodyPr>
          <a:lstStyle/>
          <a:p>
            <a:pPr algn="ctr"/>
            <a:r>
              <a:rPr sz="850" b="0" i="0">
                <a:solidFill>
                  <a:srgbClr val="5580A0"/>
                </a:solidFill>
              </a:rPr>
              <a:t>9-Element RHEA + 11-Layer FGM</a:t>
            </a:r>
          </a:p>
        </p:txBody>
      </p:sp>
      <p:sp>
        <p:nvSpPr>
          <p:cNvPr id="23" name="TextBox 22"/>
          <p:cNvSpPr txBox="1"/>
          <p:nvPr/>
        </p:nvSpPr>
        <p:spPr>
          <a:xfrm>
            <a:off x="5678424" y="1847088"/>
            <a:ext cx="411480" cy="365760"/>
          </a:xfrm>
          <a:prstGeom prst="rect">
            <a:avLst/>
          </a:prstGeom>
          <a:noFill/>
        </p:spPr>
        <p:txBody>
          <a:bodyPr wrap="square">
            <a:spAutoFit/>
          </a:bodyPr>
          <a:lstStyle/>
          <a:p>
            <a:pPr algn="ctr"/>
            <a:r>
              <a:rPr sz="2000" b="1" i="0">
                <a:solidFill>
                  <a:srgbClr val="00B4D8"/>
                </a:solidFill>
              </a:rPr>
              <a:t>→</a:t>
            </a:r>
          </a:p>
        </p:txBody>
      </p:sp>
      <p:sp>
        <p:nvSpPr>
          <p:cNvPr id="24" name="Rectangle 23"/>
          <p:cNvSpPr/>
          <p:nvPr/>
        </p:nvSpPr>
        <p:spPr>
          <a:xfrm>
            <a:off x="6126480" y="1444752"/>
            <a:ext cx="2423160" cy="1664208"/>
          </a:xfrm>
          <a:prstGeom prst="roundRect">
            <a:avLst>
              <a:gd name="adj" fmla="val 10000"/>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26480" y="1444752"/>
            <a:ext cx="2423160" cy="36576"/>
          </a:xfrm>
          <a:prstGeom prst="roundRect">
            <a:avLst>
              <a:gd name="adj" fmla="val 10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36208" y="1517904"/>
            <a:ext cx="2240279" cy="292608"/>
          </a:xfrm>
          <a:prstGeom prst="rect">
            <a:avLst/>
          </a:prstGeom>
          <a:noFill/>
        </p:spPr>
        <p:txBody>
          <a:bodyPr wrap="square">
            <a:spAutoFit/>
          </a:bodyPr>
          <a:lstStyle/>
          <a:p>
            <a:pPr algn="ctr"/>
            <a:r>
              <a:rPr sz="800" b="1" i="0">
                <a:solidFill>
                  <a:srgbClr val="059669"/>
                </a:solidFill>
              </a:rPr>
              <a:t>SONA COMSTAR
EPIC ROADMAP</a:t>
            </a:r>
          </a:p>
        </p:txBody>
      </p:sp>
      <p:sp>
        <p:nvSpPr>
          <p:cNvPr id="27" name="Rectangle 26"/>
          <p:cNvSpPr/>
          <p:nvPr/>
        </p:nvSpPr>
        <p:spPr>
          <a:xfrm>
            <a:off x="6291072" y="1828800"/>
            <a:ext cx="2093976" cy="594360"/>
          </a:xfrm>
          <a:prstGeom prst="roundRect">
            <a:avLst>
              <a:gd name="adj" fmla="val 8000"/>
            </a:avLst>
          </a:prstGeom>
          <a:solidFill>
            <a:srgbClr val="F8FAFC"/>
          </a:solidFill>
          <a:ln w="63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91072" y="1874519"/>
            <a:ext cx="2093976" cy="502920"/>
          </a:xfrm>
          <a:prstGeom prst="rect">
            <a:avLst/>
          </a:prstGeom>
          <a:noFill/>
        </p:spPr>
        <p:txBody>
          <a:bodyPr wrap="square">
            <a:spAutoFit/>
          </a:bodyPr>
          <a:lstStyle/>
          <a:p>
            <a:pPr algn="ctr"/>
            <a:r>
              <a:rPr sz="1400" b="1" i="0">
                <a:solidFill>
                  <a:srgbClr val="059669"/>
                </a:solidFill>
              </a:rPr>
              <a:t>H13 Dies &amp;
EV SRM Motors</a:t>
            </a:r>
          </a:p>
        </p:txBody>
      </p:sp>
      <p:sp>
        <p:nvSpPr>
          <p:cNvPr id="29" name="TextBox 28"/>
          <p:cNvSpPr txBox="1"/>
          <p:nvPr/>
        </p:nvSpPr>
        <p:spPr>
          <a:xfrm>
            <a:off x="6236208" y="2487168"/>
            <a:ext cx="2240279" cy="502920"/>
          </a:xfrm>
          <a:prstGeom prst="rect">
            <a:avLst/>
          </a:prstGeom>
          <a:noFill/>
        </p:spPr>
        <p:txBody>
          <a:bodyPr wrap="square">
            <a:spAutoFit/>
          </a:bodyPr>
          <a:lstStyle/>
          <a:p>
            <a:pPr algn="ctr"/>
            <a:r>
              <a:rPr sz="850" b="0" i="0">
                <a:solidFill>
                  <a:srgbClr val="5580A0"/>
                </a:solidFill>
              </a:rPr>
              <a:t>Electric · Personalized · Intelligent · Connected</a:t>
            </a:r>
          </a:p>
        </p:txBody>
      </p:sp>
      <p:sp>
        <p:nvSpPr>
          <p:cNvPr id="30" name="TextBox 29"/>
          <p:cNvSpPr txBox="1"/>
          <p:nvPr/>
        </p:nvSpPr>
        <p:spPr>
          <a:xfrm>
            <a:off x="365760" y="3218688"/>
            <a:ext cx="8412480" cy="201168"/>
          </a:xfrm>
          <a:prstGeom prst="rect">
            <a:avLst/>
          </a:prstGeom>
          <a:noFill/>
        </p:spPr>
        <p:txBody>
          <a:bodyPr wrap="square">
            <a:spAutoFit/>
          </a:bodyPr>
          <a:lstStyle/>
          <a:p>
            <a:pPr algn="l"/>
            <a:r>
              <a:rPr sz="900" b="1" i="0">
                <a:solidFill>
                  <a:srgbClr val="1A365D"/>
                </a:solidFill>
              </a:rPr>
              <a:t>THE TWO THERMAL BOTTLENECKS WE SOLVE FOR SONA COMSTAR</a:t>
            </a:r>
          </a:p>
        </p:txBody>
      </p:sp>
      <p:sp>
        <p:nvSpPr>
          <p:cNvPr id="31" name="Rectangle 30"/>
          <p:cNvSpPr/>
          <p:nvPr/>
        </p:nvSpPr>
        <p:spPr>
          <a:xfrm>
            <a:off x="365760" y="3429000"/>
            <a:ext cx="8412480" cy="2743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274320" y="3520440"/>
            <a:ext cx="4160520" cy="1115568"/>
          </a:xfrm>
          <a:prstGeom prst="roundRect">
            <a:avLst>
              <a:gd name="adj" fmla="val 10000"/>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274320" y="3520440"/>
            <a:ext cx="4160520" cy="36576"/>
          </a:xfrm>
          <a:prstGeom prst="roundRect">
            <a:avLst>
              <a:gd name="adj" fmla="val 10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84048" y="3602736"/>
            <a:ext cx="3931920" cy="201168"/>
          </a:xfrm>
          <a:prstGeom prst="rect">
            <a:avLst/>
          </a:prstGeom>
          <a:noFill/>
        </p:spPr>
        <p:txBody>
          <a:bodyPr wrap="square">
            <a:spAutoFit/>
          </a:bodyPr>
          <a:lstStyle/>
          <a:p>
            <a:pPr algn="l"/>
            <a:r>
              <a:rPr sz="800" b="1" i="0">
                <a:solidFill>
                  <a:srgbClr val="F59E0B"/>
                </a:solidFill>
              </a:rPr>
              <a:t>① PRECISION FORGING DIES (Driveline)</a:t>
            </a:r>
          </a:p>
        </p:txBody>
      </p:sp>
      <p:sp>
        <p:nvSpPr>
          <p:cNvPr id="35" name="TextBox 34"/>
          <p:cNvSpPr txBox="1"/>
          <p:nvPr/>
        </p:nvSpPr>
        <p:spPr>
          <a:xfrm>
            <a:off x="384048" y="3840480"/>
            <a:ext cx="3931920" cy="713232"/>
          </a:xfrm>
          <a:prstGeom prst="rect">
            <a:avLst/>
          </a:prstGeom>
          <a:noFill/>
        </p:spPr>
        <p:txBody>
          <a:bodyPr wrap="square">
            <a:spAutoFit/>
          </a:bodyPr>
          <a:lstStyle/>
          <a:p>
            <a:pPr algn="l"/>
            <a:r>
              <a:rPr sz="850" b="0" i="0">
                <a:solidFill>
                  <a:srgbClr val="111111"/>
                </a:solidFill>
              </a:rPr>
              <a:t>Legacy H13 tool steel dies suffer rapid thermal fatigue at 1200°C during high-speed gear forging. Our HEA retains &gt;917.7 MPa yield strength.</a:t>
            </a:r>
          </a:p>
        </p:txBody>
      </p:sp>
      <p:sp>
        <p:nvSpPr>
          <p:cNvPr id="36" name="Rectangle 35"/>
          <p:cNvSpPr/>
          <p:nvPr/>
        </p:nvSpPr>
        <p:spPr>
          <a:xfrm>
            <a:off x="4617720" y="3520440"/>
            <a:ext cx="4160520" cy="1115568"/>
          </a:xfrm>
          <a:prstGeom prst="roundRect">
            <a:avLst>
              <a:gd name="adj" fmla="val 10000"/>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617720" y="3520440"/>
            <a:ext cx="4160520" cy="36576"/>
          </a:xfrm>
          <a:prstGeom prst="roundRect">
            <a:avLst>
              <a:gd name="adj" fmla="val 10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727448" y="3602736"/>
            <a:ext cx="3931920" cy="201168"/>
          </a:xfrm>
          <a:prstGeom prst="rect">
            <a:avLst/>
          </a:prstGeom>
          <a:noFill/>
        </p:spPr>
        <p:txBody>
          <a:bodyPr wrap="square">
            <a:spAutoFit/>
          </a:bodyPr>
          <a:lstStyle/>
          <a:p>
            <a:pPr algn="l"/>
            <a:r>
              <a:rPr sz="800" b="1" i="0">
                <a:solidFill>
                  <a:srgbClr val="059669"/>
                </a:solidFill>
              </a:rPr>
              <a:t>② NEXT-GEN TRACTION MOTORS (Electric)</a:t>
            </a:r>
          </a:p>
        </p:txBody>
      </p:sp>
      <p:sp>
        <p:nvSpPr>
          <p:cNvPr id="39" name="TextBox 38"/>
          <p:cNvSpPr txBox="1"/>
          <p:nvPr/>
        </p:nvSpPr>
        <p:spPr>
          <a:xfrm>
            <a:off x="4727448" y="3840480"/>
            <a:ext cx="3931920" cy="713232"/>
          </a:xfrm>
          <a:prstGeom prst="rect">
            <a:avLst/>
          </a:prstGeom>
          <a:noFill/>
        </p:spPr>
        <p:txBody>
          <a:bodyPr wrap="square">
            <a:spAutoFit/>
          </a:bodyPr>
          <a:lstStyle/>
          <a:p>
            <a:pPr algn="l"/>
            <a:r>
              <a:rPr sz="850" b="0" i="0">
                <a:solidFill>
                  <a:srgbClr val="111111"/>
                </a:solidFill>
              </a:rPr>
              <a:t>As Sona Comstar scales magnet-less SRMs, traditional metals degrade under extreme localized thermal loads. Our FGM provides aerospace-grade thermal shielding.</a:t>
            </a:r>
          </a:p>
        </p:txBody>
      </p:sp>
      <p:sp>
        <p:nvSpPr>
          <p:cNvPr id="40" name="Rectangle 39"/>
          <p:cNvSpPr/>
          <p:nvPr/>
        </p:nvSpPr>
        <p:spPr>
          <a:xfrm>
            <a:off x="274320" y="4709160"/>
            <a:ext cx="790540" cy="164592"/>
          </a:xfrm>
          <a:prstGeom prst="rect">
            <a:avLst/>
          </a:prstGeom>
          <a:solidFill>
            <a:srgbClr val="00E5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1055716" y="4709160"/>
            <a:ext cx="790540" cy="164592"/>
          </a:xfrm>
          <a:prstGeom prst="rect">
            <a:avLst/>
          </a:prstGeom>
          <a:solidFill>
            <a:srgbClr val="17E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837112" y="4709160"/>
            <a:ext cx="790540" cy="164592"/>
          </a:xfrm>
          <a:prstGeom prst="rect">
            <a:avLst/>
          </a:prstGeom>
          <a:solidFill>
            <a:srgbClr val="2EE6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2618509" y="4709160"/>
            <a:ext cx="790540" cy="164592"/>
          </a:xfrm>
          <a:prstGeom prst="rect">
            <a:avLst/>
          </a:prstGeom>
          <a:solidFill>
            <a:srgbClr val="46E7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3399905" y="4709160"/>
            <a:ext cx="790540" cy="164592"/>
          </a:xfrm>
          <a:prstGeom prst="rect">
            <a:avLst/>
          </a:prstGeom>
          <a:solidFill>
            <a:srgbClr val="5DE8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4181301" y="4709160"/>
            <a:ext cx="790540" cy="164592"/>
          </a:xfrm>
          <a:prstGeom prst="rect">
            <a:avLst/>
          </a:prstGeom>
          <a:solidFill>
            <a:srgbClr val="74E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4962698" y="4709160"/>
            <a:ext cx="790540" cy="164592"/>
          </a:xfrm>
          <a:prstGeom prst="rect">
            <a:avLst/>
          </a:prstGeom>
          <a:solidFill>
            <a:srgbClr val="8BE9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744094" y="4709160"/>
            <a:ext cx="790540" cy="164592"/>
          </a:xfrm>
          <a:prstGeom prst="rect">
            <a:avLst/>
          </a:prstGeom>
          <a:solidFill>
            <a:srgbClr val="A2EA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525490" y="4709160"/>
            <a:ext cx="790540" cy="164592"/>
          </a:xfrm>
          <a:prstGeom prst="rect">
            <a:avLst/>
          </a:prstGeom>
          <a:solidFill>
            <a:srgbClr val="BAEB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306887" y="4709160"/>
            <a:ext cx="790540" cy="164592"/>
          </a:xfrm>
          <a:prstGeom prst="rect">
            <a:avLst/>
          </a:prstGeom>
          <a:solidFill>
            <a:srgbClr val="D1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8088283" y="4709160"/>
            <a:ext cx="790540" cy="164592"/>
          </a:xfrm>
          <a:prstGeom prst="rect">
            <a:avLst/>
          </a:prstGeom>
          <a:solidFill>
            <a:srgbClr val="E8EC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74320" y="4892040"/>
            <a:ext cx="8595360" cy="146304"/>
          </a:xfrm>
          <a:prstGeom prst="rect">
            <a:avLst/>
          </a:prstGeom>
          <a:noFill/>
        </p:spPr>
        <p:txBody>
          <a:bodyPr wrap="square">
            <a:spAutoFit/>
          </a:bodyPr>
          <a:lstStyle/>
          <a:p>
            <a:pPr algn="ctr"/>
            <a:r>
              <a:rPr sz="750" b="0" i="0">
                <a:solidFill>
                  <a:srgbClr val="5580A0"/>
                </a:solidFill>
              </a:rPr>
              <a:t>Layer 1: 100% Alloy → Layer 11: 100% LZO Ceramic</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9144000" cy="868680"/>
          </a:xfrm>
          <a:prstGeom prst="rect">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9144000" cy="36576"/>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8229600" cy="347472"/>
          </a:xfrm>
          <a:prstGeom prst="rect">
            <a:avLst/>
          </a:prstGeom>
          <a:noFill/>
        </p:spPr>
        <p:txBody>
          <a:bodyPr wrap="square">
            <a:spAutoFit/>
          </a:bodyPr>
          <a:lstStyle/>
          <a:p>
            <a:pPr algn="l"/>
            <a:r>
              <a:rPr sz="1800" b="1" i="0">
                <a:solidFill>
                  <a:srgbClr val="FFFFFF"/>
                </a:solidFill>
              </a:rPr>
              <a:t>SCIDIP DEPLOYMENT: TWO PATHWAYS TO COMMERCIALIZATION</a:t>
            </a:r>
          </a:p>
        </p:txBody>
      </p:sp>
      <p:sp>
        <p:nvSpPr>
          <p:cNvPr id="5" name="TextBox 4"/>
          <p:cNvSpPr txBox="1"/>
          <p:nvPr/>
        </p:nvSpPr>
        <p:spPr>
          <a:xfrm>
            <a:off x="365760" y="502920"/>
            <a:ext cx="8229600" cy="256032"/>
          </a:xfrm>
          <a:prstGeom prst="rect">
            <a:avLst/>
          </a:prstGeom>
          <a:noFill/>
        </p:spPr>
        <p:txBody>
          <a:bodyPr wrap="square">
            <a:spAutoFit/>
          </a:bodyPr>
          <a:lstStyle/>
          <a:p>
            <a:pPr algn="l"/>
            <a:r>
              <a:rPr sz="900" b="0" i="0">
                <a:solidFill>
                  <a:srgbClr val="00B4D8"/>
                </a:solidFill>
              </a:rPr>
              <a:t>Solving Sona Comstar's Thermal Bottlenecks with Aerospace-Grade Materials</a:t>
            </a:r>
          </a:p>
        </p:txBody>
      </p:sp>
      <p:sp>
        <p:nvSpPr>
          <p:cNvPr id="6" name="Rectangle 5"/>
          <p:cNvSpPr/>
          <p:nvPr/>
        </p:nvSpPr>
        <p:spPr>
          <a:xfrm>
            <a:off x="274320" y="987552"/>
            <a:ext cx="73152" cy="73152"/>
          </a:xfrm>
          <a:prstGeom prst="roundRect">
            <a:avLst>
              <a:gd name="adj" fmla="val 5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84048" y="987552"/>
            <a:ext cx="73152" cy="73152"/>
          </a:xfrm>
          <a:prstGeom prst="roundRect">
            <a:avLst>
              <a:gd name="adj" fmla="val 50000"/>
            </a:avLst>
          </a:prstGeom>
          <a:solidFill>
            <a:srgbClr val="2BDE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078992"/>
            <a:ext cx="4160520" cy="3429000"/>
          </a:xfrm>
          <a:prstGeom prst="roundRect">
            <a:avLst>
              <a:gd name="adj" fmla="val 10000"/>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1078992"/>
            <a:ext cx="4160520" cy="36576"/>
          </a:xfrm>
          <a:prstGeom prst="roundRect">
            <a:avLst>
              <a:gd name="adj" fmla="val 10000"/>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4048" y="1170432"/>
            <a:ext cx="1371600" cy="164592"/>
          </a:xfrm>
          <a:prstGeom prst="rect">
            <a:avLst/>
          </a:prstGeom>
          <a:noFill/>
        </p:spPr>
        <p:txBody>
          <a:bodyPr wrap="square">
            <a:spAutoFit/>
          </a:bodyPr>
          <a:lstStyle/>
          <a:p>
            <a:pPr algn="l"/>
            <a:r>
              <a:rPr sz="800" b="1" i="0">
                <a:solidFill>
                  <a:srgbClr val="00B4D8"/>
                </a:solidFill>
              </a:rPr>
              <a:t>DEPLOYMENT 1</a:t>
            </a:r>
          </a:p>
        </p:txBody>
      </p:sp>
      <p:sp>
        <p:nvSpPr>
          <p:cNvPr id="11" name="TextBox 10"/>
          <p:cNvSpPr txBox="1"/>
          <p:nvPr/>
        </p:nvSpPr>
        <p:spPr>
          <a:xfrm>
            <a:off x="384048" y="1353312"/>
            <a:ext cx="3840480" cy="237744"/>
          </a:xfrm>
          <a:prstGeom prst="rect">
            <a:avLst/>
          </a:prstGeom>
          <a:noFill/>
        </p:spPr>
        <p:txBody>
          <a:bodyPr wrap="square">
            <a:spAutoFit/>
          </a:bodyPr>
          <a:lstStyle/>
          <a:p>
            <a:pPr algn="l"/>
            <a:r>
              <a:rPr sz="1200" b="1" i="0">
                <a:solidFill>
                  <a:srgbClr val="1A365D"/>
                </a:solidFill>
              </a:rPr>
              <a:t>Next-Gen Forging Dies</a:t>
            </a:r>
          </a:p>
        </p:txBody>
      </p:sp>
      <p:sp>
        <p:nvSpPr>
          <p:cNvPr id="12" name="TextBox 11"/>
          <p:cNvSpPr txBox="1"/>
          <p:nvPr/>
        </p:nvSpPr>
        <p:spPr>
          <a:xfrm>
            <a:off x="384048" y="1609344"/>
            <a:ext cx="3840480" cy="182880"/>
          </a:xfrm>
          <a:prstGeom prst="rect">
            <a:avLst/>
          </a:prstGeom>
          <a:noFill/>
        </p:spPr>
        <p:txBody>
          <a:bodyPr wrap="square">
            <a:spAutoFit/>
          </a:bodyPr>
          <a:lstStyle/>
          <a:p>
            <a:pPr algn="l"/>
            <a:r>
              <a:rPr sz="800" b="0" i="0">
                <a:solidFill>
                  <a:srgbClr val="5580A0"/>
                </a:solidFill>
              </a:rPr>
              <a:t>Solving Sona Comstar's Differential Gear Bottleneck</a:t>
            </a:r>
          </a:p>
        </p:txBody>
      </p:sp>
      <p:sp>
        <p:nvSpPr>
          <p:cNvPr id="13" name="Rectangle 12"/>
          <p:cNvSpPr/>
          <p:nvPr/>
        </p:nvSpPr>
        <p:spPr>
          <a:xfrm>
            <a:off x="384048" y="1810512"/>
            <a:ext cx="3840480" cy="27432"/>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84048" y="1901952"/>
            <a:ext cx="1828800" cy="749808"/>
          </a:xfrm>
          <a:prstGeom prst="roundRect">
            <a:avLst>
              <a:gd name="adj" fmla="val 6000"/>
            </a:avLst>
          </a:prstGeom>
          <a:solidFill>
            <a:srgbClr val="FFF1F0"/>
          </a:solidFill>
          <a:ln w="63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938528"/>
            <a:ext cx="1645920" cy="146304"/>
          </a:xfrm>
          <a:prstGeom prst="rect">
            <a:avLst/>
          </a:prstGeom>
          <a:noFill/>
        </p:spPr>
        <p:txBody>
          <a:bodyPr wrap="square">
            <a:spAutoFit/>
          </a:bodyPr>
          <a:lstStyle/>
          <a:p>
            <a:pPr algn="l"/>
            <a:r>
              <a:rPr sz="800" b="1" i="0">
                <a:solidFill>
                  <a:srgbClr val="DC2626"/>
                </a:solidFill>
              </a:rPr>
              <a:t>LEGACY H13</a:t>
            </a:r>
          </a:p>
        </p:txBody>
      </p:sp>
      <p:sp>
        <p:nvSpPr>
          <p:cNvPr id="16" name="TextBox 15"/>
          <p:cNvSpPr txBox="1"/>
          <p:nvPr/>
        </p:nvSpPr>
        <p:spPr>
          <a:xfrm>
            <a:off x="457200" y="2103120"/>
            <a:ext cx="1645920" cy="502920"/>
          </a:xfrm>
          <a:prstGeom prst="rect">
            <a:avLst/>
          </a:prstGeom>
          <a:noFill/>
        </p:spPr>
        <p:txBody>
          <a:bodyPr wrap="square">
            <a:spAutoFit/>
          </a:bodyPr>
          <a:lstStyle/>
          <a:p>
            <a:pPr algn="l"/>
            <a:r>
              <a:rPr sz="800" b="0" i="0">
                <a:solidFill>
                  <a:srgbClr val="111111"/>
                </a:solidFill>
              </a:rPr>
              <a:t>· Yield collapse at 1200°C
· Rapid thermal fatigue
· Frequent die cracking</a:t>
            </a:r>
          </a:p>
        </p:txBody>
      </p:sp>
      <p:sp>
        <p:nvSpPr>
          <p:cNvPr id="17" name="Rectangle 16"/>
          <p:cNvSpPr/>
          <p:nvPr/>
        </p:nvSpPr>
        <p:spPr>
          <a:xfrm>
            <a:off x="2304288" y="1901952"/>
            <a:ext cx="2011680" cy="749808"/>
          </a:xfrm>
          <a:prstGeom prst="roundRect">
            <a:avLst>
              <a:gd name="adj" fmla="val 6000"/>
            </a:avLst>
          </a:prstGeom>
          <a:solidFill>
            <a:srgbClr val="ECFDF5"/>
          </a:solidFill>
          <a:ln w="63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77440" y="1938528"/>
            <a:ext cx="1828800" cy="146304"/>
          </a:xfrm>
          <a:prstGeom prst="rect">
            <a:avLst/>
          </a:prstGeom>
          <a:noFill/>
        </p:spPr>
        <p:txBody>
          <a:bodyPr wrap="square">
            <a:spAutoFit/>
          </a:bodyPr>
          <a:lstStyle/>
          <a:p>
            <a:pPr algn="l"/>
            <a:r>
              <a:rPr sz="800" b="1" i="0">
                <a:solidFill>
                  <a:srgbClr val="059669"/>
                </a:solidFill>
              </a:rPr>
              <a:t>CANDIDATE C FGM</a:t>
            </a:r>
          </a:p>
        </p:txBody>
      </p:sp>
      <p:sp>
        <p:nvSpPr>
          <p:cNvPr id="19" name="TextBox 18"/>
          <p:cNvSpPr txBox="1"/>
          <p:nvPr/>
        </p:nvSpPr>
        <p:spPr>
          <a:xfrm>
            <a:off x="2377440" y="2103120"/>
            <a:ext cx="1828800" cy="502920"/>
          </a:xfrm>
          <a:prstGeom prst="rect">
            <a:avLst/>
          </a:prstGeom>
          <a:noFill/>
        </p:spPr>
        <p:txBody>
          <a:bodyPr wrap="square">
            <a:spAutoFit/>
          </a:bodyPr>
          <a:lstStyle/>
          <a:p>
            <a:pPr algn="l"/>
            <a:r>
              <a:rPr sz="800" b="0" i="0">
                <a:solidFill>
                  <a:srgbClr val="111111"/>
                </a:solidFill>
              </a:rPr>
              <a:t>· &gt;917.7 MPa at 1200°C
· LZO thermal barrier
· Zero delamination</a:t>
            </a:r>
          </a:p>
        </p:txBody>
      </p:sp>
      <p:sp>
        <p:nvSpPr>
          <p:cNvPr id="20" name="Rectangle 19"/>
          <p:cNvSpPr/>
          <p:nvPr/>
        </p:nvSpPr>
        <p:spPr>
          <a:xfrm>
            <a:off x="384048" y="2724912"/>
            <a:ext cx="54864" cy="4754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2064" y="2724912"/>
            <a:ext cx="1097280" cy="146304"/>
          </a:xfrm>
          <a:prstGeom prst="rect">
            <a:avLst/>
          </a:prstGeom>
          <a:noFill/>
        </p:spPr>
        <p:txBody>
          <a:bodyPr wrap="square">
            <a:spAutoFit/>
          </a:bodyPr>
          <a:lstStyle/>
          <a:p>
            <a:pPr algn="l"/>
            <a:r>
              <a:rPr sz="850" b="1" i="0">
                <a:solidFill>
                  <a:srgbClr val="1A365D"/>
                </a:solidFill>
              </a:rPr>
              <a:t>The Core</a:t>
            </a:r>
          </a:p>
        </p:txBody>
      </p:sp>
      <p:sp>
        <p:nvSpPr>
          <p:cNvPr id="22" name="TextBox 21"/>
          <p:cNvSpPr txBox="1"/>
          <p:nvPr/>
        </p:nvSpPr>
        <p:spPr>
          <a:xfrm>
            <a:off x="512064" y="2889504"/>
            <a:ext cx="3749039" cy="292608"/>
          </a:xfrm>
          <a:prstGeom prst="rect">
            <a:avLst/>
          </a:prstGeom>
          <a:noFill/>
        </p:spPr>
        <p:txBody>
          <a:bodyPr wrap="square">
            <a:spAutoFit/>
          </a:bodyPr>
          <a:lstStyle/>
          <a:p>
            <a:pPr algn="l"/>
            <a:r>
              <a:rPr sz="800" b="0" i="0">
                <a:solidFill>
                  <a:srgbClr val="5580A0"/>
                </a:solidFill>
              </a:rPr>
              <a:t>HEA retains &gt;917.7 MPa yield strength — no mechanical deformation under forging pressures.</a:t>
            </a:r>
          </a:p>
        </p:txBody>
      </p:sp>
      <p:sp>
        <p:nvSpPr>
          <p:cNvPr id="23" name="Rectangle 22"/>
          <p:cNvSpPr/>
          <p:nvPr/>
        </p:nvSpPr>
        <p:spPr>
          <a:xfrm>
            <a:off x="384048" y="3255264"/>
            <a:ext cx="54864" cy="4754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2064" y="3255264"/>
            <a:ext cx="1097280" cy="146304"/>
          </a:xfrm>
          <a:prstGeom prst="rect">
            <a:avLst/>
          </a:prstGeom>
          <a:noFill/>
        </p:spPr>
        <p:txBody>
          <a:bodyPr wrap="square">
            <a:spAutoFit/>
          </a:bodyPr>
          <a:lstStyle/>
          <a:p>
            <a:pPr algn="l"/>
            <a:r>
              <a:rPr sz="850" b="1" i="0">
                <a:solidFill>
                  <a:srgbClr val="1A365D"/>
                </a:solidFill>
              </a:rPr>
              <a:t>The Surface</a:t>
            </a:r>
          </a:p>
        </p:txBody>
      </p:sp>
      <p:sp>
        <p:nvSpPr>
          <p:cNvPr id="25" name="TextBox 24"/>
          <p:cNvSpPr txBox="1"/>
          <p:nvPr/>
        </p:nvSpPr>
        <p:spPr>
          <a:xfrm>
            <a:off x="512064" y="3419856"/>
            <a:ext cx="3749039" cy="292608"/>
          </a:xfrm>
          <a:prstGeom prst="rect">
            <a:avLst/>
          </a:prstGeom>
          <a:noFill/>
        </p:spPr>
        <p:txBody>
          <a:bodyPr wrap="square">
            <a:spAutoFit/>
          </a:bodyPr>
          <a:lstStyle/>
          <a:p>
            <a:pPr algn="l"/>
            <a:r>
              <a:rPr sz="800" b="0" i="0">
                <a:solidFill>
                  <a:srgbClr val="5580A0"/>
                </a:solidFill>
              </a:rPr>
              <a:t>LZO ceramic outer layer acts as supreme thermal barrier, preventing heat into die.</a:t>
            </a:r>
          </a:p>
        </p:txBody>
      </p:sp>
      <p:sp>
        <p:nvSpPr>
          <p:cNvPr id="26" name="Rectangle 25"/>
          <p:cNvSpPr/>
          <p:nvPr/>
        </p:nvSpPr>
        <p:spPr>
          <a:xfrm>
            <a:off x="384048" y="3785615"/>
            <a:ext cx="54864" cy="4754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12064" y="3785615"/>
            <a:ext cx="1097280" cy="146304"/>
          </a:xfrm>
          <a:prstGeom prst="rect">
            <a:avLst/>
          </a:prstGeom>
          <a:noFill/>
        </p:spPr>
        <p:txBody>
          <a:bodyPr wrap="square">
            <a:spAutoFit/>
          </a:bodyPr>
          <a:lstStyle/>
          <a:p>
            <a:pPr algn="l"/>
            <a:r>
              <a:rPr sz="850" b="1" i="0">
                <a:solidFill>
                  <a:srgbClr val="1A365D"/>
                </a:solidFill>
              </a:rPr>
              <a:t>The Result</a:t>
            </a:r>
          </a:p>
        </p:txBody>
      </p:sp>
      <p:sp>
        <p:nvSpPr>
          <p:cNvPr id="28" name="TextBox 27"/>
          <p:cNvSpPr txBox="1"/>
          <p:nvPr/>
        </p:nvSpPr>
        <p:spPr>
          <a:xfrm>
            <a:off x="512064" y="3950207"/>
            <a:ext cx="3749039" cy="292608"/>
          </a:xfrm>
          <a:prstGeom prst="rect">
            <a:avLst/>
          </a:prstGeom>
          <a:noFill/>
        </p:spPr>
        <p:txBody>
          <a:bodyPr wrap="square">
            <a:spAutoFit/>
          </a:bodyPr>
          <a:lstStyle/>
          <a:p>
            <a:pPr algn="l"/>
            <a:r>
              <a:rPr sz="800" b="0" i="0">
                <a:solidFill>
                  <a:srgbClr val="5580A0"/>
                </a:solidFill>
              </a:rPr>
              <a:t>Elimination of thermal fatigue cracking — vastly extending tooling life.</a:t>
            </a:r>
          </a:p>
        </p:txBody>
      </p:sp>
      <p:sp>
        <p:nvSpPr>
          <p:cNvPr id="29" name="Rectangle 28"/>
          <p:cNvSpPr/>
          <p:nvPr/>
        </p:nvSpPr>
        <p:spPr>
          <a:xfrm>
            <a:off x="4709160" y="1078992"/>
            <a:ext cx="4160520" cy="3429000"/>
          </a:xfrm>
          <a:prstGeom prst="roundRect">
            <a:avLst>
              <a:gd name="adj" fmla="val 10000"/>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709160" y="1078992"/>
            <a:ext cx="4160520" cy="36576"/>
          </a:xfrm>
          <a:prstGeom prst="roundRect">
            <a:avLst>
              <a:gd name="adj" fmla="val 10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818888" y="1170432"/>
            <a:ext cx="1371600" cy="164592"/>
          </a:xfrm>
          <a:prstGeom prst="rect">
            <a:avLst/>
          </a:prstGeom>
          <a:noFill/>
        </p:spPr>
        <p:txBody>
          <a:bodyPr wrap="square">
            <a:spAutoFit/>
          </a:bodyPr>
          <a:lstStyle/>
          <a:p>
            <a:pPr algn="l"/>
            <a:r>
              <a:rPr sz="800" b="1" i="0">
                <a:solidFill>
                  <a:srgbClr val="00B4D8"/>
                </a:solidFill>
              </a:rPr>
              <a:t>DEPLOYMENT 2</a:t>
            </a:r>
          </a:p>
        </p:txBody>
      </p:sp>
      <p:sp>
        <p:nvSpPr>
          <p:cNvPr id="32" name="TextBox 31"/>
          <p:cNvSpPr txBox="1"/>
          <p:nvPr/>
        </p:nvSpPr>
        <p:spPr>
          <a:xfrm>
            <a:off x="4818888" y="1353312"/>
            <a:ext cx="3840480" cy="237744"/>
          </a:xfrm>
          <a:prstGeom prst="rect">
            <a:avLst/>
          </a:prstGeom>
          <a:noFill/>
        </p:spPr>
        <p:txBody>
          <a:bodyPr wrap="square">
            <a:spAutoFit/>
          </a:bodyPr>
          <a:lstStyle/>
          <a:p>
            <a:pPr algn="l"/>
            <a:r>
              <a:rPr sz="1200" b="1" i="0">
                <a:solidFill>
                  <a:srgbClr val="1A365D"/>
                </a:solidFill>
              </a:rPr>
              <a:t>Magnet-Less EV Motors</a:t>
            </a:r>
          </a:p>
        </p:txBody>
      </p:sp>
      <p:sp>
        <p:nvSpPr>
          <p:cNvPr id="33" name="TextBox 32"/>
          <p:cNvSpPr txBox="1"/>
          <p:nvPr/>
        </p:nvSpPr>
        <p:spPr>
          <a:xfrm>
            <a:off x="4818888" y="1609344"/>
            <a:ext cx="3840480" cy="182880"/>
          </a:xfrm>
          <a:prstGeom prst="rect">
            <a:avLst/>
          </a:prstGeom>
          <a:noFill/>
        </p:spPr>
        <p:txBody>
          <a:bodyPr wrap="square">
            <a:spAutoFit/>
          </a:bodyPr>
          <a:lstStyle/>
          <a:p>
            <a:pPr algn="l"/>
            <a:r>
              <a:rPr sz="800" b="0" i="0">
                <a:solidFill>
                  <a:srgbClr val="5580A0"/>
                </a:solidFill>
              </a:rPr>
              <a:t>Enabling Rare-Earth Independence in Traction Motors</a:t>
            </a:r>
          </a:p>
        </p:txBody>
      </p:sp>
      <p:sp>
        <p:nvSpPr>
          <p:cNvPr id="34" name="Rectangle 33"/>
          <p:cNvSpPr/>
          <p:nvPr/>
        </p:nvSpPr>
        <p:spPr>
          <a:xfrm>
            <a:off x="4818888" y="1810512"/>
            <a:ext cx="3840480" cy="27432"/>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818888" y="1920240"/>
            <a:ext cx="3840480" cy="384048"/>
          </a:xfrm>
          <a:prstGeom prst="rect">
            <a:avLst/>
          </a:prstGeom>
          <a:noFill/>
        </p:spPr>
        <p:txBody>
          <a:bodyPr wrap="square">
            <a:spAutoFit/>
          </a:bodyPr>
          <a:lstStyle/>
          <a:p>
            <a:pPr algn="l"/>
            <a:r>
              <a:rPr sz="800" b="0" i="0">
                <a:solidFill>
                  <a:srgbClr val="111111"/>
                </a:solidFill>
              </a:rPr>
              <a:t>As part of Sona Comstar's EPIC roadmap, they are scaling Switched Reluctance Motors (SRMs) to eliminate dependence on imported Neodymium magnets.</a:t>
            </a:r>
          </a:p>
        </p:txBody>
      </p:sp>
      <p:sp>
        <p:nvSpPr>
          <p:cNvPr id="36" name="Rectangle 35"/>
          <p:cNvSpPr/>
          <p:nvPr/>
        </p:nvSpPr>
        <p:spPr>
          <a:xfrm>
            <a:off x="4818888" y="2359152"/>
            <a:ext cx="3840480" cy="502920"/>
          </a:xfrm>
          <a:prstGeom prst="roundRect">
            <a:avLst>
              <a:gd name="adj" fmla="val 6000"/>
            </a:avLst>
          </a:prstGeom>
          <a:solidFill>
            <a:srgbClr val="F0FDFA"/>
          </a:solidFill>
          <a:ln w="63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892040" y="2395728"/>
            <a:ext cx="2743200" cy="146304"/>
          </a:xfrm>
          <a:prstGeom prst="rect">
            <a:avLst/>
          </a:prstGeom>
          <a:noFill/>
        </p:spPr>
        <p:txBody>
          <a:bodyPr wrap="square">
            <a:spAutoFit/>
          </a:bodyPr>
          <a:lstStyle/>
          <a:p>
            <a:pPr algn="l"/>
            <a:r>
              <a:rPr sz="800" b="1" i="0">
                <a:solidFill>
                  <a:srgbClr val="059669"/>
                </a:solidFill>
              </a:rPr>
              <a:t>SUPPLY CHAIN IMPACT</a:t>
            </a:r>
          </a:p>
        </p:txBody>
      </p:sp>
      <p:sp>
        <p:nvSpPr>
          <p:cNvPr id="38" name="TextBox 37"/>
          <p:cNvSpPr txBox="1"/>
          <p:nvPr/>
        </p:nvSpPr>
        <p:spPr>
          <a:xfrm>
            <a:off x="4892040" y="2542032"/>
            <a:ext cx="3657600" cy="274320"/>
          </a:xfrm>
          <a:prstGeom prst="rect">
            <a:avLst/>
          </a:prstGeom>
          <a:noFill/>
        </p:spPr>
        <p:txBody>
          <a:bodyPr wrap="square">
            <a:spAutoFit/>
          </a:bodyPr>
          <a:lstStyle/>
          <a:p>
            <a:pPr algn="l"/>
            <a:r>
              <a:rPr sz="850" b="0" i="0">
                <a:solidFill>
                  <a:srgbClr val="111111"/>
                </a:solidFill>
              </a:rPr>
              <a:t>80%+ of global Neodymium controlled by China. Crystal Paradigm eliminates this dependency with indigenous Titanium-based alloys (~$170/kg).</a:t>
            </a:r>
          </a:p>
        </p:txBody>
      </p:sp>
      <p:sp>
        <p:nvSpPr>
          <p:cNvPr id="39" name="Rectangle 38"/>
          <p:cNvSpPr/>
          <p:nvPr/>
        </p:nvSpPr>
        <p:spPr>
          <a:xfrm>
            <a:off x="4818888" y="2944368"/>
            <a:ext cx="54864" cy="475488"/>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937760" y="2944368"/>
            <a:ext cx="1371600" cy="146304"/>
          </a:xfrm>
          <a:prstGeom prst="rect">
            <a:avLst/>
          </a:prstGeom>
          <a:noFill/>
        </p:spPr>
        <p:txBody>
          <a:bodyPr wrap="square">
            <a:spAutoFit/>
          </a:bodyPr>
          <a:lstStyle/>
          <a:p>
            <a:pPr algn="l"/>
            <a:r>
              <a:rPr sz="850" b="1" i="0">
                <a:solidFill>
                  <a:srgbClr val="1A365D"/>
                </a:solidFill>
              </a:rPr>
              <a:t>Thermal Shielding</a:t>
            </a:r>
          </a:p>
        </p:txBody>
      </p:sp>
      <p:sp>
        <p:nvSpPr>
          <p:cNvPr id="41" name="TextBox 40"/>
          <p:cNvSpPr txBox="1"/>
          <p:nvPr/>
        </p:nvSpPr>
        <p:spPr>
          <a:xfrm>
            <a:off x="4937760" y="3108960"/>
            <a:ext cx="3657600" cy="292608"/>
          </a:xfrm>
          <a:prstGeom prst="rect">
            <a:avLst/>
          </a:prstGeom>
          <a:noFill/>
        </p:spPr>
        <p:txBody>
          <a:bodyPr wrap="square">
            <a:spAutoFit/>
          </a:bodyPr>
          <a:lstStyle/>
          <a:p>
            <a:pPr algn="l"/>
            <a:r>
              <a:rPr sz="800" b="0" i="0">
                <a:solidFill>
                  <a:srgbClr val="5580A0"/>
                </a:solidFill>
              </a:rPr>
              <a:t>FGM gradient handles rapid cycling — 15.95 MPa interface shear stress.</a:t>
            </a:r>
          </a:p>
        </p:txBody>
      </p:sp>
      <p:sp>
        <p:nvSpPr>
          <p:cNvPr id="42" name="Rectangle 41"/>
          <p:cNvSpPr/>
          <p:nvPr/>
        </p:nvSpPr>
        <p:spPr>
          <a:xfrm>
            <a:off x="4818888" y="3474720"/>
            <a:ext cx="54864" cy="475488"/>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937760" y="3474720"/>
            <a:ext cx="1371600" cy="146304"/>
          </a:xfrm>
          <a:prstGeom prst="rect">
            <a:avLst/>
          </a:prstGeom>
          <a:noFill/>
        </p:spPr>
        <p:txBody>
          <a:bodyPr wrap="square">
            <a:spAutoFit/>
          </a:bodyPr>
          <a:lstStyle/>
          <a:p>
            <a:pPr algn="l"/>
            <a:r>
              <a:rPr sz="850" b="1" i="0">
                <a:solidFill>
                  <a:srgbClr val="1A365D"/>
                </a:solidFill>
              </a:rPr>
              <a:t>Make-In-India</a:t>
            </a:r>
          </a:p>
        </p:txBody>
      </p:sp>
      <p:sp>
        <p:nvSpPr>
          <p:cNvPr id="44" name="TextBox 43"/>
          <p:cNvSpPr txBox="1"/>
          <p:nvPr/>
        </p:nvSpPr>
        <p:spPr>
          <a:xfrm>
            <a:off x="4937760" y="3639312"/>
            <a:ext cx="3657600" cy="292608"/>
          </a:xfrm>
          <a:prstGeom prst="rect">
            <a:avLst/>
          </a:prstGeom>
          <a:noFill/>
        </p:spPr>
        <p:txBody>
          <a:bodyPr wrap="square">
            <a:spAutoFit/>
          </a:bodyPr>
          <a:lstStyle/>
          <a:p>
            <a:pPr algn="l"/>
            <a:r>
              <a:rPr sz="800" b="0" i="0">
                <a:solidFill>
                  <a:srgbClr val="5580A0"/>
                </a:solidFill>
              </a:rPr>
              <a:t>Hafnium→Titanium substitution drops cost to ~$170/kg for Indian EV manufacturing.</a:t>
            </a:r>
          </a:p>
        </p:txBody>
      </p:sp>
      <p:sp>
        <p:nvSpPr>
          <p:cNvPr id="45" name="Rectangle 44"/>
          <p:cNvSpPr/>
          <p:nvPr/>
        </p:nvSpPr>
        <p:spPr>
          <a:xfrm>
            <a:off x="4818888" y="4005072"/>
            <a:ext cx="54864" cy="475488"/>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937760" y="4005072"/>
            <a:ext cx="1371600" cy="146304"/>
          </a:xfrm>
          <a:prstGeom prst="rect">
            <a:avLst/>
          </a:prstGeom>
          <a:noFill/>
        </p:spPr>
        <p:txBody>
          <a:bodyPr wrap="square">
            <a:spAutoFit/>
          </a:bodyPr>
          <a:lstStyle/>
          <a:p>
            <a:pPr algn="l"/>
            <a:r>
              <a:rPr sz="850" b="1" i="0">
                <a:solidFill>
                  <a:srgbClr val="1A365D"/>
                </a:solidFill>
              </a:rPr>
              <a:t>ESG Compliance</a:t>
            </a:r>
          </a:p>
        </p:txBody>
      </p:sp>
      <p:sp>
        <p:nvSpPr>
          <p:cNvPr id="47" name="TextBox 46"/>
          <p:cNvSpPr txBox="1"/>
          <p:nvPr/>
        </p:nvSpPr>
        <p:spPr>
          <a:xfrm>
            <a:off x="4937760" y="4169663"/>
            <a:ext cx="3657600" cy="292608"/>
          </a:xfrm>
          <a:prstGeom prst="rect">
            <a:avLst/>
          </a:prstGeom>
          <a:noFill/>
        </p:spPr>
        <p:txBody>
          <a:bodyPr wrap="square">
            <a:spAutoFit/>
          </a:bodyPr>
          <a:lstStyle/>
          <a:p>
            <a:pPr algn="l"/>
            <a:r>
              <a:rPr sz="800" b="0" i="0">
                <a:solidFill>
                  <a:srgbClr val="5580A0"/>
                </a:solidFill>
              </a:rPr>
              <a:t>Embodied Energy: 1680 MJ/kg — qualifies for Sona Comstar 75% Supplier Score.</a:t>
            </a:r>
          </a:p>
        </p:txBody>
      </p:sp>
      <p:sp>
        <p:nvSpPr>
          <p:cNvPr id="48" name="Rectangle 47"/>
          <p:cNvSpPr/>
          <p:nvPr/>
        </p:nvSpPr>
        <p:spPr>
          <a:xfrm>
            <a:off x="0" y="4572000"/>
            <a:ext cx="9144000" cy="566928"/>
          </a:xfrm>
          <a:prstGeom prst="rect">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65760" y="4681728"/>
            <a:ext cx="4572000" cy="182880"/>
          </a:xfrm>
          <a:prstGeom prst="rect">
            <a:avLst/>
          </a:prstGeom>
          <a:noFill/>
        </p:spPr>
        <p:txBody>
          <a:bodyPr wrap="square">
            <a:spAutoFit/>
          </a:bodyPr>
          <a:lstStyle/>
          <a:p>
            <a:pPr algn="l"/>
            <a:r>
              <a:rPr sz="800" b="0" i="0">
                <a:solidFill>
                  <a:srgbClr val="00B4D8"/>
                </a:solidFill>
              </a:rPr>
              <a:t>Crystal Paradigm  ·  SCIDIP Program Application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9144000" cy="868680"/>
          </a:xfrm>
          <a:prstGeom prst="rect">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9144000" cy="36576"/>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8229600" cy="347472"/>
          </a:xfrm>
          <a:prstGeom prst="rect">
            <a:avLst/>
          </a:prstGeom>
          <a:noFill/>
        </p:spPr>
        <p:txBody>
          <a:bodyPr wrap="square">
            <a:spAutoFit/>
          </a:bodyPr>
          <a:lstStyle/>
          <a:p>
            <a:pPr algn="l"/>
            <a:r>
              <a:rPr sz="1800" b="1" i="0">
                <a:solidFill>
                  <a:srgbClr val="FFFFFF"/>
                </a:solidFill>
              </a:rPr>
              <a:t>INTELLECTUAL PROPERTY &amp; DE-RISKING THE SUPPLY CHAIN</a:t>
            </a:r>
          </a:p>
        </p:txBody>
      </p:sp>
      <p:sp>
        <p:nvSpPr>
          <p:cNvPr id="5" name="TextBox 4"/>
          <p:cNvSpPr txBox="1"/>
          <p:nvPr/>
        </p:nvSpPr>
        <p:spPr>
          <a:xfrm>
            <a:off x="365760" y="502920"/>
            <a:ext cx="8229600" cy="256032"/>
          </a:xfrm>
          <a:prstGeom prst="rect">
            <a:avLst/>
          </a:prstGeom>
          <a:noFill/>
        </p:spPr>
        <p:txBody>
          <a:bodyPr wrap="square">
            <a:spAutoFit/>
          </a:bodyPr>
          <a:lstStyle/>
          <a:p>
            <a:pPr algn="l"/>
            <a:r>
              <a:rPr sz="900" b="0" i="0">
                <a:solidFill>
                  <a:srgbClr val="00B4D8"/>
                </a:solidFill>
              </a:rPr>
              <a:t>True Aatmanirbharta for the Indian Mobility Sector</a:t>
            </a:r>
          </a:p>
        </p:txBody>
      </p:sp>
      <p:sp>
        <p:nvSpPr>
          <p:cNvPr id="6" name="Rectangle 5"/>
          <p:cNvSpPr/>
          <p:nvPr/>
        </p:nvSpPr>
        <p:spPr>
          <a:xfrm>
            <a:off x="8732520" y="109728"/>
            <a:ext cx="73152" cy="73152"/>
          </a:xfrm>
          <a:prstGeom prst="roundRect">
            <a:avLst>
              <a:gd name="adj" fmla="val 50000"/>
            </a:avLst>
          </a:prstGeom>
          <a:solidFill>
            <a:srgbClr val="2BDE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851392" y="228600"/>
            <a:ext cx="73152" cy="73152"/>
          </a:xfrm>
          <a:prstGeom prst="roundRect">
            <a:avLst>
              <a:gd name="adj" fmla="val 50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64592" y="109728"/>
            <a:ext cx="73152" cy="73152"/>
          </a:xfrm>
          <a:prstGeom prst="roundRect">
            <a:avLst>
              <a:gd name="adj" fmla="val 5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1005840"/>
            <a:ext cx="3657600" cy="640080"/>
          </a:xfrm>
          <a:prstGeom prst="roundRect">
            <a:avLst>
              <a:gd name="adj" fmla="val 8000"/>
            </a:avLst>
          </a:prstGeom>
          <a:solidFill>
            <a:srgbClr val="FFF1F0"/>
          </a:solidFill>
          <a:ln w="63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4048" y="1051560"/>
            <a:ext cx="3383280" cy="146304"/>
          </a:xfrm>
          <a:prstGeom prst="rect">
            <a:avLst/>
          </a:prstGeom>
          <a:noFill/>
        </p:spPr>
        <p:txBody>
          <a:bodyPr wrap="square">
            <a:spAutoFit/>
          </a:bodyPr>
          <a:lstStyle/>
          <a:p>
            <a:pPr algn="l"/>
            <a:r>
              <a:rPr sz="800" b="1" i="0">
                <a:solidFill>
                  <a:srgbClr val="DC2626"/>
                </a:solidFill>
              </a:rPr>
              <a:t>CURRENT DEPENDENCY</a:t>
            </a:r>
          </a:p>
        </p:txBody>
      </p:sp>
      <p:sp>
        <p:nvSpPr>
          <p:cNvPr id="11" name="TextBox 10"/>
          <p:cNvSpPr txBox="1"/>
          <p:nvPr/>
        </p:nvSpPr>
        <p:spPr>
          <a:xfrm>
            <a:off x="384048" y="1225296"/>
            <a:ext cx="3383280" cy="365760"/>
          </a:xfrm>
          <a:prstGeom prst="rect">
            <a:avLst/>
          </a:prstGeom>
          <a:noFill/>
        </p:spPr>
        <p:txBody>
          <a:bodyPr wrap="square">
            <a:spAutoFit/>
          </a:bodyPr>
          <a:lstStyle/>
          <a:p>
            <a:pPr algn="l"/>
            <a:r>
              <a:rPr sz="850" b="0" i="0">
                <a:solidFill>
                  <a:srgbClr val="111111"/>
                </a:solidFill>
              </a:rPr>
              <a:t>Foreign-controlled Neodymium &amp; Rare-Earth imports for EV motors
(80%+ China-controlled supply chain)</a:t>
            </a:r>
          </a:p>
        </p:txBody>
      </p:sp>
      <p:sp>
        <p:nvSpPr>
          <p:cNvPr id="12" name="TextBox 11"/>
          <p:cNvSpPr txBox="1"/>
          <p:nvPr/>
        </p:nvSpPr>
        <p:spPr>
          <a:xfrm>
            <a:off x="4023360" y="1097280"/>
            <a:ext cx="457200" cy="411480"/>
          </a:xfrm>
          <a:prstGeom prst="rect">
            <a:avLst/>
          </a:prstGeom>
          <a:noFill/>
        </p:spPr>
        <p:txBody>
          <a:bodyPr wrap="square">
            <a:spAutoFit/>
          </a:bodyPr>
          <a:lstStyle/>
          <a:p>
            <a:pPr algn="ctr"/>
            <a:r>
              <a:rPr sz="1800" b="1" i="0">
                <a:solidFill>
                  <a:srgbClr val="00B4D8"/>
                </a:solidFill>
              </a:rPr>
              <a:t>→</a:t>
            </a:r>
          </a:p>
        </p:txBody>
      </p:sp>
      <p:sp>
        <p:nvSpPr>
          <p:cNvPr id="13" name="Rectangle 12"/>
          <p:cNvSpPr/>
          <p:nvPr/>
        </p:nvSpPr>
        <p:spPr>
          <a:xfrm>
            <a:off x="4572000" y="1005840"/>
            <a:ext cx="4297680" cy="640080"/>
          </a:xfrm>
          <a:prstGeom prst="roundRect">
            <a:avLst>
              <a:gd name="adj" fmla="val 8000"/>
            </a:avLst>
          </a:prstGeom>
          <a:solidFill>
            <a:srgbClr val="ECFDF5"/>
          </a:solidFill>
          <a:ln w="63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81728" y="1051560"/>
            <a:ext cx="4023360" cy="146304"/>
          </a:xfrm>
          <a:prstGeom prst="rect">
            <a:avLst/>
          </a:prstGeom>
          <a:noFill/>
        </p:spPr>
        <p:txBody>
          <a:bodyPr wrap="square">
            <a:spAutoFit/>
          </a:bodyPr>
          <a:lstStyle/>
          <a:p>
            <a:pPr algn="l"/>
            <a:r>
              <a:rPr sz="800" b="1" i="0">
                <a:solidFill>
                  <a:srgbClr val="059669"/>
                </a:solidFill>
              </a:rPr>
              <a:t>INDIGENOUS INDIAN INNOVATION</a:t>
            </a:r>
          </a:p>
        </p:txBody>
      </p:sp>
      <p:sp>
        <p:nvSpPr>
          <p:cNvPr id="15" name="TextBox 14"/>
          <p:cNvSpPr txBox="1"/>
          <p:nvPr/>
        </p:nvSpPr>
        <p:spPr>
          <a:xfrm>
            <a:off x="4681728" y="1225296"/>
            <a:ext cx="4023360" cy="365760"/>
          </a:xfrm>
          <a:prstGeom prst="rect">
            <a:avLst/>
          </a:prstGeom>
          <a:noFill/>
        </p:spPr>
        <p:txBody>
          <a:bodyPr wrap="square">
            <a:spAutoFit/>
          </a:bodyPr>
          <a:lstStyle/>
          <a:p>
            <a:pPr algn="l"/>
            <a:r>
              <a:rPr sz="850" b="0" i="0">
                <a:solidFill>
                  <a:srgbClr val="111111"/>
                </a:solidFill>
              </a:rPr>
              <a:t>Powered by Crystal Paradigm AI + IIT Delhi — built on globally abundant
Titanium &amp; Chromium for true supply chain security</a:t>
            </a:r>
          </a:p>
        </p:txBody>
      </p:sp>
      <p:sp>
        <p:nvSpPr>
          <p:cNvPr id="16" name="Rectangle 15"/>
          <p:cNvSpPr/>
          <p:nvPr/>
        </p:nvSpPr>
        <p:spPr>
          <a:xfrm>
            <a:off x="274320" y="1783080"/>
            <a:ext cx="2816352" cy="2423160"/>
          </a:xfrm>
          <a:prstGeom prst="roundRect">
            <a:avLst>
              <a:gd name="adj" fmla="val 10000"/>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74320" y="1783080"/>
            <a:ext cx="2816352" cy="36576"/>
          </a:xfrm>
          <a:prstGeom prst="roundRect">
            <a:avLst>
              <a:gd name="adj" fmla="val 10000"/>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517904" y="1865376"/>
            <a:ext cx="329184" cy="329184"/>
          </a:xfrm>
          <a:prstGeom prst="roundRect">
            <a:avLst>
              <a:gd name="adj" fmla="val 50000"/>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517904" y="1883664"/>
            <a:ext cx="329184" cy="274320"/>
          </a:xfrm>
          <a:prstGeom prst="rect">
            <a:avLst/>
          </a:prstGeom>
          <a:noFill/>
        </p:spPr>
        <p:txBody>
          <a:bodyPr wrap="square">
            <a:spAutoFit/>
          </a:bodyPr>
          <a:lstStyle/>
          <a:p>
            <a:pPr algn="ctr"/>
            <a:r>
              <a:rPr sz="1100" b="1" i="0">
                <a:solidFill>
                  <a:srgbClr val="FFFFFF"/>
                </a:solidFill>
              </a:rPr>
              <a:t>1</a:t>
            </a:r>
          </a:p>
        </p:txBody>
      </p:sp>
      <p:sp>
        <p:nvSpPr>
          <p:cNvPr id="20" name="TextBox 19"/>
          <p:cNvSpPr txBox="1"/>
          <p:nvPr/>
        </p:nvSpPr>
        <p:spPr>
          <a:xfrm>
            <a:off x="384048" y="2267712"/>
            <a:ext cx="2633472" cy="201168"/>
          </a:xfrm>
          <a:prstGeom prst="rect">
            <a:avLst/>
          </a:prstGeom>
          <a:noFill/>
        </p:spPr>
        <p:txBody>
          <a:bodyPr wrap="square">
            <a:spAutoFit/>
          </a:bodyPr>
          <a:lstStyle/>
          <a:p>
            <a:pPr algn="ctr"/>
            <a:r>
              <a:rPr sz="900" b="1" i="0">
                <a:solidFill>
                  <a:srgbClr val="1A365D"/>
                </a:solidFill>
              </a:rPr>
              <a:t>The IP Moat</a:t>
            </a:r>
          </a:p>
        </p:txBody>
      </p:sp>
      <p:sp>
        <p:nvSpPr>
          <p:cNvPr id="21" name="Rectangle 20"/>
          <p:cNvSpPr/>
          <p:nvPr/>
        </p:nvSpPr>
        <p:spPr>
          <a:xfrm>
            <a:off x="548640" y="2487168"/>
            <a:ext cx="2267712" cy="27432"/>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4048" y="2578608"/>
            <a:ext cx="2633472" cy="1508760"/>
          </a:xfrm>
          <a:prstGeom prst="rect">
            <a:avLst/>
          </a:prstGeom>
          <a:noFill/>
        </p:spPr>
        <p:txBody>
          <a:bodyPr wrap="square">
            <a:spAutoFit/>
          </a:bodyPr>
          <a:lstStyle/>
          <a:p>
            <a:pPr algn="l"/>
            <a:r>
              <a:rPr sz="800" b="0" i="0">
                <a:solidFill>
                  <a:srgbClr val="111111"/>
                </a:solidFill>
              </a:rPr>
              <a:t>Our proprietary 11-phase AI architecture is a continuous IP generation engine. Candidate C is merely our first output — we can computationally generate bespoke materials for any thermal bottleneck Sona Comstar faces across all four EPIC verticals.</a:t>
            </a:r>
          </a:p>
        </p:txBody>
      </p:sp>
      <p:sp>
        <p:nvSpPr>
          <p:cNvPr id="23" name="Rectangle 22"/>
          <p:cNvSpPr/>
          <p:nvPr/>
        </p:nvSpPr>
        <p:spPr>
          <a:xfrm>
            <a:off x="3255264" y="1783080"/>
            <a:ext cx="2816352" cy="2423160"/>
          </a:xfrm>
          <a:prstGeom prst="roundRect">
            <a:avLst>
              <a:gd name="adj" fmla="val 10000"/>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255264" y="1783080"/>
            <a:ext cx="2816352" cy="36576"/>
          </a:xfrm>
          <a:prstGeom prst="roundRect">
            <a:avLst>
              <a:gd name="adj" fmla="val 10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498848" y="1865376"/>
            <a:ext cx="329184" cy="329184"/>
          </a:xfrm>
          <a:prstGeom prst="roundRect">
            <a:avLst>
              <a:gd name="adj" fmla="val 50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98848" y="1883664"/>
            <a:ext cx="329184" cy="274320"/>
          </a:xfrm>
          <a:prstGeom prst="rect">
            <a:avLst/>
          </a:prstGeom>
          <a:noFill/>
        </p:spPr>
        <p:txBody>
          <a:bodyPr wrap="square">
            <a:spAutoFit/>
          </a:bodyPr>
          <a:lstStyle/>
          <a:p>
            <a:pPr algn="ctr"/>
            <a:r>
              <a:rPr sz="1100" b="1" i="0">
                <a:solidFill>
                  <a:srgbClr val="FFFFFF"/>
                </a:solidFill>
              </a:rPr>
              <a:t>2</a:t>
            </a:r>
          </a:p>
        </p:txBody>
      </p:sp>
      <p:sp>
        <p:nvSpPr>
          <p:cNvPr id="27" name="TextBox 26"/>
          <p:cNvSpPr txBox="1"/>
          <p:nvPr/>
        </p:nvSpPr>
        <p:spPr>
          <a:xfrm>
            <a:off x="3364992" y="2267712"/>
            <a:ext cx="2633472" cy="201168"/>
          </a:xfrm>
          <a:prstGeom prst="rect">
            <a:avLst/>
          </a:prstGeom>
          <a:noFill/>
        </p:spPr>
        <p:txBody>
          <a:bodyPr wrap="square">
            <a:spAutoFit/>
          </a:bodyPr>
          <a:lstStyle/>
          <a:p>
            <a:pPr algn="ctr"/>
            <a:r>
              <a:rPr sz="900" b="1" i="0">
                <a:solidFill>
                  <a:srgbClr val="059669"/>
                </a:solidFill>
              </a:rPr>
              <a:t>Make-in-India Reality</a:t>
            </a:r>
          </a:p>
        </p:txBody>
      </p:sp>
      <p:sp>
        <p:nvSpPr>
          <p:cNvPr id="28" name="Rectangle 27"/>
          <p:cNvSpPr/>
          <p:nvPr/>
        </p:nvSpPr>
        <p:spPr>
          <a:xfrm>
            <a:off x="3529584" y="2487168"/>
            <a:ext cx="2267712" cy="27432"/>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364992" y="2578608"/>
            <a:ext cx="2633472" cy="1508760"/>
          </a:xfrm>
          <a:prstGeom prst="rect">
            <a:avLst/>
          </a:prstGeom>
          <a:noFill/>
        </p:spPr>
        <p:txBody>
          <a:bodyPr wrap="square">
            <a:spAutoFit/>
          </a:bodyPr>
          <a:lstStyle/>
          <a:p>
            <a:pPr algn="l"/>
            <a:r>
              <a:rPr sz="800" b="0" i="0">
                <a:solidFill>
                  <a:srgbClr val="111111"/>
                </a:solidFill>
              </a:rPr>
              <a:t>By engineering out exotic, foreign-controlled minerals and optimizing around globally abundant Titanium and Chromium, we guarantee a secure, indigenous supply chain for Sona Comstar's next-generation EV components.</a:t>
            </a:r>
          </a:p>
        </p:txBody>
      </p:sp>
      <p:sp>
        <p:nvSpPr>
          <p:cNvPr id="30" name="Rectangle 29"/>
          <p:cNvSpPr/>
          <p:nvPr/>
        </p:nvSpPr>
        <p:spPr>
          <a:xfrm>
            <a:off x="6236208" y="1783080"/>
            <a:ext cx="2816352" cy="2423160"/>
          </a:xfrm>
          <a:prstGeom prst="roundRect">
            <a:avLst>
              <a:gd name="adj" fmla="val 10000"/>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236208" y="1783080"/>
            <a:ext cx="2816352" cy="36576"/>
          </a:xfrm>
          <a:prstGeom prst="roundRect">
            <a:avLst>
              <a:gd name="adj" fmla="val 1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479792" y="1865376"/>
            <a:ext cx="329184" cy="329184"/>
          </a:xfrm>
          <a:prstGeom prst="roundRect">
            <a:avLst>
              <a:gd name="adj" fmla="val 5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479792" y="1883664"/>
            <a:ext cx="329184" cy="274320"/>
          </a:xfrm>
          <a:prstGeom prst="rect">
            <a:avLst/>
          </a:prstGeom>
          <a:noFill/>
        </p:spPr>
        <p:txBody>
          <a:bodyPr wrap="square">
            <a:spAutoFit/>
          </a:bodyPr>
          <a:lstStyle/>
          <a:p>
            <a:pPr algn="ctr"/>
            <a:r>
              <a:rPr sz="1100" b="1" i="0">
                <a:solidFill>
                  <a:srgbClr val="FFFFFF"/>
                </a:solidFill>
              </a:rPr>
              <a:t>3</a:t>
            </a:r>
          </a:p>
        </p:txBody>
      </p:sp>
      <p:sp>
        <p:nvSpPr>
          <p:cNvPr id="34" name="TextBox 33"/>
          <p:cNvSpPr txBox="1"/>
          <p:nvPr/>
        </p:nvSpPr>
        <p:spPr>
          <a:xfrm>
            <a:off x="6345936" y="2267712"/>
            <a:ext cx="2633472" cy="201168"/>
          </a:xfrm>
          <a:prstGeom prst="rect">
            <a:avLst/>
          </a:prstGeom>
          <a:noFill/>
        </p:spPr>
        <p:txBody>
          <a:bodyPr wrap="square">
            <a:spAutoFit/>
          </a:bodyPr>
          <a:lstStyle/>
          <a:p>
            <a:pPr algn="ctr"/>
            <a:r>
              <a:rPr sz="900" b="1" i="0">
                <a:solidFill>
                  <a:srgbClr val="00B4D8"/>
                </a:solidFill>
              </a:rPr>
              <a:t>IIT Delhi IP Framework</a:t>
            </a:r>
          </a:p>
        </p:txBody>
      </p:sp>
      <p:sp>
        <p:nvSpPr>
          <p:cNvPr id="35" name="Rectangle 34"/>
          <p:cNvSpPr/>
          <p:nvPr/>
        </p:nvSpPr>
        <p:spPr>
          <a:xfrm>
            <a:off x="6510528" y="2487168"/>
            <a:ext cx="2267712" cy="2743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45936" y="2578608"/>
            <a:ext cx="2633472" cy="1508760"/>
          </a:xfrm>
          <a:prstGeom prst="rect">
            <a:avLst/>
          </a:prstGeom>
          <a:noFill/>
        </p:spPr>
        <p:txBody>
          <a:bodyPr wrap="square">
            <a:spAutoFit/>
          </a:bodyPr>
          <a:lstStyle/>
          <a:p>
            <a:pPr algn="l"/>
            <a:r>
              <a:rPr sz="800" b="0" i="0">
                <a:solidFill>
                  <a:srgbClr val="111111"/>
                </a:solidFill>
              </a:rPr>
              <a:t>We are prepared to navigate the FITT incubation framework to jointly patent physical material formulations developed within the Central Research Facility (CRF), ensuring robust legal IP protection for all innovations generated during SCIDIP.</a:t>
            </a:r>
          </a:p>
        </p:txBody>
      </p:sp>
      <p:sp>
        <p:nvSpPr>
          <p:cNvPr id="37" name="Rectangle 36"/>
          <p:cNvSpPr/>
          <p:nvPr/>
        </p:nvSpPr>
        <p:spPr>
          <a:xfrm>
            <a:off x="274320" y="4315968"/>
            <a:ext cx="8595360" cy="384048"/>
          </a:xfrm>
          <a:prstGeom prst="roundRect">
            <a:avLst>
              <a:gd name="adj" fmla="val 6000"/>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11480" y="4370832"/>
            <a:ext cx="8229600" cy="292608"/>
          </a:xfrm>
          <a:prstGeom prst="rect">
            <a:avLst/>
          </a:prstGeom>
          <a:noFill/>
        </p:spPr>
        <p:txBody>
          <a:bodyPr wrap="square">
            <a:spAutoFit/>
          </a:bodyPr>
          <a:lstStyle/>
          <a:p>
            <a:pPr algn="l"/>
            <a:r>
              <a:rPr sz="850" b="0" i="0">
                <a:solidFill>
                  <a:srgbClr val="00B4D8"/>
                </a:solidFill>
              </a:rPr>
              <a:t>STRATEGIC INSIGHT: Sona Comstar uses a 'buy &amp; build' strategy — they actively form JVs (DENSO, 2026) and acquire startups (NOVELIC, 2023) to plug technological gaps. Crystal Paradigm's IP is engineered for this exact corporate integration pathway.</a:t>
            </a:r>
          </a:p>
        </p:txBody>
      </p:sp>
      <p:sp>
        <p:nvSpPr>
          <p:cNvPr id="39" name="Rectangle 38"/>
          <p:cNvSpPr/>
          <p:nvPr/>
        </p:nvSpPr>
        <p:spPr>
          <a:xfrm>
            <a:off x="0" y="4572000"/>
            <a:ext cx="9144000" cy="566928"/>
          </a:xfrm>
          <a:prstGeom prst="rect">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5760" y="4681728"/>
            <a:ext cx="4572000" cy="182880"/>
          </a:xfrm>
          <a:prstGeom prst="rect">
            <a:avLst/>
          </a:prstGeom>
          <a:noFill/>
        </p:spPr>
        <p:txBody>
          <a:bodyPr wrap="square">
            <a:spAutoFit/>
          </a:bodyPr>
          <a:lstStyle/>
          <a:p>
            <a:pPr algn="l"/>
            <a:r>
              <a:rPr sz="800" b="0" i="0">
                <a:solidFill>
                  <a:srgbClr val="00B4D8"/>
                </a:solidFill>
              </a:rPr>
              <a:t>Crystal Paradigm  ·  SCIDIP Program Application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9144000" cy="868680"/>
          </a:xfrm>
          <a:prstGeom prst="rect">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9144000" cy="36576"/>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8229600" cy="347472"/>
          </a:xfrm>
          <a:prstGeom prst="rect">
            <a:avLst/>
          </a:prstGeom>
          <a:noFill/>
        </p:spPr>
        <p:txBody>
          <a:bodyPr wrap="square">
            <a:spAutoFit/>
          </a:bodyPr>
          <a:lstStyle/>
          <a:p>
            <a:pPr algn="l"/>
            <a:r>
              <a:rPr sz="1800" b="1" i="0">
                <a:solidFill>
                  <a:srgbClr val="FFFFFF"/>
                </a:solidFill>
              </a:rPr>
              <a:t>THE CRYSTAL PARADIGM CORPORATE ASK</a:t>
            </a:r>
          </a:p>
        </p:txBody>
      </p:sp>
      <p:sp>
        <p:nvSpPr>
          <p:cNvPr id="5" name="TextBox 4"/>
          <p:cNvSpPr txBox="1"/>
          <p:nvPr/>
        </p:nvSpPr>
        <p:spPr>
          <a:xfrm>
            <a:off x="365760" y="502920"/>
            <a:ext cx="8229600" cy="256032"/>
          </a:xfrm>
          <a:prstGeom prst="rect">
            <a:avLst/>
          </a:prstGeom>
          <a:noFill/>
        </p:spPr>
        <p:txBody>
          <a:bodyPr wrap="square">
            <a:spAutoFit/>
          </a:bodyPr>
          <a:lstStyle/>
          <a:p>
            <a:pPr algn="l"/>
            <a:r>
              <a:rPr sz="900" b="0" i="0">
                <a:solidFill>
                  <a:srgbClr val="00B4D8"/>
                </a:solidFill>
              </a:rPr>
              <a:t>Bridging the Gap Between Informatics and the Factory Floor</a:t>
            </a:r>
          </a:p>
        </p:txBody>
      </p:sp>
      <p:sp>
        <p:nvSpPr>
          <p:cNvPr id="6" name="TextBox 5"/>
          <p:cNvSpPr txBox="1"/>
          <p:nvPr/>
        </p:nvSpPr>
        <p:spPr>
          <a:xfrm>
            <a:off x="365760" y="987552"/>
            <a:ext cx="8412480" cy="320040"/>
          </a:xfrm>
          <a:prstGeom prst="rect">
            <a:avLst/>
          </a:prstGeom>
          <a:noFill/>
        </p:spPr>
        <p:txBody>
          <a:bodyPr wrap="square">
            <a:spAutoFit/>
          </a:bodyPr>
          <a:lstStyle/>
          <a:p>
            <a:pPr algn="l"/>
            <a:r>
              <a:rPr sz="850" b="0" i="0">
                <a:solidFill>
                  <a:srgbClr val="5580A0"/>
                </a:solidFill>
              </a:rPr>
              <a:t>Crystal Paradigm is completely computationally validated (TRL 3+). We are applying to the Advanced Materials track to access the precise ecosystem to cross the "valley of death".</a:t>
            </a:r>
          </a:p>
        </p:txBody>
      </p:sp>
      <p:sp>
        <p:nvSpPr>
          <p:cNvPr id="7" name="Rectangle 6"/>
          <p:cNvSpPr/>
          <p:nvPr/>
        </p:nvSpPr>
        <p:spPr>
          <a:xfrm>
            <a:off x="274320" y="1353312"/>
            <a:ext cx="8595360" cy="347472"/>
          </a:xfrm>
          <a:prstGeom prst="roundRect">
            <a:avLst>
              <a:gd name="adj" fmla="val 6000"/>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389888"/>
            <a:ext cx="1828800" cy="256032"/>
          </a:xfrm>
          <a:prstGeom prst="rect">
            <a:avLst/>
          </a:prstGeom>
          <a:noFill/>
        </p:spPr>
        <p:txBody>
          <a:bodyPr wrap="square">
            <a:spAutoFit/>
          </a:bodyPr>
          <a:lstStyle/>
          <a:p>
            <a:pPr algn="ctr"/>
            <a:r>
              <a:rPr sz="800" b="1" i="0">
                <a:solidFill>
                  <a:srgbClr val="5580A0"/>
                </a:solidFill>
              </a:rPr>
              <a:t>TRL 1-2</a:t>
            </a:r>
          </a:p>
        </p:txBody>
      </p:sp>
      <p:sp>
        <p:nvSpPr>
          <p:cNvPr id="9" name="TextBox 8"/>
          <p:cNvSpPr txBox="1"/>
          <p:nvPr/>
        </p:nvSpPr>
        <p:spPr>
          <a:xfrm>
            <a:off x="2926080" y="1389888"/>
            <a:ext cx="1828800" cy="256032"/>
          </a:xfrm>
          <a:prstGeom prst="rect">
            <a:avLst/>
          </a:prstGeom>
          <a:noFill/>
        </p:spPr>
        <p:txBody>
          <a:bodyPr wrap="square">
            <a:spAutoFit/>
          </a:bodyPr>
          <a:lstStyle/>
          <a:p>
            <a:pPr algn="ctr"/>
            <a:r>
              <a:rPr sz="800" b="1" i="0">
                <a:solidFill>
                  <a:srgbClr val="059669"/>
                </a:solidFill>
              </a:rPr>
              <a:t>TRL 3+ ✓ NOW</a:t>
            </a:r>
          </a:p>
        </p:txBody>
      </p:sp>
      <p:sp>
        <p:nvSpPr>
          <p:cNvPr id="10" name="TextBox 9"/>
          <p:cNvSpPr txBox="1"/>
          <p:nvPr/>
        </p:nvSpPr>
        <p:spPr>
          <a:xfrm>
            <a:off x="5303520" y="1389888"/>
            <a:ext cx="1828800" cy="256032"/>
          </a:xfrm>
          <a:prstGeom prst="rect">
            <a:avLst/>
          </a:prstGeom>
          <a:noFill/>
        </p:spPr>
        <p:txBody>
          <a:bodyPr wrap="square">
            <a:spAutoFit/>
          </a:bodyPr>
          <a:lstStyle/>
          <a:p>
            <a:pPr algn="ctr"/>
            <a:r>
              <a:rPr sz="800" b="1" i="0">
                <a:solidFill>
                  <a:srgbClr val="2BDEFD"/>
                </a:solidFill>
              </a:rPr>
              <a:t>TRL 4-5 (SCIDIP TARGET)</a:t>
            </a:r>
          </a:p>
        </p:txBody>
      </p:sp>
      <p:sp>
        <p:nvSpPr>
          <p:cNvPr id="11" name="TextBox 10"/>
          <p:cNvSpPr txBox="1"/>
          <p:nvPr/>
        </p:nvSpPr>
        <p:spPr>
          <a:xfrm>
            <a:off x="7498079" y="1389888"/>
            <a:ext cx="1554480" cy="256032"/>
          </a:xfrm>
          <a:prstGeom prst="rect">
            <a:avLst/>
          </a:prstGeom>
          <a:noFill/>
        </p:spPr>
        <p:txBody>
          <a:bodyPr wrap="square">
            <a:spAutoFit/>
          </a:bodyPr>
          <a:lstStyle/>
          <a:p>
            <a:pPr algn="ctr"/>
            <a:r>
              <a:rPr sz="800" b="1" i="0">
                <a:solidFill>
                  <a:srgbClr val="F59E0B"/>
                </a:solidFill>
              </a:rPr>
              <a:t>TRL 6 COMMERCIALIZATION</a:t>
            </a:r>
          </a:p>
        </p:txBody>
      </p:sp>
      <p:sp>
        <p:nvSpPr>
          <p:cNvPr id="12" name="Rectangle 11"/>
          <p:cNvSpPr/>
          <p:nvPr/>
        </p:nvSpPr>
        <p:spPr>
          <a:xfrm>
            <a:off x="2286000" y="1463040"/>
            <a:ext cx="128016" cy="128016"/>
          </a:xfrm>
          <a:prstGeom prst="roundRect">
            <a:avLst>
              <a:gd name="adj" fmla="val 5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0" y="1463040"/>
            <a:ext cx="128016" cy="128016"/>
          </a:xfrm>
          <a:prstGeom prst="roundRect">
            <a:avLst>
              <a:gd name="adj" fmla="val 5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675120" y="1463040"/>
            <a:ext cx="128016" cy="128016"/>
          </a:xfrm>
          <a:prstGeom prst="roundRect">
            <a:avLst>
              <a:gd name="adj" fmla="val 5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74320" y="1810512"/>
            <a:ext cx="2084831" cy="2606040"/>
          </a:xfrm>
          <a:prstGeom prst="roundRect">
            <a:avLst>
              <a:gd name="adj" fmla="val 10000"/>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74320" y="1810512"/>
            <a:ext cx="2084831" cy="36576"/>
          </a:xfrm>
          <a:prstGeom prst="roundRect">
            <a:avLst>
              <a:gd name="adj" fmla="val 1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133856" y="1901952"/>
            <a:ext cx="365760" cy="365760"/>
          </a:xfrm>
          <a:prstGeom prst="roundRect">
            <a:avLst>
              <a:gd name="adj" fmla="val 5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33856" y="1920240"/>
            <a:ext cx="365760" cy="320040"/>
          </a:xfrm>
          <a:prstGeom prst="rect">
            <a:avLst/>
          </a:prstGeom>
          <a:noFill/>
        </p:spPr>
        <p:txBody>
          <a:bodyPr wrap="square">
            <a:spAutoFit/>
          </a:bodyPr>
          <a:lstStyle/>
          <a:p>
            <a:pPr algn="ctr"/>
            <a:r>
              <a:rPr sz="1200" b="1" i="0">
                <a:solidFill>
                  <a:srgbClr val="FFFFFF"/>
                </a:solidFill>
              </a:rPr>
              <a:t>1</a:t>
            </a:r>
          </a:p>
        </p:txBody>
      </p:sp>
      <p:sp>
        <p:nvSpPr>
          <p:cNvPr id="19" name="TextBox 18"/>
          <p:cNvSpPr txBox="1"/>
          <p:nvPr/>
        </p:nvSpPr>
        <p:spPr>
          <a:xfrm>
            <a:off x="365760" y="2331720"/>
            <a:ext cx="1901951" cy="347472"/>
          </a:xfrm>
          <a:prstGeom prst="rect">
            <a:avLst/>
          </a:prstGeom>
          <a:noFill/>
        </p:spPr>
        <p:txBody>
          <a:bodyPr wrap="square">
            <a:spAutoFit/>
          </a:bodyPr>
          <a:lstStyle/>
          <a:p>
            <a:pPr algn="ctr"/>
            <a:r>
              <a:rPr sz="900" b="1" i="0">
                <a:solidFill>
                  <a:srgbClr val="1A365D"/>
                </a:solidFill>
              </a:rPr>
              <a:t>Technology &amp;
Lab Support</a:t>
            </a:r>
          </a:p>
        </p:txBody>
      </p:sp>
      <p:sp>
        <p:nvSpPr>
          <p:cNvPr id="20" name="TextBox 19"/>
          <p:cNvSpPr txBox="1"/>
          <p:nvPr/>
        </p:nvSpPr>
        <p:spPr>
          <a:xfrm>
            <a:off x="365760" y="2697480"/>
            <a:ext cx="1901951" cy="164592"/>
          </a:xfrm>
          <a:prstGeom prst="rect">
            <a:avLst/>
          </a:prstGeom>
          <a:noFill/>
        </p:spPr>
        <p:txBody>
          <a:bodyPr wrap="square">
            <a:spAutoFit/>
          </a:bodyPr>
          <a:lstStyle/>
          <a:p>
            <a:pPr algn="ctr"/>
            <a:r>
              <a:rPr sz="800" b="0" i="0">
                <a:solidFill>
                  <a:srgbClr val="00B4D8"/>
                </a:solidFill>
              </a:rPr>
              <a:t>IIT Delhi CRF</a:t>
            </a:r>
          </a:p>
        </p:txBody>
      </p:sp>
      <p:sp>
        <p:nvSpPr>
          <p:cNvPr id="21" name="Rectangle 20"/>
          <p:cNvSpPr/>
          <p:nvPr/>
        </p:nvSpPr>
        <p:spPr>
          <a:xfrm>
            <a:off x="502920" y="2907792"/>
            <a:ext cx="1627631" cy="2743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5760" y="2999232"/>
            <a:ext cx="1901951" cy="1298448"/>
          </a:xfrm>
          <a:prstGeom prst="rect">
            <a:avLst/>
          </a:prstGeom>
          <a:noFill/>
        </p:spPr>
        <p:txBody>
          <a:bodyPr wrap="square">
            <a:spAutoFit/>
          </a:bodyPr>
          <a:lstStyle/>
          <a:p>
            <a:pPr algn="ctr"/>
            <a:r>
              <a:rPr sz="850" b="0" i="0">
                <a:solidFill>
                  <a:srgbClr val="111111"/>
                </a:solidFill>
              </a:rPr>
              <a:t>Access NIDHI-CoE and CRF: High-Temperature XRD, SEM/EDS, Simultaneous Thermal Analysis (STA) on physical witness coupons.</a:t>
            </a:r>
          </a:p>
        </p:txBody>
      </p:sp>
      <p:sp>
        <p:nvSpPr>
          <p:cNvPr id="23" name="Rectangle 22"/>
          <p:cNvSpPr/>
          <p:nvPr/>
        </p:nvSpPr>
        <p:spPr>
          <a:xfrm>
            <a:off x="2468879" y="1810512"/>
            <a:ext cx="2084831" cy="2606040"/>
          </a:xfrm>
          <a:prstGeom prst="roundRect">
            <a:avLst>
              <a:gd name="adj" fmla="val 10000"/>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468879" y="1810512"/>
            <a:ext cx="2084831" cy="36576"/>
          </a:xfrm>
          <a:prstGeom prst="roundRect">
            <a:avLst>
              <a:gd name="adj" fmla="val 10000"/>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328415" y="1901952"/>
            <a:ext cx="365760" cy="365760"/>
          </a:xfrm>
          <a:prstGeom prst="roundRect">
            <a:avLst>
              <a:gd name="adj" fmla="val 50000"/>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328415" y="1920240"/>
            <a:ext cx="365760" cy="320040"/>
          </a:xfrm>
          <a:prstGeom prst="rect">
            <a:avLst/>
          </a:prstGeom>
          <a:noFill/>
        </p:spPr>
        <p:txBody>
          <a:bodyPr wrap="square">
            <a:spAutoFit/>
          </a:bodyPr>
          <a:lstStyle/>
          <a:p>
            <a:pPr algn="ctr"/>
            <a:r>
              <a:rPr sz="1200" b="1" i="0">
                <a:solidFill>
                  <a:srgbClr val="FFFFFF"/>
                </a:solidFill>
              </a:rPr>
              <a:t>2</a:t>
            </a:r>
          </a:p>
        </p:txBody>
      </p:sp>
      <p:sp>
        <p:nvSpPr>
          <p:cNvPr id="27" name="TextBox 26"/>
          <p:cNvSpPr txBox="1"/>
          <p:nvPr/>
        </p:nvSpPr>
        <p:spPr>
          <a:xfrm>
            <a:off x="2560320" y="2331720"/>
            <a:ext cx="1901951" cy="347472"/>
          </a:xfrm>
          <a:prstGeom prst="rect">
            <a:avLst/>
          </a:prstGeom>
          <a:noFill/>
        </p:spPr>
        <p:txBody>
          <a:bodyPr wrap="square">
            <a:spAutoFit/>
          </a:bodyPr>
          <a:lstStyle/>
          <a:p>
            <a:pPr algn="ctr"/>
            <a:r>
              <a:rPr sz="900" b="1" i="0">
                <a:solidFill>
                  <a:srgbClr val="1A365D"/>
                </a:solidFill>
              </a:rPr>
              <a:t>Sona Comstar
Mentorship</a:t>
            </a:r>
          </a:p>
        </p:txBody>
      </p:sp>
      <p:sp>
        <p:nvSpPr>
          <p:cNvPr id="28" name="TextBox 27"/>
          <p:cNvSpPr txBox="1"/>
          <p:nvPr/>
        </p:nvSpPr>
        <p:spPr>
          <a:xfrm>
            <a:off x="2560320" y="2697480"/>
            <a:ext cx="1901951" cy="164592"/>
          </a:xfrm>
          <a:prstGeom prst="rect">
            <a:avLst/>
          </a:prstGeom>
          <a:noFill/>
        </p:spPr>
        <p:txBody>
          <a:bodyPr wrap="square">
            <a:spAutoFit/>
          </a:bodyPr>
          <a:lstStyle/>
          <a:p>
            <a:pPr algn="ctr"/>
            <a:r>
              <a:rPr sz="800" b="0" i="0">
                <a:solidFill>
                  <a:srgbClr val="1A365D"/>
                </a:solidFill>
              </a:rPr>
              <a:t>Engineering Alignment</a:t>
            </a:r>
          </a:p>
        </p:txBody>
      </p:sp>
      <p:sp>
        <p:nvSpPr>
          <p:cNvPr id="29" name="Rectangle 28"/>
          <p:cNvSpPr/>
          <p:nvPr/>
        </p:nvSpPr>
        <p:spPr>
          <a:xfrm>
            <a:off x="2697479" y="2907792"/>
            <a:ext cx="1627631" cy="27432"/>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560320" y="2999232"/>
            <a:ext cx="1901951" cy="1298448"/>
          </a:xfrm>
          <a:prstGeom prst="rect">
            <a:avLst/>
          </a:prstGeom>
          <a:noFill/>
        </p:spPr>
        <p:txBody>
          <a:bodyPr wrap="square">
            <a:spAutoFit/>
          </a:bodyPr>
          <a:lstStyle/>
          <a:p>
            <a:pPr algn="ctr"/>
            <a:r>
              <a:rPr sz="850" b="0" i="0">
                <a:solidFill>
                  <a:srgbClr val="111111"/>
                </a:solidFill>
              </a:rPr>
              <a:t>Direct alignment with Sona Comstar's precision forging division to match our 11-layer print matrices to factory-floor DED tolerances.</a:t>
            </a:r>
          </a:p>
        </p:txBody>
      </p:sp>
      <p:sp>
        <p:nvSpPr>
          <p:cNvPr id="31" name="Rectangle 30"/>
          <p:cNvSpPr/>
          <p:nvPr/>
        </p:nvSpPr>
        <p:spPr>
          <a:xfrm>
            <a:off x="4663440" y="1810512"/>
            <a:ext cx="2084831" cy="2606040"/>
          </a:xfrm>
          <a:prstGeom prst="roundRect">
            <a:avLst>
              <a:gd name="adj" fmla="val 10000"/>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663440" y="1810512"/>
            <a:ext cx="2084831" cy="36576"/>
          </a:xfrm>
          <a:prstGeom prst="roundRect">
            <a:avLst>
              <a:gd name="adj" fmla="val 10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522975" y="1901952"/>
            <a:ext cx="365760" cy="365760"/>
          </a:xfrm>
          <a:prstGeom prst="roundRect">
            <a:avLst>
              <a:gd name="adj" fmla="val 50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522975" y="1920240"/>
            <a:ext cx="365760" cy="320040"/>
          </a:xfrm>
          <a:prstGeom prst="rect">
            <a:avLst/>
          </a:prstGeom>
          <a:noFill/>
        </p:spPr>
        <p:txBody>
          <a:bodyPr wrap="square">
            <a:spAutoFit/>
          </a:bodyPr>
          <a:lstStyle/>
          <a:p>
            <a:pPr algn="ctr"/>
            <a:r>
              <a:rPr sz="1200" b="1" i="0">
                <a:solidFill>
                  <a:srgbClr val="FFFFFF"/>
                </a:solidFill>
              </a:rPr>
              <a:t>3</a:t>
            </a:r>
          </a:p>
        </p:txBody>
      </p:sp>
      <p:sp>
        <p:nvSpPr>
          <p:cNvPr id="35" name="TextBox 34"/>
          <p:cNvSpPr txBox="1"/>
          <p:nvPr/>
        </p:nvSpPr>
        <p:spPr>
          <a:xfrm>
            <a:off x="4754879" y="2331720"/>
            <a:ext cx="1901951" cy="347472"/>
          </a:xfrm>
          <a:prstGeom prst="rect">
            <a:avLst/>
          </a:prstGeom>
          <a:noFill/>
        </p:spPr>
        <p:txBody>
          <a:bodyPr wrap="square">
            <a:spAutoFit/>
          </a:bodyPr>
          <a:lstStyle/>
          <a:p>
            <a:pPr algn="ctr"/>
            <a:r>
              <a:rPr sz="900" b="1" i="0">
                <a:solidFill>
                  <a:srgbClr val="1A365D"/>
                </a:solidFill>
              </a:rPr>
              <a:t>SCIDIP Seed
Ecosystem</a:t>
            </a:r>
          </a:p>
        </p:txBody>
      </p:sp>
      <p:sp>
        <p:nvSpPr>
          <p:cNvPr id="36" name="TextBox 35"/>
          <p:cNvSpPr txBox="1"/>
          <p:nvPr/>
        </p:nvSpPr>
        <p:spPr>
          <a:xfrm>
            <a:off x="4754879" y="2697480"/>
            <a:ext cx="1901951" cy="164592"/>
          </a:xfrm>
          <a:prstGeom prst="rect">
            <a:avLst/>
          </a:prstGeom>
          <a:noFill/>
        </p:spPr>
        <p:txBody>
          <a:bodyPr wrap="square">
            <a:spAutoFit/>
          </a:bodyPr>
          <a:lstStyle/>
          <a:p>
            <a:pPr algn="ctr"/>
            <a:r>
              <a:rPr sz="800" b="0" i="0">
                <a:solidFill>
                  <a:srgbClr val="059669"/>
                </a:solidFill>
              </a:rPr>
              <a:t>₹80L Grant-in-Aid</a:t>
            </a:r>
          </a:p>
        </p:txBody>
      </p:sp>
      <p:sp>
        <p:nvSpPr>
          <p:cNvPr id="37" name="Rectangle 36"/>
          <p:cNvSpPr/>
          <p:nvPr/>
        </p:nvSpPr>
        <p:spPr>
          <a:xfrm>
            <a:off x="4892040" y="2907792"/>
            <a:ext cx="1627631" cy="27432"/>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754879" y="2999232"/>
            <a:ext cx="1901951" cy="1298448"/>
          </a:xfrm>
          <a:prstGeom prst="rect">
            <a:avLst/>
          </a:prstGeom>
          <a:noFill/>
        </p:spPr>
        <p:txBody>
          <a:bodyPr wrap="square">
            <a:spAutoFit/>
          </a:bodyPr>
          <a:lstStyle/>
          <a:p>
            <a:pPr algn="ctr"/>
            <a:r>
              <a:rPr sz="850" b="0" i="0">
                <a:solidFill>
                  <a:srgbClr val="111111"/>
                </a:solidFill>
              </a:rPr>
              <a:t>Integration into the SCIDIP funding framework to finance raw material atomization and multi-hopper 3D printing of prototypes.</a:t>
            </a:r>
          </a:p>
        </p:txBody>
      </p:sp>
      <p:sp>
        <p:nvSpPr>
          <p:cNvPr id="39" name="Rectangle 38"/>
          <p:cNvSpPr/>
          <p:nvPr/>
        </p:nvSpPr>
        <p:spPr>
          <a:xfrm>
            <a:off x="6858000" y="1810512"/>
            <a:ext cx="2084831" cy="2606040"/>
          </a:xfrm>
          <a:prstGeom prst="roundRect">
            <a:avLst>
              <a:gd name="adj" fmla="val 10000"/>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858000" y="1810512"/>
            <a:ext cx="2084831" cy="36576"/>
          </a:xfrm>
          <a:prstGeom prst="roundRect">
            <a:avLst>
              <a:gd name="adj" fmla="val 10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717536" y="1901952"/>
            <a:ext cx="365760" cy="365760"/>
          </a:xfrm>
          <a:prstGeom prst="roundRect">
            <a:avLst>
              <a:gd name="adj" fmla="val 50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717536" y="1920240"/>
            <a:ext cx="365760" cy="320040"/>
          </a:xfrm>
          <a:prstGeom prst="rect">
            <a:avLst/>
          </a:prstGeom>
          <a:noFill/>
        </p:spPr>
        <p:txBody>
          <a:bodyPr wrap="square">
            <a:spAutoFit/>
          </a:bodyPr>
          <a:lstStyle/>
          <a:p>
            <a:pPr algn="ctr"/>
            <a:r>
              <a:rPr sz="1200" b="1" i="0">
                <a:solidFill>
                  <a:srgbClr val="FFFFFF"/>
                </a:solidFill>
              </a:rPr>
              <a:t>4</a:t>
            </a:r>
          </a:p>
        </p:txBody>
      </p:sp>
      <p:sp>
        <p:nvSpPr>
          <p:cNvPr id="43" name="TextBox 42"/>
          <p:cNvSpPr txBox="1"/>
          <p:nvPr/>
        </p:nvSpPr>
        <p:spPr>
          <a:xfrm>
            <a:off x="6949440" y="2331720"/>
            <a:ext cx="1901951" cy="347472"/>
          </a:xfrm>
          <a:prstGeom prst="rect">
            <a:avLst/>
          </a:prstGeom>
          <a:noFill/>
        </p:spPr>
        <p:txBody>
          <a:bodyPr wrap="square">
            <a:spAutoFit/>
          </a:bodyPr>
          <a:lstStyle/>
          <a:p>
            <a:pPr algn="ctr"/>
            <a:r>
              <a:rPr sz="900" b="1" i="0">
                <a:solidFill>
                  <a:srgbClr val="1A365D"/>
                </a:solidFill>
              </a:rPr>
              <a:t>Corporate
Market Connect</a:t>
            </a:r>
          </a:p>
        </p:txBody>
      </p:sp>
      <p:sp>
        <p:nvSpPr>
          <p:cNvPr id="44" name="TextBox 43"/>
          <p:cNvSpPr txBox="1"/>
          <p:nvPr/>
        </p:nvSpPr>
        <p:spPr>
          <a:xfrm>
            <a:off x="6949440" y="2697480"/>
            <a:ext cx="1901951" cy="164592"/>
          </a:xfrm>
          <a:prstGeom prst="rect">
            <a:avLst/>
          </a:prstGeom>
          <a:noFill/>
        </p:spPr>
        <p:txBody>
          <a:bodyPr wrap="square">
            <a:spAutoFit/>
          </a:bodyPr>
          <a:lstStyle/>
          <a:p>
            <a:pPr algn="ctr"/>
            <a:r>
              <a:rPr sz="800" b="0" i="0">
                <a:solidFill>
                  <a:srgbClr val="F59E0B"/>
                </a:solidFill>
              </a:rPr>
              <a:t>Supply Chain Access</a:t>
            </a:r>
          </a:p>
        </p:txBody>
      </p:sp>
      <p:sp>
        <p:nvSpPr>
          <p:cNvPr id="45" name="Rectangle 44"/>
          <p:cNvSpPr/>
          <p:nvPr/>
        </p:nvSpPr>
        <p:spPr>
          <a:xfrm>
            <a:off x="7086600" y="2907792"/>
            <a:ext cx="1627631" cy="2743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949440" y="2999232"/>
            <a:ext cx="1901951" cy="1298448"/>
          </a:xfrm>
          <a:prstGeom prst="rect">
            <a:avLst/>
          </a:prstGeom>
          <a:noFill/>
        </p:spPr>
        <p:txBody>
          <a:bodyPr wrap="square">
            <a:spAutoFit/>
          </a:bodyPr>
          <a:lstStyle/>
          <a:p>
            <a:pPr algn="ctr"/>
            <a:r>
              <a:rPr sz="850" b="0" i="0">
                <a:solidFill>
                  <a:srgbClr val="111111"/>
                </a:solidFill>
              </a:rPr>
              <a:t>Joint integration of physical prototypes into Sona Comstar's downstream EV supply chain — forging dies and SRM stator components.</a:t>
            </a:r>
          </a:p>
        </p:txBody>
      </p:sp>
      <p:sp>
        <p:nvSpPr>
          <p:cNvPr id="47" name="Rectangle 46"/>
          <p:cNvSpPr/>
          <p:nvPr/>
        </p:nvSpPr>
        <p:spPr>
          <a:xfrm>
            <a:off x="0" y="4572000"/>
            <a:ext cx="9144000" cy="566928"/>
          </a:xfrm>
          <a:prstGeom prst="rect">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65760" y="4681728"/>
            <a:ext cx="4572000" cy="182880"/>
          </a:xfrm>
          <a:prstGeom prst="rect">
            <a:avLst/>
          </a:prstGeom>
          <a:noFill/>
        </p:spPr>
        <p:txBody>
          <a:bodyPr wrap="square">
            <a:spAutoFit/>
          </a:bodyPr>
          <a:lstStyle/>
          <a:p>
            <a:pPr algn="l"/>
            <a:r>
              <a:rPr sz="800" b="0" i="0">
                <a:solidFill>
                  <a:srgbClr val="00B4D8"/>
                </a:solidFill>
              </a:rPr>
              <a:t>Crystal Paradigm  ·  SCIDIP Program Application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9144000" cy="868680"/>
          </a:xfrm>
          <a:prstGeom prst="rect">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9144000" cy="36576"/>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8229600" cy="347472"/>
          </a:xfrm>
          <a:prstGeom prst="rect">
            <a:avLst/>
          </a:prstGeom>
          <a:noFill/>
        </p:spPr>
        <p:txBody>
          <a:bodyPr wrap="square">
            <a:spAutoFit/>
          </a:bodyPr>
          <a:lstStyle/>
          <a:p>
            <a:pPr algn="l"/>
            <a:r>
              <a:rPr sz="1800" b="1" i="0">
                <a:solidFill>
                  <a:srgbClr val="FFFFFF"/>
                </a:solidFill>
              </a:rPr>
              <a:t>THE 24-MONTH INCUBATION ROADMAP</a:t>
            </a:r>
          </a:p>
        </p:txBody>
      </p:sp>
      <p:sp>
        <p:nvSpPr>
          <p:cNvPr id="5" name="TextBox 4"/>
          <p:cNvSpPr txBox="1"/>
          <p:nvPr/>
        </p:nvSpPr>
        <p:spPr>
          <a:xfrm>
            <a:off x="365760" y="502920"/>
            <a:ext cx="8229600" cy="256032"/>
          </a:xfrm>
          <a:prstGeom prst="rect">
            <a:avLst/>
          </a:prstGeom>
          <a:noFill/>
        </p:spPr>
        <p:txBody>
          <a:bodyPr wrap="square">
            <a:spAutoFit/>
          </a:bodyPr>
          <a:lstStyle/>
          <a:p>
            <a:pPr algn="l"/>
            <a:r>
              <a:rPr sz="900" b="0" i="0">
                <a:solidFill>
                  <a:srgbClr val="00B4D8"/>
                </a:solidFill>
              </a:rPr>
              <a:t>From Computational Validation to Sona Comstar Integration · AIC IIT Delhi</a:t>
            </a:r>
          </a:p>
        </p:txBody>
      </p:sp>
      <p:sp>
        <p:nvSpPr>
          <p:cNvPr id="6" name="TextBox 5"/>
          <p:cNvSpPr txBox="1"/>
          <p:nvPr/>
        </p:nvSpPr>
        <p:spPr>
          <a:xfrm>
            <a:off x="365760" y="987552"/>
            <a:ext cx="8412480" cy="256032"/>
          </a:xfrm>
          <a:prstGeom prst="rect">
            <a:avLst/>
          </a:prstGeom>
          <a:noFill/>
        </p:spPr>
        <p:txBody>
          <a:bodyPr wrap="square">
            <a:spAutoFit/>
          </a:bodyPr>
          <a:lstStyle/>
          <a:p>
            <a:pPr algn="l"/>
            <a:r>
              <a:rPr sz="850" b="0" i="0">
                <a:solidFill>
                  <a:srgbClr val="5580A0"/>
                </a:solidFill>
              </a:rPr>
              <a:t>Our execution strategy is strictly mapped to the 24-month SCIDIP incubation cycle at Atal Incubation Centre (AIC), IIT Delhi.</a:t>
            </a:r>
          </a:p>
        </p:txBody>
      </p:sp>
      <p:sp>
        <p:nvSpPr>
          <p:cNvPr id="7" name="Rectangle 6"/>
          <p:cNvSpPr/>
          <p:nvPr/>
        </p:nvSpPr>
        <p:spPr>
          <a:xfrm>
            <a:off x="548640" y="1389888"/>
            <a:ext cx="8046720" cy="3657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35024" y="1298448"/>
            <a:ext cx="256032" cy="256032"/>
          </a:xfrm>
          <a:prstGeom prst="roundRect">
            <a:avLst>
              <a:gd name="adj" fmla="val 5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392424" y="1298448"/>
            <a:ext cx="256032" cy="256032"/>
          </a:xfrm>
          <a:prstGeom prst="roundRect">
            <a:avLst>
              <a:gd name="adj" fmla="val 50000"/>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49824" y="1298448"/>
            <a:ext cx="256032" cy="256032"/>
          </a:xfrm>
          <a:prstGeom prst="roundRect">
            <a:avLst>
              <a:gd name="adj" fmla="val 50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507223" y="1298448"/>
            <a:ext cx="256032" cy="256032"/>
          </a:xfrm>
          <a:prstGeom prst="roundRect">
            <a:avLst>
              <a:gd name="adj" fmla="val 50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1627632"/>
            <a:ext cx="2011680" cy="2880360"/>
          </a:xfrm>
          <a:prstGeom prst="roundRect">
            <a:avLst>
              <a:gd name="adj" fmla="val 10000"/>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65760" y="1627632"/>
            <a:ext cx="2011680" cy="36576"/>
          </a:xfrm>
          <a:prstGeom prst="roundRect">
            <a:avLst>
              <a:gd name="adj" fmla="val 1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8912" y="1700784"/>
            <a:ext cx="365760" cy="146304"/>
          </a:xfrm>
          <a:prstGeom prst="rect">
            <a:avLst/>
          </a:prstGeom>
          <a:noFill/>
        </p:spPr>
        <p:txBody>
          <a:bodyPr wrap="square">
            <a:spAutoFit/>
          </a:bodyPr>
          <a:lstStyle/>
          <a:p>
            <a:pPr algn="l"/>
            <a:r>
              <a:rPr sz="800" b="1" i="0">
                <a:solidFill>
                  <a:srgbClr val="FFFFFF"/>
                </a:solidFill>
              </a:rPr>
              <a:t>M1</a:t>
            </a:r>
          </a:p>
        </p:txBody>
      </p:sp>
      <p:sp>
        <p:nvSpPr>
          <p:cNvPr id="15" name="Rectangle 14"/>
          <p:cNvSpPr/>
          <p:nvPr/>
        </p:nvSpPr>
        <p:spPr>
          <a:xfrm>
            <a:off x="438912" y="1682496"/>
            <a:ext cx="320040" cy="182880"/>
          </a:xfrm>
          <a:prstGeom prst="roundRect">
            <a:avLst>
              <a:gd name="adj" fmla="val 4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1700784"/>
            <a:ext cx="292608" cy="146304"/>
          </a:xfrm>
          <a:prstGeom prst="rect">
            <a:avLst/>
          </a:prstGeom>
          <a:noFill/>
        </p:spPr>
        <p:txBody>
          <a:bodyPr wrap="square">
            <a:spAutoFit/>
          </a:bodyPr>
          <a:lstStyle/>
          <a:p>
            <a:pPr algn="ctr"/>
            <a:r>
              <a:rPr sz="800" b="1" i="0">
                <a:solidFill>
                  <a:srgbClr val="FFFFFF"/>
                </a:solidFill>
              </a:rPr>
              <a:t>M1</a:t>
            </a:r>
          </a:p>
        </p:txBody>
      </p:sp>
      <p:sp>
        <p:nvSpPr>
          <p:cNvPr id="17" name="TextBox 16"/>
          <p:cNvSpPr txBox="1"/>
          <p:nvPr/>
        </p:nvSpPr>
        <p:spPr>
          <a:xfrm>
            <a:off x="822960" y="1700784"/>
            <a:ext cx="1463040" cy="146304"/>
          </a:xfrm>
          <a:prstGeom prst="rect">
            <a:avLst/>
          </a:prstGeom>
          <a:noFill/>
        </p:spPr>
        <p:txBody>
          <a:bodyPr wrap="square">
            <a:spAutoFit/>
          </a:bodyPr>
          <a:lstStyle/>
          <a:p>
            <a:pPr algn="l"/>
            <a:r>
              <a:rPr sz="800" b="0" i="0">
                <a:solidFill>
                  <a:srgbClr val="00B4D8"/>
                </a:solidFill>
              </a:rPr>
              <a:t>MONTHS 1–6</a:t>
            </a:r>
          </a:p>
        </p:txBody>
      </p:sp>
      <p:sp>
        <p:nvSpPr>
          <p:cNvPr id="18" name="TextBox 17"/>
          <p:cNvSpPr txBox="1"/>
          <p:nvPr/>
        </p:nvSpPr>
        <p:spPr>
          <a:xfrm>
            <a:off x="457200" y="1901952"/>
            <a:ext cx="1828800" cy="347472"/>
          </a:xfrm>
          <a:prstGeom prst="rect">
            <a:avLst/>
          </a:prstGeom>
          <a:noFill/>
        </p:spPr>
        <p:txBody>
          <a:bodyPr wrap="square">
            <a:spAutoFit/>
          </a:bodyPr>
          <a:lstStyle/>
          <a:p>
            <a:pPr algn="l"/>
            <a:r>
              <a:rPr sz="1000" b="1" i="0">
                <a:solidFill>
                  <a:srgbClr val="1A365D"/>
                </a:solidFill>
              </a:rPr>
              <a:t>Powder
Synthesis</a:t>
            </a:r>
          </a:p>
        </p:txBody>
      </p:sp>
      <p:sp>
        <p:nvSpPr>
          <p:cNvPr id="19" name="Rectangle 18"/>
          <p:cNvSpPr/>
          <p:nvPr/>
        </p:nvSpPr>
        <p:spPr>
          <a:xfrm>
            <a:off x="457200" y="2267712"/>
            <a:ext cx="1828800" cy="2743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2359152"/>
            <a:ext cx="1828800" cy="2011680"/>
          </a:xfrm>
          <a:prstGeom prst="rect">
            <a:avLst/>
          </a:prstGeom>
          <a:noFill/>
        </p:spPr>
        <p:txBody>
          <a:bodyPr wrap="square">
            <a:spAutoFit/>
          </a:bodyPr>
          <a:lstStyle/>
          <a:p>
            <a:pPr algn="l"/>
            <a:r>
              <a:rPr sz="850" b="0" i="0">
                <a:solidFill>
                  <a:srgbClr val="111111"/>
                </a:solidFill>
              </a:rPr>
              <a:t>Procure raw metal powders (Ta, W, Cr, V, Ti, Zr, Hf, Al). IIT Delhi labs verify composition purity and atomization quality.</a:t>
            </a:r>
          </a:p>
        </p:txBody>
      </p:sp>
      <p:sp>
        <p:nvSpPr>
          <p:cNvPr id="21" name="Rectangle 20"/>
          <p:cNvSpPr/>
          <p:nvPr/>
        </p:nvSpPr>
        <p:spPr>
          <a:xfrm>
            <a:off x="2514600" y="1627632"/>
            <a:ext cx="2011680" cy="2880360"/>
          </a:xfrm>
          <a:prstGeom prst="roundRect">
            <a:avLst>
              <a:gd name="adj" fmla="val 10000"/>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514600" y="1627632"/>
            <a:ext cx="2011680" cy="36576"/>
          </a:xfrm>
          <a:prstGeom prst="roundRect">
            <a:avLst>
              <a:gd name="adj" fmla="val 10000"/>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587752" y="1700784"/>
            <a:ext cx="365760" cy="146304"/>
          </a:xfrm>
          <a:prstGeom prst="rect">
            <a:avLst/>
          </a:prstGeom>
          <a:noFill/>
        </p:spPr>
        <p:txBody>
          <a:bodyPr wrap="square">
            <a:spAutoFit/>
          </a:bodyPr>
          <a:lstStyle/>
          <a:p>
            <a:pPr algn="l"/>
            <a:r>
              <a:rPr sz="800" b="1" i="0">
                <a:solidFill>
                  <a:srgbClr val="FFFFFF"/>
                </a:solidFill>
              </a:rPr>
              <a:t>M2</a:t>
            </a:r>
          </a:p>
        </p:txBody>
      </p:sp>
      <p:sp>
        <p:nvSpPr>
          <p:cNvPr id="24" name="Rectangle 23"/>
          <p:cNvSpPr/>
          <p:nvPr/>
        </p:nvSpPr>
        <p:spPr>
          <a:xfrm>
            <a:off x="2587752" y="1682496"/>
            <a:ext cx="320040" cy="182880"/>
          </a:xfrm>
          <a:prstGeom prst="roundRect">
            <a:avLst>
              <a:gd name="adj" fmla="val 4000"/>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606040" y="1700784"/>
            <a:ext cx="292608" cy="146304"/>
          </a:xfrm>
          <a:prstGeom prst="rect">
            <a:avLst/>
          </a:prstGeom>
          <a:noFill/>
        </p:spPr>
        <p:txBody>
          <a:bodyPr wrap="square">
            <a:spAutoFit/>
          </a:bodyPr>
          <a:lstStyle/>
          <a:p>
            <a:pPr algn="ctr"/>
            <a:r>
              <a:rPr sz="800" b="1" i="0">
                <a:solidFill>
                  <a:srgbClr val="FFFFFF"/>
                </a:solidFill>
              </a:rPr>
              <a:t>M2</a:t>
            </a:r>
          </a:p>
        </p:txBody>
      </p:sp>
      <p:sp>
        <p:nvSpPr>
          <p:cNvPr id="26" name="TextBox 25"/>
          <p:cNvSpPr txBox="1"/>
          <p:nvPr/>
        </p:nvSpPr>
        <p:spPr>
          <a:xfrm>
            <a:off x="2971800" y="1700784"/>
            <a:ext cx="1463040" cy="146304"/>
          </a:xfrm>
          <a:prstGeom prst="rect">
            <a:avLst/>
          </a:prstGeom>
          <a:noFill/>
        </p:spPr>
        <p:txBody>
          <a:bodyPr wrap="square">
            <a:spAutoFit/>
          </a:bodyPr>
          <a:lstStyle/>
          <a:p>
            <a:pPr algn="l"/>
            <a:r>
              <a:rPr sz="800" b="0" i="0">
                <a:solidFill>
                  <a:srgbClr val="1A365D"/>
                </a:solidFill>
              </a:rPr>
              <a:t>MONTHS 6–12</a:t>
            </a:r>
          </a:p>
        </p:txBody>
      </p:sp>
      <p:sp>
        <p:nvSpPr>
          <p:cNvPr id="27" name="TextBox 26"/>
          <p:cNvSpPr txBox="1"/>
          <p:nvPr/>
        </p:nvSpPr>
        <p:spPr>
          <a:xfrm>
            <a:off x="2606040" y="1901952"/>
            <a:ext cx="1828800" cy="347472"/>
          </a:xfrm>
          <a:prstGeom prst="rect">
            <a:avLst/>
          </a:prstGeom>
          <a:noFill/>
        </p:spPr>
        <p:txBody>
          <a:bodyPr wrap="square">
            <a:spAutoFit/>
          </a:bodyPr>
          <a:lstStyle/>
          <a:p>
            <a:pPr algn="l"/>
            <a:r>
              <a:rPr sz="1000" b="1" i="0">
                <a:solidFill>
                  <a:srgbClr val="1A365D"/>
                </a:solidFill>
              </a:rPr>
              <a:t>Additive
Manufacturing</a:t>
            </a:r>
          </a:p>
        </p:txBody>
      </p:sp>
      <p:sp>
        <p:nvSpPr>
          <p:cNvPr id="28" name="Rectangle 27"/>
          <p:cNvSpPr/>
          <p:nvPr/>
        </p:nvSpPr>
        <p:spPr>
          <a:xfrm>
            <a:off x="2606040" y="2267712"/>
            <a:ext cx="1828800" cy="27432"/>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606040" y="2359152"/>
            <a:ext cx="1828800" cy="2011680"/>
          </a:xfrm>
          <a:prstGeom prst="rect">
            <a:avLst/>
          </a:prstGeom>
          <a:noFill/>
        </p:spPr>
        <p:txBody>
          <a:bodyPr wrap="square">
            <a:spAutoFit/>
          </a:bodyPr>
          <a:lstStyle/>
          <a:p>
            <a:pPr algn="l"/>
            <a:r>
              <a:rPr sz="850" b="0" i="0">
                <a:solidFill>
                  <a:srgbClr val="111111"/>
                </a:solidFill>
              </a:rPr>
              <a:t>Execute 11-layer manufacturing_recipe.csv via DED (Directed Energy Deposition) to print physical witness coupons.</a:t>
            </a:r>
          </a:p>
        </p:txBody>
      </p:sp>
      <p:sp>
        <p:nvSpPr>
          <p:cNvPr id="30" name="Rectangle 29"/>
          <p:cNvSpPr/>
          <p:nvPr/>
        </p:nvSpPr>
        <p:spPr>
          <a:xfrm>
            <a:off x="4663440" y="1627632"/>
            <a:ext cx="2011680" cy="2880360"/>
          </a:xfrm>
          <a:prstGeom prst="roundRect">
            <a:avLst>
              <a:gd name="adj" fmla="val 10000"/>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663440" y="1627632"/>
            <a:ext cx="2011680" cy="36576"/>
          </a:xfrm>
          <a:prstGeom prst="roundRect">
            <a:avLst>
              <a:gd name="adj" fmla="val 10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736592" y="1700784"/>
            <a:ext cx="365760" cy="146304"/>
          </a:xfrm>
          <a:prstGeom prst="rect">
            <a:avLst/>
          </a:prstGeom>
          <a:noFill/>
        </p:spPr>
        <p:txBody>
          <a:bodyPr wrap="square">
            <a:spAutoFit/>
          </a:bodyPr>
          <a:lstStyle/>
          <a:p>
            <a:pPr algn="l"/>
            <a:r>
              <a:rPr sz="800" b="1" i="0">
                <a:solidFill>
                  <a:srgbClr val="FFFFFF"/>
                </a:solidFill>
              </a:rPr>
              <a:t>M3</a:t>
            </a:r>
          </a:p>
        </p:txBody>
      </p:sp>
      <p:sp>
        <p:nvSpPr>
          <p:cNvPr id="33" name="Rectangle 32"/>
          <p:cNvSpPr/>
          <p:nvPr/>
        </p:nvSpPr>
        <p:spPr>
          <a:xfrm>
            <a:off x="4736592" y="1682496"/>
            <a:ext cx="320040" cy="182880"/>
          </a:xfrm>
          <a:prstGeom prst="roundRect">
            <a:avLst>
              <a:gd name="adj" fmla="val 4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754879" y="1700784"/>
            <a:ext cx="292608" cy="146304"/>
          </a:xfrm>
          <a:prstGeom prst="rect">
            <a:avLst/>
          </a:prstGeom>
          <a:noFill/>
        </p:spPr>
        <p:txBody>
          <a:bodyPr wrap="square">
            <a:spAutoFit/>
          </a:bodyPr>
          <a:lstStyle/>
          <a:p>
            <a:pPr algn="ctr"/>
            <a:r>
              <a:rPr sz="800" b="1" i="0">
                <a:solidFill>
                  <a:srgbClr val="FFFFFF"/>
                </a:solidFill>
              </a:rPr>
              <a:t>M3</a:t>
            </a:r>
          </a:p>
        </p:txBody>
      </p:sp>
      <p:sp>
        <p:nvSpPr>
          <p:cNvPr id="35" name="TextBox 34"/>
          <p:cNvSpPr txBox="1"/>
          <p:nvPr/>
        </p:nvSpPr>
        <p:spPr>
          <a:xfrm>
            <a:off x="5120640" y="1700784"/>
            <a:ext cx="1463040" cy="146304"/>
          </a:xfrm>
          <a:prstGeom prst="rect">
            <a:avLst/>
          </a:prstGeom>
          <a:noFill/>
        </p:spPr>
        <p:txBody>
          <a:bodyPr wrap="square">
            <a:spAutoFit/>
          </a:bodyPr>
          <a:lstStyle/>
          <a:p>
            <a:pPr algn="l"/>
            <a:r>
              <a:rPr sz="800" b="0" i="0">
                <a:solidFill>
                  <a:srgbClr val="059669"/>
                </a:solidFill>
              </a:rPr>
              <a:t>MONTHS 12–18</a:t>
            </a:r>
          </a:p>
        </p:txBody>
      </p:sp>
      <p:sp>
        <p:nvSpPr>
          <p:cNvPr id="36" name="TextBox 35"/>
          <p:cNvSpPr txBox="1"/>
          <p:nvPr/>
        </p:nvSpPr>
        <p:spPr>
          <a:xfrm>
            <a:off x="4754879" y="1901952"/>
            <a:ext cx="1828800" cy="347472"/>
          </a:xfrm>
          <a:prstGeom prst="rect">
            <a:avLst/>
          </a:prstGeom>
          <a:noFill/>
        </p:spPr>
        <p:txBody>
          <a:bodyPr wrap="square">
            <a:spAutoFit/>
          </a:bodyPr>
          <a:lstStyle/>
          <a:p>
            <a:pPr algn="l"/>
            <a:r>
              <a:rPr sz="1000" b="1" i="0">
                <a:solidFill>
                  <a:srgbClr val="1A365D"/>
                </a:solidFill>
              </a:rPr>
              <a:t>NIDHI-CoE &amp;
CRF Testing</a:t>
            </a:r>
          </a:p>
        </p:txBody>
      </p:sp>
      <p:sp>
        <p:nvSpPr>
          <p:cNvPr id="37" name="Rectangle 36"/>
          <p:cNvSpPr/>
          <p:nvPr/>
        </p:nvSpPr>
        <p:spPr>
          <a:xfrm>
            <a:off x="4754879" y="2267712"/>
            <a:ext cx="1828800" cy="27432"/>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754879" y="2359152"/>
            <a:ext cx="1828800" cy="2011680"/>
          </a:xfrm>
          <a:prstGeom prst="rect">
            <a:avLst/>
          </a:prstGeom>
          <a:noFill/>
        </p:spPr>
        <p:txBody>
          <a:bodyPr wrap="square">
            <a:spAutoFit/>
          </a:bodyPr>
          <a:lstStyle/>
          <a:p>
            <a:pPr algn="l"/>
            <a:r>
              <a:rPr sz="850" b="0" i="0">
                <a:solidFill>
                  <a:srgbClr val="111111"/>
                </a:solidFill>
              </a:rPr>
              <a:t>Physical yield strength, High-Temp XRD, STA thermal shock validation at IIT Delhi. Validate the 1.50 Safety Factor.</a:t>
            </a:r>
          </a:p>
        </p:txBody>
      </p:sp>
      <p:sp>
        <p:nvSpPr>
          <p:cNvPr id="39" name="Rectangle 38"/>
          <p:cNvSpPr/>
          <p:nvPr/>
        </p:nvSpPr>
        <p:spPr>
          <a:xfrm>
            <a:off x="6812279" y="1627632"/>
            <a:ext cx="2011680" cy="2880360"/>
          </a:xfrm>
          <a:prstGeom prst="roundRect">
            <a:avLst>
              <a:gd name="adj" fmla="val 10000"/>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812279" y="1627632"/>
            <a:ext cx="2011680" cy="36576"/>
          </a:xfrm>
          <a:prstGeom prst="roundRect">
            <a:avLst>
              <a:gd name="adj" fmla="val 10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885431" y="1700784"/>
            <a:ext cx="365760" cy="146304"/>
          </a:xfrm>
          <a:prstGeom prst="rect">
            <a:avLst/>
          </a:prstGeom>
          <a:noFill/>
        </p:spPr>
        <p:txBody>
          <a:bodyPr wrap="square">
            <a:spAutoFit/>
          </a:bodyPr>
          <a:lstStyle/>
          <a:p>
            <a:pPr algn="l"/>
            <a:r>
              <a:rPr sz="800" b="1" i="0">
                <a:solidFill>
                  <a:srgbClr val="FFFFFF"/>
                </a:solidFill>
              </a:rPr>
              <a:t>M4</a:t>
            </a:r>
          </a:p>
        </p:txBody>
      </p:sp>
      <p:sp>
        <p:nvSpPr>
          <p:cNvPr id="42" name="Rectangle 41"/>
          <p:cNvSpPr/>
          <p:nvPr/>
        </p:nvSpPr>
        <p:spPr>
          <a:xfrm>
            <a:off x="6885431" y="1682496"/>
            <a:ext cx="320040" cy="182880"/>
          </a:xfrm>
          <a:prstGeom prst="roundRect">
            <a:avLst>
              <a:gd name="adj" fmla="val 4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903719" y="1700784"/>
            <a:ext cx="292608" cy="146304"/>
          </a:xfrm>
          <a:prstGeom prst="rect">
            <a:avLst/>
          </a:prstGeom>
          <a:noFill/>
        </p:spPr>
        <p:txBody>
          <a:bodyPr wrap="square">
            <a:spAutoFit/>
          </a:bodyPr>
          <a:lstStyle/>
          <a:p>
            <a:pPr algn="ctr"/>
            <a:r>
              <a:rPr sz="800" b="1" i="0">
                <a:solidFill>
                  <a:srgbClr val="FFFFFF"/>
                </a:solidFill>
              </a:rPr>
              <a:t>M4</a:t>
            </a:r>
          </a:p>
        </p:txBody>
      </p:sp>
      <p:sp>
        <p:nvSpPr>
          <p:cNvPr id="44" name="TextBox 43"/>
          <p:cNvSpPr txBox="1"/>
          <p:nvPr/>
        </p:nvSpPr>
        <p:spPr>
          <a:xfrm>
            <a:off x="7269479" y="1700784"/>
            <a:ext cx="1463040" cy="146304"/>
          </a:xfrm>
          <a:prstGeom prst="rect">
            <a:avLst/>
          </a:prstGeom>
          <a:noFill/>
        </p:spPr>
        <p:txBody>
          <a:bodyPr wrap="square">
            <a:spAutoFit/>
          </a:bodyPr>
          <a:lstStyle/>
          <a:p>
            <a:pPr algn="l"/>
            <a:r>
              <a:rPr sz="800" b="0" i="0">
                <a:solidFill>
                  <a:srgbClr val="F59E0B"/>
                </a:solidFill>
              </a:rPr>
              <a:t>MONTHS 18–24</a:t>
            </a:r>
          </a:p>
        </p:txBody>
      </p:sp>
      <p:sp>
        <p:nvSpPr>
          <p:cNvPr id="45" name="TextBox 44"/>
          <p:cNvSpPr txBox="1"/>
          <p:nvPr/>
        </p:nvSpPr>
        <p:spPr>
          <a:xfrm>
            <a:off x="6903719" y="1901952"/>
            <a:ext cx="1828800" cy="347472"/>
          </a:xfrm>
          <a:prstGeom prst="rect">
            <a:avLst/>
          </a:prstGeom>
          <a:noFill/>
        </p:spPr>
        <p:txBody>
          <a:bodyPr wrap="square">
            <a:spAutoFit/>
          </a:bodyPr>
          <a:lstStyle/>
          <a:p>
            <a:pPr algn="l"/>
            <a:r>
              <a:rPr sz="1000" b="1" i="0">
                <a:solidFill>
                  <a:srgbClr val="1A365D"/>
                </a:solidFill>
              </a:rPr>
              <a:t>Corporate
Handover</a:t>
            </a:r>
          </a:p>
        </p:txBody>
      </p:sp>
      <p:sp>
        <p:nvSpPr>
          <p:cNvPr id="46" name="Rectangle 45"/>
          <p:cNvSpPr/>
          <p:nvPr/>
        </p:nvSpPr>
        <p:spPr>
          <a:xfrm>
            <a:off x="6903719" y="2267712"/>
            <a:ext cx="1828800" cy="2743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903719" y="2359152"/>
            <a:ext cx="1828800" cy="2011680"/>
          </a:xfrm>
          <a:prstGeom prst="rect">
            <a:avLst/>
          </a:prstGeom>
          <a:noFill/>
        </p:spPr>
        <p:txBody>
          <a:bodyPr wrap="square">
            <a:spAutoFit/>
          </a:bodyPr>
          <a:lstStyle/>
          <a:p>
            <a:pPr algn="l"/>
            <a:r>
              <a:rPr sz="850" b="0" i="0">
                <a:solidFill>
                  <a:srgbClr val="111111"/>
                </a:solidFill>
              </a:rPr>
              <a:t>Present fully validated TRL 5/6 hardware to Sona Comstar for direct integration into H13 forging dies and SRM stator prototypes.</a:t>
            </a:r>
          </a:p>
        </p:txBody>
      </p:sp>
      <p:sp>
        <p:nvSpPr>
          <p:cNvPr id="48" name="Rectangle 47"/>
          <p:cNvSpPr/>
          <p:nvPr/>
        </p:nvSpPr>
        <p:spPr>
          <a:xfrm>
            <a:off x="0" y="4572000"/>
            <a:ext cx="9144000" cy="566928"/>
          </a:xfrm>
          <a:prstGeom prst="rect">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65760" y="4681728"/>
            <a:ext cx="4572000" cy="182880"/>
          </a:xfrm>
          <a:prstGeom prst="rect">
            <a:avLst/>
          </a:prstGeom>
          <a:noFill/>
        </p:spPr>
        <p:txBody>
          <a:bodyPr wrap="square">
            <a:spAutoFit/>
          </a:bodyPr>
          <a:lstStyle/>
          <a:p>
            <a:pPr algn="l"/>
            <a:r>
              <a:rPr sz="800" b="0" i="0">
                <a:solidFill>
                  <a:srgbClr val="00B4D8"/>
                </a:solidFill>
              </a:rPr>
              <a:t>Crystal Paradigm  ·  SCIDIP Program Application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9144000" cy="868680"/>
          </a:xfrm>
          <a:prstGeom prst="rect">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9144000" cy="36576"/>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8229600" cy="347472"/>
          </a:xfrm>
          <a:prstGeom prst="rect">
            <a:avLst/>
          </a:prstGeom>
          <a:noFill/>
        </p:spPr>
        <p:txBody>
          <a:bodyPr wrap="square">
            <a:spAutoFit/>
          </a:bodyPr>
          <a:lstStyle/>
          <a:p>
            <a:pPr algn="l"/>
            <a:r>
              <a:rPr sz="1800" b="1" i="0">
                <a:solidFill>
                  <a:srgbClr val="FFFFFF"/>
                </a:solidFill>
              </a:rPr>
              <a:t>THE CRYSTAL PARADIGM TEAM</a:t>
            </a:r>
          </a:p>
        </p:txBody>
      </p:sp>
      <p:sp>
        <p:nvSpPr>
          <p:cNvPr id="5" name="TextBox 4"/>
          <p:cNvSpPr txBox="1"/>
          <p:nvPr/>
        </p:nvSpPr>
        <p:spPr>
          <a:xfrm>
            <a:off x="365760" y="502920"/>
            <a:ext cx="8229600" cy="256032"/>
          </a:xfrm>
          <a:prstGeom prst="rect">
            <a:avLst/>
          </a:prstGeom>
          <a:noFill/>
        </p:spPr>
        <p:txBody>
          <a:bodyPr wrap="square">
            <a:spAutoFit/>
          </a:bodyPr>
          <a:lstStyle/>
          <a:p>
            <a:pPr algn="l"/>
            <a:r>
              <a:rPr sz="900" b="0" i="0">
                <a:solidFill>
                  <a:srgbClr val="00B4D8"/>
                </a:solidFill>
              </a:rPr>
              <a:t>Guided by Elite Academic Expertise · Powered by Prodigious AI Engineering</a:t>
            </a:r>
          </a:p>
        </p:txBody>
      </p:sp>
      <p:sp>
        <p:nvSpPr>
          <p:cNvPr id="6" name="Rectangle 5"/>
          <p:cNvSpPr/>
          <p:nvPr/>
        </p:nvSpPr>
        <p:spPr>
          <a:xfrm>
            <a:off x="8732520" y="137160"/>
            <a:ext cx="73152" cy="73152"/>
          </a:xfrm>
          <a:prstGeom prst="roundRect">
            <a:avLst>
              <a:gd name="adj" fmla="val 50000"/>
            </a:avLst>
          </a:prstGeom>
          <a:solidFill>
            <a:srgbClr val="2BDE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13648" y="256032"/>
            <a:ext cx="73152" cy="73152"/>
          </a:xfrm>
          <a:prstGeom prst="roundRect">
            <a:avLst>
              <a:gd name="adj" fmla="val 50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987552"/>
            <a:ext cx="2743200" cy="164592"/>
          </a:xfrm>
          <a:prstGeom prst="rect">
            <a:avLst/>
          </a:prstGeom>
          <a:noFill/>
        </p:spPr>
        <p:txBody>
          <a:bodyPr wrap="square">
            <a:spAutoFit/>
          </a:bodyPr>
          <a:lstStyle/>
          <a:p>
            <a:pPr algn="l"/>
            <a:r>
              <a:rPr sz="800" b="1" i="0">
                <a:solidFill>
                  <a:srgbClr val="00B4D8"/>
                </a:solidFill>
              </a:rPr>
              <a:t>RESEARCH LEADS</a:t>
            </a:r>
          </a:p>
        </p:txBody>
      </p:sp>
      <p:sp>
        <p:nvSpPr>
          <p:cNvPr id="9" name="Rectangle 8"/>
          <p:cNvSpPr/>
          <p:nvPr/>
        </p:nvSpPr>
        <p:spPr>
          <a:xfrm>
            <a:off x="365760" y="1170432"/>
            <a:ext cx="8412480" cy="2743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74320" y="1261872"/>
            <a:ext cx="4160520" cy="1417320"/>
          </a:xfrm>
          <a:prstGeom prst="roundRect">
            <a:avLst>
              <a:gd name="adj" fmla="val 10000"/>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74320" y="1261872"/>
            <a:ext cx="4160520" cy="36576"/>
          </a:xfrm>
          <a:prstGeom prst="roundRect">
            <a:avLst>
              <a:gd name="adj" fmla="val 1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84048" y="1353312"/>
            <a:ext cx="502920" cy="502920"/>
          </a:xfrm>
          <a:prstGeom prst="roundRect">
            <a:avLst>
              <a:gd name="adj" fmla="val 50000"/>
            </a:avLst>
          </a:prstGeom>
          <a:solidFill>
            <a:srgbClr val="F8FAFC"/>
          </a:solidFill>
          <a:ln w="63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2336" y="1417320"/>
            <a:ext cx="457200" cy="320040"/>
          </a:xfrm>
          <a:prstGeom prst="rect">
            <a:avLst/>
          </a:prstGeom>
          <a:noFill/>
        </p:spPr>
        <p:txBody>
          <a:bodyPr wrap="square">
            <a:spAutoFit/>
          </a:bodyPr>
          <a:lstStyle/>
          <a:p>
            <a:pPr algn="ctr"/>
            <a:r>
              <a:rPr sz="1100" b="1" i="0">
                <a:solidFill>
                  <a:srgbClr val="00B4D8"/>
                </a:solidFill>
              </a:rPr>
              <a:t>Dr</a:t>
            </a:r>
          </a:p>
        </p:txBody>
      </p:sp>
      <p:sp>
        <p:nvSpPr>
          <p:cNvPr id="14" name="TextBox 13"/>
          <p:cNvSpPr txBox="1"/>
          <p:nvPr/>
        </p:nvSpPr>
        <p:spPr>
          <a:xfrm>
            <a:off x="960120" y="1353312"/>
            <a:ext cx="3291840" cy="182880"/>
          </a:xfrm>
          <a:prstGeom prst="rect">
            <a:avLst/>
          </a:prstGeom>
          <a:noFill/>
        </p:spPr>
        <p:txBody>
          <a:bodyPr wrap="square">
            <a:spAutoFit/>
          </a:bodyPr>
          <a:lstStyle/>
          <a:p>
            <a:pPr algn="l"/>
            <a:r>
              <a:rPr sz="950" b="1" i="0">
                <a:solidFill>
                  <a:srgbClr val="1A365D"/>
                </a:solidFill>
              </a:rPr>
              <a:t>Dr. Shilpa Choudhary</a:t>
            </a:r>
          </a:p>
        </p:txBody>
      </p:sp>
      <p:sp>
        <p:nvSpPr>
          <p:cNvPr id="15" name="TextBox 14"/>
          <p:cNvSpPr txBox="1"/>
          <p:nvPr/>
        </p:nvSpPr>
        <p:spPr>
          <a:xfrm>
            <a:off x="960120" y="1536192"/>
            <a:ext cx="3291840" cy="146304"/>
          </a:xfrm>
          <a:prstGeom prst="rect">
            <a:avLst/>
          </a:prstGeom>
          <a:noFill/>
        </p:spPr>
        <p:txBody>
          <a:bodyPr wrap="square">
            <a:spAutoFit/>
          </a:bodyPr>
          <a:lstStyle/>
          <a:p>
            <a:pPr algn="l"/>
            <a:r>
              <a:rPr sz="850" b="0" i="0">
                <a:solidFill>
                  <a:srgbClr val="00B4D8"/>
                </a:solidFill>
              </a:rPr>
              <a:t>AI / ML Lead</a:t>
            </a:r>
          </a:p>
        </p:txBody>
      </p:sp>
      <p:sp>
        <p:nvSpPr>
          <p:cNvPr id="16" name="TextBox 15"/>
          <p:cNvSpPr txBox="1"/>
          <p:nvPr/>
        </p:nvSpPr>
        <p:spPr>
          <a:xfrm>
            <a:off x="384048" y="1755648"/>
            <a:ext cx="3931920" cy="804672"/>
          </a:xfrm>
          <a:prstGeom prst="rect">
            <a:avLst/>
          </a:prstGeom>
          <a:noFill/>
        </p:spPr>
        <p:txBody>
          <a:bodyPr wrap="square">
            <a:spAutoFit/>
          </a:bodyPr>
          <a:lstStyle/>
          <a:p>
            <a:pPr algn="l"/>
            <a:r>
              <a:rPr sz="800" b="0" i="0">
                <a:solidFill>
                  <a:srgbClr val="111111"/>
                </a:solidFill>
              </a:rPr>
              <a:t>· Top 2% Scientists Worldwide — Stanford University (2024)
· 16+ years AI &amp; Deep Learning research · Postdoc: Singapore &amp; Taiwan
· 100+ papers · 1763 citations · H-index 22 · 12 books · Multiple patents
· Leads ML Architecture, Constrained Optimization &amp; Surrogate Model Design</a:t>
            </a:r>
          </a:p>
        </p:txBody>
      </p:sp>
      <p:sp>
        <p:nvSpPr>
          <p:cNvPr id="17" name="Rectangle 16"/>
          <p:cNvSpPr/>
          <p:nvPr/>
        </p:nvSpPr>
        <p:spPr>
          <a:xfrm>
            <a:off x="4709160" y="1261872"/>
            <a:ext cx="4160520" cy="1417320"/>
          </a:xfrm>
          <a:prstGeom prst="roundRect">
            <a:avLst>
              <a:gd name="adj" fmla="val 10000"/>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709160" y="1261872"/>
            <a:ext cx="4160520" cy="36576"/>
          </a:xfrm>
          <a:prstGeom prst="roundRect">
            <a:avLst>
              <a:gd name="adj" fmla="val 10000"/>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818888" y="1353312"/>
            <a:ext cx="502920" cy="502920"/>
          </a:xfrm>
          <a:prstGeom prst="roundRect">
            <a:avLst>
              <a:gd name="adj" fmla="val 50000"/>
            </a:avLst>
          </a:prstGeom>
          <a:solidFill>
            <a:srgbClr val="F8FAFC"/>
          </a:solidFill>
          <a:ln w="635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37176" y="1417320"/>
            <a:ext cx="457200" cy="320040"/>
          </a:xfrm>
          <a:prstGeom prst="rect">
            <a:avLst/>
          </a:prstGeom>
          <a:noFill/>
        </p:spPr>
        <p:txBody>
          <a:bodyPr wrap="square">
            <a:spAutoFit/>
          </a:bodyPr>
          <a:lstStyle/>
          <a:p>
            <a:pPr algn="ctr"/>
            <a:r>
              <a:rPr sz="1100" b="1" i="0">
                <a:solidFill>
                  <a:srgbClr val="1A365D"/>
                </a:solidFill>
              </a:rPr>
              <a:t>Dr</a:t>
            </a:r>
          </a:p>
        </p:txBody>
      </p:sp>
      <p:sp>
        <p:nvSpPr>
          <p:cNvPr id="21" name="TextBox 20"/>
          <p:cNvSpPr txBox="1"/>
          <p:nvPr/>
        </p:nvSpPr>
        <p:spPr>
          <a:xfrm>
            <a:off x="5394960" y="1353312"/>
            <a:ext cx="3291840" cy="182880"/>
          </a:xfrm>
          <a:prstGeom prst="rect">
            <a:avLst/>
          </a:prstGeom>
          <a:noFill/>
        </p:spPr>
        <p:txBody>
          <a:bodyPr wrap="square">
            <a:spAutoFit/>
          </a:bodyPr>
          <a:lstStyle/>
          <a:p>
            <a:pPr algn="l"/>
            <a:r>
              <a:rPr sz="900" b="1" i="0">
                <a:solidFill>
                  <a:srgbClr val="1A365D"/>
                </a:solidFill>
              </a:rPr>
              <a:t>Dr. Kasarapu Venkataramana</a:t>
            </a:r>
          </a:p>
        </p:txBody>
      </p:sp>
      <p:sp>
        <p:nvSpPr>
          <p:cNvPr id="22" name="TextBox 21"/>
          <p:cNvSpPr txBox="1"/>
          <p:nvPr/>
        </p:nvSpPr>
        <p:spPr>
          <a:xfrm>
            <a:off x="5394960" y="1536192"/>
            <a:ext cx="3291840" cy="146304"/>
          </a:xfrm>
          <a:prstGeom prst="rect">
            <a:avLst/>
          </a:prstGeom>
          <a:noFill/>
        </p:spPr>
        <p:txBody>
          <a:bodyPr wrap="square">
            <a:spAutoFit/>
          </a:bodyPr>
          <a:lstStyle/>
          <a:p>
            <a:pPr algn="l"/>
            <a:r>
              <a:rPr sz="750" b="0" i="0">
                <a:solidFill>
                  <a:srgbClr val="1A365D"/>
                </a:solidFill>
              </a:rPr>
              <a:t>Materials Science &amp; Experimental Validation Lead</a:t>
            </a:r>
          </a:p>
        </p:txBody>
      </p:sp>
      <p:sp>
        <p:nvSpPr>
          <p:cNvPr id="23" name="TextBox 22"/>
          <p:cNvSpPr txBox="1"/>
          <p:nvPr/>
        </p:nvSpPr>
        <p:spPr>
          <a:xfrm>
            <a:off x="4818888" y="1755648"/>
            <a:ext cx="3931920" cy="804672"/>
          </a:xfrm>
          <a:prstGeom prst="rect">
            <a:avLst/>
          </a:prstGeom>
          <a:noFill/>
        </p:spPr>
        <p:txBody>
          <a:bodyPr wrap="square">
            <a:spAutoFit/>
          </a:bodyPr>
          <a:lstStyle/>
          <a:p>
            <a:pPr algn="l"/>
            <a:r>
              <a:rPr sz="800" b="0" i="0">
                <a:solidFill>
                  <a:srgbClr val="111111"/>
                </a:solidFill>
              </a:rPr>
              <a:t>· Research Associate, CSIR-IICT (DRDO sponsored project)
· Associate Fellow, Telangana Academy of Sciences (2024)
· 38 publications · 610+ citations · H-index 14 · Reviewer: Elsevier, Springer
· Specialization: High Entropy Oxides, XRD, SEM/EDS characterization</a:t>
            </a:r>
          </a:p>
        </p:txBody>
      </p:sp>
      <p:sp>
        <p:nvSpPr>
          <p:cNvPr id="24" name="TextBox 23"/>
          <p:cNvSpPr txBox="1"/>
          <p:nvPr/>
        </p:nvSpPr>
        <p:spPr>
          <a:xfrm>
            <a:off x="365760" y="2788920"/>
            <a:ext cx="2743200" cy="164592"/>
          </a:xfrm>
          <a:prstGeom prst="rect">
            <a:avLst/>
          </a:prstGeom>
          <a:noFill/>
        </p:spPr>
        <p:txBody>
          <a:bodyPr wrap="square">
            <a:spAutoFit/>
          </a:bodyPr>
          <a:lstStyle/>
          <a:p>
            <a:pPr algn="l"/>
            <a:r>
              <a:rPr sz="800" b="1" i="0">
                <a:solidFill>
                  <a:srgbClr val="00B4D8"/>
                </a:solidFill>
              </a:rPr>
              <a:t>CORE AI ARCHITECTS</a:t>
            </a:r>
          </a:p>
        </p:txBody>
      </p:sp>
      <p:sp>
        <p:nvSpPr>
          <p:cNvPr id="25" name="Rectangle 24"/>
          <p:cNvSpPr/>
          <p:nvPr/>
        </p:nvSpPr>
        <p:spPr>
          <a:xfrm>
            <a:off x="365760" y="2962656"/>
            <a:ext cx="8412480" cy="2743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74320" y="3035808"/>
            <a:ext cx="4160520" cy="1115568"/>
          </a:xfrm>
          <a:prstGeom prst="roundRect">
            <a:avLst>
              <a:gd name="adj" fmla="val 10000"/>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74320" y="3035808"/>
            <a:ext cx="4160520" cy="36576"/>
          </a:xfrm>
          <a:prstGeom prst="roundRect">
            <a:avLst>
              <a:gd name="adj" fmla="val 1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84048" y="3127248"/>
            <a:ext cx="384048" cy="384048"/>
          </a:xfrm>
          <a:prstGeom prst="roundRect">
            <a:avLst>
              <a:gd name="adj" fmla="val 50000"/>
            </a:avLst>
          </a:prstGeom>
          <a:solidFill>
            <a:srgbClr val="F8FAFC"/>
          </a:solidFill>
          <a:ln w="63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02336" y="3182112"/>
            <a:ext cx="347472" cy="256032"/>
          </a:xfrm>
          <a:prstGeom prst="rect">
            <a:avLst/>
          </a:prstGeom>
          <a:noFill/>
        </p:spPr>
        <p:txBody>
          <a:bodyPr wrap="square">
            <a:spAutoFit/>
          </a:bodyPr>
          <a:lstStyle/>
          <a:p>
            <a:pPr algn="ctr"/>
            <a:r>
              <a:rPr sz="800" b="1" i="0">
                <a:solidFill>
                  <a:srgbClr val="00B4D8"/>
                </a:solidFill>
              </a:rPr>
              <a:t>AI</a:t>
            </a:r>
          </a:p>
        </p:txBody>
      </p:sp>
      <p:sp>
        <p:nvSpPr>
          <p:cNvPr id="30" name="TextBox 29"/>
          <p:cNvSpPr txBox="1"/>
          <p:nvPr/>
        </p:nvSpPr>
        <p:spPr>
          <a:xfrm>
            <a:off x="841248" y="3127248"/>
            <a:ext cx="3383280" cy="164592"/>
          </a:xfrm>
          <a:prstGeom prst="rect">
            <a:avLst/>
          </a:prstGeom>
          <a:noFill/>
        </p:spPr>
        <p:txBody>
          <a:bodyPr wrap="square">
            <a:spAutoFit/>
          </a:bodyPr>
          <a:lstStyle/>
          <a:p>
            <a:pPr algn="l"/>
            <a:r>
              <a:rPr sz="850" b="1" i="0">
                <a:solidFill>
                  <a:srgbClr val="1A365D"/>
                </a:solidFill>
              </a:rPr>
              <a:t>Mohammed Ahmed Raza</a:t>
            </a:r>
          </a:p>
        </p:txBody>
      </p:sp>
      <p:sp>
        <p:nvSpPr>
          <p:cNvPr id="31" name="TextBox 30"/>
          <p:cNvSpPr txBox="1"/>
          <p:nvPr/>
        </p:nvSpPr>
        <p:spPr>
          <a:xfrm>
            <a:off x="841248" y="3291840"/>
            <a:ext cx="3383280" cy="128016"/>
          </a:xfrm>
          <a:prstGeom prst="rect">
            <a:avLst/>
          </a:prstGeom>
          <a:noFill/>
        </p:spPr>
        <p:txBody>
          <a:bodyPr wrap="square">
            <a:spAutoFit/>
          </a:bodyPr>
          <a:lstStyle/>
          <a:p>
            <a:pPr algn="l"/>
            <a:r>
              <a:rPr sz="800" b="0" i="0">
                <a:solidFill>
                  <a:srgbClr val="00B4D8"/>
                </a:solidFill>
              </a:rPr>
              <a:t>AI Research Intern</a:t>
            </a:r>
          </a:p>
        </p:txBody>
      </p:sp>
      <p:sp>
        <p:nvSpPr>
          <p:cNvPr id="32" name="TextBox 31"/>
          <p:cNvSpPr txBox="1"/>
          <p:nvPr/>
        </p:nvSpPr>
        <p:spPr>
          <a:xfrm>
            <a:off x="384048" y="3456432"/>
            <a:ext cx="3931920" cy="621792"/>
          </a:xfrm>
          <a:prstGeom prst="rect">
            <a:avLst/>
          </a:prstGeom>
          <a:noFill/>
        </p:spPr>
        <p:txBody>
          <a:bodyPr wrap="square">
            <a:spAutoFit/>
          </a:bodyPr>
          <a:lstStyle/>
          <a:p>
            <a:pPr algn="l"/>
            <a:r>
              <a:rPr sz="750" b="0" i="0">
                <a:solidFill>
                  <a:srgbClr val="111111"/>
                </a:solidFill>
              </a:rPr>
              <a:t>· CSE — NGIT · Certified AI/ML — iHub-Data, IIIT Hyderabad
· Winter Research Intern, IIIT Hyderabad — UAV spatial awareness
· Co-authored Attention Graph Siamese Transformer (DPT-GNN) for Li-ion prediction</a:t>
            </a:r>
          </a:p>
        </p:txBody>
      </p:sp>
      <p:sp>
        <p:nvSpPr>
          <p:cNvPr id="33" name="Rectangle 32"/>
          <p:cNvSpPr/>
          <p:nvPr/>
        </p:nvSpPr>
        <p:spPr>
          <a:xfrm>
            <a:off x="4709160" y="3035808"/>
            <a:ext cx="4160520" cy="1115568"/>
          </a:xfrm>
          <a:prstGeom prst="roundRect">
            <a:avLst>
              <a:gd name="adj" fmla="val 10000"/>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709160" y="3035808"/>
            <a:ext cx="4160520" cy="36576"/>
          </a:xfrm>
          <a:prstGeom prst="roundRect">
            <a:avLst>
              <a:gd name="adj" fmla="val 10000"/>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818888" y="3127248"/>
            <a:ext cx="384048" cy="384048"/>
          </a:xfrm>
          <a:prstGeom prst="roundRect">
            <a:avLst>
              <a:gd name="adj" fmla="val 50000"/>
            </a:avLst>
          </a:prstGeom>
          <a:solidFill>
            <a:srgbClr val="F8FAFC"/>
          </a:solidFill>
          <a:ln w="635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837176" y="3182112"/>
            <a:ext cx="347472" cy="256032"/>
          </a:xfrm>
          <a:prstGeom prst="rect">
            <a:avLst/>
          </a:prstGeom>
          <a:noFill/>
        </p:spPr>
        <p:txBody>
          <a:bodyPr wrap="square">
            <a:spAutoFit/>
          </a:bodyPr>
          <a:lstStyle/>
          <a:p>
            <a:pPr algn="ctr"/>
            <a:r>
              <a:rPr sz="800" b="1" i="0">
                <a:solidFill>
                  <a:srgbClr val="1A365D"/>
                </a:solidFill>
              </a:rPr>
              <a:t>AI</a:t>
            </a:r>
          </a:p>
        </p:txBody>
      </p:sp>
      <p:sp>
        <p:nvSpPr>
          <p:cNvPr id="37" name="TextBox 36"/>
          <p:cNvSpPr txBox="1"/>
          <p:nvPr/>
        </p:nvSpPr>
        <p:spPr>
          <a:xfrm>
            <a:off x="5276088" y="3127248"/>
            <a:ext cx="3383280" cy="164592"/>
          </a:xfrm>
          <a:prstGeom prst="rect">
            <a:avLst/>
          </a:prstGeom>
          <a:noFill/>
        </p:spPr>
        <p:txBody>
          <a:bodyPr wrap="square">
            <a:spAutoFit/>
          </a:bodyPr>
          <a:lstStyle/>
          <a:p>
            <a:pPr algn="l"/>
            <a:r>
              <a:rPr sz="850" b="1" i="0">
                <a:solidFill>
                  <a:srgbClr val="1A365D"/>
                </a:solidFill>
              </a:rPr>
              <a:t>K. Indrasena Reddy [Indra]</a:t>
            </a:r>
          </a:p>
        </p:txBody>
      </p:sp>
      <p:sp>
        <p:nvSpPr>
          <p:cNvPr id="38" name="TextBox 37"/>
          <p:cNvSpPr txBox="1"/>
          <p:nvPr/>
        </p:nvSpPr>
        <p:spPr>
          <a:xfrm>
            <a:off x="5276088" y="3291840"/>
            <a:ext cx="3383280" cy="128016"/>
          </a:xfrm>
          <a:prstGeom prst="rect">
            <a:avLst/>
          </a:prstGeom>
          <a:noFill/>
        </p:spPr>
        <p:txBody>
          <a:bodyPr wrap="square">
            <a:spAutoFit/>
          </a:bodyPr>
          <a:lstStyle/>
          <a:p>
            <a:pPr algn="l"/>
            <a:r>
              <a:rPr sz="800" b="0" i="0">
                <a:solidFill>
                  <a:srgbClr val="1A365D"/>
                </a:solidFill>
              </a:rPr>
              <a:t>AI Research Intern</a:t>
            </a:r>
          </a:p>
        </p:txBody>
      </p:sp>
      <p:sp>
        <p:nvSpPr>
          <p:cNvPr id="39" name="TextBox 38"/>
          <p:cNvSpPr txBox="1"/>
          <p:nvPr/>
        </p:nvSpPr>
        <p:spPr>
          <a:xfrm>
            <a:off x="4818888" y="3456432"/>
            <a:ext cx="3931920" cy="621792"/>
          </a:xfrm>
          <a:prstGeom prst="rect">
            <a:avLst/>
          </a:prstGeom>
          <a:noFill/>
        </p:spPr>
        <p:txBody>
          <a:bodyPr wrap="square">
            <a:spAutoFit/>
          </a:bodyPr>
          <a:lstStyle/>
          <a:p>
            <a:pPr algn="l"/>
            <a:r>
              <a:rPr sz="750" b="0" i="0">
                <a:solidFill>
                  <a:srgbClr val="111111"/>
                </a:solidFill>
              </a:rPr>
              <a:t>· CSE — NGIT · AI Developer Intern, Viswam.AI — NLP &amp; LLM research
· Materials informatics &amp; graph neural network modeling at Crystal Paradigm
· Specialization: Large-scale property prediction &amp; advanced GNN architectures</a:t>
            </a:r>
          </a:p>
        </p:txBody>
      </p:sp>
      <p:sp>
        <p:nvSpPr>
          <p:cNvPr id="40" name="Rectangle 39"/>
          <p:cNvSpPr/>
          <p:nvPr/>
        </p:nvSpPr>
        <p:spPr>
          <a:xfrm>
            <a:off x="274320" y="4224528"/>
            <a:ext cx="8595360" cy="320040"/>
          </a:xfrm>
          <a:prstGeom prst="roundRect">
            <a:avLst>
              <a:gd name="adj" fmla="val 6000"/>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11480" y="4270248"/>
            <a:ext cx="8229600" cy="219456"/>
          </a:xfrm>
          <a:prstGeom prst="rect">
            <a:avLst/>
          </a:prstGeom>
          <a:noFill/>
        </p:spPr>
        <p:txBody>
          <a:bodyPr wrap="square">
            <a:spAutoFit/>
          </a:bodyPr>
          <a:lstStyle/>
          <a:p>
            <a:pPr algn="l"/>
            <a:r>
              <a:rPr sz="850" b="0" i="0">
                <a:solidFill>
                  <a:srgbClr val="00B4D8"/>
                </a:solidFill>
              </a:rPr>
              <a:t>EXTENDED TEAM: 18 specialized AI Research Interns — massive parallel execution bandwidth for multi-physics simulations &amp; AI training pipelines</a:t>
            </a:r>
          </a:p>
        </p:txBody>
      </p:sp>
      <p:sp>
        <p:nvSpPr>
          <p:cNvPr id="42" name="Rectangle 41"/>
          <p:cNvSpPr/>
          <p:nvPr/>
        </p:nvSpPr>
        <p:spPr>
          <a:xfrm>
            <a:off x="0" y="4572000"/>
            <a:ext cx="9144000" cy="566928"/>
          </a:xfrm>
          <a:prstGeom prst="rect">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65760" y="4681728"/>
            <a:ext cx="4572000" cy="182880"/>
          </a:xfrm>
          <a:prstGeom prst="rect">
            <a:avLst/>
          </a:prstGeom>
          <a:noFill/>
        </p:spPr>
        <p:txBody>
          <a:bodyPr wrap="square">
            <a:spAutoFit/>
          </a:bodyPr>
          <a:lstStyle/>
          <a:p>
            <a:pPr algn="l"/>
            <a:r>
              <a:rPr sz="800" b="0" i="0">
                <a:solidFill>
                  <a:srgbClr val="00B4D8"/>
                </a:solidFill>
              </a:rPr>
              <a:t>Crystal Paradigm  ·  SCIDIP Program Application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07"/>
        <p:cNvGrpSpPr/>
        <p:nvPr/>
      </p:nvGrpSpPr>
      <p:grpSpPr>
        <a:xfrm>
          <a:off x="0" y="0"/>
          <a:ext cx="0" cy="0"/>
          <a:chOff x="0" y="0"/>
          <a:chExt cx="0" cy="0"/>
        </a:xfrm>
      </p:grpSpPr>
      <p:pic>
        <p:nvPicPr>
          <p:cNvPr id="508" name="Google Shape;508;p12" descr="preencoded.png"/>
          <p:cNvPicPr preferRelativeResize="0"/>
          <p:nvPr/>
        </p:nvPicPr>
        <p:blipFill rotWithShape="1">
          <a:blip r:embed="rId3">
            <a:alphaModFix/>
          </a:blip>
          <a:srcRect/>
          <a:stretch/>
        </p:blipFill>
        <p:spPr>
          <a:xfrm>
            <a:off x="0" y="0"/>
            <a:ext cx="9144000" cy="5138928"/>
          </a:xfrm>
          <a:prstGeom prst="rect">
            <a:avLst/>
          </a:prstGeom>
          <a:noFill/>
          <a:ln>
            <a:noFill/>
          </a:ln>
        </p:spPr>
      </p:pic>
      <p:sp>
        <p:nvSpPr>
          <p:cNvPr id="509" name="Google Shape;509;p12"/>
          <p:cNvSpPr/>
          <p:nvPr/>
        </p:nvSpPr>
        <p:spPr>
          <a:xfrm>
            <a:off x="518725" y="180432"/>
            <a:ext cx="8001000" cy="43755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2450"/>
              <a:buFont typeface="Space Grotesk SemiBold"/>
              <a:buNone/>
            </a:pPr>
            <a:r>
              <a:rPr lang="en-US" sz="2450" b="1" i="0" u="none" strike="noStrike" cap="none" dirty="0">
                <a:solidFill>
                  <a:srgbClr val="1A365D"/>
                </a:solidFill>
                <a:latin typeface="Space Grotesk SemiBold"/>
                <a:ea typeface="Space Grotesk SemiBold"/>
                <a:cs typeface="Space Grotesk SemiBold"/>
                <a:sym typeface="Space Grotesk SemiBold"/>
              </a:rPr>
              <a:t>CLOSING &amp; </a:t>
            </a:r>
            <a:r>
              <a:rPr lang="en-US" sz="2450" b="1" dirty="0">
                <a:solidFill>
                  <a:srgbClr val="1A365D"/>
                </a:solidFill>
                <a:latin typeface="Space Grotesk SemiBold"/>
                <a:ea typeface="Space Grotesk SemiBold"/>
                <a:cs typeface="Space Grotesk SemiBold"/>
                <a:sym typeface="Space Grotesk SemiBold"/>
              </a:rPr>
              <a:t>COLLABORATION ROADMAP</a:t>
            </a:r>
            <a:endParaRPr sz="2450" b="0" i="0" u="none" strike="noStrike" cap="none" dirty="0">
              <a:solidFill>
                <a:schemeClr val="dk1"/>
              </a:solidFill>
              <a:latin typeface="Calibri"/>
              <a:ea typeface="Calibri"/>
              <a:cs typeface="Calibri"/>
              <a:sym typeface="Calibri"/>
            </a:endParaRPr>
          </a:p>
        </p:txBody>
      </p:sp>
      <p:sp>
        <p:nvSpPr>
          <p:cNvPr id="510" name="Google Shape;510;p12"/>
          <p:cNvSpPr/>
          <p:nvPr/>
        </p:nvSpPr>
        <p:spPr>
          <a:xfrm>
            <a:off x="650625" y="821986"/>
            <a:ext cx="3686100"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1100"/>
              <a:buFont typeface="Space Grotesk SemiBold"/>
              <a:buNone/>
            </a:pPr>
            <a:r>
              <a:rPr lang="en-US" b="1" i="0" u="none" strike="noStrike" cap="none" dirty="0">
                <a:solidFill>
                  <a:srgbClr val="1A365D"/>
                </a:solidFill>
                <a:latin typeface="Space Grotesk SemiBold"/>
                <a:ea typeface="Space Grotesk SemiBold"/>
                <a:cs typeface="Space Grotesk SemiBold"/>
                <a:sym typeface="Space Grotesk SemiBold"/>
              </a:rPr>
              <a:t>Why Us, Why Now</a:t>
            </a:r>
            <a:endParaRPr b="0" i="0" u="none" strike="noStrike" cap="none" dirty="0">
              <a:solidFill>
                <a:schemeClr val="dk1"/>
              </a:solidFill>
              <a:latin typeface="Calibri"/>
              <a:ea typeface="Calibri"/>
              <a:cs typeface="Calibri"/>
              <a:sym typeface="Calibri"/>
            </a:endParaRPr>
          </a:p>
        </p:txBody>
      </p:sp>
      <p:sp>
        <p:nvSpPr>
          <p:cNvPr id="511" name="Google Shape;511;p12"/>
          <p:cNvSpPr/>
          <p:nvPr/>
        </p:nvSpPr>
        <p:spPr>
          <a:xfrm>
            <a:off x="650625" y="1108868"/>
            <a:ext cx="3686100" cy="6183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111111"/>
              </a:buClr>
              <a:buSzPts val="850"/>
              <a:buFont typeface="Inter"/>
              <a:buNone/>
            </a:pPr>
            <a:r>
              <a:rPr lang="en-US" sz="1000">
                <a:highlight>
                  <a:srgbClr val="FFFFFF"/>
                </a:highlight>
              </a:rPr>
              <a:t>We have successfully engineered a constrained 9-element RHEA+FGM system achieving a 3D-validated aerospace Safety Factor of 1.71 and an oxidation mass gain of just 7.5 mg/cm² - computationally clearing the 1.50 airworthiness threshold while reducing Hafnium exposure by &gt;75%. We are ready to transition from digital twin to physical test.</a:t>
            </a:r>
            <a:r>
              <a:rPr lang="en-US" sz="1100">
                <a:solidFill>
                  <a:schemeClr val="dk1"/>
                </a:solidFill>
              </a:rPr>
              <a:t> </a:t>
            </a:r>
            <a:endParaRPr sz="850" b="0" i="0" u="none" strike="noStrike" cap="none">
              <a:highlight>
                <a:srgbClr val="000000"/>
              </a:highlight>
              <a:latin typeface="Calibri"/>
              <a:ea typeface="Calibri"/>
              <a:cs typeface="Calibri"/>
              <a:sym typeface="Calibri"/>
            </a:endParaRPr>
          </a:p>
        </p:txBody>
      </p:sp>
      <p:sp>
        <p:nvSpPr>
          <p:cNvPr id="512" name="Google Shape;512;p12"/>
          <p:cNvSpPr/>
          <p:nvPr/>
        </p:nvSpPr>
        <p:spPr>
          <a:xfrm>
            <a:off x="4818150" y="821986"/>
            <a:ext cx="3686100"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1100"/>
              <a:buFont typeface="Space Grotesk SemiBold"/>
              <a:buNone/>
            </a:pPr>
            <a:r>
              <a:rPr lang="en-US" b="1" i="0" u="none" strike="noStrike" cap="none" dirty="0">
                <a:solidFill>
                  <a:srgbClr val="1A365D"/>
                </a:solidFill>
                <a:latin typeface="Space Grotesk SemiBold"/>
                <a:ea typeface="Space Grotesk SemiBold"/>
                <a:cs typeface="Space Grotesk SemiBold"/>
                <a:sym typeface="Space Grotesk SemiBold"/>
              </a:rPr>
              <a:t>The Crystal Paradigm Team</a:t>
            </a:r>
            <a:endParaRPr b="0" i="0" u="none" strike="noStrike" cap="none" dirty="0">
              <a:solidFill>
                <a:schemeClr val="dk1"/>
              </a:solidFill>
              <a:latin typeface="Calibri"/>
              <a:ea typeface="Calibri"/>
              <a:cs typeface="Calibri"/>
              <a:sym typeface="Calibri"/>
            </a:endParaRPr>
          </a:p>
        </p:txBody>
      </p:sp>
      <p:sp>
        <p:nvSpPr>
          <p:cNvPr id="513" name="Google Shape;513;p12"/>
          <p:cNvSpPr/>
          <p:nvPr/>
        </p:nvSpPr>
        <p:spPr>
          <a:xfrm>
            <a:off x="4870925" y="955653"/>
            <a:ext cx="4058100" cy="1944378"/>
          </a:xfrm>
          <a:prstGeom prst="rect">
            <a:avLst/>
          </a:prstGeom>
          <a:noFill/>
          <a:ln>
            <a:noFill/>
          </a:ln>
        </p:spPr>
        <p:txBody>
          <a:bodyPr spcFirstLastPara="1" wrap="square" lIns="0" tIns="0" rIns="0" bIns="0" anchor="t" anchorCtr="0">
            <a:spAutoFit/>
          </a:bodyPr>
          <a:lstStyle/>
          <a:p>
            <a:pPr marL="0" lvl="0" indent="0" algn="l" rtl="0">
              <a:lnSpc>
                <a:spcPct val="115000"/>
              </a:lnSpc>
              <a:spcBef>
                <a:spcPts val="1200"/>
              </a:spcBef>
              <a:spcAft>
                <a:spcPts val="0"/>
              </a:spcAft>
              <a:buClr>
                <a:schemeClr val="dk1"/>
              </a:buClr>
              <a:buSzPts val="1100"/>
              <a:buFont typeface="Arial"/>
              <a:buNone/>
            </a:pPr>
            <a:r>
              <a:rPr lang="en-US" sz="1000" b="1" dirty="0">
                <a:highlight>
                  <a:srgbClr val="FFFFFF"/>
                </a:highlight>
              </a:rPr>
              <a:t>Our scientific foundation is anchored by top-tier mentors, including Dr. Shilpa Choudhary (Stanford Top 2% Scientist, 16+ yrs AI) and Dr. </a:t>
            </a:r>
            <a:r>
              <a:rPr lang="en-US" sz="1000" b="1" dirty="0" err="1">
                <a:highlight>
                  <a:srgbClr val="FFFFFF"/>
                </a:highlight>
              </a:rPr>
              <a:t>Kasarapu</a:t>
            </a:r>
            <a:r>
              <a:rPr lang="en-US" sz="1000" b="1" dirty="0">
                <a:highlight>
                  <a:srgbClr val="FFFFFF"/>
                </a:highlight>
              </a:rPr>
              <a:t> Venkataramana (CSIR-IICT, 12+ yrs materials science). </a:t>
            </a:r>
            <a:r>
              <a:rPr lang="en-US" sz="1000" dirty="0">
                <a:highlight>
                  <a:srgbClr val="FFFFFF"/>
                </a:highlight>
              </a:rPr>
              <a:t>The rapid technical execution and day-to-day innovation are driven by our core team of undergraduate AI Research Interns and applied engineering specialists. Together, we build high-throughput data pipelines, multi-physics simulations, and ML/AutoML workflows under structured, expert oversight.</a:t>
            </a:r>
            <a:r>
              <a:rPr lang="en-US" sz="1100" dirty="0">
                <a:highlight>
                  <a:srgbClr val="FFFFFF"/>
                </a:highlight>
              </a:rPr>
              <a:t> </a:t>
            </a:r>
            <a:endParaRPr sz="1100" dirty="0">
              <a:highlight>
                <a:srgbClr val="FFFFFF"/>
              </a:highlight>
            </a:endParaRPr>
          </a:p>
          <a:p>
            <a:pPr marL="0" marR="0" lvl="0" indent="0" algn="l" rtl="0">
              <a:lnSpc>
                <a:spcPct val="120000"/>
              </a:lnSpc>
              <a:spcBef>
                <a:spcPts val="1200"/>
              </a:spcBef>
              <a:spcAft>
                <a:spcPts val="0"/>
              </a:spcAft>
              <a:buClr>
                <a:srgbClr val="111111"/>
              </a:buClr>
              <a:buSzPts val="850"/>
              <a:buFont typeface="Inter"/>
              <a:buNone/>
            </a:pPr>
            <a:endParaRPr sz="1100" dirty="0">
              <a:solidFill>
                <a:srgbClr val="1F1F1F"/>
              </a:solidFill>
            </a:endParaRPr>
          </a:p>
        </p:txBody>
      </p:sp>
      <p:sp>
        <p:nvSpPr>
          <p:cNvPr id="514" name="Google Shape;514;p12"/>
          <p:cNvSpPr/>
          <p:nvPr/>
        </p:nvSpPr>
        <p:spPr>
          <a:xfrm>
            <a:off x="491450" y="2482086"/>
            <a:ext cx="8001000" cy="217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2BDEFD"/>
              </a:buClr>
              <a:buSzPts val="1200"/>
              <a:buFont typeface="Space Grotesk SemiBold"/>
              <a:buNone/>
            </a:pPr>
            <a:r>
              <a:rPr lang="en-US" b="1" dirty="0">
                <a:solidFill>
                  <a:srgbClr val="2BDEFD"/>
                </a:solidFill>
                <a:highlight>
                  <a:srgbClr val="FFFFFF"/>
                </a:highlight>
                <a:latin typeface="Courier New"/>
                <a:ea typeface="Courier New"/>
                <a:cs typeface="Courier New"/>
                <a:sym typeface="Courier New"/>
              </a:rPr>
              <a:t>SCIDIP Collaboration Ask:</a:t>
            </a:r>
            <a:r>
              <a:rPr lang="en-US" sz="1200" dirty="0">
                <a:solidFill>
                  <a:srgbClr val="4A86E8"/>
                </a:solidFill>
                <a:highlight>
                  <a:srgbClr val="F0FDF4"/>
                </a:highlight>
              </a:rPr>
              <a:t> </a:t>
            </a:r>
            <a:endParaRPr sz="1200" b="0" i="0" u="none" strike="noStrike" cap="none" dirty="0">
              <a:solidFill>
                <a:srgbClr val="4A86E8"/>
              </a:solidFill>
              <a:highlight>
                <a:srgbClr val="F0FDF4"/>
              </a:highlight>
              <a:latin typeface="Calibri"/>
              <a:ea typeface="Calibri"/>
              <a:cs typeface="Calibri"/>
              <a:sym typeface="Calibri"/>
            </a:endParaRPr>
          </a:p>
        </p:txBody>
      </p:sp>
      <p:sp>
        <p:nvSpPr>
          <p:cNvPr id="515" name="Google Shape;515;p12"/>
          <p:cNvSpPr/>
          <p:nvPr/>
        </p:nvSpPr>
        <p:spPr>
          <a:xfrm>
            <a:off x="571500" y="2807494"/>
            <a:ext cx="8001000" cy="14288"/>
          </a:xfrm>
          <a:prstGeom prst="rect">
            <a:avLst/>
          </a:prstGeom>
          <a:solidFill>
            <a:srgbClr val="E2E8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12"/>
          <p:cNvSpPr/>
          <p:nvPr/>
        </p:nvSpPr>
        <p:spPr>
          <a:xfrm>
            <a:off x="571500" y="2950369"/>
            <a:ext cx="2666991" cy="16430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Clr>
                <a:srgbClr val="1A365D"/>
              </a:buClr>
              <a:buSzPts val="900"/>
              <a:buFont typeface="Space Grotesk SemiBold"/>
              <a:buNone/>
            </a:pPr>
            <a:r>
              <a:rPr lang="en-US" sz="900" b="0" i="0" u="none" strike="noStrike" cap="none">
                <a:solidFill>
                  <a:srgbClr val="1A365D"/>
                </a:solidFill>
                <a:latin typeface="Space Grotesk SemiBold"/>
                <a:ea typeface="Space Grotesk SemiBold"/>
                <a:cs typeface="Space Grotesk SemiBold"/>
                <a:sym typeface="Space Grotesk SemiBold"/>
              </a:rPr>
              <a:t>1. IIT Delhi CRF Access</a:t>
            </a:r>
            <a:endParaRPr sz="900" b="0" i="0" u="none" strike="noStrike" cap="none">
              <a:solidFill>
                <a:schemeClr val="dk1"/>
              </a:solidFill>
              <a:latin typeface="Calibri"/>
              <a:ea typeface="Calibri"/>
              <a:cs typeface="Calibri"/>
              <a:sym typeface="Calibri"/>
            </a:endParaRPr>
          </a:p>
        </p:txBody>
      </p:sp>
      <p:sp>
        <p:nvSpPr>
          <p:cNvPr id="517" name="Google Shape;517;p12"/>
          <p:cNvSpPr/>
          <p:nvPr/>
        </p:nvSpPr>
        <p:spPr>
          <a:xfrm>
            <a:off x="571500" y="3186113"/>
            <a:ext cx="2667000" cy="420000"/>
          </a:xfrm>
          <a:prstGeom prst="rect">
            <a:avLst/>
          </a:prstGeom>
          <a:noFill/>
          <a:ln>
            <a:noFill/>
          </a:ln>
        </p:spPr>
        <p:txBody>
          <a:bodyPr spcFirstLastPara="1" wrap="square" lIns="170050" tIns="0" rIns="170050" bIns="0" anchor="t" anchorCtr="0">
            <a:spAutoFit/>
          </a:bodyPr>
          <a:lstStyle/>
          <a:p>
            <a:pPr marL="0" marR="0" lvl="0" indent="0" algn="ctr" rtl="0">
              <a:lnSpc>
                <a:spcPct val="112000"/>
              </a:lnSpc>
              <a:spcBef>
                <a:spcPts val="0"/>
              </a:spcBef>
              <a:spcAft>
                <a:spcPts val="0"/>
              </a:spcAft>
              <a:buClr>
                <a:srgbClr val="111111"/>
              </a:buClr>
              <a:buSzPts val="750"/>
              <a:buFont typeface="Inter"/>
              <a:buNone/>
            </a:pPr>
            <a:r>
              <a:rPr lang="en-US" sz="850">
                <a:highlight>
                  <a:srgbClr val="FFFFFF"/>
                </a:highlight>
              </a:rPr>
              <a:t>Specifically STA (1500°C), Tube Furnaces, XRD, and SEM/EDS for physical validation.</a:t>
            </a:r>
            <a:endParaRPr sz="750" i="0" u="none" strike="noStrike" cap="none">
              <a:highlight>
                <a:srgbClr val="FFFFFF"/>
              </a:highlight>
            </a:endParaRPr>
          </a:p>
        </p:txBody>
      </p:sp>
      <p:sp>
        <p:nvSpPr>
          <p:cNvPr id="518" name="Google Shape;518;p12"/>
          <p:cNvSpPr/>
          <p:nvPr/>
        </p:nvSpPr>
        <p:spPr>
          <a:xfrm>
            <a:off x="3238491" y="2950369"/>
            <a:ext cx="2666991" cy="16430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Clr>
                <a:srgbClr val="1A365D"/>
              </a:buClr>
              <a:buSzPts val="900"/>
              <a:buFont typeface="Space Grotesk SemiBold"/>
              <a:buNone/>
            </a:pPr>
            <a:r>
              <a:rPr lang="en-US" sz="900" b="0" i="0" u="none" strike="noStrike" cap="none">
                <a:solidFill>
                  <a:srgbClr val="1A365D"/>
                </a:solidFill>
                <a:latin typeface="Space Grotesk SemiBold"/>
                <a:ea typeface="Space Grotesk SemiBold"/>
                <a:cs typeface="Space Grotesk SemiBold"/>
                <a:sym typeface="Space Grotesk SemiBold"/>
              </a:rPr>
              <a:t>2. Sona Comstar Technology Mentorship &amp; Market Connect</a:t>
            </a:r>
            <a:endParaRPr sz="900" b="0" i="0" u="none" strike="noStrike" cap="none">
              <a:solidFill>
                <a:schemeClr val="dk1"/>
              </a:solidFill>
              <a:latin typeface="Calibri"/>
              <a:ea typeface="Calibri"/>
              <a:cs typeface="Calibri"/>
              <a:sym typeface="Calibri"/>
            </a:endParaRPr>
          </a:p>
        </p:txBody>
      </p:sp>
      <p:sp>
        <p:nvSpPr>
          <p:cNvPr id="519" name="Google Shape;519;p12"/>
          <p:cNvSpPr/>
          <p:nvPr/>
        </p:nvSpPr>
        <p:spPr>
          <a:xfrm>
            <a:off x="3238491" y="3186113"/>
            <a:ext cx="2666991" cy="420002"/>
          </a:xfrm>
          <a:prstGeom prst="rect">
            <a:avLst/>
          </a:prstGeom>
          <a:noFill/>
          <a:ln>
            <a:noFill/>
          </a:ln>
        </p:spPr>
        <p:txBody>
          <a:bodyPr spcFirstLastPara="1" wrap="square" lIns="170050" tIns="0" rIns="170050" bIns="0" anchor="t" anchorCtr="0">
            <a:spAutoFit/>
          </a:bodyPr>
          <a:lstStyle/>
          <a:p>
            <a:pPr marL="0" marR="0" lvl="0" indent="0" algn="ctr" rtl="0">
              <a:lnSpc>
                <a:spcPct val="112000"/>
              </a:lnSpc>
              <a:spcBef>
                <a:spcPts val="0"/>
              </a:spcBef>
              <a:spcAft>
                <a:spcPts val="0"/>
              </a:spcAft>
              <a:buClr>
                <a:srgbClr val="111111"/>
              </a:buClr>
              <a:buSzPts val="750"/>
              <a:buFont typeface="Inter"/>
              <a:buNone/>
            </a:pPr>
            <a:r>
              <a:rPr lang="en-US" sz="1000">
                <a:highlight>
                  <a:srgbClr val="FFFFFF"/>
                </a:highlight>
              </a:rPr>
              <a:t>Industry mentorship and access to corporate market connect for downstream application mapping in precision forging, EV thermal management, and railway systems.</a:t>
            </a:r>
            <a:r>
              <a:rPr lang="en-US" sz="1100">
                <a:highlight>
                  <a:srgbClr val="FFFFFF"/>
                </a:highlight>
              </a:rPr>
              <a:t> </a:t>
            </a:r>
            <a:endParaRPr sz="750" b="0" i="0" u="none" strike="noStrike" cap="none">
              <a:highlight>
                <a:srgbClr val="FFFFFF"/>
              </a:highlight>
              <a:latin typeface="Calibri"/>
              <a:ea typeface="Calibri"/>
              <a:cs typeface="Calibri"/>
              <a:sym typeface="Calibri"/>
            </a:endParaRPr>
          </a:p>
        </p:txBody>
      </p:sp>
      <p:sp>
        <p:nvSpPr>
          <p:cNvPr id="520" name="Google Shape;520;p12"/>
          <p:cNvSpPr/>
          <p:nvPr/>
        </p:nvSpPr>
        <p:spPr>
          <a:xfrm>
            <a:off x="5905481" y="2950369"/>
            <a:ext cx="2666991" cy="16430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Clr>
                <a:srgbClr val="1A365D"/>
              </a:buClr>
              <a:buSzPts val="900"/>
              <a:buFont typeface="Space Grotesk SemiBold"/>
              <a:buNone/>
            </a:pPr>
            <a:r>
              <a:rPr lang="en-US" sz="900">
                <a:solidFill>
                  <a:srgbClr val="1A365D"/>
                </a:solidFill>
                <a:latin typeface="Space Grotesk SemiBold"/>
                <a:ea typeface="Space Grotesk SemiBold"/>
                <a:cs typeface="Space Grotesk SemiBold"/>
                <a:sym typeface="Space Grotesk SemiBold"/>
              </a:rPr>
              <a:t>3. SCIDIP Grant Support</a:t>
            </a:r>
            <a:endParaRPr sz="900" b="0" i="0" u="none" strike="noStrike" cap="none">
              <a:solidFill>
                <a:schemeClr val="dk1"/>
              </a:solidFill>
              <a:latin typeface="Calibri"/>
              <a:ea typeface="Calibri"/>
              <a:cs typeface="Calibri"/>
              <a:sym typeface="Calibri"/>
            </a:endParaRPr>
          </a:p>
        </p:txBody>
      </p:sp>
      <p:sp>
        <p:nvSpPr>
          <p:cNvPr id="521" name="Google Shape;521;p12"/>
          <p:cNvSpPr/>
          <p:nvPr/>
        </p:nvSpPr>
        <p:spPr>
          <a:xfrm>
            <a:off x="5905481" y="3186113"/>
            <a:ext cx="2666991" cy="280002"/>
          </a:xfrm>
          <a:prstGeom prst="rect">
            <a:avLst/>
          </a:prstGeom>
          <a:noFill/>
          <a:ln>
            <a:noFill/>
          </a:ln>
        </p:spPr>
        <p:txBody>
          <a:bodyPr spcFirstLastPara="1" wrap="square" lIns="170050" tIns="0" rIns="170050" bIns="0" anchor="t" anchorCtr="0">
            <a:spAutoFit/>
          </a:bodyPr>
          <a:lstStyle/>
          <a:p>
            <a:pPr marL="0" marR="0" lvl="0" indent="0" algn="ctr" rtl="0">
              <a:lnSpc>
                <a:spcPct val="112000"/>
              </a:lnSpc>
              <a:spcBef>
                <a:spcPts val="0"/>
              </a:spcBef>
              <a:spcAft>
                <a:spcPts val="0"/>
              </a:spcAft>
              <a:buClr>
                <a:srgbClr val="111111"/>
              </a:buClr>
              <a:buSzPts val="750"/>
              <a:buFont typeface="Inter"/>
              <a:buNone/>
            </a:pPr>
            <a:r>
              <a:rPr lang="en-US" sz="1000">
                <a:highlight>
                  <a:srgbClr val="FFFFFF"/>
                </a:highlight>
              </a:rPr>
              <a:t>To fabricate initial FGM witness coupons and execute TRL 4 validation.</a:t>
            </a:r>
            <a:r>
              <a:rPr lang="en-US" sz="1100">
                <a:highlight>
                  <a:srgbClr val="FFFFFF"/>
                </a:highlight>
              </a:rPr>
              <a:t> </a:t>
            </a:r>
            <a:endParaRPr sz="750" b="0" i="0" u="none" strike="noStrike" cap="none">
              <a:highlight>
                <a:srgbClr val="FFFFFF"/>
              </a:highlight>
              <a:latin typeface="Calibri"/>
              <a:ea typeface="Calibri"/>
              <a:cs typeface="Calibri"/>
              <a:sym typeface="Calibri"/>
            </a:endParaRPr>
          </a:p>
        </p:txBody>
      </p:sp>
      <p:sp>
        <p:nvSpPr>
          <p:cNvPr id="522" name="Google Shape;522;p12"/>
          <p:cNvSpPr/>
          <p:nvPr/>
        </p:nvSpPr>
        <p:spPr>
          <a:xfrm>
            <a:off x="0" y="4034740"/>
            <a:ext cx="9144000" cy="1378744"/>
          </a:xfrm>
          <a:prstGeom prst="rect">
            <a:avLst/>
          </a:prstGeom>
          <a:solidFill>
            <a:srgbClr val="1A36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12"/>
          <p:cNvSpPr/>
          <p:nvPr/>
        </p:nvSpPr>
        <p:spPr>
          <a:xfrm>
            <a:off x="-52775" y="4236400"/>
            <a:ext cx="8693700" cy="420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Clr>
                <a:srgbClr val="FFFFFF"/>
              </a:buClr>
              <a:buSzPts val="1250"/>
              <a:buFont typeface="Space Grotesk SemiBold"/>
              <a:buNone/>
            </a:pPr>
            <a:r>
              <a:rPr lang="en-US" sz="1250" b="0" i="0" u="none" strike="noStrike" cap="none">
                <a:solidFill>
                  <a:srgbClr val="FFFFFF"/>
                </a:solidFill>
                <a:latin typeface="Space Grotesk SemiBold"/>
                <a:ea typeface="Space Grotesk SemiBold"/>
                <a:cs typeface="Space Grotesk SemiBold"/>
                <a:sym typeface="Space Grotesk SemiBold"/>
              </a:rPr>
              <a:t>From computational design to physical validation — in advanced mobility and aerospace.</a:t>
            </a:r>
            <a:endParaRPr sz="1250" b="0" i="0" u="none" strike="noStrike" cap="none">
              <a:solidFill>
                <a:schemeClr val="dk1"/>
              </a:solidFill>
              <a:latin typeface="Calibri"/>
              <a:ea typeface="Calibri"/>
              <a:cs typeface="Calibri"/>
              <a:sym typeface="Calibri"/>
            </a:endParaRPr>
          </a:p>
        </p:txBody>
      </p:sp>
      <p:sp>
        <p:nvSpPr>
          <p:cNvPr id="524" name="Google Shape;524;p12"/>
          <p:cNvSpPr/>
          <p:nvPr/>
        </p:nvSpPr>
        <p:spPr>
          <a:xfrm>
            <a:off x="571500" y="4763100"/>
            <a:ext cx="8175000" cy="29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2BDEFD"/>
              </a:buClr>
              <a:buSzPts val="1600"/>
              <a:buFont typeface="Space Grotesk SemiBold"/>
              <a:buNone/>
            </a:pPr>
            <a:r>
              <a:rPr lang="en-US" sz="1600" b="0" i="0" u="sng" strike="noStrike" cap="none">
                <a:solidFill>
                  <a:srgbClr val="2BDEFD"/>
                </a:solidFill>
                <a:latin typeface="Space Grotesk SemiBold"/>
                <a:ea typeface="Space Grotesk SemiBold"/>
                <a:cs typeface="Space Grotesk SemiBold"/>
                <a:sym typeface="Space Grotesk SemiBold"/>
                <a:hlinkClick r:id="rId4">
                  <a:extLst>
                    <a:ext uri="{A12FA001-AC4F-418D-AE19-62706E023703}">
                      <ahyp:hlinkClr xmlns:ahyp="http://schemas.microsoft.com/office/drawing/2018/hyperlinkcolor" val="tx"/>
                    </a:ext>
                  </a:extLst>
                </a:hlinkClick>
              </a:rPr>
              <a:t>crystalparadigm.in</a:t>
            </a:r>
            <a:r>
              <a:rPr lang="en-US" sz="1600">
                <a:solidFill>
                  <a:srgbClr val="2BDEFD"/>
                </a:solidFill>
                <a:latin typeface="Calibri"/>
                <a:ea typeface="Calibri"/>
                <a:cs typeface="Calibri"/>
                <a:sym typeface="Calibri"/>
              </a:rPr>
              <a:t>                                                                       khub.crystalparadigm@gmail.com</a:t>
            </a:r>
            <a:endParaRPr sz="1600" b="0" i="0" u="none" strike="noStrike" cap="none">
              <a:solidFill>
                <a:srgbClr val="2BDEFD"/>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TotalTime>
  <Words>2382</Words>
  <Application>Microsoft Office PowerPoint</Application>
  <PresentationFormat>On-screen Show (16:9)</PresentationFormat>
  <Paragraphs>311</Paragraphs>
  <Slides>14</Slides>
  <Notes>14</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14</vt:i4>
      </vt:variant>
    </vt:vector>
  </HeadingPairs>
  <TitlesOfParts>
    <vt:vector size="24" baseType="lpstr">
      <vt:lpstr>Inter</vt:lpstr>
      <vt:lpstr>Arial</vt:lpstr>
      <vt:lpstr>Inter SemiBold</vt:lpstr>
      <vt:lpstr>Space Grotesk SemiBold</vt:lpstr>
      <vt:lpstr>Space Grotesk</vt:lpstr>
      <vt:lpstr>Courier New</vt:lpstr>
      <vt:lpstr>Inter Medium</vt:lpstr>
      <vt:lpstr>Calibri</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PptxGenJS</dc:creator>
  <cp:lastModifiedBy>MOHAMMED AHMED RAZA</cp:lastModifiedBy>
  <cp:revision>7</cp:revision>
  <dcterms:created xsi:type="dcterms:W3CDTF">2026-06-04T12:08:38Z</dcterms:created>
  <dcterms:modified xsi:type="dcterms:W3CDTF">2026-07-29T18:31:52Z</dcterms:modified>
</cp:coreProperties>
</file>