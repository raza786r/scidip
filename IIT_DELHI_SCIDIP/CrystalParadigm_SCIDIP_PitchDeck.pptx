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Space Grotesk" panose="020B0604020202020204" charset="0"/>
      <p:bold r:id="rId30"/>
    </p:embeddedFont>
    <p:embeddedFont>
      <p:font typeface="Space Grotesk SemiBold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Ldsu46NZDv1iNawfR3J/rA+h4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ableStyles" Target="tableStyles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5893f04f_6_7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e85893f04f_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8969c066b_83_15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e8969c066b_83_15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e8969c066b_83_15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e8969c066b_83_159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e8969c066b_83_159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g3e8969c066b_83_15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e8969c066b_83_15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e8969c066b_83_15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8969c066b_83_165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e8969c066b_83_165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g3e8969c066b_83_16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e8969c066b_83_16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e8969c066b_83_16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8969c066b_83_171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e8969c066b_83_171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g3e8969c066b_83_17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3e8969c066b_83_17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e8969c066b_83_17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8969c066b_83_17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3e8969c066b_83_17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2" name="Google Shape;42;g3e8969c066b_83_177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3" name="Google Shape;43;g3e8969c066b_83_17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e8969c066b_83_17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3e8969c066b_83_17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8969c066b_83_18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3e8969c066b_83_184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9" name="Google Shape;49;g3e8969c066b_83_184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0" name="Google Shape;50;g3e8969c066b_83_184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51" name="Google Shape;51;g3e8969c066b_83_184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2" name="Google Shape;52;g3e8969c066b_83_18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e8969c066b_83_18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e8969c066b_83_18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8969c066b_83_19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e8969c066b_83_19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e8969c066b_83_19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e8969c066b_83_19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8969c066b_83_198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e8969c066b_83_198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63" name="Google Shape;63;g3e8969c066b_83_198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4" name="Google Shape;64;g3e8969c066b_83_19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e8969c066b_83_19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e8969c066b_83_19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969c066b_83_205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3e8969c066b_83_205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e8969c066b_83_205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71" name="Google Shape;71;g3e8969c066b_83_20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3e8969c066b_83_20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g3e8969c066b_83_20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969c066b_83_212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3e8969c066b_83_212"/>
          <p:cNvSpPr txBox="1">
            <a:spLocks noGrp="1"/>
          </p:cNvSpPr>
          <p:nvPr>
            <p:ph type="body" idx="1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g3e8969c066b_83_2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e8969c066b_83_2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e8969c066b_83_2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969c066b_83_218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e8969c066b_83_218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g3e8969c066b_83_2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e8969c066b_83_2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e8969c066b_83_2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24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8969c066b_83_14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13" name="Google Shape;13;g3e8969c066b_83_149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3e8969c066b_83_14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g3e8969c066b_83_14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g3e8969c066b_83_14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ystalparadigm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g3e85893f04f_6_75"/>
          <p:cNvGrpSpPr/>
          <p:nvPr/>
        </p:nvGrpSpPr>
        <p:grpSpPr>
          <a:xfrm>
            <a:off x="476250" y="285750"/>
            <a:ext cx="8191500" cy="809625"/>
            <a:chOff x="476250" y="285750"/>
            <a:chExt cx="8191500" cy="809625"/>
          </a:xfrm>
        </p:grpSpPr>
        <p:sp>
          <p:nvSpPr>
            <p:cNvPr id="91" name="Google Shape;91;g3e85893f04f_6_75"/>
            <p:cNvSpPr txBox="1"/>
            <p:nvPr/>
          </p:nvSpPr>
          <p:spPr>
            <a:xfrm>
              <a:off x="476250" y="28575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30" b="1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CRYSTAL </a:t>
              </a:r>
              <a:r>
                <a:rPr lang="en-US" sz="3330" b="1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PARADIGM</a:t>
              </a:r>
              <a:endParaRPr sz="3330" b="1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95" b="1" dirty="0">
                  <a:solidFill>
                    <a:srgbClr val="64748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AI-Integrated Materials Architectures for Aerospace Applications</a:t>
              </a:r>
              <a:endParaRPr sz="1295" b="1" dirty="0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92" name="Google Shape;92;g3e85893f04f_6_75"/>
            <p:cNvCxnSpPr/>
            <p:nvPr/>
          </p:nvCxnSpPr>
          <p:spPr>
            <a:xfrm>
              <a:off x="476250" y="1095375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3" name="Google Shape;93;g3e85893f04f_6_75"/>
          <p:cNvSpPr txBox="1"/>
          <p:nvPr/>
        </p:nvSpPr>
        <p:spPr>
          <a:xfrm>
            <a:off x="476250" y="1333500"/>
            <a:ext cx="51435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Pioneering AI-Driven Materials Discovery</a:t>
            </a:r>
            <a:endParaRPr sz="1300" b="1" dirty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Crystal Paradigm is a research-driven organization at the intersection of artificial intelligence and materials science. We field a deep-tech startup that has computationally validated a next-generation turbine blade material achieving a </a:t>
            </a:r>
            <a:r>
              <a:rPr lang="en-US" sz="1150" b="1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3D Safety Factor of 1.71</a:t>
            </a: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- exceeding the 1.50 airworthiness threshold by 14%.</a:t>
            </a:r>
            <a:endParaRPr sz="115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Mission</a:t>
            </a:r>
            <a:endParaRPr sz="1300" b="1" dirty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 accelerate the discovery of next-generation materials by combining machine learning, high-performance computing (HPC), and experimental validation in one closed loop.</a:t>
            </a:r>
            <a:endParaRPr sz="115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64748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Targeting extreme-environment industrial applications: refractory high-entropy alloys paired with functionally graded ceramic coatings, merging in-house data curation with high-fidelity physics models to generate direct, print-ready manufacturing matrices.</a:t>
            </a:r>
            <a:endParaRPr sz="1000" dirty="0">
              <a:solidFill>
                <a:srgbClr val="64748B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4" name="Google Shape;94;g3e85893f04f_6_75"/>
          <p:cNvGrpSpPr/>
          <p:nvPr/>
        </p:nvGrpSpPr>
        <p:grpSpPr>
          <a:xfrm>
            <a:off x="6022075" y="525144"/>
            <a:ext cx="2840355" cy="4142371"/>
            <a:chOff x="6286500" y="1333500"/>
            <a:chExt cx="2286000" cy="3333900"/>
          </a:xfrm>
        </p:grpSpPr>
        <p:pic>
          <p:nvPicPr>
            <p:cNvPr id="95" name="Google Shape;95;g3e85893f04f_6_7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7000" y="1333500"/>
              <a:ext cx="1905000" cy="1905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96" name="Google Shape;96;g3e85893f04f_6_75"/>
            <p:cNvSpPr/>
            <p:nvPr/>
          </p:nvSpPr>
          <p:spPr>
            <a:xfrm>
              <a:off x="6286500" y="3429000"/>
              <a:ext cx="2286000" cy="1238400"/>
            </a:xfrm>
            <a:prstGeom prst="roundRect">
              <a:avLst>
                <a:gd name="adj" fmla="val 9230"/>
              </a:avLst>
            </a:prstGeom>
            <a:solidFill>
              <a:srgbClr val="1A36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g3e85893f04f_6_75"/>
            <p:cNvSpPr txBox="1"/>
            <p:nvPr/>
          </p:nvSpPr>
          <p:spPr>
            <a:xfrm>
              <a:off x="6286500" y="342900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325" tIns="118325" rIns="118325" bIns="118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33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 </a:t>
              </a:r>
              <a:r>
                <a:rPr lang="en-US" sz="1242" b="0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Research Papers</a:t>
              </a:r>
              <a:endParaRPr sz="2733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 dirty="0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(under Review)</a:t>
              </a:r>
              <a:endParaRPr sz="994" i="1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932"/>
                </a:spcBef>
                <a:spcAft>
                  <a:spcPts val="0"/>
                </a:spcAft>
                <a:buNone/>
              </a:pPr>
              <a:r>
                <a:rPr lang="en-US" sz="2733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 </a:t>
              </a:r>
              <a:r>
                <a:rPr lang="en-US" sz="1242" b="0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Patents</a:t>
              </a:r>
              <a:endParaRPr sz="2733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 dirty="0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(1  Accepted)</a:t>
              </a:r>
              <a:endParaRPr sz="994" i="1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0700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20700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47472" y="91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 ·  SCIDIP APPLICATION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ALIGNMENT: SCIDIP FOCUS AREAS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AI-driven discovery and physical bulk materials.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8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8912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Systems, Gradients &amp; Additive Processes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8912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85216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TBCs: Solved the 1400°C CTE mismatch using an integrated Lanthanum Zirconate (LZO) ceramic coating coupled with a refractory HEA 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85216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Mechanical Gradients: Our 11-layer Functionally Graded Material (FGM) completely eliminates macro-stress concentrations at the coating interface.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85216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Additive Processes: The entire architecture is formulated for immediate multi-hopper Laser Engineered Net Shaping (LENS / DED) 3D printing.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46320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6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&amp; 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Design, Simulation &amp; Digital Twins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992624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Composite Architectures: Deployed Constrained Differential Evolution (DE) combined with Random Forest surrogates to navigate a 9-element hypercube in minutes.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92624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Performance Simulation: Validated candidates via 3D FEniCS FEA stress grids (SF = 1.71) and MACE/CHGNet ML Force Field Molecular Dynamics.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92624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Chemical Gradients: Automatically converts continuous AI property curves into discrete, print-ready metal-ceramic gradient parameters.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599432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645152"/>
            <a:ext cx="9144000" cy="54406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SOLUTION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0" y="4709160"/>
            <a:ext cx="0" cy="310896"/>
          </a:xfrm>
          <a:prstGeom prst="line">
            <a:avLst/>
          </a:prstGeom>
          <a:noFill/>
          <a:ln w="19050">
            <a:solidFill>
              <a:srgbClr val="1E3A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993392" y="469087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does not just provide a material (Focus Area 1) or software (Focus Area 2) - we provide a complete, unbroken data-to-manufacturing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1267123" y="3564731"/>
            <a:ext cx="11235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50"/>
              <a:buFont typeface="Inter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428625" y="381000"/>
            <a:ext cx="8286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CRYSTAL PARADIGM FOR HOTTER, LONGER-LIVED PROPULSION MATERIALS</a:t>
            </a:r>
            <a:endParaRPr sz="182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28625" y="1000125"/>
            <a:ext cx="828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AI-Driven Inverse Design of Graded Transpiration Shields</a:t>
            </a:r>
            <a:endParaRPr sz="16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112" name="Google Shape;112;p1"/>
          <p:cNvGrpSpPr/>
          <p:nvPr/>
        </p:nvGrpSpPr>
        <p:grpSpPr>
          <a:xfrm>
            <a:off x="428625" y="1524000"/>
            <a:ext cx="3238500" cy="3238500"/>
            <a:chOff x="428625" y="1524000"/>
            <a:chExt cx="3238500" cy="3238500"/>
          </a:xfrm>
        </p:grpSpPr>
        <p:pic>
          <p:nvPicPr>
            <p:cNvPr id="113" name="Google Shape;113;p1" descr="A high-tech, futuristic cross-section of a 3D-printed aerospace material shield with visible 11-layers, showing a gradient from a metallic base to a white ceramic coating, glowing with extreme heat (1400C) on one side, photorealistic, cinematic lighting, laboratory setting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noFill/>
            <a:ln>
              <a:noFill/>
            </a:ln>
          </p:spPr>
        </p:pic>
        <p:sp>
          <p:nvSpPr>
            <p:cNvPr id="114" name="Google Shape;114;p1"/>
            <p:cNvSpPr/>
            <p:nvPr/>
          </p:nvSpPr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3952875" y="1524000"/>
            <a:ext cx="4762500" cy="3143175"/>
            <a:chOff x="3952875" y="1524000"/>
            <a:chExt cx="4762500" cy="3143175"/>
          </a:xfrm>
        </p:grpSpPr>
        <p:sp>
          <p:nvSpPr>
            <p:cNvPr id="116" name="Google Shape;116;p1"/>
            <p:cNvSpPr/>
            <p:nvPr/>
          </p:nvSpPr>
          <p:spPr>
            <a:xfrm>
              <a:off x="3952875" y="152400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4095750" y="152400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Integrated Multi-Material Architecture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Merging a high-temperature refractory HEA base with an 11-layer functionally graded LZO thermal barrier coating.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952875" y="233362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4095750" y="233362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91B1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Problem</a:t>
              </a:r>
              <a:endParaRPr sz="1100" b="1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Thermal fatigue from CTE mismatches at 1400°C causing interfacial shear stress and layer delamination.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3952875" y="314325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9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4095750" y="314325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7598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Current Status</a:t>
              </a:r>
              <a:endParaRPr sz="1100" b="1">
                <a:solidFill>
                  <a:srgbClr val="07598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TRL-3+ screening complete via physics-informed regressors and FEA/MD solvers; lab-backed prototyping ready.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952875" y="395287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DF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4095750" y="395287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6653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Strategic Ask</a:t>
              </a:r>
              <a:endParaRPr sz="1100" b="1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Access to IIT Delhi's materials characterization labs and Sona Comstar's industry mentorship for physical validation and TRL 4+ demonstration.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THIS MATTERS NOW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Addressing Extreme-Environment Industrial Imperatives and Supply Chain Resilience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00075" y="1441252"/>
            <a:ext cx="811530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Aerothermal Fire Limit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00075" y="1659136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Next-generation turbine entries run at 1400^C (1673^K). These severe limits introduce extreme expansion stresses and oxidation kinetics that outpace legacy protective systems.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00063" y="2182443"/>
            <a:ext cx="81153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Supply Chain Resilience</a:t>
            </a:r>
            <a:endParaRPr sz="1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00075" y="2398534"/>
            <a:ext cx="81153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Conventional designs rely heavily on rare elements like Hafnium. Our solution intentionally limits high-risk dependencies to mitigate price volatility and supply chain exposure. </a:t>
            </a:r>
            <a:endParaRPr sz="850" b="0" i="0" u="none" strike="noStrike" cap="none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Directly aligned with next-generation open-rotor program targets for TET &gt; 1400°C and 20% SFC improvement.</a:t>
            </a: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578644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FUEL BURN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578644" y="3662958"/>
            <a:ext cx="231931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50"/>
              <a:buFont typeface="Inter"/>
              <a:buNone/>
            </a:pP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compressor parasitic bleed air, driving an immediate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Specific Fuel Consumption (SFC).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3412313" y="3391495"/>
            <a:ext cx="2319347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MRO MAINTENANCE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3412313" y="3662958"/>
            <a:ext cx="2319347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Lowering thermal degradation to extend engine shop visit intervals and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blade operational life cycles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significantly.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246009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6246000" y="3662947"/>
            <a:ext cx="23193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 export of a universal,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print-ready 11-layer compositional matrix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to drive multi-hopper 3D printers for shop-floor deployment</a:t>
            </a:r>
            <a:r>
              <a:rPr lang="en-US" sz="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,drastically reducing physical prototyping lead times from months to days.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267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/>
          <p:nvPr/>
        </p:nvSpPr>
        <p:spPr>
          <a:xfrm>
            <a:off x="428625" y="817318"/>
            <a:ext cx="3714750" cy="6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100"/>
              <a:buFont typeface="Space Grotesk SemiBold"/>
              <a:buNone/>
            </a:pPr>
            <a:r>
              <a:rPr lang="en-US" sz="21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TECHNICAL PROBLEM IN ONE PICTURE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00075" y="1691701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Thermal Expansion Discontinuity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00075" y="1856000"/>
            <a:ext cx="35433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Metallic base (α ≈ 6.44-14.0 μm/m·K) vs LZO coating (α = 9.1 μm/m·K). Interface shear forces exceed 850 MPa, far surpassing the thermal limits of legacy Inconel 718 and CMSX-4.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00075" y="235032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Microstructural Phase Decay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00075" y="255034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Oxygen diffusion precipitates brittle sigma phases , causing rapid material loss and interface failure.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00075" y="300894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Cooling Hole Threat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00075" y="320896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Laser-drilled holes create stress concentration , accelerating crack propagation and layer delamination.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00075" y="366756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Unified Imperative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00075" y="386758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Substrate, cooling channels, and insulating layers must be optimized as a single system to prevent failure.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5000625" y="874216"/>
            <a:ext cx="3714750" cy="14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00"/>
              <a:buFont typeface="Space Grotesk SemiBold"/>
              <a:buNone/>
            </a:pPr>
            <a:r>
              <a:rPr lang="en-US" sz="8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THERMOMECHANICAL FAILURE-MODE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25" y="1163538"/>
            <a:ext cx="3571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SHEAR &gt; 850 MPa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DELAMINATION RISK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5000625" y="4163913"/>
            <a:ext cx="3714750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Schematic cross-section showing interfacial stress singularities and crack initiation zones.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/>
        </p:nvSpPr>
        <p:spPr>
          <a:xfrm>
            <a:off x="83925" y="149325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OUR ADVANCED ARCHITECTURE &amp; RECIPIENT LAYOUT</a:t>
            </a:r>
            <a:endParaRPr sz="22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71" name="Google Shape;171;p4"/>
          <p:cNvGrpSpPr/>
          <p:nvPr/>
        </p:nvGrpSpPr>
        <p:grpSpPr>
          <a:xfrm>
            <a:off x="428625" y="1238250"/>
            <a:ext cx="3333900" cy="3238575"/>
            <a:chOff x="428625" y="1238250"/>
            <a:chExt cx="3333900" cy="3238575"/>
          </a:xfrm>
        </p:grpSpPr>
        <p:sp>
          <p:nvSpPr>
            <p:cNvPr id="172" name="Google Shape;172;p4"/>
            <p:cNvSpPr/>
            <p:nvPr/>
          </p:nvSpPr>
          <p:spPr>
            <a:xfrm>
              <a:off x="428625" y="1238250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571500" y="133350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Substrate Phase Security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Optimized quinary refractory HEA matrix ensuring stable single-phase BCC solid solution.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428625" y="2143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571500" y="2238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Pareto Gradient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Transition zone governed by power-law exponent </a:t>
              </a:r>
              <a:r>
                <a:rPr lang="en-US" sz="833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n=1.1</a:t>
              </a: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shifting shear stresses away from the surface.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28625" y="2905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571500" y="3000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Transpiration Porosity Network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Integrated micro-pores programmed via selective laser sintering, allowing cooling air to weep uniformly.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28625" y="3667125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571500" y="3762375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Hardware-Agnostic Output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Direct export of 11-layer data ledger  to drive multi-hopper LENS printers.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4"/>
          <p:cNvGrpSpPr/>
          <p:nvPr/>
        </p:nvGrpSpPr>
        <p:grpSpPr>
          <a:xfrm>
            <a:off x="4106000" y="717063"/>
            <a:ext cx="4857900" cy="3572119"/>
            <a:chOff x="4000500" y="333375"/>
            <a:chExt cx="4857900" cy="4476900"/>
          </a:xfrm>
        </p:grpSpPr>
        <p:sp>
          <p:nvSpPr>
            <p:cNvPr id="181" name="Google Shape;181;p4"/>
            <p:cNvSpPr/>
            <p:nvPr/>
          </p:nvSpPr>
          <p:spPr>
            <a:xfrm>
              <a:off x="4000500" y="333375"/>
              <a:ext cx="4857900" cy="447690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4"/>
            <p:cNvGrpSpPr/>
            <p:nvPr/>
          </p:nvGrpSpPr>
          <p:grpSpPr>
            <a:xfrm>
              <a:off x="4000500" y="333375"/>
              <a:ext cx="4857600" cy="381000"/>
              <a:chOff x="4000500" y="333375"/>
              <a:chExt cx="4857600" cy="381000"/>
            </a:xfrm>
          </p:grpSpPr>
          <p:pic>
            <p:nvPicPr>
              <p:cNvPr id="183" name="Google Shape;183;p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" name="Google Shape;184;p4"/>
              <p:cNvSpPr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7" name="Google Shape;187;p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" name="Google Shape;188;p4"/>
              <p:cNvSpPr txBox="1"/>
              <p:nvPr/>
            </p:nvSpPr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Layer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89" name="Google Shape;189;p4"/>
              <p:cNvSpPr txBox="1"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Depth (mm)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Alloy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1" name="Google Shape;191;p4"/>
              <p:cNvSpPr txBox="1"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Ceramic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2" name="Google Shape;192;p4"/>
              <p:cNvSpPr txBox="1"/>
              <p:nvPr/>
            </p:nvSpPr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Profile Description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193" name="Google Shape;193;p4"/>
            <p:cNvGrpSpPr/>
            <p:nvPr/>
          </p:nvGrpSpPr>
          <p:grpSpPr>
            <a:xfrm>
              <a:off x="4000500" y="714375"/>
              <a:ext cx="4857900" cy="3214838"/>
              <a:chOff x="4000500" y="714375"/>
              <a:chExt cx="4857900" cy="3214838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4000500" y="714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4"/>
              <p:cNvSpPr txBox="1"/>
              <p:nvPr/>
            </p:nvSpPr>
            <p:spPr>
              <a:xfrm>
                <a:off x="4000500" y="714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6" name="Google Shape;196;p4"/>
              <p:cNvSpPr txBox="1"/>
              <p:nvPr/>
            </p:nvSpPr>
            <p:spPr>
              <a:xfrm>
                <a:off x="4476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7" name="Google Shape;197;p4"/>
              <p:cNvSpPr txBox="1"/>
              <p:nvPr/>
            </p:nvSpPr>
            <p:spPr>
              <a:xfrm>
                <a:off x="5238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8" name="Google Shape;198;p4"/>
              <p:cNvSpPr txBox="1"/>
              <p:nvPr/>
            </p:nvSpPr>
            <p:spPr>
              <a:xfrm>
                <a:off x="6000750" y="7143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4"/>
              <p:cNvSpPr txBox="1"/>
              <p:nvPr/>
            </p:nvSpPr>
            <p:spPr>
              <a:xfrm>
                <a:off x="6858000" y="714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Refractory HEA Base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500" y="1000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4"/>
              <p:cNvSpPr txBox="1"/>
              <p:nvPr/>
            </p:nvSpPr>
            <p:spPr>
              <a:xfrm>
                <a:off x="4000500" y="1000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4"/>
              <p:cNvSpPr txBox="1"/>
              <p:nvPr/>
            </p:nvSpPr>
            <p:spPr>
              <a:xfrm>
                <a:off x="4476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4"/>
              <p:cNvSpPr txBox="1"/>
              <p:nvPr/>
            </p:nvSpPr>
            <p:spPr>
              <a:xfrm>
                <a:off x="5238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4"/>
              <p:cNvSpPr txBox="1"/>
              <p:nvPr/>
            </p:nvSpPr>
            <p:spPr>
              <a:xfrm>
                <a:off x="6000750" y="10611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4"/>
              <p:cNvSpPr txBox="1"/>
              <p:nvPr/>
            </p:nvSpPr>
            <p:spPr>
              <a:xfrm>
                <a:off x="6858000" y="1000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4000500" y="1285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4"/>
              <p:cNvSpPr txBox="1"/>
              <p:nvPr/>
            </p:nvSpPr>
            <p:spPr>
              <a:xfrm>
                <a:off x="4000500" y="1285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4"/>
              <p:cNvSpPr txBox="1"/>
              <p:nvPr/>
            </p:nvSpPr>
            <p:spPr>
              <a:xfrm>
                <a:off x="4476750" y="1285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4"/>
              <p:cNvSpPr txBox="1"/>
              <p:nvPr/>
            </p:nvSpPr>
            <p:spPr>
              <a:xfrm>
                <a:off x="5238750" y="1285797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4"/>
              <p:cNvSpPr txBox="1"/>
              <p:nvPr/>
            </p:nvSpPr>
            <p:spPr>
              <a:xfrm>
                <a:off x="6000750" y="1305379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4"/>
              <p:cNvSpPr txBox="1"/>
              <p:nvPr/>
            </p:nvSpPr>
            <p:spPr>
              <a:xfrm>
                <a:off x="6858000" y="1285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4000500" y="15716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4"/>
              <p:cNvSpPr txBox="1"/>
              <p:nvPr/>
            </p:nvSpPr>
            <p:spPr>
              <a:xfrm>
                <a:off x="4000500" y="1571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4" name="Google Shape;214;p4"/>
              <p:cNvSpPr txBox="1"/>
              <p:nvPr/>
            </p:nvSpPr>
            <p:spPr>
              <a:xfrm>
                <a:off x="4476750" y="1571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5" name="Google Shape;215;p4"/>
              <p:cNvSpPr txBox="1"/>
              <p:nvPr/>
            </p:nvSpPr>
            <p:spPr>
              <a:xfrm>
                <a:off x="5238750" y="164964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6" name="Google Shape;216;p4"/>
              <p:cNvSpPr txBox="1"/>
              <p:nvPr/>
            </p:nvSpPr>
            <p:spPr>
              <a:xfrm>
                <a:off x="6000750" y="1610634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7" name="Google Shape;217;p4"/>
              <p:cNvSpPr txBox="1"/>
              <p:nvPr/>
            </p:nvSpPr>
            <p:spPr>
              <a:xfrm>
                <a:off x="6858000" y="1571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4000500" y="18573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4"/>
              <p:cNvSpPr txBox="1"/>
              <p:nvPr/>
            </p:nvSpPr>
            <p:spPr>
              <a:xfrm>
                <a:off x="4000500" y="1857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0" name="Google Shape;220;p4"/>
              <p:cNvSpPr txBox="1"/>
              <p:nvPr/>
            </p:nvSpPr>
            <p:spPr>
              <a:xfrm>
                <a:off x="4476750" y="1857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1" name="Google Shape;221;p4"/>
              <p:cNvSpPr txBox="1"/>
              <p:nvPr/>
            </p:nvSpPr>
            <p:spPr>
              <a:xfrm>
                <a:off x="5238750" y="193539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2" name="Google Shape;222;p4"/>
              <p:cNvSpPr txBox="1"/>
              <p:nvPr/>
            </p:nvSpPr>
            <p:spPr>
              <a:xfrm>
                <a:off x="6000750" y="189472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3" name="Google Shape;223;p4"/>
              <p:cNvSpPr txBox="1"/>
              <p:nvPr/>
            </p:nvSpPr>
            <p:spPr>
              <a:xfrm>
                <a:off x="6858000" y="1857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4000500" y="21431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4"/>
              <p:cNvSpPr txBox="1"/>
              <p:nvPr/>
            </p:nvSpPr>
            <p:spPr>
              <a:xfrm>
                <a:off x="4000500" y="2143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6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6" name="Google Shape;226;p4"/>
              <p:cNvSpPr txBox="1"/>
              <p:nvPr/>
            </p:nvSpPr>
            <p:spPr>
              <a:xfrm>
                <a:off x="4476750" y="2143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7" name="Google Shape;227;p4"/>
              <p:cNvSpPr txBox="1"/>
              <p:nvPr/>
            </p:nvSpPr>
            <p:spPr>
              <a:xfrm>
                <a:off x="5238750" y="2214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8" name="Google Shape;228;p4"/>
              <p:cNvSpPr txBox="1"/>
              <p:nvPr/>
            </p:nvSpPr>
            <p:spPr>
              <a:xfrm>
                <a:off x="6000750" y="221785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9" name="Google Shape;229;p4"/>
              <p:cNvSpPr txBox="1"/>
              <p:nvPr/>
            </p:nvSpPr>
            <p:spPr>
              <a:xfrm>
                <a:off x="6858000" y="2143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4000500" y="24288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4"/>
              <p:cNvSpPr txBox="1"/>
              <p:nvPr/>
            </p:nvSpPr>
            <p:spPr>
              <a:xfrm>
                <a:off x="4000500" y="2428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7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2" name="Google Shape;232;p4"/>
              <p:cNvSpPr txBox="1"/>
              <p:nvPr/>
            </p:nvSpPr>
            <p:spPr>
              <a:xfrm>
                <a:off x="4476750" y="2428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3" name="Google Shape;233;p4"/>
              <p:cNvSpPr txBox="1"/>
              <p:nvPr/>
            </p:nvSpPr>
            <p:spPr>
              <a:xfrm>
                <a:off x="5238750" y="2500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4" name="Google Shape;234;p4"/>
              <p:cNvSpPr txBox="1"/>
              <p:nvPr/>
            </p:nvSpPr>
            <p:spPr>
              <a:xfrm>
                <a:off x="6000750" y="250360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5" name="Google Shape;235;p4"/>
              <p:cNvSpPr txBox="1"/>
              <p:nvPr/>
            </p:nvSpPr>
            <p:spPr>
              <a:xfrm>
                <a:off x="6858000" y="2428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4000500" y="27146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4"/>
              <p:cNvSpPr txBox="1"/>
              <p:nvPr/>
            </p:nvSpPr>
            <p:spPr>
              <a:xfrm>
                <a:off x="4000500" y="2714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8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4"/>
              <p:cNvSpPr txBox="1"/>
              <p:nvPr/>
            </p:nvSpPr>
            <p:spPr>
              <a:xfrm>
                <a:off x="4476750" y="2714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4"/>
              <p:cNvSpPr txBox="1"/>
              <p:nvPr/>
            </p:nvSpPr>
            <p:spPr>
              <a:xfrm>
                <a:off x="5238750" y="27860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4"/>
              <p:cNvSpPr txBox="1"/>
              <p:nvPr/>
            </p:nvSpPr>
            <p:spPr>
              <a:xfrm>
                <a:off x="6000750" y="27860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4"/>
              <p:cNvSpPr txBox="1"/>
              <p:nvPr/>
            </p:nvSpPr>
            <p:spPr>
              <a:xfrm>
                <a:off x="6858000" y="2714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4000500" y="3000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4"/>
              <p:cNvSpPr txBox="1"/>
              <p:nvPr/>
            </p:nvSpPr>
            <p:spPr>
              <a:xfrm>
                <a:off x="4000500" y="3000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9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4"/>
              <p:cNvSpPr txBox="1"/>
              <p:nvPr/>
            </p:nvSpPr>
            <p:spPr>
              <a:xfrm>
                <a:off x="4476750" y="3000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4"/>
              <p:cNvSpPr txBox="1"/>
              <p:nvPr/>
            </p:nvSpPr>
            <p:spPr>
              <a:xfrm>
                <a:off x="5238750" y="30718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4"/>
              <p:cNvSpPr txBox="1"/>
              <p:nvPr/>
            </p:nvSpPr>
            <p:spPr>
              <a:xfrm>
                <a:off x="6000750" y="3071781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4"/>
              <p:cNvSpPr txBox="1"/>
              <p:nvPr/>
            </p:nvSpPr>
            <p:spPr>
              <a:xfrm>
                <a:off x="6858000" y="3000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4000500" y="3286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4"/>
              <p:cNvSpPr txBox="1"/>
              <p:nvPr/>
            </p:nvSpPr>
            <p:spPr>
              <a:xfrm>
                <a:off x="4000500" y="3286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" name="Google Shape;250;p4"/>
              <p:cNvSpPr txBox="1"/>
              <p:nvPr/>
            </p:nvSpPr>
            <p:spPr>
              <a:xfrm>
                <a:off x="4476750" y="3286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" name="Google Shape;251;p4"/>
              <p:cNvSpPr txBox="1"/>
              <p:nvPr/>
            </p:nvSpPr>
            <p:spPr>
              <a:xfrm>
                <a:off x="5238750" y="3357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" name="Google Shape;252;p4"/>
              <p:cNvSpPr txBox="1"/>
              <p:nvPr/>
            </p:nvSpPr>
            <p:spPr>
              <a:xfrm>
                <a:off x="6000750" y="33575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" name="Google Shape;253;p4"/>
              <p:cNvSpPr txBox="1"/>
              <p:nvPr/>
            </p:nvSpPr>
            <p:spPr>
              <a:xfrm>
                <a:off x="6858000" y="3286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4000500" y="3571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4"/>
              <p:cNvSpPr txBox="1"/>
              <p:nvPr/>
            </p:nvSpPr>
            <p:spPr>
              <a:xfrm>
                <a:off x="4000500" y="3571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4"/>
              <p:cNvSpPr txBox="1"/>
              <p:nvPr/>
            </p:nvSpPr>
            <p:spPr>
              <a:xfrm>
                <a:off x="4476750" y="3571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5.00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4"/>
              <p:cNvSpPr txBox="1"/>
              <p:nvPr/>
            </p:nvSpPr>
            <p:spPr>
              <a:xfrm>
                <a:off x="5238750" y="36433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6000750" y="36433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4"/>
              <p:cNvSpPr txBox="1"/>
              <p:nvPr/>
            </p:nvSpPr>
            <p:spPr>
              <a:xfrm>
                <a:off x="6858000" y="3571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Porous LZO Ceramic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60" name="Google Shape;260;p4"/>
            <p:cNvSpPr txBox="1"/>
            <p:nvPr/>
          </p:nvSpPr>
          <p:spPr>
            <a:xfrm>
              <a:off x="4000500" y="4572000"/>
              <a:ext cx="4857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			Optimized for 5.0 mm transition zone.</a:t>
              </a:r>
              <a:endParaRPr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1" name="Google Shape;261;p4"/>
          <p:cNvGrpSpPr/>
          <p:nvPr/>
        </p:nvGrpSpPr>
        <p:grpSpPr>
          <a:xfrm>
            <a:off x="428625" y="4476825"/>
            <a:ext cx="8370825" cy="500400"/>
            <a:chOff x="428625" y="4476825"/>
            <a:chExt cx="8370825" cy="500400"/>
          </a:xfrm>
        </p:grpSpPr>
        <p:sp>
          <p:nvSpPr>
            <p:cNvPr id="262" name="Google Shape;262;p4"/>
            <p:cNvSpPr/>
            <p:nvPr/>
          </p:nvSpPr>
          <p:spPr>
            <a:xfrm>
              <a:off x="428625" y="4619625"/>
              <a:ext cx="3333900" cy="190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476250" y="4476825"/>
              <a:ext cx="83232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A365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Elemental family details are fully provided (Ta-W-Cr-V-Ti-Zr-Hf-Al-Nb), but exact compositional ratios are proprietary to protect Crystal Paradigm IP; full composition disclosure is available for joint engineering teams during subsequent technical reviews under an NDA </a:t>
              </a:r>
              <a:endParaRPr sz="1100" b="0">
                <a:solidFill>
                  <a:srgbClr val="1A365D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64" name="Google Shape;264;p4"/>
          <p:cNvSpPr txBox="1"/>
          <p:nvPr/>
        </p:nvSpPr>
        <p:spPr>
          <a:xfrm>
            <a:off x="4657525" y="211250"/>
            <a:ext cx="4632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    11-Layer Graded FGM Design Profile </a:t>
            </a:r>
            <a:endParaRPr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(Proprietary Composition Ratios Masked Pending Formal NDA Review) </a:t>
            </a:r>
            <a:endParaRPr sz="10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6377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WE WIN TECHNICALLY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System-Level Innovation and Active Environmental Armor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600075" y="1369814"/>
            <a:ext cx="81153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Our platform executes a unified optimization run that solves for substrate chemistry, gradient shapes, and active transpiration mechanics concurrently, minimizing interface mismatch to just </a:t>
            </a:r>
            <a:r>
              <a:rPr lang="en-US" sz="9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2.66 μm/mK</a:t>
            </a: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363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"/>
          <p:cNvSpPr/>
          <p:nvPr/>
        </p:nvSpPr>
        <p:spPr>
          <a:xfrm>
            <a:off x="892969" y="2288456"/>
            <a:ext cx="124837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STABILITY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614363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VEC of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5.02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ensures a stable single-phase BCC solid solution with zero sigma phase risk up to </a:t>
            </a: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its solidus limit of 2727^K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4894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5"/>
          <p:cNvSpPr/>
          <p:nvPr/>
        </p:nvSpPr>
        <p:spPr>
          <a:xfrm>
            <a:off x="5143500" y="2288456"/>
            <a:ext cx="1696641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OXIDATION RESISTANCE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864894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Self-healing Alumina armor limits high-temperature scale growth to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&lt; 10 mg/cm²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(exceptional 7.5 mg/cm² achieved).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363" y="379400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"/>
          <p:cNvSpPr/>
          <p:nvPr/>
        </p:nvSpPr>
        <p:spPr>
          <a:xfrm>
            <a:off x="892969" y="3788643"/>
            <a:ext cx="1852017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ADHESION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14363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Power-law gradient curves (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n=1.1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) minimize internal shear forces and prevent coating spallation at 1400°C.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64894" y="3794001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"/>
          <p:cNvSpPr/>
          <p:nvPr/>
        </p:nvSpPr>
        <p:spPr>
          <a:xfrm>
            <a:off x="5164931" y="3788643"/>
            <a:ext cx="1559123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4864894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 universal </a:t>
            </a:r>
            <a:r>
              <a:rPr lang="en-US" sz="80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proprietary LENS  printing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maps composition directly to commercial multi-hopper 3D printers.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428625" y="357188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WHAT IS PROVEN TODAY AND WHAT IS NOT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428625" y="866180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Verification Metrics and TRL Maturity Status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60007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Models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60007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In-memory properties surrogate model audited at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Test R^2 = 0.977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= 8.11 GPa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Verified via cloud-scaled 3D FEniCS FEA stress grids.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88632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Ab Initio Phase Consistency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88632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CALPHAD sweeps and Gradient Boosting regressors (R^2 = 0.958) confirm stable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single-phase BCC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across extreme thermal envelopes.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Vector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/ In Silico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Experimental Lab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Target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28625" y="2580289"/>
            <a:ext cx="1861170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BCC Phase Security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2289795" y="2580289"/>
            <a:ext cx="1677302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(CALPHAD)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967097" y="2580289"/>
            <a:ext cx="1774915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Lab Sweep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5742012" y="2580289"/>
            <a:ext cx="1849813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0% Brittle Sigma Phase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7698974" y="26660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7913294" y="2694589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28625" y="2917831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Elastic Modulus Surface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2289795" y="2917831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(R^2=0.977$)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3967097" y="2917831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Coupon Tensile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742012" y="2917831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≤ 8.11 GPa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7698973" y="30071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7913302" y="3035775"/>
            <a:ext cx="3876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428625" y="3258945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Oxidation Scale Kinetics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2289795" y="3258945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(MACE MD)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3967097" y="3258945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TGA Weight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5742012" y="3258945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Mass Gain &lt; 10 mg/cm²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7698973" y="3348250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7913294" y="3376817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28625" y="3600059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Interfacial Bond Safety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2289795" y="3600059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(1D/3D FEA)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3967097" y="3600059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Adhesion Test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5742012" y="3600059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Safety Factor ≥ 1.50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7699026" y="368937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7913294" y="3717931"/>
            <a:ext cx="2874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 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28625" y="3941173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Transpiration Film Stability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2289795" y="3941173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Modeled (CFD Jet Lift)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3967097" y="3941173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Burner Rig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5742012" y="3941173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Zero Boundary Separation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28625" y="4282287"/>
            <a:ext cx="186524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Physical Prototyping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2293869" y="4282287"/>
            <a:ext cx="1680986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Fully Formulated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974855" y="4282287"/>
            <a:ext cx="177879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Not Yet Tested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5753649" y="4282287"/>
            <a:ext cx="1853859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TRL 4 Coupon Assembly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6294025" y="4877000"/>
            <a:ext cx="7731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7870275" y="4120300"/>
            <a:ext cx="6018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7682025" y="4023388"/>
            <a:ext cx="807000" cy="1821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   </a:t>
            </a:r>
            <a:r>
              <a:rPr lang="en-US" sz="600" b="1">
                <a:solidFill>
                  <a:srgbClr val="F1C232"/>
                </a:solidFill>
              </a:rPr>
              <a:t>YELLOW</a:t>
            </a:r>
            <a:endParaRPr sz="600" b="1">
              <a:solidFill>
                <a:srgbClr val="F1C232"/>
              </a:solidFill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7682075" y="4362825"/>
            <a:ext cx="807000" cy="176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</a:t>
            </a:r>
            <a:r>
              <a:rPr lang="en-US" sz="600" b="1">
                <a:solidFill>
                  <a:schemeClr val="accent4"/>
                </a:solidFill>
              </a:rPr>
              <a:t>NEXT PHASE</a:t>
            </a:r>
            <a:endParaRPr sz="6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9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7"/>
          <p:cNvSpPr/>
          <p:nvPr/>
        </p:nvSpPr>
        <p:spPr>
          <a:xfrm>
            <a:off x="428625" y="98925"/>
            <a:ext cx="87153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PLAN TO TRL 4+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428588" y="554642"/>
            <a:ext cx="8715300" cy="217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050" b="1" dirty="0">
                <a:solidFill>
                  <a:srgbClr val="2BDEFD"/>
                </a:solidFill>
                <a:highlight>
                  <a:srgbClr val="FFFFFF"/>
                </a:highlight>
              </a:rPr>
              <a:t>Validation Plan to TRL 4+ - Incubation Milestone Framework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578644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Multi-Physics Structural Audits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78650" y="2065250"/>
            <a:ext cx="2367000" cy="1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Final certification of ALREADY ACHIEVED structural Safety Factor of 1.71 via 3D FEniCS FEA and MACE Molecular Dynamics on High-end  cloud supercomputing. Extending validation to 20,000+ thermal cycles.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3388509" y="1803797"/>
            <a:ext cx="2366953" cy="30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Additive Prototyping &amp; Porosity Programming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3388500" y="2219519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Feeding the universal reference matrix into a dual-line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multi-hopper LENS system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Optimizing laser power and powder flow to program the integrated transpiration micro-pores.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6198375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High-Temperature Characterization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6198375" y="2065262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Exposure of fabricated coupons to 1,000 continuous thermal shock cycles inside an automated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Jet Burner Rig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at a real gas temperature of 1400°C (1673 K).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428625" y="4013002"/>
            <a:ext cx="8286750" cy="553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428625" y="4013002"/>
            <a:ext cx="28575" cy="553641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571500" y="4013002"/>
            <a:ext cx="8143875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Go/No-Go Gatekeeping Criteria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571500" y="4266605"/>
            <a:ext cx="814387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Microstructural characterization via </a:t>
            </a:r>
            <a:r>
              <a:rPr lang="en-US" sz="75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SEM/EDS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must confirm clear layer-wise compositional layout and verify the complete absence of processing voids or macro-cracking before advancing to full turbine blade geometries.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525898" y="954850"/>
            <a:ext cx="4932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Inter"/>
                <a:ea typeface="Inter"/>
                <a:cs typeface="Inter"/>
                <a:sym typeface="Inter"/>
              </a:rPr>
              <a:t>Note: Timeline to be mutually agreed 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8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TECHNOLOGY VALIDATION &amp; DEPLOYMENT ROADMAP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In Silico Design to Physical Validation &amp; 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428625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548283" y="1663601"/>
            <a:ext cx="1332309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 SILICO DESIGN SCREENING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2107406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2197596" y="1663601"/>
            <a:ext cx="1391245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LENS FGM WITNESS COUPONS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3786188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3857625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JET BURNER RIG SHOCK VALIDATION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5464969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5536406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SUBSCALE BLADE COMPONENTS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85075" rIns="85075" bIns="850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INDUSTRY DEPLOYMENT &amp; CERTIFICATION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60007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Witness Coupon Baseline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60007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Fabricate flat, graded FGM witness coupons using our hardware-agnostic composition standard, providing a cost-effective platform for initial evaluation.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488632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Comparative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88632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Subject our transpiration-cooled HEA coupons to concurrent testing alongside current industry-standard single-crystal Nickel superalloys to measure structural gains.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60007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Adaptive Learning Loops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60007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Real-world discrepancies provide data to retrain surrogate models, close the digital twin gap, and calibrate multi-hopper additive manufacturing parameters.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488632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Flight-Readiness Funnel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488632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Upon successful TRL 4 validation, move to manufacturing subscale blade-feature coupons to establish a long-term, industry qualification and certification roadmap.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428625" y="381000"/>
            <a:ext cx="8286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ECONOMIC VALUE &amp; OPERATING SAVINGS LEDGER</a:t>
            </a:r>
            <a:endParaRPr sz="24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28625" y="762000"/>
            <a:ext cx="82869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Fleet Scalability and Direct Operating Cost Reductions</a:t>
            </a:r>
            <a:endParaRPr sz="12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402" name="Google Shape;402;p9"/>
          <p:cNvGrpSpPr/>
          <p:nvPr/>
        </p:nvGrpSpPr>
        <p:grpSpPr>
          <a:xfrm>
            <a:off x="428625" y="1285875"/>
            <a:ext cx="8286825" cy="714300"/>
            <a:chOff x="428625" y="1285875"/>
            <a:chExt cx="8286825" cy="714300"/>
          </a:xfrm>
        </p:grpSpPr>
        <p:sp>
          <p:nvSpPr>
            <p:cNvPr id="403" name="Google Shape;403;p9"/>
            <p:cNvSpPr/>
            <p:nvPr/>
          </p:nvSpPr>
          <p:spPr>
            <a:xfrm>
              <a:off x="428625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571500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Parasitic Air Reductions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11-layer insulation matrix drops substrate temperatures by 150K-200K, cutting reliance on compressor parasitic bleed air by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15%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4667250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 txBox="1"/>
            <p:nvPr/>
          </p:nvSpPr>
          <p:spPr>
            <a:xfrm>
              <a:off x="4810125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Annual Volumetric Yield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a standard narrowbody (3,000 hr/yr), our platform saves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108 metric tons (135,000 liters)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 Jet A-1 fuel per aircraft annually.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07" name="Google Shape;407;p9"/>
          <p:cNvSpPr/>
          <p:nvPr/>
        </p:nvSpPr>
        <p:spPr>
          <a:xfrm>
            <a:off x="428625" y="21431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42862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Assessment Parameter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2333625" y="21431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Governing Aerospace Formula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5000625" y="21431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Baseline Input Variable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81037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 Annual Savings Yield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2862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Parasitic Bleed Air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2333625" y="252412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Δ m_bleed = m_baseline × 0.15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000625" y="252412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681037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Frees Core Mass Flow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428625" y="285750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42862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 SFC Efficiency Gain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2333625" y="285750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η_cycle = Δ SFC × 1.0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5000625" y="285750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681037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Maximizes Core Thrust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2862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Volumetric Fuel Savings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2333625" y="319087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V_saved = 3,000 hr × 2,400 kg/hr × 0.015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5000625" y="319087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7,200 Metric Tons Baseline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681037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135,000 Liters / Aircraft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428625" y="352425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428625" y="352425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Direct Operating Cost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2333625" y="352425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Cash Savings = V_saved × $0.85 /L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5000625" y="352425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$0.85/L Jet A-1 Price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6992525" y="3524250"/>
            <a:ext cx="1722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$114,750 / Aircraft           </a:t>
            </a:r>
            <a:endParaRPr sz="1050">
              <a:solidFill>
                <a:srgbClr val="FD971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28625" y="38576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42862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2BDEFD"/>
                </a:solidFill>
                <a:latin typeface="Space Grotesk"/>
                <a:ea typeface="Space Grotesk"/>
                <a:cs typeface="Space Grotesk"/>
                <a:sym typeface="Space Grotesk"/>
              </a:rPr>
              <a:t>Fleet Scalability Revenue</a:t>
            </a:r>
            <a:endParaRPr sz="900" b="1">
              <a:solidFill>
                <a:srgbClr val="2BDEF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2333625" y="38576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Yield = Cash Savings × 100 Jets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5000625" y="38576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 Narrowbody Fleet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681037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$11,475,000 / Year</a:t>
            </a:r>
            <a:endParaRPr sz="11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428625" y="4381500"/>
            <a:ext cx="828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*Calculations based on global average aviation fuel procurement costs and standard narrowbody operational profiles.</a:t>
            </a:r>
            <a:endParaRPr sz="7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0"/>
          <p:cNvGrpSpPr/>
          <p:nvPr/>
        </p:nvGrpSpPr>
        <p:grpSpPr>
          <a:xfrm>
            <a:off x="428625" y="381000"/>
            <a:ext cx="8286900" cy="666825"/>
            <a:chOff x="428625" y="381000"/>
            <a:chExt cx="8286900" cy="666825"/>
          </a:xfrm>
        </p:grpSpPr>
        <p:sp>
          <p:nvSpPr>
            <p:cNvPr id="442" name="Google Shape;442;p10"/>
            <p:cNvSpPr txBox="1"/>
            <p:nvPr/>
          </p:nvSpPr>
          <p:spPr>
            <a:xfrm>
              <a:off x="428625" y="381000"/>
              <a:ext cx="8286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DEFENSIBILITY AND IP PERIMETER</a:t>
              </a:r>
              <a:endParaRPr sz="24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428625" y="809625"/>
              <a:ext cx="8286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Multi-Layered Protection Strategy</a:t>
              </a:r>
              <a:endParaRPr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grpSp>
        <p:nvGrpSpPr>
          <p:cNvPr id="444" name="Google Shape;444;p10"/>
          <p:cNvGrpSpPr/>
          <p:nvPr/>
        </p:nvGrpSpPr>
        <p:grpSpPr>
          <a:xfrm>
            <a:off x="428625" y="1333500"/>
            <a:ext cx="3905400" cy="3238500"/>
            <a:chOff x="428625" y="1333500"/>
            <a:chExt cx="3905400" cy="3238500"/>
          </a:xfrm>
        </p:grpSpPr>
        <p:sp>
          <p:nvSpPr>
            <p:cNvPr id="445" name="Google Shape;445;p10"/>
            <p:cNvSpPr/>
            <p:nvPr/>
          </p:nvSpPr>
          <p:spPr>
            <a:xfrm>
              <a:off x="428625" y="1333500"/>
              <a:ext cx="3905400" cy="3238500"/>
            </a:xfrm>
            <a:prstGeom prst="roundRect">
              <a:avLst>
                <a:gd name="adj" fmla="val 2352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" name="Google Shape;446;p10"/>
            <p:cNvGrpSpPr/>
            <p:nvPr/>
          </p:nvGrpSpPr>
          <p:grpSpPr>
            <a:xfrm>
              <a:off x="714375" y="1619250"/>
              <a:ext cx="3333900" cy="428700"/>
              <a:chOff x="714375" y="1619250"/>
              <a:chExt cx="3333900" cy="4287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714375" y="161925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714375" y="161925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1: RHEA CHEMISTRY PATENTS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>
              <a:off x="714375" y="2143125"/>
              <a:ext cx="3333900" cy="428700"/>
              <a:chOff x="714375" y="2143125"/>
              <a:chExt cx="3333900" cy="4287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714375" y="2143125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2BDEFD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714375" y="2143125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2: 11-LAYER SPATIAL FGM ARCHITECTURE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>
              <a:off x="714375" y="2667000"/>
              <a:ext cx="3333900" cy="428700"/>
              <a:chOff x="714375" y="2667000"/>
              <a:chExt cx="3333900" cy="4287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714375" y="266700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714375" y="266700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3: SINTERED TRANSPIRATION PROCESS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5" name="Google Shape;455;p10"/>
            <p:cNvGrpSpPr/>
            <p:nvPr/>
          </p:nvGrpSpPr>
          <p:grpSpPr>
            <a:xfrm>
              <a:off x="714375" y="3190875"/>
              <a:ext cx="3333900" cy="1095300"/>
              <a:chOff x="714375" y="3190875"/>
              <a:chExt cx="3333900" cy="1095300"/>
            </a:xfrm>
          </p:grpSpPr>
          <p:sp>
            <p:nvSpPr>
              <p:cNvPr id="456" name="Google Shape;456;p10"/>
              <p:cNvSpPr/>
              <p:nvPr/>
            </p:nvSpPr>
            <p:spPr>
              <a:xfrm>
                <a:off x="714375" y="3190875"/>
                <a:ext cx="3333900" cy="1095300"/>
              </a:xfrm>
              <a:prstGeom prst="roundRect">
                <a:avLst>
                  <a:gd name="adj" fmla="val 3478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 txBox="1"/>
              <p:nvPr/>
            </p:nvSpPr>
            <p:spPr>
              <a:xfrm>
                <a:off x="714375" y="3190875"/>
                <a:ext cx="3333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4: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IN-MEMORY MATERIALS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INFORMATICS DATA MOAT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458" name="Google Shape;458;p10"/>
          <p:cNvGrpSpPr/>
          <p:nvPr/>
        </p:nvGrpSpPr>
        <p:grpSpPr>
          <a:xfrm>
            <a:off x="4714875" y="1333500"/>
            <a:ext cx="4000500" cy="3143175"/>
            <a:chOff x="4714875" y="1333500"/>
            <a:chExt cx="4000500" cy="3143175"/>
          </a:xfrm>
        </p:grpSpPr>
        <p:grpSp>
          <p:nvGrpSpPr>
            <p:cNvPr id="459" name="Google Shape;459;p10"/>
            <p:cNvGrpSpPr/>
            <p:nvPr/>
          </p:nvGrpSpPr>
          <p:grpSpPr>
            <a:xfrm>
              <a:off x="4714875" y="1333500"/>
              <a:ext cx="4000500" cy="714300"/>
              <a:chOff x="4714875" y="1333500"/>
              <a:chExt cx="4000500" cy="714300"/>
            </a:xfrm>
          </p:grpSpPr>
          <p:sp>
            <p:nvSpPr>
              <p:cNvPr id="460" name="Google Shape;460;p10"/>
              <p:cNvSpPr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 txBox="1"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Compositional Windows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Protecting the exact chemical boundaries of our optimized quinary and senary refractory HEA spaces via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composition patent filings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2" name="Google Shape;462;p10"/>
            <p:cNvGrpSpPr/>
            <p:nvPr/>
          </p:nvGrpSpPr>
          <p:grpSpPr>
            <a:xfrm>
              <a:off x="4714875" y="2143125"/>
              <a:ext cx="4000500" cy="714300"/>
              <a:chOff x="4714875" y="2143125"/>
              <a:chExt cx="4000500" cy="714300"/>
            </a:xfrm>
          </p:grpSpPr>
          <p:sp>
            <p:nvSpPr>
              <p:cNvPr id="463" name="Google Shape;463;p10"/>
              <p:cNvSpPr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 txBox="1"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Gradient Architecture Claims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Patenting the 11-layer power-law distribution profile (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n=1.1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) and the specific spatial arrangement of the co-deposited metal-ceramic transition zone.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5" name="Google Shape;465;p10"/>
            <p:cNvGrpSpPr/>
            <p:nvPr/>
          </p:nvGrpSpPr>
          <p:grpSpPr>
            <a:xfrm>
              <a:off x="4714875" y="2952750"/>
              <a:ext cx="4000500" cy="714300"/>
              <a:chOff x="4714875" y="2952750"/>
              <a:chExt cx="4000500" cy="714300"/>
            </a:xfrm>
          </p:grpSpPr>
          <p:sp>
            <p:nvSpPr>
              <p:cNvPr id="466" name="Google Shape;466;p10"/>
              <p:cNvSpPr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0"/>
              <p:cNvSpPr txBox="1"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Process Recipe Protections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Filing defensive patents covering the multi-hopper powder feeding conditions, operational pressure fields, and geometric turbine casing constraints.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8" name="Google Shape;468;p10"/>
            <p:cNvGrpSpPr/>
            <p:nvPr/>
          </p:nvGrpSpPr>
          <p:grpSpPr>
            <a:xfrm>
              <a:off x="4714875" y="3762375"/>
              <a:ext cx="4000500" cy="714300"/>
              <a:chOff x="4714875" y="3762375"/>
              <a:chExt cx="4000500" cy="714300"/>
            </a:xfrm>
          </p:grpSpPr>
          <p:sp>
            <p:nvSpPr>
              <p:cNvPr id="469" name="Google Shape;469;p10"/>
              <p:cNvSpPr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0"/>
              <p:cNvSpPr txBox="1"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Data Moat &amp; Trade Secrets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Securing the proprietary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surrogate model weights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and the unreduced multi-physics training datasets that anchor our optimization runs.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11"/>
          <p:cNvGrpSpPr/>
          <p:nvPr/>
        </p:nvGrpSpPr>
        <p:grpSpPr>
          <a:xfrm>
            <a:off x="428625" y="428625"/>
            <a:ext cx="8286900" cy="4286250"/>
            <a:chOff x="428625" y="428625"/>
            <a:chExt cx="8286900" cy="4286250"/>
          </a:xfrm>
        </p:grpSpPr>
        <p:sp>
          <p:nvSpPr>
            <p:cNvPr id="477" name="Google Shape;477;p11"/>
            <p:cNvSpPr/>
            <p:nvPr/>
          </p:nvSpPr>
          <p:spPr>
            <a:xfrm>
              <a:off x="428625" y="1190625"/>
              <a:ext cx="8286900" cy="1047900"/>
            </a:xfrm>
            <a:prstGeom prst="roundRect">
              <a:avLst>
                <a:gd name="adj" fmla="val 909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8" name="Google Shape;478;p11"/>
            <p:cNvGrpSpPr/>
            <p:nvPr/>
          </p:nvGrpSpPr>
          <p:grpSpPr>
            <a:xfrm>
              <a:off x="428625" y="428625"/>
              <a:ext cx="8286900" cy="714450"/>
              <a:chOff x="428625" y="428625"/>
              <a:chExt cx="8286900" cy="714450"/>
            </a:xfrm>
          </p:grpSpPr>
          <p:sp>
            <p:nvSpPr>
              <p:cNvPr id="479" name="Google Shape;479;p11"/>
              <p:cNvSpPr txBox="1"/>
              <p:nvPr/>
            </p:nvSpPr>
            <p:spPr>
              <a:xfrm>
                <a:off x="428625" y="428625"/>
                <a:ext cx="8286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BUSINESS MODEL AND ASK</a:t>
                </a:r>
                <a:endParaRPr sz="28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428625" y="904875"/>
                <a:ext cx="828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2BDEFD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What We Bring and What We Need from SCIDIP</a:t>
                </a:r>
                <a:endParaRPr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19125" y="1333500"/>
              <a:ext cx="3619500" cy="809625"/>
              <a:chOff x="619125" y="1333500"/>
              <a:chExt cx="3619500" cy="809625"/>
            </a:xfrm>
          </p:grpSpPr>
          <p:sp>
            <p:nvSpPr>
              <p:cNvPr id="482" name="Google Shape;482;p11"/>
              <p:cNvSpPr txBox="1"/>
              <p:nvPr/>
            </p:nvSpPr>
            <p:spPr>
              <a:xfrm>
                <a:off x="61912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Project Structure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61912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Incubation ask: Access to IIT Delhi's advanced characterization labs and Sona Comstar's industry mentorship.</a:t>
                </a:r>
                <a:endParaRPr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4905375" y="1333500"/>
              <a:ext cx="3619500" cy="809625"/>
              <a:chOff x="4905375" y="1333500"/>
              <a:chExt cx="3619500" cy="809625"/>
            </a:xfrm>
          </p:grpSpPr>
          <p:sp>
            <p:nvSpPr>
              <p:cNvPr id="485" name="Google Shape;485;p11"/>
              <p:cNvSpPr txBox="1"/>
              <p:nvPr/>
            </p:nvSpPr>
            <p:spPr>
              <a:xfrm>
                <a:off x="490537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Success Criteria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490537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Zero interface delamination under burner rig testing and verification of a physical </a:t>
                </a:r>
                <a:r>
                  <a:rPr lang="en-US"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rPr>
                  <a:t>Safety Factor ≥ 1.50</a:t>
                </a: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428625" y="2381250"/>
              <a:ext cx="8286900" cy="2000250"/>
              <a:chOff x="428625" y="2381250"/>
              <a:chExt cx="8286900" cy="2000250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428625" y="2381250"/>
                <a:ext cx="82869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428625" y="23812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Collaborative Phase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0" name="Google Shape;490;p11"/>
              <p:cNvSpPr txBox="1"/>
              <p:nvPr/>
            </p:nvSpPr>
            <p:spPr>
              <a:xfrm>
                <a:off x="2333625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Crystal Paradigm Delivers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1" name="Google Shape;491;p11"/>
              <p:cNvSpPr txBox="1"/>
              <p:nvPr/>
            </p:nvSpPr>
            <p:spPr>
              <a:xfrm>
                <a:off x="5524500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What We Need from SCIDIP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492" name="Google Shape;492;p11"/>
              <p:cNvGrpSpPr/>
              <p:nvPr/>
            </p:nvGrpSpPr>
            <p:grpSpPr>
              <a:xfrm>
                <a:off x="428625" y="2809875"/>
                <a:ext cx="8286900" cy="762000"/>
                <a:chOff x="428625" y="2809875"/>
                <a:chExt cx="8286900" cy="762000"/>
              </a:xfrm>
            </p:grpSpPr>
            <p:sp>
              <p:nvSpPr>
                <p:cNvPr id="493" name="Google Shape;493;p11"/>
                <p:cNvSpPr/>
                <p:nvPr/>
              </p:nvSpPr>
              <p:spPr>
                <a:xfrm>
                  <a:off x="428625" y="2809875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AF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11"/>
                <p:cNvSpPr txBox="1"/>
                <p:nvPr/>
              </p:nvSpPr>
              <p:spPr>
                <a:xfrm>
                  <a:off x="428625" y="2809875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1:</a:t>
                  </a:r>
                  <a:endParaRPr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Shared POC Sprint</a:t>
                  </a:r>
                  <a:endParaRPr sz="90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5" name="Google Shape;495;p11"/>
                <p:cNvSpPr txBox="1"/>
                <p:nvPr/>
              </p:nvSpPr>
              <p:spPr>
                <a:xfrm>
                  <a:off x="2333625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Deliver production-ready AI models, complete multi-physics validation, and provide all digital twin data.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6" name="Google Shape;496;p11"/>
                <p:cNvSpPr txBox="1"/>
                <p:nvPr/>
              </p:nvSpPr>
              <p:spPr>
                <a:xfrm>
                  <a:off x="5524500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Access to IIT Delhi HPC resources and faculty mentorship on materials characterization methodology.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97" name="Google Shape;497;p11"/>
              <p:cNvGrpSpPr/>
              <p:nvPr/>
            </p:nvGrpSpPr>
            <p:grpSpPr>
              <a:xfrm>
                <a:off x="428625" y="3619500"/>
                <a:ext cx="8286900" cy="762000"/>
                <a:chOff x="428625" y="3619500"/>
                <a:chExt cx="8286900" cy="762000"/>
              </a:xfrm>
            </p:grpSpPr>
            <p:sp>
              <p:nvSpPr>
                <p:cNvPr id="498" name="Google Shape;498;p11"/>
                <p:cNvSpPr/>
                <p:nvPr/>
              </p:nvSpPr>
              <p:spPr>
                <a:xfrm>
                  <a:off x="428625" y="3619500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11"/>
                <p:cNvSpPr txBox="1"/>
                <p:nvPr/>
              </p:nvSpPr>
              <p:spPr>
                <a:xfrm>
                  <a:off x="428625" y="3619500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2:</a:t>
                  </a:r>
                  <a:endParaRPr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Scale-Out JDA</a:t>
                  </a:r>
                  <a:endParaRPr sz="90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0" name="Google Shape;500;p11"/>
                <p:cNvSpPr txBox="1"/>
                <p:nvPr/>
              </p:nvSpPr>
              <p:spPr>
                <a:xfrm>
                  <a:off x="2333625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Provide 11-layer FGM manufacturing recipes and oversee coupon fabrication &amp; validation.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1" name="Google Shape;501;p11"/>
                <p:cNvSpPr txBox="1"/>
                <p:nvPr/>
              </p:nvSpPr>
              <p:spPr>
                <a:xfrm>
                  <a:off x="5524500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Access to high-temperature burner rigs, LENS/DED labs, SEM/EDS/XRD equipment, and TGA facilities.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sp>
          <p:nvSpPr>
            <p:cNvPr id="502" name="Google Shape;502;p11"/>
            <p:cNvSpPr txBox="1"/>
            <p:nvPr/>
          </p:nvSpPr>
          <p:spPr>
            <a:xfrm>
              <a:off x="428625" y="4524375"/>
              <a:ext cx="828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*Transitioning to a structured technology licensing model or direct material supply partnership upon POC validation.</a:t>
              </a:r>
              <a:endParaRPr sz="7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775" y="0"/>
            <a:ext cx="9144000" cy="541348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2"/>
          <p:cNvSpPr/>
          <p:nvPr/>
        </p:nvSpPr>
        <p:spPr>
          <a:xfrm>
            <a:off x="518725" y="180432"/>
            <a:ext cx="80010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CLOSING &amp; </a:t>
            </a:r>
            <a:r>
              <a:rPr lang="en-US" sz="2450" b="1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COLLABORATION ROADMAP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50625" y="821986"/>
            <a:ext cx="3686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Us, Why Now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650625" y="1108868"/>
            <a:ext cx="36861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We have successfully engineered a constrained 9-element RHEA+FGM system achieving a 3D-validated Safety Factor of 1.71 and an oxidation mass gain of just 7.5 mg/cm² - computationally clearing the 1.50 airworthiness threshold while reducing Hafnium exposure by &gt;75%. We are ready to transition from digital twin to physical test.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850" b="0" i="0" u="none" strike="noStrike" cap="none"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4818150" y="821986"/>
            <a:ext cx="3686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Crystal Paradigm Team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4870925" y="955653"/>
            <a:ext cx="4058100" cy="1944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dirty="0">
                <a:highlight>
                  <a:srgbClr val="FFFFFF"/>
                </a:highlight>
              </a:rPr>
              <a:t>Our scientific foundation is anchored by top-tier mentors, including Dr. Shilpa Choudhary (Stanford Top 2% Scientist, 16+ yrs AI) and Dr. </a:t>
            </a:r>
            <a:r>
              <a:rPr lang="en-US" sz="1000" b="1" dirty="0" err="1">
                <a:highlight>
                  <a:srgbClr val="FFFFFF"/>
                </a:highlight>
              </a:rPr>
              <a:t>Kasarapu</a:t>
            </a:r>
            <a:r>
              <a:rPr lang="en-US" sz="1000" b="1" dirty="0">
                <a:highlight>
                  <a:srgbClr val="FFFFFF"/>
                </a:highlight>
              </a:rPr>
              <a:t> Venkataramana (CSIR-IICT, 12+ yrs materials science). </a:t>
            </a:r>
            <a:r>
              <a:rPr lang="en-US" sz="1000" dirty="0">
                <a:highlight>
                  <a:srgbClr val="FFFFFF"/>
                </a:highlight>
              </a:rPr>
              <a:t>The rapid technical execution and day-to-day innovation are driven by our core team of undergraduate AI Research Interns and applied engineering specialists. Together, we build high-throughput data pipelines, multi-physics simulations, and ML/AutoML workflows under structured, expert oversight.</a:t>
            </a:r>
            <a:r>
              <a:rPr lang="en-US" sz="1100" dirty="0">
                <a:highlight>
                  <a:srgbClr val="FFFFFF"/>
                </a:highlight>
              </a:rPr>
              <a:t> </a:t>
            </a:r>
            <a:endParaRPr sz="1100" dirty="0"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1100" dirty="0">
              <a:solidFill>
                <a:srgbClr val="1F1F1F"/>
              </a:solidFill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91450" y="2482086"/>
            <a:ext cx="80010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b="1" dirty="0">
                <a:solidFill>
                  <a:srgbClr val="2BDEF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EXECUTION PHASES:</a:t>
            </a:r>
            <a:r>
              <a:rPr lang="en-US" sz="1200" dirty="0">
                <a:solidFill>
                  <a:srgbClr val="4A86E8"/>
                </a:solidFill>
                <a:highlight>
                  <a:srgbClr val="F0FDF4"/>
                </a:highlight>
              </a:rPr>
              <a:t> </a:t>
            </a:r>
            <a:endParaRPr sz="1200" b="0" i="0" u="none" strike="noStrike" cap="none" dirty="0">
              <a:solidFill>
                <a:srgbClr val="4A86E8"/>
              </a:solidFill>
              <a:highlight>
                <a:srgbClr val="F0FDF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571500" y="2807494"/>
            <a:ext cx="800100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571500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571500" y="3186113"/>
            <a:ext cx="2667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highlight>
                  <a:srgbClr val="FFFFFF"/>
                </a:highlight>
              </a:rPr>
              <a:t>Execute unreduced 3D FEniCS FEA stress field grids and MACE Machine Learning Force Field MD simulations against specific propulsion boundary constraints. </a:t>
            </a:r>
            <a:endParaRPr sz="750" i="0" u="none" strike="noStrike" cap="none">
              <a:highlight>
                <a:srgbClr val="FFFFFF"/>
              </a:highlight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323849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3238491" y="3186113"/>
            <a:ext cx="2666991" cy="42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Direct export of our continuous FGM physics curves into discrete 11-layer LENS multi-hopper powder printing matrices to initiate coupon fabrication.</a:t>
            </a:r>
            <a:r>
              <a:rPr lang="en-US" sz="1100">
                <a:highlight>
                  <a:srgbClr val="FFFFFF"/>
                </a:highlight>
              </a:rPr>
              <a:t> </a:t>
            </a:r>
            <a:endParaRPr sz="750" b="0" i="0" u="none" strike="noStrike" cap="none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590548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5905481" y="3186113"/>
            <a:ext cx="2666991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Subject printed FGM coupons to 1,000 continuous thermal shock cycles at 1400°C in an automated Jet Burner Rig to confirm empirical Safety Factor &gt;= 1.50.</a:t>
            </a:r>
            <a:r>
              <a:rPr lang="en-US" sz="1100">
                <a:highlight>
                  <a:srgbClr val="FFFFFF"/>
                </a:highlight>
              </a:rPr>
              <a:t> </a:t>
            </a:r>
            <a:endParaRPr sz="750" b="0" i="0" u="none" strike="noStrike" cap="none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0" y="4034740"/>
            <a:ext cx="9144000" cy="1378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-52775" y="4236400"/>
            <a:ext cx="86937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pace Grotesk SemiBold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Bridging the gap between materials informatics and operational deployment.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71500" y="4763100"/>
            <a:ext cx="81750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600"/>
              <a:buFont typeface="Space Grotesk SemiBold"/>
              <a:buNone/>
            </a:pPr>
            <a:r>
              <a:rPr lang="en-US" sz="1600" b="0" i="0" u="sng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crystalparadigm.in</a:t>
            </a:r>
            <a:r>
              <a:rPr lang="en-US" sz="1600">
                <a:solidFill>
                  <a:srgbClr val="2BDEFD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khub.crystalparadigm@gmail.com</a:t>
            </a:r>
            <a:endParaRPr sz="1600" b="0" i="0" u="none" strike="noStrike" cap="none">
              <a:solidFill>
                <a:srgbClr val="2BDEF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2382</Words>
  <Application>Microsoft Office PowerPoint</Application>
  <PresentationFormat>On-screen Show (16:9)</PresentationFormat>
  <Paragraphs>311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Inter</vt:lpstr>
      <vt:lpstr>Arial</vt:lpstr>
      <vt:lpstr>Inter SemiBold</vt:lpstr>
      <vt:lpstr>Space Grotesk SemiBold</vt:lpstr>
      <vt:lpstr>Space Grotesk</vt:lpstr>
      <vt:lpstr>Courier New</vt:lpstr>
      <vt:lpstr>Inter Medium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MOHAMMED AHMED RAZA</cp:lastModifiedBy>
  <cp:revision>7</cp:revision>
  <dcterms:created xsi:type="dcterms:W3CDTF">2026-06-04T12:08:38Z</dcterms:created>
  <dcterms:modified xsi:type="dcterms:W3CDTF">2026-07-29T18:31:52Z</dcterms:modified>
</cp:coreProperties>
</file>