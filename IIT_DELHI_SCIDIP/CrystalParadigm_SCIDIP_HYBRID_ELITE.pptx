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Rectangle 1"/>
          <p:cNvSpPr/>
          <p:nvPr/>
        </p:nvSpPr>
        <p:spPr>
          <a:xfrm>
            <a:off x="7132320" y="-457200"/>
            <a:ext cx="5486400" cy="4572000"/>
          </a:xfrm>
          <a:prstGeom prst="rect">
            <a:avLst/>
          </a:prstGeom>
          <a:solidFill>
            <a:srgbClr val="1E2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274320"/>
            <a:ext cx="4389120" cy="3840480"/>
          </a:xfrm>
          <a:prstGeom prst="roundRect">
            <a:avLst>
              <a:gd name="adj" fmla="val 30000"/>
            </a:avLst>
          </a:prstGeom>
          <a:solidFill>
            <a:srgbClr val="0D1328"/>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2286000" cy="256032"/>
          </a:xfrm>
          <a:prstGeom prst="roundRect">
            <a:avLst>
              <a:gd name="adj" fmla="val 30000"/>
            </a:avLst>
          </a:prstGeom>
          <a:solidFill>
            <a:srgbClr val="003D2B"/>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84048"/>
            <a:ext cx="2194560" cy="219456"/>
          </a:xfrm>
          <a:prstGeom prst="rect">
            <a:avLst/>
          </a:prstGeom>
          <a:noFill/>
        </p:spPr>
        <p:txBody>
          <a:bodyPr wrap="square">
            <a:spAutoFit/>
          </a:bodyPr>
          <a:lstStyle/>
          <a:p>
            <a:pPr algn="l"/>
            <a:r>
              <a:rPr sz="800" b="1" i="0">
                <a:solidFill>
                  <a:srgbClr val="00E5A0"/>
                </a:solidFill>
              </a:rPr>
              <a:t>SCIDIP PROGRAM APPLICATION</a:t>
            </a:r>
          </a:p>
        </p:txBody>
      </p:sp>
      <p:sp>
        <p:nvSpPr>
          <p:cNvPr id="6" name="TextBox 5"/>
          <p:cNvSpPr txBox="1"/>
          <p:nvPr/>
        </p:nvSpPr>
        <p:spPr>
          <a:xfrm>
            <a:off x="457200" y="713232"/>
            <a:ext cx="8229600" cy="256032"/>
          </a:xfrm>
          <a:prstGeom prst="rect">
            <a:avLst/>
          </a:prstGeom>
          <a:noFill/>
        </p:spPr>
        <p:txBody>
          <a:bodyPr wrap="square">
            <a:spAutoFit/>
          </a:bodyPr>
          <a:lstStyle/>
          <a:p>
            <a:pPr algn="l"/>
            <a:r>
              <a:rPr sz="900" b="0" i="0">
                <a:solidFill>
                  <a:srgbClr val="AAB4C6"/>
                </a:solidFill>
              </a:rPr>
              <a:t>Advanced Materials  ·  Advanced Batteries  ·  Electric Mobility  ·  Sustainability</a:t>
            </a:r>
          </a:p>
        </p:txBody>
      </p:sp>
      <p:sp>
        <p:nvSpPr>
          <p:cNvPr id="7" name="TextBox 6"/>
          <p:cNvSpPr txBox="1"/>
          <p:nvPr/>
        </p:nvSpPr>
        <p:spPr>
          <a:xfrm>
            <a:off x="457200" y="1097280"/>
            <a:ext cx="6858000" cy="2194560"/>
          </a:xfrm>
          <a:prstGeom prst="rect">
            <a:avLst/>
          </a:prstGeom>
          <a:noFill/>
        </p:spPr>
        <p:txBody>
          <a:bodyPr wrap="square">
            <a:spAutoFit/>
          </a:bodyPr>
          <a:lstStyle/>
          <a:p>
            <a:pPr algn="l"/>
            <a:r>
              <a:rPr sz="3200" b="1" i="0">
                <a:solidFill>
                  <a:srgbClr val="F5F7FA"/>
                </a:solidFill>
              </a:rPr>
              <a:t>Accelerating Innovation
at the Intersection of
AI and Material Science</a:t>
            </a:r>
          </a:p>
        </p:txBody>
      </p:sp>
      <p:sp>
        <p:nvSpPr>
          <p:cNvPr id="8" name="Rectangle 7"/>
          <p:cNvSpPr/>
          <p:nvPr/>
        </p:nvSpPr>
        <p:spPr>
          <a:xfrm>
            <a:off x="457200" y="3200400"/>
            <a:ext cx="2286000" cy="45720"/>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337560"/>
            <a:ext cx="6583680" cy="822960"/>
          </a:xfrm>
          <a:prstGeom prst="rect">
            <a:avLst/>
          </a:prstGeom>
          <a:noFill/>
        </p:spPr>
        <p:txBody>
          <a:bodyPr wrap="square">
            <a:spAutoFit/>
          </a:bodyPr>
          <a:lstStyle/>
          <a:p>
            <a:pPr algn="l"/>
            <a:r>
              <a:rPr sz="1200" b="0" i="0">
                <a:solidFill>
                  <a:srgbClr val="AAB4C6"/>
                </a:solidFill>
              </a:rPr>
              <a:t>Crystal Paradigm is an elite Deep-Tech Discovery Platform. We leverage artificial intelligence and high-performance computing to accelerate material discovery from 5 years to 4 weeks.</a:t>
            </a:r>
          </a:p>
        </p:txBody>
      </p:sp>
      <p:sp>
        <p:nvSpPr>
          <p:cNvPr id="10" name="Rectangle 9"/>
          <p:cNvSpPr/>
          <p:nvPr/>
        </p:nvSpPr>
        <p:spPr>
          <a:xfrm>
            <a:off x="457200" y="4251960"/>
            <a:ext cx="2103120" cy="347472"/>
          </a:xfrm>
          <a:prstGeom prst="roundRect">
            <a:avLst>
              <a:gd name="adj" fmla="val 3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4297680"/>
            <a:ext cx="1920239" cy="256032"/>
          </a:xfrm>
          <a:prstGeom prst="rect">
            <a:avLst/>
          </a:prstGeom>
          <a:noFill/>
        </p:spPr>
        <p:txBody>
          <a:bodyPr wrap="square">
            <a:spAutoFit/>
          </a:bodyPr>
          <a:lstStyle/>
          <a:p>
            <a:pPr algn="ctr"/>
            <a:r>
              <a:rPr sz="900" b="1" i="0">
                <a:solidFill>
                  <a:srgbClr val="00E5A0"/>
                </a:solidFill>
              </a:rPr>
              <a:t>1 Patent Accepted</a:t>
            </a:r>
          </a:p>
        </p:txBody>
      </p:sp>
      <p:sp>
        <p:nvSpPr>
          <p:cNvPr id="12" name="Rectangle 11"/>
          <p:cNvSpPr/>
          <p:nvPr/>
        </p:nvSpPr>
        <p:spPr>
          <a:xfrm>
            <a:off x="2724912" y="4251960"/>
            <a:ext cx="2103120" cy="347472"/>
          </a:xfrm>
          <a:prstGeom prst="roundRect">
            <a:avLst>
              <a:gd name="adj" fmla="val 3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4297680"/>
            <a:ext cx="1920239" cy="256032"/>
          </a:xfrm>
          <a:prstGeom prst="rect">
            <a:avLst/>
          </a:prstGeom>
          <a:noFill/>
        </p:spPr>
        <p:txBody>
          <a:bodyPr wrap="square">
            <a:spAutoFit/>
          </a:bodyPr>
          <a:lstStyle/>
          <a:p>
            <a:pPr algn="ctr"/>
            <a:r>
              <a:rPr sz="900" b="1" i="0">
                <a:solidFill>
                  <a:srgbClr val="F5A623"/>
                </a:solidFill>
              </a:rPr>
              <a:t>4 Papers Under Review</a:t>
            </a:r>
          </a:p>
        </p:txBody>
      </p:sp>
      <p:sp>
        <p:nvSpPr>
          <p:cNvPr id="14" name="Rectangle 13"/>
          <p:cNvSpPr/>
          <p:nvPr/>
        </p:nvSpPr>
        <p:spPr>
          <a:xfrm>
            <a:off x="4992624" y="4251960"/>
            <a:ext cx="2103120" cy="347472"/>
          </a:xfrm>
          <a:prstGeom prst="roundRect">
            <a:avLst>
              <a:gd name="adj" fmla="val 30000"/>
            </a:avLst>
          </a:prstGeom>
          <a:solidFill>
            <a:srgbClr val="1E2745"/>
          </a:solidFill>
          <a:ln w="12700">
            <a:solidFill>
              <a:srgbClr val="6E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02352" y="4297680"/>
            <a:ext cx="1920239" cy="256032"/>
          </a:xfrm>
          <a:prstGeom prst="rect">
            <a:avLst/>
          </a:prstGeom>
          <a:noFill/>
        </p:spPr>
        <p:txBody>
          <a:bodyPr wrap="square">
            <a:spAutoFit/>
          </a:bodyPr>
          <a:lstStyle/>
          <a:p>
            <a:pPr algn="ctr"/>
            <a:r>
              <a:rPr sz="900" b="1" i="0">
                <a:solidFill>
                  <a:srgbClr val="6E9DFF"/>
                </a:solidFill>
              </a:rPr>
              <a:t>Active Industry Collaborations</a:t>
            </a:r>
          </a:p>
        </p:txBody>
      </p:sp>
      <p:sp>
        <p:nvSpPr>
          <p:cNvPr id="16" name="Rectangle 15"/>
          <p:cNvSpPr/>
          <p:nvPr/>
        </p:nvSpPr>
        <p:spPr>
          <a:xfrm>
            <a:off x="457200" y="4709160"/>
            <a:ext cx="6583680" cy="1234440"/>
          </a:xfrm>
          <a:prstGeom prst="roundRect">
            <a:avLst>
              <a:gd name="adj" fmla="val 20000"/>
            </a:avLst>
          </a:prstGeom>
          <a:solidFill>
            <a:srgbClr val="0D1328"/>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709160"/>
            <a:ext cx="54864" cy="123444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754880"/>
            <a:ext cx="2743200" cy="228600"/>
          </a:xfrm>
          <a:prstGeom prst="rect">
            <a:avLst/>
          </a:prstGeom>
          <a:noFill/>
        </p:spPr>
        <p:txBody>
          <a:bodyPr wrap="square">
            <a:spAutoFit/>
          </a:bodyPr>
          <a:lstStyle/>
          <a:p>
            <a:pPr algn="l"/>
            <a:r>
              <a:rPr sz="800" b="1" i="0">
                <a:solidFill>
                  <a:srgbClr val="F5A623"/>
                </a:solidFill>
              </a:rPr>
              <a:t>SCIDIP SPEARHEAD</a:t>
            </a:r>
          </a:p>
        </p:txBody>
      </p:sp>
      <p:sp>
        <p:nvSpPr>
          <p:cNvPr id="19" name="TextBox 18"/>
          <p:cNvSpPr txBox="1"/>
          <p:nvPr/>
        </p:nvSpPr>
        <p:spPr>
          <a:xfrm>
            <a:off x="640080" y="4992624"/>
            <a:ext cx="6217920" cy="868680"/>
          </a:xfrm>
          <a:prstGeom prst="rect">
            <a:avLst/>
          </a:prstGeom>
          <a:noFill/>
        </p:spPr>
        <p:txBody>
          <a:bodyPr wrap="square">
            <a:spAutoFit/>
          </a:bodyPr>
          <a:lstStyle/>
          <a:p>
            <a:pPr algn="l"/>
            <a:r>
              <a:rPr sz="1000" b="0" i="0">
                <a:solidFill>
                  <a:srgbClr val="AAB4C6"/>
                </a:solidFill>
              </a:rPr>
              <a:t>For this application, we deploy our most extreme, fully-validated Proof of Concept: An AI-generated, aerospace-grade Refractory High-Entropy Alloy (RHEA) engineered to solve Sona Comstar's terrestrial thermal bottlenecks.</a:t>
            </a:r>
          </a:p>
        </p:txBody>
      </p:sp>
      <p:sp>
        <p:nvSpPr>
          <p:cNvPr id="20" name="Rectangle 19"/>
          <p:cNvSpPr/>
          <p:nvPr/>
        </p:nvSpPr>
        <p:spPr>
          <a:xfrm>
            <a:off x="7955279" y="502920"/>
            <a:ext cx="1600200" cy="1554480"/>
          </a:xfrm>
          <a:prstGeom prst="roundRect">
            <a:avLst>
              <a:gd name="adj" fmla="val 20000"/>
            </a:avLst>
          </a:prstGeom>
          <a:solidFill>
            <a:srgbClr val="0D1328"/>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9" y="594360"/>
            <a:ext cx="1417320" cy="854964"/>
          </a:xfrm>
          <a:prstGeom prst="rect">
            <a:avLst/>
          </a:prstGeom>
          <a:noFill/>
        </p:spPr>
        <p:txBody>
          <a:bodyPr wrap="square">
            <a:spAutoFit/>
          </a:bodyPr>
          <a:lstStyle/>
          <a:p>
            <a:pPr algn="ctr"/>
            <a:r>
              <a:rPr sz="2200" b="1" i="0">
                <a:solidFill>
                  <a:srgbClr val="00E5A0"/>
                </a:solidFill>
              </a:rPr>
              <a:t>9</a:t>
            </a:r>
          </a:p>
        </p:txBody>
      </p:sp>
      <p:sp>
        <p:nvSpPr>
          <p:cNvPr id="22" name="TextBox 21"/>
          <p:cNvSpPr txBox="1"/>
          <p:nvPr/>
        </p:nvSpPr>
        <p:spPr>
          <a:xfrm>
            <a:off x="8046719" y="1404518"/>
            <a:ext cx="1417320" cy="544068"/>
          </a:xfrm>
          <a:prstGeom prst="rect">
            <a:avLst/>
          </a:prstGeom>
          <a:noFill/>
        </p:spPr>
        <p:txBody>
          <a:bodyPr wrap="square">
            <a:spAutoFit/>
          </a:bodyPr>
          <a:lstStyle/>
          <a:p>
            <a:pPr algn="ctr"/>
            <a:r>
              <a:rPr sz="900" b="0" i="0">
                <a:solidFill>
                  <a:srgbClr val="AAB4C6"/>
                </a:solidFill>
              </a:rPr>
              <a:t>Elements
Optimized</a:t>
            </a:r>
          </a:p>
        </p:txBody>
      </p:sp>
      <p:sp>
        <p:nvSpPr>
          <p:cNvPr id="23" name="Rectangle 22"/>
          <p:cNvSpPr/>
          <p:nvPr/>
        </p:nvSpPr>
        <p:spPr>
          <a:xfrm>
            <a:off x="9784080" y="502920"/>
            <a:ext cx="1600200" cy="1554480"/>
          </a:xfrm>
          <a:prstGeom prst="roundRect">
            <a:avLst>
              <a:gd name="adj" fmla="val 20000"/>
            </a:avLst>
          </a:prstGeom>
          <a:solidFill>
            <a:srgbClr val="0D1328"/>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19" y="594360"/>
            <a:ext cx="1417320" cy="854964"/>
          </a:xfrm>
          <a:prstGeom prst="rect">
            <a:avLst/>
          </a:prstGeom>
          <a:noFill/>
        </p:spPr>
        <p:txBody>
          <a:bodyPr wrap="square">
            <a:spAutoFit/>
          </a:bodyPr>
          <a:lstStyle/>
          <a:p>
            <a:pPr algn="ctr"/>
            <a:r>
              <a:rPr sz="2200" b="1" i="0">
                <a:solidFill>
                  <a:srgbClr val="00E5A0"/>
                </a:solidFill>
              </a:rPr>
              <a:t>11</a:t>
            </a:r>
          </a:p>
        </p:txBody>
      </p:sp>
      <p:sp>
        <p:nvSpPr>
          <p:cNvPr id="25" name="TextBox 24"/>
          <p:cNvSpPr txBox="1"/>
          <p:nvPr/>
        </p:nvSpPr>
        <p:spPr>
          <a:xfrm>
            <a:off x="9875519" y="1404518"/>
            <a:ext cx="1417320" cy="544068"/>
          </a:xfrm>
          <a:prstGeom prst="rect">
            <a:avLst/>
          </a:prstGeom>
          <a:noFill/>
        </p:spPr>
        <p:txBody>
          <a:bodyPr wrap="square">
            <a:spAutoFit/>
          </a:bodyPr>
          <a:lstStyle/>
          <a:p>
            <a:pPr algn="ctr"/>
            <a:r>
              <a:rPr sz="900" b="0" i="0">
                <a:solidFill>
                  <a:srgbClr val="AAB4C6"/>
                </a:solidFill>
              </a:rPr>
              <a:t>FGM
Layers</a:t>
            </a:r>
          </a:p>
        </p:txBody>
      </p:sp>
      <p:sp>
        <p:nvSpPr>
          <p:cNvPr id="26" name="Rectangle 25"/>
          <p:cNvSpPr/>
          <p:nvPr/>
        </p:nvSpPr>
        <p:spPr>
          <a:xfrm>
            <a:off x="7955279" y="2331720"/>
            <a:ext cx="1600200" cy="1554480"/>
          </a:xfrm>
          <a:prstGeom prst="roundRect">
            <a:avLst>
              <a:gd name="adj" fmla="val 20000"/>
            </a:avLst>
          </a:prstGeom>
          <a:solidFill>
            <a:srgbClr val="0D1328"/>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9" y="2423160"/>
            <a:ext cx="1417320" cy="854964"/>
          </a:xfrm>
          <a:prstGeom prst="rect">
            <a:avLst/>
          </a:prstGeom>
          <a:noFill/>
        </p:spPr>
        <p:txBody>
          <a:bodyPr wrap="square">
            <a:spAutoFit/>
          </a:bodyPr>
          <a:lstStyle/>
          <a:p>
            <a:pPr algn="ctr"/>
            <a:r>
              <a:rPr sz="2200" b="1" i="0">
                <a:solidFill>
                  <a:srgbClr val="00E5A0"/>
                </a:solidFill>
              </a:rPr>
              <a:t>1.71</a:t>
            </a:r>
          </a:p>
        </p:txBody>
      </p:sp>
      <p:sp>
        <p:nvSpPr>
          <p:cNvPr id="28" name="TextBox 27"/>
          <p:cNvSpPr txBox="1"/>
          <p:nvPr/>
        </p:nvSpPr>
        <p:spPr>
          <a:xfrm>
            <a:off x="8046719" y="3233318"/>
            <a:ext cx="1417320" cy="544068"/>
          </a:xfrm>
          <a:prstGeom prst="rect">
            <a:avLst/>
          </a:prstGeom>
          <a:noFill/>
        </p:spPr>
        <p:txBody>
          <a:bodyPr wrap="square">
            <a:spAutoFit/>
          </a:bodyPr>
          <a:lstStyle/>
          <a:p>
            <a:pPr algn="ctr"/>
            <a:r>
              <a:rPr sz="900" b="0" i="0">
                <a:solidFill>
                  <a:srgbClr val="AAB4C6"/>
                </a:solidFill>
              </a:rPr>
              <a:t>3D Safety
Factor</a:t>
            </a:r>
          </a:p>
        </p:txBody>
      </p:sp>
      <p:sp>
        <p:nvSpPr>
          <p:cNvPr id="29" name="Rectangle 28"/>
          <p:cNvSpPr/>
          <p:nvPr/>
        </p:nvSpPr>
        <p:spPr>
          <a:xfrm>
            <a:off x="9784080" y="2331720"/>
            <a:ext cx="1600200" cy="1554480"/>
          </a:xfrm>
          <a:prstGeom prst="roundRect">
            <a:avLst>
              <a:gd name="adj" fmla="val 20000"/>
            </a:avLst>
          </a:prstGeom>
          <a:solidFill>
            <a:srgbClr val="0D1328"/>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19" y="2423160"/>
            <a:ext cx="1417320" cy="854964"/>
          </a:xfrm>
          <a:prstGeom prst="rect">
            <a:avLst/>
          </a:prstGeom>
          <a:noFill/>
        </p:spPr>
        <p:txBody>
          <a:bodyPr wrap="square">
            <a:spAutoFit/>
          </a:bodyPr>
          <a:lstStyle/>
          <a:p>
            <a:pPr algn="ctr"/>
            <a:r>
              <a:rPr sz="2200" b="1" i="0">
                <a:solidFill>
                  <a:srgbClr val="00E5A0"/>
                </a:solidFill>
              </a:rPr>
              <a:t>4 Wks</a:t>
            </a:r>
          </a:p>
        </p:txBody>
      </p:sp>
      <p:sp>
        <p:nvSpPr>
          <p:cNvPr id="31" name="TextBox 30"/>
          <p:cNvSpPr txBox="1"/>
          <p:nvPr/>
        </p:nvSpPr>
        <p:spPr>
          <a:xfrm>
            <a:off x="9875519" y="3233318"/>
            <a:ext cx="1417320" cy="544068"/>
          </a:xfrm>
          <a:prstGeom prst="rect">
            <a:avLst/>
          </a:prstGeom>
          <a:noFill/>
        </p:spPr>
        <p:txBody>
          <a:bodyPr wrap="square">
            <a:spAutoFit/>
          </a:bodyPr>
          <a:lstStyle/>
          <a:p>
            <a:pPr algn="ctr"/>
            <a:r>
              <a:rPr sz="900" b="0" i="0">
                <a:solidFill>
                  <a:srgbClr val="AAB4C6"/>
                </a:solidFill>
              </a:rPr>
              <a:t>Discovery
Time</a:t>
            </a:r>
          </a:p>
        </p:txBody>
      </p:sp>
      <p:sp>
        <p:nvSpPr>
          <p:cNvPr id="32" name="Rectangle 31"/>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34" name="TextBox 33"/>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AEROSPACE PROOF OF CONCEPT</a:t>
            </a:r>
          </a:p>
        </p:txBody>
      </p:sp>
      <p:sp>
        <p:nvSpPr>
          <p:cNvPr id="3" name="TextBox 2"/>
          <p:cNvSpPr txBox="1"/>
          <p:nvPr/>
        </p:nvSpPr>
        <p:spPr>
          <a:xfrm>
            <a:off x="457200" y="502920"/>
            <a:ext cx="10058400" cy="502920"/>
          </a:xfrm>
          <a:prstGeom prst="rect">
            <a:avLst/>
          </a:prstGeom>
          <a:noFill/>
        </p:spPr>
        <p:txBody>
          <a:bodyPr wrap="square">
            <a:spAutoFit/>
          </a:bodyPr>
          <a:lstStyle/>
          <a:p>
            <a:pPr algn="l"/>
            <a:r>
              <a:rPr sz="1800" b="1" i="0">
                <a:solidFill>
                  <a:srgbClr val="F5F7FA"/>
                </a:solidFill>
              </a:rPr>
              <a:t>PROVING THE PHYSICS: THE AEROSPACE THERMAL BOTTLENECK</a:t>
            </a:r>
          </a:p>
        </p:txBody>
      </p:sp>
      <p:sp>
        <p:nvSpPr>
          <p:cNvPr id="4" name="Rectangle 3"/>
          <p:cNvSpPr/>
          <p:nvPr/>
        </p:nvSpPr>
        <p:spPr>
          <a:xfrm>
            <a:off x="457200" y="98755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11247120" cy="411480"/>
          </a:xfrm>
          <a:prstGeom prst="rect">
            <a:avLst/>
          </a:prstGeom>
          <a:noFill/>
        </p:spPr>
        <p:txBody>
          <a:bodyPr wrap="square">
            <a:spAutoFit/>
          </a:bodyPr>
          <a:lstStyle/>
          <a:p>
            <a:pPr algn="l"/>
            <a:r>
              <a:rPr sz="1100" b="0" i="0">
                <a:solidFill>
                  <a:srgbClr val="AAB4C6"/>
                </a:solidFill>
              </a:rPr>
              <a:t>Our AI engine was built to solve the hardest thermal problem in modern engineering: Turbine Entry Temperatures (TET) exceeding 1400°C.</a:t>
            </a:r>
          </a:p>
        </p:txBody>
      </p:sp>
      <p:sp>
        <p:nvSpPr>
          <p:cNvPr id="6" name="Rectangle 5"/>
          <p:cNvSpPr/>
          <p:nvPr/>
        </p:nvSpPr>
        <p:spPr>
          <a:xfrm>
            <a:off x="457200" y="1600200"/>
            <a:ext cx="5394960" cy="443484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00200"/>
            <a:ext cx="54864" cy="4434840"/>
          </a:xfrm>
          <a:prstGeom prst="roundRect">
            <a:avLst>
              <a:gd name="adj" fmla="val 20000"/>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5029200" cy="256032"/>
          </a:xfrm>
          <a:prstGeom prst="rect">
            <a:avLst/>
          </a:prstGeom>
          <a:noFill/>
        </p:spPr>
        <p:txBody>
          <a:bodyPr wrap="square">
            <a:spAutoFit/>
          </a:bodyPr>
          <a:lstStyle/>
          <a:p>
            <a:pPr algn="l"/>
            <a:r>
              <a:rPr sz="1000" b="1" i="0">
                <a:solidFill>
                  <a:srgbClr val="FF4D6D"/>
                </a:solidFill>
              </a:rPr>
              <a:t>THE AEROTHERMAL FIRE LIMIT</a:t>
            </a:r>
          </a:p>
        </p:txBody>
      </p:sp>
      <p:sp>
        <p:nvSpPr>
          <p:cNvPr id="9" name="TextBox 8"/>
          <p:cNvSpPr txBox="1"/>
          <p:nvPr/>
        </p:nvSpPr>
        <p:spPr>
          <a:xfrm>
            <a:off x="640080" y="2011680"/>
            <a:ext cx="5029200" cy="3840480"/>
          </a:xfrm>
          <a:prstGeom prst="rect">
            <a:avLst/>
          </a:prstGeom>
          <a:noFill/>
        </p:spPr>
        <p:txBody>
          <a:bodyPr wrap="square">
            <a:spAutoFit/>
          </a:bodyPr>
          <a:lstStyle/>
          <a:p>
            <a:pPr algn="l"/>
            <a:r>
              <a:rPr sz="1000" b="0" i="0">
                <a:solidFill>
                  <a:srgbClr val="AAB4C6"/>
                </a:solidFill>
              </a:rPr>
              <a:t>Traditional nickel-based superalloys have hit a physical ceiling. When shielded with ceramics, the massive Coefficient of Thermal Expansion (CTE) mismatch causes the protective armor to violently spall off under rapid thermal cycling.
The Problem in Numbers:
  ·  TET Target: &gt; 1400°C
  ·  Legacy Superalloy Limit: ~1000°C
  ·  CTE Mismatch (Traditional): High → Coating Spallation
  ·  Consequence: Catastrophic turbine blade failure</a:t>
            </a:r>
          </a:p>
        </p:txBody>
      </p:sp>
      <p:sp>
        <p:nvSpPr>
          <p:cNvPr id="10" name="Rectangle 9"/>
          <p:cNvSpPr/>
          <p:nvPr/>
        </p:nvSpPr>
        <p:spPr>
          <a:xfrm>
            <a:off x="6336792" y="1600200"/>
            <a:ext cx="5394960" cy="443484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6792" y="1600200"/>
            <a:ext cx="54864" cy="443484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691640"/>
            <a:ext cx="5029200" cy="256032"/>
          </a:xfrm>
          <a:prstGeom prst="rect">
            <a:avLst/>
          </a:prstGeom>
          <a:noFill/>
        </p:spPr>
        <p:txBody>
          <a:bodyPr wrap="square">
            <a:spAutoFit/>
          </a:bodyPr>
          <a:lstStyle/>
          <a:p>
            <a:pPr algn="l"/>
            <a:r>
              <a:rPr sz="1000" b="1" i="0">
                <a:solidFill>
                  <a:srgbClr val="00E5A0"/>
                </a:solidFill>
              </a:rPr>
              <a:t>CRYSTAL PARADIGM AI SOLUTION — CANDIDATE C</a:t>
            </a:r>
          </a:p>
        </p:txBody>
      </p:sp>
      <p:sp>
        <p:nvSpPr>
          <p:cNvPr id="13" name="TextBox 12"/>
          <p:cNvSpPr txBox="1"/>
          <p:nvPr/>
        </p:nvSpPr>
        <p:spPr>
          <a:xfrm>
            <a:off x="6519672" y="2011680"/>
            <a:ext cx="5029200" cy="228600"/>
          </a:xfrm>
          <a:prstGeom prst="rect">
            <a:avLst/>
          </a:prstGeom>
          <a:noFill/>
        </p:spPr>
        <p:txBody>
          <a:bodyPr wrap="square">
            <a:spAutoFit/>
          </a:bodyPr>
          <a:lstStyle/>
          <a:p>
            <a:pPr algn="l"/>
            <a:r>
              <a:rPr sz="1000" b="1" i="0">
                <a:solidFill>
                  <a:srgbClr val="00E5A0"/>
                </a:solidFill>
              </a:rPr>
              <a:t>▸  The Physics</a:t>
            </a:r>
          </a:p>
        </p:txBody>
      </p:sp>
      <p:sp>
        <p:nvSpPr>
          <p:cNvPr id="14" name="TextBox 13"/>
          <p:cNvSpPr txBox="1"/>
          <p:nvPr/>
        </p:nvSpPr>
        <p:spPr>
          <a:xfrm>
            <a:off x="6519672" y="2267712"/>
            <a:ext cx="5029200" cy="594360"/>
          </a:xfrm>
          <a:prstGeom prst="rect">
            <a:avLst/>
          </a:prstGeom>
          <a:noFill/>
        </p:spPr>
        <p:txBody>
          <a:bodyPr wrap="square">
            <a:spAutoFit/>
          </a:bodyPr>
          <a:lstStyle/>
          <a:p>
            <a:pPr algn="l"/>
            <a:r>
              <a:rPr sz="950" b="0" i="0">
                <a:solidFill>
                  <a:srgbClr val="AAB4C6"/>
                </a:solidFill>
              </a:rPr>
              <a:t>By forcing a Titanium-dominant solid solution (21.7% Ti), we mathematically closed the CTE gap to just 2.66 μm/mK.</a:t>
            </a:r>
          </a:p>
        </p:txBody>
      </p:sp>
      <p:sp>
        <p:nvSpPr>
          <p:cNvPr id="15" name="TextBox 14"/>
          <p:cNvSpPr txBox="1"/>
          <p:nvPr/>
        </p:nvSpPr>
        <p:spPr>
          <a:xfrm>
            <a:off x="6519672" y="2944368"/>
            <a:ext cx="5029200" cy="228600"/>
          </a:xfrm>
          <a:prstGeom prst="rect">
            <a:avLst/>
          </a:prstGeom>
          <a:noFill/>
        </p:spPr>
        <p:txBody>
          <a:bodyPr wrap="square">
            <a:spAutoFit/>
          </a:bodyPr>
          <a:lstStyle/>
          <a:p>
            <a:pPr algn="l"/>
            <a:r>
              <a:rPr sz="1000" b="1" i="0">
                <a:solidFill>
                  <a:srgbClr val="00E5A0"/>
                </a:solidFill>
              </a:rPr>
              <a:t>▸  The Manufacturing</a:t>
            </a:r>
          </a:p>
        </p:txBody>
      </p:sp>
      <p:sp>
        <p:nvSpPr>
          <p:cNvPr id="16" name="TextBox 15"/>
          <p:cNvSpPr txBox="1"/>
          <p:nvPr/>
        </p:nvSpPr>
        <p:spPr>
          <a:xfrm>
            <a:off x="6519672" y="3200400"/>
            <a:ext cx="5029200" cy="594360"/>
          </a:xfrm>
          <a:prstGeom prst="rect">
            <a:avLst/>
          </a:prstGeom>
          <a:noFill/>
        </p:spPr>
        <p:txBody>
          <a:bodyPr wrap="square">
            <a:spAutoFit/>
          </a:bodyPr>
          <a:lstStyle/>
          <a:p>
            <a:pPr algn="l"/>
            <a:r>
              <a:rPr sz="950" b="0" i="0">
                <a:solidFill>
                  <a:srgbClr val="AAB4C6"/>
                </a:solidFill>
              </a:rPr>
              <a:t>Deployed an 11-layer Functionally Graded Material (FGM) matrix using an exact n=1.1 power-law gradient — ready for multi-hopper DED 3D printing.</a:t>
            </a:r>
          </a:p>
        </p:txBody>
      </p:sp>
      <p:sp>
        <p:nvSpPr>
          <p:cNvPr id="17" name="TextBox 16"/>
          <p:cNvSpPr txBox="1"/>
          <p:nvPr/>
        </p:nvSpPr>
        <p:spPr>
          <a:xfrm>
            <a:off x="6519672" y="3877056"/>
            <a:ext cx="5029200" cy="228600"/>
          </a:xfrm>
          <a:prstGeom prst="rect">
            <a:avLst/>
          </a:prstGeom>
          <a:noFill/>
        </p:spPr>
        <p:txBody>
          <a:bodyPr wrap="square">
            <a:spAutoFit/>
          </a:bodyPr>
          <a:lstStyle/>
          <a:p>
            <a:pPr algn="l"/>
            <a:r>
              <a:rPr sz="1000" b="1" i="0">
                <a:solidFill>
                  <a:srgbClr val="00E5A0"/>
                </a:solidFill>
              </a:rPr>
              <a:t>▸  The Result</a:t>
            </a:r>
          </a:p>
        </p:txBody>
      </p:sp>
      <p:sp>
        <p:nvSpPr>
          <p:cNvPr id="18" name="TextBox 17"/>
          <p:cNvSpPr txBox="1"/>
          <p:nvPr/>
        </p:nvSpPr>
        <p:spPr>
          <a:xfrm>
            <a:off x="6519672" y="4133088"/>
            <a:ext cx="5029200" cy="594360"/>
          </a:xfrm>
          <a:prstGeom prst="rect">
            <a:avLst/>
          </a:prstGeom>
          <a:noFill/>
        </p:spPr>
        <p:txBody>
          <a:bodyPr wrap="square">
            <a:spAutoFit/>
          </a:bodyPr>
          <a:lstStyle/>
          <a:p>
            <a:pPr algn="l"/>
            <a:r>
              <a:rPr sz="950" b="0" i="0">
                <a:solidFill>
                  <a:srgbClr val="AAB4C6"/>
                </a:solidFill>
              </a:rPr>
              <a:t>Interface shear stress dropped to an ultra-low 15.95 MPa, completely eliminating delamination under extreme thermal shock.</a:t>
            </a:r>
          </a:p>
        </p:txBody>
      </p:sp>
      <p:sp>
        <p:nvSpPr>
          <p:cNvPr id="19" name="TextBox 18"/>
          <p:cNvSpPr txBox="1"/>
          <p:nvPr/>
        </p:nvSpPr>
        <p:spPr>
          <a:xfrm>
            <a:off x="6519672" y="4809744"/>
            <a:ext cx="5029200" cy="228600"/>
          </a:xfrm>
          <a:prstGeom prst="rect">
            <a:avLst/>
          </a:prstGeom>
          <a:noFill/>
        </p:spPr>
        <p:txBody>
          <a:bodyPr wrap="square">
            <a:spAutoFit/>
          </a:bodyPr>
          <a:lstStyle/>
          <a:p>
            <a:pPr algn="l"/>
            <a:r>
              <a:rPr sz="1000" b="1" i="0">
                <a:solidFill>
                  <a:srgbClr val="00E5A0"/>
                </a:solidFill>
              </a:rPr>
              <a:t>▸  3D FEA Validation</a:t>
            </a:r>
          </a:p>
        </p:txBody>
      </p:sp>
      <p:sp>
        <p:nvSpPr>
          <p:cNvPr id="20" name="TextBox 19"/>
          <p:cNvSpPr txBox="1"/>
          <p:nvPr/>
        </p:nvSpPr>
        <p:spPr>
          <a:xfrm>
            <a:off x="6519672" y="5065776"/>
            <a:ext cx="5029200" cy="594360"/>
          </a:xfrm>
          <a:prstGeom prst="rect">
            <a:avLst/>
          </a:prstGeom>
          <a:noFill/>
        </p:spPr>
        <p:txBody>
          <a:bodyPr wrap="square">
            <a:spAutoFit/>
          </a:bodyPr>
          <a:lstStyle/>
          <a:p>
            <a:pPr algn="l"/>
            <a:r>
              <a:rPr sz="950" b="0" i="0">
                <a:solidFill>
                  <a:srgbClr val="AAB4C6"/>
                </a:solidFill>
              </a:rPr>
              <a:t>FEniCS Finite Element Analysis confirmed a 3D Safety Factor of 1.71 — exceeding the 1.50 airworthiness threshold by 14%.</a:t>
            </a:r>
          </a:p>
        </p:txBody>
      </p:sp>
      <p:sp>
        <p:nvSpPr>
          <p:cNvPr id="21" name="Rectangle 20"/>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23" name="TextBox 22"/>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FROM AEROSPACE TO MOBILITY</a:t>
            </a:r>
          </a:p>
        </p:txBody>
      </p:sp>
      <p:sp>
        <p:nvSpPr>
          <p:cNvPr id="3" name="TextBox 2"/>
          <p:cNvSpPr txBox="1"/>
          <p:nvPr/>
        </p:nvSpPr>
        <p:spPr>
          <a:xfrm>
            <a:off x="457200" y="502920"/>
            <a:ext cx="10972800" cy="502920"/>
          </a:xfrm>
          <a:prstGeom prst="rect">
            <a:avLst/>
          </a:prstGeom>
          <a:noFill/>
        </p:spPr>
        <p:txBody>
          <a:bodyPr wrap="square">
            <a:spAutoFit/>
          </a:bodyPr>
          <a:lstStyle/>
          <a:p>
            <a:pPr algn="l"/>
            <a:r>
              <a:rPr sz="1800" b="1" i="0">
                <a:solidFill>
                  <a:srgbClr val="F5F7FA"/>
                </a:solidFill>
              </a:rPr>
              <a:t>THE SCIDIP CROSSOVER: FROM AEROSPACE TO EPIC MOBILITY</a:t>
            </a:r>
          </a:p>
        </p:txBody>
      </p:sp>
      <p:sp>
        <p:nvSpPr>
          <p:cNvPr id="4" name="Rectangle 3"/>
          <p:cNvSpPr/>
          <p:nvPr/>
        </p:nvSpPr>
        <p:spPr>
          <a:xfrm>
            <a:off x="457200" y="98755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78992"/>
            <a:ext cx="11247120" cy="411480"/>
          </a:xfrm>
          <a:prstGeom prst="rect">
            <a:avLst/>
          </a:prstGeom>
          <a:noFill/>
        </p:spPr>
        <p:txBody>
          <a:bodyPr wrap="square">
            <a:spAutoFit/>
          </a:bodyPr>
          <a:lstStyle/>
          <a:p>
            <a:pPr algn="l"/>
            <a:r>
              <a:rPr sz="1100" b="0" i="0">
                <a:solidFill>
                  <a:srgbClr val="AAB4C6"/>
                </a:solidFill>
              </a:rPr>
              <a:t>If our AI architecture can prevent a jet turbine from melting at 1400°C, it can revolutionize the thermal limits of terrestrial mobility.</a:t>
            </a:r>
          </a:p>
        </p:txBody>
      </p:sp>
      <p:sp>
        <p:nvSpPr>
          <p:cNvPr id="6" name="Rectangle 5"/>
          <p:cNvSpPr/>
          <p:nvPr/>
        </p:nvSpPr>
        <p:spPr>
          <a:xfrm>
            <a:off x="365760" y="1600200"/>
            <a:ext cx="3200400" cy="2011680"/>
          </a:xfrm>
          <a:prstGeom prst="roundRect">
            <a:avLst>
              <a:gd name="adj" fmla="val 20000"/>
            </a:avLst>
          </a:prstGeom>
          <a:solidFill>
            <a:srgbClr val="0D1328"/>
          </a:solidFill>
          <a:ln w="1905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64208"/>
            <a:ext cx="2926080" cy="256032"/>
          </a:xfrm>
          <a:prstGeom prst="rect">
            <a:avLst/>
          </a:prstGeom>
          <a:noFill/>
        </p:spPr>
        <p:txBody>
          <a:bodyPr wrap="square">
            <a:spAutoFit/>
          </a:bodyPr>
          <a:lstStyle/>
          <a:p>
            <a:pPr algn="ctr"/>
            <a:r>
              <a:rPr sz="900" b="1" i="0">
                <a:solidFill>
                  <a:srgbClr val="FF4D6D"/>
                </a:solidFill>
              </a:rPr>
              <a:t>AEROSPACE EXTREME</a:t>
            </a:r>
          </a:p>
        </p:txBody>
      </p:sp>
      <p:sp>
        <p:nvSpPr>
          <p:cNvPr id="8" name="TextBox 7"/>
          <p:cNvSpPr txBox="1"/>
          <p:nvPr/>
        </p:nvSpPr>
        <p:spPr>
          <a:xfrm>
            <a:off x="502920" y="1920240"/>
            <a:ext cx="2926080" cy="1097280"/>
          </a:xfrm>
          <a:prstGeom prst="rect">
            <a:avLst/>
          </a:prstGeom>
          <a:noFill/>
        </p:spPr>
        <p:txBody>
          <a:bodyPr wrap="square">
            <a:spAutoFit/>
          </a:bodyPr>
          <a:lstStyle/>
          <a:p>
            <a:pPr algn="ctr"/>
            <a:r>
              <a:rPr sz="2000" b="1" i="0">
                <a:solidFill>
                  <a:srgbClr val="F5F7FA"/>
                </a:solidFill>
              </a:rPr>
              <a:t>1400°C
Turbine
Entry Temp</a:t>
            </a:r>
          </a:p>
        </p:txBody>
      </p:sp>
      <p:sp>
        <p:nvSpPr>
          <p:cNvPr id="9" name="TextBox 8"/>
          <p:cNvSpPr txBox="1"/>
          <p:nvPr/>
        </p:nvSpPr>
        <p:spPr>
          <a:xfrm>
            <a:off x="502920" y="2926080"/>
            <a:ext cx="2926080" cy="502920"/>
          </a:xfrm>
          <a:prstGeom prst="rect">
            <a:avLst/>
          </a:prstGeom>
          <a:noFill/>
        </p:spPr>
        <p:txBody>
          <a:bodyPr wrap="square">
            <a:spAutoFit/>
          </a:bodyPr>
          <a:lstStyle/>
          <a:p>
            <a:pPr algn="ctr"/>
            <a:r>
              <a:rPr sz="900" b="0" i="0">
                <a:solidFill>
                  <a:srgbClr val="AAB4C6"/>
                </a:solidFill>
              </a:rPr>
              <a:t>Safran RISE Open-Rotor Program</a:t>
            </a:r>
          </a:p>
        </p:txBody>
      </p:sp>
      <p:sp>
        <p:nvSpPr>
          <p:cNvPr id="10" name="TextBox 9"/>
          <p:cNvSpPr txBox="1"/>
          <p:nvPr/>
        </p:nvSpPr>
        <p:spPr>
          <a:xfrm>
            <a:off x="3703320" y="2148840"/>
            <a:ext cx="822960" cy="640080"/>
          </a:xfrm>
          <a:prstGeom prst="rect">
            <a:avLst/>
          </a:prstGeom>
          <a:noFill/>
        </p:spPr>
        <p:txBody>
          <a:bodyPr wrap="square">
            <a:spAutoFit/>
          </a:bodyPr>
          <a:lstStyle/>
          <a:p>
            <a:pPr algn="ctr"/>
            <a:r>
              <a:rPr sz="3600" b="1" i="0">
                <a:solidFill>
                  <a:srgbClr val="00E5A0"/>
                </a:solidFill>
              </a:rPr>
              <a:t>→</a:t>
            </a:r>
          </a:p>
        </p:txBody>
      </p:sp>
      <p:sp>
        <p:nvSpPr>
          <p:cNvPr id="11" name="Rectangle 10"/>
          <p:cNvSpPr/>
          <p:nvPr/>
        </p:nvSpPr>
        <p:spPr>
          <a:xfrm>
            <a:off x="4572000" y="1600200"/>
            <a:ext cx="3044952" cy="2011680"/>
          </a:xfrm>
          <a:prstGeom prst="roundRect">
            <a:avLst>
              <a:gd name="adj" fmla="val 20000"/>
            </a:avLst>
          </a:prstGeom>
          <a:solidFill>
            <a:srgbClr val="003D2B"/>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1664208"/>
            <a:ext cx="2834640" cy="256032"/>
          </a:xfrm>
          <a:prstGeom prst="rect">
            <a:avLst/>
          </a:prstGeom>
          <a:noFill/>
        </p:spPr>
        <p:txBody>
          <a:bodyPr wrap="square">
            <a:spAutoFit/>
          </a:bodyPr>
          <a:lstStyle/>
          <a:p>
            <a:pPr algn="ctr"/>
            <a:r>
              <a:rPr sz="900" b="1" i="0">
                <a:solidFill>
                  <a:srgbClr val="00E5A0"/>
                </a:solidFill>
              </a:rPr>
              <a:t>CRYSTAL PARADIGM AI ENGINE</a:t>
            </a:r>
          </a:p>
        </p:txBody>
      </p:sp>
      <p:sp>
        <p:nvSpPr>
          <p:cNvPr id="13" name="TextBox 12"/>
          <p:cNvSpPr txBox="1"/>
          <p:nvPr/>
        </p:nvSpPr>
        <p:spPr>
          <a:xfrm>
            <a:off x="4663440" y="1920240"/>
            <a:ext cx="2834640" cy="1097280"/>
          </a:xfrm>
          <a:prstGeom prst="rect">
            <a:avLst/>
          </a:prstGeom>
          <a:noFill/>
        </p:spPr>
        <p:txBody>
          <a:bodyPr wrap="square">
            <a:spAutoFit/>
          </a:bodyPr>
          <a:lstStyle/>
          <a:p>
            <a:pPr algn="ctr"/>
            <a:r>
              <a:rPr sz="1800" b="1" i="0">
                <a:solidFill>
                  <a:srgbClr val="F5F7FA"/>
                </a:solidFill>
              </a:rPr>
              <a:t>The Universal
Materials
Optimizer</a:t>
            </a:r>
          </a:p>
        </p:txBody>
      </p:sp>
      <p:sp>
        <p:nvSpPr>
          <p:cNvPr id="14" name="TextBox 13"/>
          <p:cNvSpPr txBox="1"/>
          <p:nvPr/>
        </p:nvSpPr>
        <p:spPr>
          <a:xfrm>
            <a:off x="4663440" y="2926080"/>
            <a:ext cx="2834640" cy="502920"/>
          </a:xfrm>
          <a:prstGeom prst="rect">
            <a:avLst/>
          </a:prstGeom>
          <a:noFill/>
        </p:spPr>
        <p:txBody>
          <a:bodyPr wrap="square">
            <a:spAutoFit/>
          </a:bodyPr>
          <a:lstStyle/>
          <a:p>
            <a:pPr algn="ctr"/>
            <a:r>
              <a:rPr sz="900" b="0" i="0">
                <a:solidFill>
                  <a:srgbClr val="AAB4C6"/>
                </a:solidFill>
              </a:rPr>
              <a:t>Refractory HEA + 11-Layer FGM</a:t>
            </a:r>
          </a:p>
        </p:txBody>
      </p:sp>
      <p:sp>
        <p:nvSpPr>
          <p:cNvPr id="15" name="TextBox 14"/>
          <p:cNvSpPr txBox="1"/>
          <p:nvPr/>
        </p:nvSpPr>
        <p:spPr>
          <a:xfrm>
            <a:off x="7726679" y="2148840"/>
            <a:ext cx="822960" cy="640080"/>
          </a:xfrm>
          <a:prstGeom prst="rect">
            <a:avLst/>
          </a:prstGeom>
          <a:noFill/>
        </p:spPr>
        <p:txBody>
          <a:bodyPr wrap="square">
            <a:spAutoFit/>
          </a:bodyPr>
          <a:lstStyle/>
          <a:p>
            <a:pPr algn="ctr"/>
            <a:r>
              <a:rPr sz="3600" b="1" i="0">
                <a:solidFill>
                  <a:srgbClr val="00E5A0"/>
                </a:solidFill>
              </a:rPr>
              <a:t>→</a:t>
            </a:r>
          </a:p>
        </p:txBody>
      </p:sp>
      <p:sp>
        <p:nvSpPr>
          <p:cNvPr id="16" name="Rectangle 15"/>
          <p:cNvSpPr/>
          <p:nvPr/>
        </p:nvSpPr>
        <p:spPr>
          <a:xfrm>
            <a:off x="8595360" y="1600200"/>
            <a:ext cx="3200400" cy="2011680"/>
          </a:xfrm>
          <a:prstGeom prst="roundRect">
            <a:avLst>
              <a:gd name="adj" fmla="val 20000"/>
            </a:avLst>
          </a:prstGeom>
          <a:solidFill>
            <a:srgbClr val="0D1328"/>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1664208"/>
            <a:ext cx="2926080" cy="256032"/>
          </a:xfrm>
          <a:prstGeom prst="rect">
            <a:avLst/>
          </a:prstGeom>
          <a:noFill/>
        </p:spPr>
        <p:txBody>
          <a:bodyPr wrap="square">
            <a:spAutoFit/>
          </a:bodyPr>
          <a:lstStyle/>
          <a:p>
            <a:pPr algn="ctr"/>
            <a:r>
              <a:rPr sz="900" b="1" i="0">
                <a:solidFill>
                  <a:srgbClr val="F5A623"/>
                </a:solidFill>
              </a:rPr>
              <a:t>SONA COMSTAR EPIC MOBILITY</a:t>
            </a:r>
          </a:p>
        </p:txBody>
      </p:sp>
      <p:sp>
        <p:nvSpPr>
          <p:cNvPr id="18" name="TextBox 17"/>
          <p:cNvSpPr txBox="1"/>
          <p:nvPr/>
        </p:nvSpPr>
        <p:spPr>
          <a:xfrm>
            <a:off x="8686800" y="1920240"/>
            <a:ext cx="2926080" cy="1097280"/>
          </a:xfrm>
          <a:prstGeom prst="rect">
            <a:avLst/>
          </a:prstGeom>
          <a:noFill/>
        </p:spPr>
        <p:txBody>
          <a:bodyPr wrap="square">
            <a:spAutoFit/>
          </a:bodyPr>
          <a:lstStyle/>
          <a:p>
            <a:pPr algn="ctr"/>
            <a:r>
              <a:rPr sz="2000" b="1" i="0">
                <a:solidFill>
                  <a:srgbClr val="F5F7FA"/>
                </a:solidFill>
              </a:rPr>
              <a:t>H13 Dies
&amp; EV SRMs</a:t>
            </a:r>
          </a:p>
        </p:txBody>
      </p:sp>
      <p:sp>
        <p:nvSpPr>
          <p:cNvPr id="19" name="TextBox 18"/>
          <p:cNvSpPr txBox="1"/>
          <p:nvPr/>
        </p:nvSpPr>
        <p:spPr>
          <a:xfrm>
            <a:off x="8686800" y="2926080"/>
            <a:ext cx="2926080" cy="502920"/>
          </a:xfrm>
          <a:prstGeom prst="rect">
            <a:avLst/>
          </a:prstGeom>
          <a:noFill/>
        </p:spPr>
        <p:txBody>
          <a:bodyPr wrap="square">
            <a:spAutoFit/>
          </a:bodyPr>
          <a:lstStyle/>
          <a:p>
            <a:pPr algn="ctr"/>
            <a:r>
              <a:rPr sz="900" b="0" i="0">
                <a:solidFill>
                  <a:srgbClr val="AAB4C6"/>
                </a:solidFill>
              </a:rPr>
              <a:t>Electric, Personalized, Intelligent, Connected</a:t>
            </a:r>
          </a:p>
        </p:txBody>
      </p:sp>
      <p:sp>
        <p:nvSpPr>
          <p:cNvPr id="20" name="TextBox 19"/>
          <p:cNvSpPr txBox="1"/>
          <p:nvPr/>
        </p:nvSpPr>
        <p:spPr>
          <a:xfrm>
            <a:off x="457200" y="3730752"/>
            <a:ext cx="11247120" cy="274320"/>
          </a:xfrm>
          <a:prstGeom prst="rect">
            <a:avLst/>
          </a:prstGeom>
          <a:noFill/>
        </p:spPr>
        <p:txBody>
          <a:bodyPr wrap="square">
            <a:spAutoFit/>
          </a:bodyPr>
          <a:lstStyle/>
          <a:p>
            <a:pPr algn="l"/>
            <a:r>
              <a:rPr sz="1000" b="1" i="0">
                <a:solidFill>
                  <a:srgbClr val="F5F7FA"/>
                </a:solidFill>
              </a:rPr>
              <a:t>THE TWO THERMAL BOTTLENECKS WE SOLVE FOR SONA COMSTAR:</a:t>
            </a:r>
          </a:p>
        </p:txBody>
      </p:sp>
      <p:sp>
        <p:nvSpPr>
          <p:cNvPr id="21" name="Rectangle 20"/>
          <p:cNvSpPr/>
          <p:nvPr/>
        </p:nvSpPr>
        <p:spPr>
          <a:xfrm>
            <a:off x="457200" y="4069080"/>
            <a:ext cx="5577840" cy="192024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069080"/>
            <a:ext cx="54864" cy="192024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133087"/>
            <a:ext cx="5212080" cy="256032"/>
          </a:xfrm>
          <a:prstGeom prst="rect">
            <a:avLst/>
          </a:prstGeom>
          <a:noFill/>
        </p:spPr>
        <p:txBody>
          <a:bodyPr wrap="square">
            <a:spAutoFit/>
          </a:bodyPr>
          <a:lstStyle/>
          <a:p>
            <a:pPr algn="l"/>
            <a:r>
              <a:rPr sz="1000" b="1" i="0">
                <a:solidFill>
                  <a:srgbClr val="F5A623"/>
                </a:solidFill>
              </a:rPr>
              <a:t>① PRECISION FORGING DIES (DRIVELINE)</a:t>
            </a:r>
          </a:p>
        </p:txBody>
      </p:sp>
      <p:sp>
        <p:nvSpPr>
          <p:cNvPr id="24" name="TextBox 23"/>
          <p:cNvSpPr txBox="1"/>
          <p:nvPr/>
        </p:nvSpPr>
        <p:spPr>
          <a:xfrm>
            <a:off x="640080" y="4416552"/>
            <a:ext cx="5212080" cy="1371600"/>
          </a:xfrm>
          <a:prstGeom prst="rect">
            <a:avLst/>
          </a:prstGeom>
          <a:noFill/>
        </p:spPr>
        <p:txBody>
          <a:bodyPr wrap="square">
            <a:spAutoFit/>
          </a:bodyPr>
          <a:lstStyle/>
          <a:p>
            <a:pPr algn="l"/>
            <a:r>
              <a:rPr sz="1000" b="0" i="0">
                <a:solidFill>
                  <a:srgbClr val="AAB4C6"/>
                </a:solidFill>
              </a:rPr>
              <a:t>Legacy H13 tool steel dies suffer rapid thermal fatigue and yield strength collapse at 1200°C during high-speed gear forging. Our HEA architectures retain &gt;917.7 MPa yield strength at these exact temperatures.</a:t>
            </a:r>
          </a:p>
        </p:txBody>
      </p:sp>
      <p:sp>
        <p:nvSpPr>
          <p:cNvPr id="25" name="Rectangle 24"/>
          <p:cNvSpPr/>
          <p:nvPr/>
        </p:nvSpPr>
        <p:spPr>
          <a:xfrm>
            <a:off x="6153912" y="4069080"/>
            <a:ext cx="5577840" cy="192024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69080"/>
            <a:ext cx="54864" cy="192024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4133087"/>
            <a:ext cx="5212080" cy="256032"/>
          </a:xfrm>
          <a:prstGeom prst="rect">
            <a:avLst/>
          </a:prstGeom>
          <a:noFill/>
        </p:spPr>
        <p:txBody>
          <a:bodyPr wrap="square">
            <a:spAutoFit/>
          </a:bodyPr>
          <a:lstStyle/>
          <a:p>
            <a:pPr algn="l"/>
            <a:r>
              <a:rPr sz="1000" b="1" i="0">
                <a:solidFill>
                  <a:srgbClr val="00E5A0"/>
                </a:solidFill>
              </a:rPr>
              <a:t>② NEXT-GENERATION TRACTION MOTORS (ELECTRIC)</a:t>
            </a:r>
          </a:p>
        </p:txBody>
      </p:sp>
      <p:sp>
        <p:nvSpPr>
          <p:cNvPr id="28" name="TextBox 27"/>
          <p:cNvSpPr txBox="1"/>
          <p:nvPr/>
        </p:nvSpPr>
        <p:spPr>
          <a:xfrm>
            <a:off x="6336792" y="4416552"/>
            <a:ext cx="5212080" cy="1371600"/>
          </a:xfrm>
          <a:prstGeom prst="rect">
            <a:avLst/>
          </a:prstGeom>
          <a:noFill/>
        </p:spPr>
        <p:txBody>
          <a:bodyPr wrap="square">
            <a:spAutoFit/>
          </a:bodyPr>
          <a:lstStyle/>
          <a:p>
            <a:pPr algn="l"/>
            <a:r>
              <a:rPr sz="1000" b="0" i="0">
                <a:solidFill>
                  <a:srgbClr val="AAB4C6"/>
                </a:solidFill>
              </a:rPr>
              <a:t>As Sona Comstar scales magnet-less Switched Reluctance Motors (SRMs), traditional metals degrade under severe localized thermal loads generated by extreme torque densities. Our FGM architecture provides thermal shielding.</a:t>
            </a:r>
          </a:p>
        </p:txBody>
      </p:sp>
      <p:sp>
        <p:nvSpPr>
          <p:cNvPr id="29" name="Rectangle 28"/>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31" name="TextBox 30"/>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COMMERCIAL STRATEGY</a:t>
            </a:r>
          </a:p>
        </p:txBody>
      </p:sp>
      <p:sp>
        <p:nvSpPr>
          <p:cNvPr id="3" name="TextBox 2"/>
          <p:cNvSpPr txBox="1"/>
          <p:nvPr/>
        </p:nvSpPr>
        <p:spPr>
          <a:xfrm>
            <a:off x="457200" y="502920"/>
            <a:ext cx="10972800" cy="502920"/>
          </a:xfrm>
          <a:prstGeom prst="rect">
            <a:avLst/>
          </a:prstGeom>
          <a:noFill/>
        </p:spPr>
        <p:txBody>
          <a:bodyPr wrap="square">
            <a:spAutoFit/>
          </a:bodyPr>
          <a:lstStyle/>
          <a:p>
            <a:pPr algn="l"/>
            <a:r>
              <a:rPr sz="1800" b="1" i="0">
                <a:solidFill>
                  <a:srgbClr val="F5F7FA"/>
                </a:solidFill>
              </a:rPr>
              <a:t>DEPLOYING AEROSPACE GRADE MATERIALS AT COMMERCIAL SCALE</a:t>
            </a:r>
          </a:p>
        </p:txBody>
      </p:sp>
      <p:sp>
        <p:nvSpPr>
          <p:cNvPr id="4" name="Rectangle 3"/>
          <p:cNvSpPr/>
          <p:nvPr/>
        </p:nvSpPr>
        <p:spPr>
          <a:xfrm>
            <a:off x="457200" y="98755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78992"/>
            <a:ext cx="11247120" cy="320040"/>
          </a:xfrm>
          <a:prstGeom prst="rect">
            <a:avLst/>
          </a:prstGeom>
          <a:noFill/>
        </p:spPr>
        <p:txBody>
          <a:bodyPr wrap="square">
            <a:spAutoFit/>
          </a:bodyPr>
          <a:lstStyle/>
          <a:p>
            <a:pPr algn="l"/>
            <a:r>
              <a:rPr sz="1100" b="0" i="0">
                <a:solidFill>
                  <a:srgbClr val="AAB4C6"/>
                </a:solidFill>
              </a:rPr>
              <a:t>Our AI engine does not just optimize for physics; it optimizes for the supply chain.</a:t>
            </a:r>
          </a:p>
        </p:txBody>
      </p:sp>
      <p:sp>
        <p:nvSpPr>
          <p:cNvPr id="6" name="Rectangle 5"/>
          <p:cNvSpPr/>
          <p:nvPr/>
        </p:nvSpPr>
        <p:spPr>
          <a:xfrm>
            <a:off x="457200" y="1508760"/>
            <a:ext cx="3730752" cy="4846320"/>
          </a:xfrm>
          <a:prstGeom prst="roundRect">
            <a:avLst>
              <a:gd name="adj" fmla="val 2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08760"/>
            <a:ext cx="3730752"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00200"/>
            <a:ext cx="3410712" cy="320040"/>
          </a:xfrm>
          <a:prstGeom prst="rect">
            <a:avLst/>
          </a:prstGeom>
          <a:noFill/>
        </p:spPr>
        <p:txBody>
          <a:bodyPr wrap="square">
            <a:spAutoFit/>
          </a:bodyPr>
          <a:lstStyle/>
          <a:p>
            <a:pPr algn="l"/>
            <a:r>
              <a:rPr sz="900" b="1" i="0">
                <a:solidFill>
                  <a:srgbClr val="00E5A0"/>
                </a:solidFill>
              </a:rPr>
              <a:t>RAW MATERIAL COST</a:t>
            </a:r>
          </a:p>
        </p:txBody>
      </p:sp>
      <p:sp>
        <p:nvSpPr>
          <p:cNvPr id="9" name="TextBox 8"/>
          <p:cNvSpPr txBox="1"/>
          <p:nvPr/>
        </p:nvSpPr>
        <p:spPr>
          <a:xfrm>
            <a:off x="640080" y="1938528"/>
            <a:ext cx="3410712" cy="1097280"/>
          </a:xfrm>
          <a:prstGeom prst="rect">
            <a:avLst/>
          </a:prstGeom>
          <a:noFill/>
        </p:spPr>
        <p:txBody>
          <a:bodyPr wrap="square">
            <a:spAutoFit/>
          </a:bodyPr>
          <a:lstStyle/>
          <a:p>
            <a:pPr algn="ctr"/>
            <a:r>
              <a:rPr sz="2400" b="1" i="0">
                <a:solidFill>
                  <a:srgbClr val="F5F7FA"/>
                </a:solidFill>
              </a:rPr>
              <a:t>15-20%
Cost Drop</a:t>
            </a:r>
          </a:p>
        </p:txBody>
      </p:sp>
      <p:sp>
        <p:nvSpPr>
          <p:cNvPr id="10" name="Rectangle 9"/>
          <p:cNvSpPr/>
          <p:nvPr/>
        </p:nvSpPr>
        <p:spPr>
          <a:xfrm>
            <a:off x="914400" y="3017520"/>
            <a:ext cx="2816352"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127248"/>
            <a:ext cx="3410712" cy="3017520"/>
          </a:xfrm>
          <a:prstGeom prst="rect">
            <a:avLst/>
          </a:prstGeom>
          <a:noFill/>
        </p:spPr>
        <p:txBody>
          <a:bodyPr wrap="square">
            <a:spAutoFit/>
          </a:bodyPr>
          <a:lstStyle/>
          <a:p>
            <a:pPr algn="l"/>
            <a:r>
              <a:rPr sz="1000" b="0" i="0">
                <a:solidFill>
                  <a:srgbClr val="AAB4C6"/>
                </a:solidFill>
              </a:rPr>
              <a:t>By programmatically substituting supply-constrained Hafnium with optimized Titanium, our AI dropped raw material cost to ~$170/kg — enabling aerospace-grade materials viable for high-volume commercial automotive forging.</a:t>
            </a:r>
          </a:p>
        </p:txBody>
      </p:sp>
      <p:sp>
        <p:nvSpPr>
          <p:cNvPr id="12" name="Rectangle 11"/>
          <p:cNvSpPr/>
          <p:nvPr/>
        </p:nvSpPr>
        <p:spPr>
          <a:xfrm>
            <a:off x="4315968" y="1508760"/>
            <a:ext cx="3730752" cy="4846320"/>
          </a:xfrm>
          <a:prstGeom prst="roundRect">
            <a:avLst>
              <a:gd name="adj" fmla="val 2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508760"/>
            <a:ext cx="3730752" cy="4572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600200"/>
            <a:ext cx="3410712" cy="320040"/>
          </a:xfrm>
          <a:prstGeom prst="rect">
            <a:avLst/>
          </a:prstGeom>
          <a:noFill/>
        </p:spPr>
        <p:txBody>
          <a:bodyPr wrap="square">
            <a:spAutoFit/>
          </a:bodyPr>
          <a:lstStyle/>
          <a:p>
            <a:pPr algn="l"/>
            <a:r>
              <a:rPr sz="900" b="1" i="0">
                <a:solidFill>
                  <a:srgbClr val="F5A623"/>
                </a:solidFill>
              </a:rPr>
              <a:t>ESG &amp; SUSTAINABILITY</a:t>
            </a:r>
          </a:p>
        </p:txBody>
      </p:sp>
      <p:sp>
        <p:nvSpPr>
          <p:cNvPr id="15" name="TextBox 14"/>
          <p:cNvSpPr txBox="1"/>
          <p:nvPr/>
        </p:nvSpPr>
        <p:spPr>
          <a:xfrm>
            <a:off x="4498848" y="1938528"/>
            <a:ext cx="3410712" cy="1097280"/>
          </a:xfrm>
          <a:prstGeom prst="rect">
            <a:avLst/>
          </a:prstGeom>
          <a:noFill/>
        </p:spPr>
        <p:txBody>
          <a:bodyPr wrap="square">
            <a:spAutoFit/>
          </a:bodyPr>
          <a:lstStyle/>
          <a:p>
            <a:pPr algn="ctr"/>
            <a:r>
              <a:rPr sz="2400" b="1" i="0">
                <a:solidFill>
                  <a:srgbClr val="F5F7FA"/>
                </a:solidFill>
              </a:rPr>
              <a:t>1680
MJ/kg</a:t>
            </a:r>
          </a:p>
        </p:txBody>
      </p:sp>
      <p:sp>
        <p:nvSpPr>
          <p:cNvPr id="16" name="Rectangle 15"/>
          <p:cNvSpPr/>
          <p:nvPr/>
        </p:nvSpPr>
        <p:spPr>
          <a:xfrm>
            <a:off x="4773168" y="3017520"/>
            <a:ext cx="2816352"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8" y="3127248"/>
            <a:ext cx="3410712" cy="3017520"/>
          </a:xfrm>
          <a:prstGeom prst="rect">
            <a:avLst/>
          </a:prstGeom>
          <a:noFill/>
        </p:spPr>
        <p:txBody>
          <a:bodyPr wrap="square">
            <a:spAutoFit/>
          </a:bodyPr>
          <a:lstStyle/>
          <a:p>
            <a:pPr algn="l"/>
            <a:r>
              <a:rPr sz="1000" b="0" i="0">
                <a:solidFill>
                  <a:srgbClr val="AAB4C6"/>
                </a:solidFill>
              </a:rPr>
              <a:t>Crystal Paradigm's Candidate C is fully quantified for environmental impact. Embodied Energy is capped at a highly sustainable 1680 MJ/kg — directly supporting zero-emissions manufacturing goals and Sona Comstar's Scope 1/2 carbon reduction mandate.</a:t>
            </a:r>
          </a:p>
        </p:txBody>
      </p:sp>
      <p:sp>
        <p:nvSpPr>
          <p:cNvPr id="18" name="Rectangle 17"/>
          <p:cNvSpPr/>
          <p:nvPr/>
        </p:nvSpPr>
        <p:spPr>
          <a:xfrm>
            <a:off x="8174736" y="1508760"/>
            <a:ext cx="3730752" cy="4846320"/>
          </a:xfrm>
          <a:prstGeom prst="roundRect">
            <a:avLst>
              <a:gd name="adj" fmla="val 20000"/>
            </a:avLst>
          </a:prstGeom>
          <a:solidFill>
            <a:srgbClr val="1E2745"/>
          </a:solidFill>
          <a:ln w="12700">
            <a:solidFill>
              <a:srgbClr val="6E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74736" y="1508760"/>
            <a:ext cx="3730752" cy="45720"/>
          </a:xfrm>
          <a:prstGeom prst="roundRect">
            <a:avLst>
              <a:gd name="adj" fmla="val 20000"/>
            </a:avLst>
          </a:prstGeom>
          <a:solidFill>
            <a:srgbClr val="6E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7615" y="1600200"/>
            <a:ext cx="3410712" cy="320040"/>
          </a:xfrm>
          <a:prstGeom prst="rect">
            <a:avLst/>
          </a:prstGeom>
          <a:noFill/>
        </p:spPr>
        <p:txBody>
          <a:bodyPr wrap="square">
            <a:spAutoFit/>
          </a:bodyPr>
          <a:lstStyle/>
          <a:p>
            <a:pPr algn="l"/>
            <a:r>
              <a:rPr sz="900" b="1" i="0">
                <a:solidFill>
                  <a:srgbClr val="6E9DFF"/>
                </a:solidFill>
              </a:rPr>
              <a:t>SUPPLY CHAIN RESILIENCE</a:t>
            </a:r>
          </a:p>
        </p:txBody>
      </p:sp>
      <p:sp>
        <p:nvSpPr>
          <p:cNvPr id="21" name="TextBox 20"/>
          <p:cNvSpPr txBox="1"/>
          <p:nvPr/>
        </p:nvSpPr>
        <p:spPr>
          <a:xfrm>
            <a:off x="8357615" y="1938528"/>
            <a:ext cx="3410712" cy="1097280"/>
          </a:xfrm>
          <a:prstGeom prst="rect">
            <a:avLst/>
          </a:prstGeom>
          <a:noFill/>
        </p:spPr>
        <p:txBody>
          <a:bodyPr wrap="square">
            <a:spAutoFit/>
          </a:bodyPr>
          <a:lstStyle/>
          <a:p>
            <a:pPr algn="ctr"/>
            <a:r>
              <a:rPr sz="2400" b="1" i="0">
                <a:solidFill>
                  <a:srgbClr val="F5F7FA"/>
                </a:solidFill>
              </a:rPr>
              <a:t>Make in
India IP</a:t>
            </a:r>
          </a:p>
        </p:txBody>
      </p:sp>
      <p:sp>
        <p:nvSpPr>
          <p:cNvPr id="22" name="Rectangle 21"/>
          <p:cNvSpPr/>
          <p:nvPr/>
        </p:nvSpPr>
        <p:spPr>
          <a:xfrm>
            <a:off x="8631936" y="3017520"/>
            <a:ext cx="2816352"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7615" y="3127248"/>
            <a:ext cx="3410712" cy="3017520"/>
          </a:xfrm>
          <a:prstGeom prst="rect">
            <a:avLst/>
          </a:prstGeom>
          <a:noFill/>
        </p:spPr>
        <p:txBody>
          <a:bodyPr wrap="square">
            <a:spAutoFit/>
          </a:bodyPr>
          <a:lstStyle/>
          <a:p>
            <a:pPr algn="l"/>
            <a:r>
              <a:rPr sz="1000" b="0" i="0">
                <a:solidFill>
                  <a:srgbClr val="AAB4C6"/>
                </a:solidFill>
              </a:rPr>
              <a:t>By utilizing a 9-element multi-principal matrix, we drastically reduce reliance on single critical minerals (like Neodymium) controlled by volatile foreign supply chains. Our pipeline ensures true indigenous, self-reliant IP generation.</a:t>
            </a:r>
          </a:p>
        </p:txBody>
      </p:sp>
      <p:sp>
        <p:nvSpPr>
          <p:cNvPr id="24" name="Rectangle 23"/>
          <p:cNvSpPr/>
          <p:nvPr/>
        </p:nvSpPr>
        <p:spPr>
          <a:xfrm>
            <a:off x="457200" y="6400800"/>
            <a:ext cx="11274552" cy="36576"/>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27" name="TextBox 26"/>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AI ENGINE · STEP 1 OF 3</a:t>
            </a:r>
          </a:p>
        </p:txBody>
      </p:sp>
      <p:sp>
        <p:nvSpPr>
          <p:cNvPr id="3" name="TextBox 2"/>
          <p:cNvSpPr txBox="1"/>
          <p:nvPr/>
        </p:nvSpPr>
        <p:spPr>
          <a:xfrm>
            <a:off x="457200" y="502920"/>
            <a:ext cx="9144000" cy="365760"/>
          </a:xfrm>
          <a:prstGeom prst="rect">
            <a:avLst/>
          </a:prstGeom>
          <a:noFill/>
        </p:spPr>
        <p:txBody>
          <a:bodyPr wrap="square">
            <a:spAutoFit/>
          </a:bodyPr>
          <a:lstStyle/>
          <a:p>
            <a:pPr algn="l"/>
            <a:r>
              <a:rPr sz="1800" b="1" i="0">
                <a:solidFill>
                  <a:srgbClr val="F5F7FA"/>
                </a:solidFill>
              </a:rPr>
              <a:t>THE CRYSTAL PARADIGM AI ENGINE: STEP 1</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Secure Ingestion &amp; Empirical Thermodynamic Gating</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640080"/>
          </a:xfrm>
          <a:prstGeom prst="rect">
            <a:avLst/>
          </a:prstGeom>
          <a:noFill/>
        </p:spPr>
        <p:txBody>
          <a:bodyPr wrap="square">
            <a:spAutoFit/>
          </a:bodyPr>
          <a:lstStyle/>
          <a:p>
            <a:pPr algn="l"/>
            <a:r>
              <a:rPr sz="1050" b="0" i="0">
                <a:solidFill>
                  <a:srgbClr val="AAB4C6"/>
                </a:solidFill>
              </a:rPr>
              <a:t>Before a single ML model is trained, our pipeline strictly enforces the laws of physics and commercial viability. We ingest massive combinatorial spaces (Materials Project, AFLOW), but ruthlessly filter out unstable or toxic formulations using Miedema's Empirical Rules to ensure day-one compliance with Sona Comstar's 75% Supplier ESG mandate.</a:t>
            </a:r>
          </a:p>
        </p:txBody>
      </p:sp>
      <p:sp>
        <p:nvSpPr>
          <p:cNvPr id="7" name="Rectangle 6"/>
          <p:cNvSpPr/>
          <p:nvPr/>
        </p:nvSpPr>
        <p:spPr>
          <a:xfrm>
            <a:off x="457200" y="1920240"/>
            <a:ext cx="5650992" cy="201168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920240"/>
            <a:ext cx="5650992"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029968"/>
            <a:ext cx="5376672" cy="256032"/>
          </a:xfrm>
          <a:prstGeom prst="rect">
            <a:avLst/>
          </a:prstGeom>
          <a:noFill/>
        </p:spPr>
        <p:txBody>
          <a:bodyPr wrap="square">
            <a:spAutoFit/>
          </a:bodyPr>
          <a:lstStyle/>
          <a:p>
            <a:pPr algn="l"/>
            <a:r>
              <a:rPr sz="1000" b="1" i="0">
                <a:solidFill>
                  <a:srgbClr val="F5F7FA"/>
                </a:solidFill>
              </a:rPr>
              <a:t>Atomic Size Mismatch (δ)</a:t>
            </a:r>
          </a:p>
        </p:txBody>
      </p:sp>
      <p:sp>
        <p:nvSpPr>
          <p:cNvPr id="10" name="Rectangle 9"/>
          <p:cNvSpPr/>
          <p:nvPr/>
        </p:nvSpPr>
        <p:spPr>
          <a:xfrm>
            <a:off x="621792" y="2331720"/>
            <a:ext cx="5321807" cy="438912"/>
          </a:xfrm>
          <a:prstGeom prst="roundRect">
            <a:avLst>
              <a:gd name="adj" fmla="val 15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50008"/>
            <a:ext cx="5321807" cy="402336"/>
          </a:xfrm>
          <a:prstGeom prst="rect">
            <a:avLst/>
          </a:prstGeom>
          <a:noFill/>
        </p:spPr>
        <p:txBody>
          <a:bodyPr wrap="square">
            <a:spAutoFit/>
          </a:bodyPr>
          <a:lstStyle/>
          <a:p>
            <a:pPr algn="ctr"/>
            <a:r>
              <a:rPr sz="1400" b="1" i="0">
                <a:solidFill>
                  <a:srgbClr val="00E5A0"/>
                </a:solidFill>
              </a:rPr>
              <a:t>≤ 6.6%</a:t>
            </a:r>
          </a:p>
        </p:txBody>
      </p:sp>
      <p:sp>
        <p:nvSpPr>
          <p:cNvPr id="12" name="TextBox 11"/>
          <p:cNvSpPr txBox="1"/>
          <p:nvPr/>
        </p:nvSpPr>
        <p:spPr>
          <a:xfrm>
            <a:off x="621792" y="2852928"/>
            <a:ext cx="5376672" cy="914400"/>
          </a:xfrm>
          <a:prstGeom prst="rect">
            <a:avLst/>
          </a:prstGeom>
          <a:noFill/>
        </p:spPr>
        <p:txBody>
          <a:bodyPr wrap="square">
            <a:spAutoFit/>
          </a:bodyPr>
          <a:lstStyle/>
          <a:p>
            <a:pPr algn="l"/>
            <a:r>
              <a:rPr sz="950" b="0" i="0">
                <a:solidFill>
                  <a:srgbClr val="AAB4C6"/>
                </a:solidFill>
              </a:rPr>
              <a:t>Prevents lattice distortion under high torque. Ensures mechanical stability during high-speed gear forging.</a:t>
            </a:r>
          </a:p>
        </p:txBody>
      </p:sp>
      <p:sp>
        <p:nvSpPr>
          <p:cNvPr id="13" name="Rectangle 12"/>
          <p:cNvSpPr/>
          <p:nvPr/>
        </p:nvSpPr>
        <p:spPr>
          <a:xfrm>
            <a:off x="6263640" y="1920240"/>
            <a:ext cx="5650992" cy="201168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920240"/>
            <a:ext cx="5650992"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1" y="2029968"/>
            <a:ext cx="5376672" cy="256032"/>
          </a:xfrm>
          <a:prstGeom prst="rect">
            <a:avLst/>
          </a:prstGeom>
          <a:noFill/>
        </p:spPr>
        <p:txBody>
          <a:bodyPr wrap="square">
            <a:spAutoFit/>
          </a:bodyPr>
          <a:lstStyle/>
          <a:p>
            <a:pPr algn="l"/>
            <a:r>
              <a:rPr sz="1000" b="1" i="0">
                <a:solidFill>
                  <a:srgbClr val="F5F7FA"/>
                </a:solidFill>
              </a:rPr>
              <a:t>Enthalpy of Mixing (ΔH_mix)</a:t>
            </a:r>
          </a:p>
        </p:txBody>
      </p:sp>
      <p:sp>
        <p:nvSpPr>
          <p:cNvPr id="16" name="Rectangle 15"/>
          <p:cNvSpPr/>
          <p:nvPr/>
        </p:nvSpPr>
        <p:spPr>
          <a:xfrm>
            <a:off x="6428231" y="2331720"/>
            <a:ext cx="5321807" cy="438912"/>
          </a:xfrm>
          <a:prstGeom prst="roundRect">
            <a:avLst>
              <a:gd name="adj" fmla="val 15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1" y="2350008"/>
            <a:ext cx="5321807" cy="402336"/>
          </a:xfrm>
          <a:prstGeom prst="rect">
            <a:avLst/>
          </a:prstGeom>
          <a:noFill/>
        </p:spPr>
        <p:txBody>
          <a:bodyPr wrap="square">
            <a:spAutoFit/>
          </a:bodyPr>
          <a:lstStyle/>
          <a:p>
            <a:pPr algn="ctr"/>
            <a:r>
              <a:rPr sz="1400" b="1" i="0">
                <a:solidFill>
                  <a:srgbClr val="00E5A0"/>
                </a:solidFill>
              </a:rPr>
              <a:t>-15 to +5 kJ/mol</a:t>
            </a:r>
          </a:p>
        </p:txBody>
      </p:sp>
      <p:sp>
        <p:nvSpPr>
          <p:cNvPr id="18" name="TextBox 17"/>
          <p:cNvSpPr txBox="1"/>
          <p:nvPr/>
        </p:nvSpPr>
        <p:spPr>
          <a:xfrm>
            <a:off x="6428231" y="2852928"/>
            <a:ext cx="5376672" cy="914400"/>
          </a:xfrm>
          <a:prstGeom prst="rect">
            <a:avLst/>
          </a:prstGeom>
          <a:noFill/>
        </p:spPr>
        <p:txBody>
          <a:bodyPr wrap="square">
            <a:spAutoFit/>
          </a:bodyPr>
          <a:lstStyle/>
          <a:p>
            <a:pPr algn="l"/>
            <a:r>
              <a:rPr sz="950" b="0" i="0">
                <a:solidFill>
                  <a:srgbClr val="AAB4C6"/>
                </a:solidFill>
              </a:rPr>
              <a:t>Ensures thermodynamically favorable mixing. Outside this band, the alloy phase-separates under thermal stress.</a:t>
            </a:r>
          </a:p>
        </p:txBody>
      </p:sp>
      <p:sp>
        <p:nvSpPr>
          <p:cNvPr id="19" name="Rectangle 18"/>
          <p:cNvSpPr/>
          <p:nvPr/>
        </p:nvSpPr>
        <p:spPr>
          <a:xfrm>
            <a:off x="457200" y="4133087"/>
            <a:ext cx="5650992" cy="201168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133087"/>
            <a:ext cx="5650992"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242816"/>
            <a:ext cx="5376672" cy="256032"/>
          </a:xfrm>
          <a:prstGeom prst="rect">
            <a:avLst/>
          </a:prstGeom>
          <a:noFill/>
        </p:spPr>
        <p:txBody>
          <a:bodyPr wrap="square">
            <a:spAutoFit/>
          </a:bodyPr>
          <a:lstStyle/>
          <a:p>
            <a:pPr algn="l"/>
            <a:r>
              <a:rPr sz="1000" b="1" i="0">
                <a:solidFill>
                  <a:srgbClr val="F5F7FA"/>
                </a:solidFill>
              </a:rPr>
              <a:t>Valence Electron Concentration (VEC)</a:t>
            </a:r>
          </a:p>
        </p:txBody>
      </p:sp>
      <p:sp>
        <p:nvSpPr>
          <p:cNvPr id="22" name="Rectangle 21"/>
          <p:cNvSpPr/>
          <p:nvPr/>
        </p:nvSpPr>
        <p:spPr>
          <a:xfrm>
            <a:off x="621792" y="4544568"/>
            <a:ext cx="5321807" cy="438912"/>
          </a:xfrm>
          <a:prstGeom prst="roundRect">
            <a:avLst>
              <a:gd name="adj" fmla="val 15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4562855"/>
            <a:ext cx="5321807" cy="402336"/>
          </a:xfrm>
          <a:prstGeom prst="rect">
            <a:avLst/>
          </a:prstGeom>
          <a:noFill/>
        </p:spPr>
        <p:txBody>
          <a:bodyPr wrap="square">
            <a:spAutoFit/>
          </a:bodyPr>
          <a:lstStyle/>
          <a:p>
            <a:pPr algn="ctr"/>
            <a:r>
              <a:rPr sz="1400" b="1" i="0">
                <a:solidFill>
                  <a:srgbClr val="00E5A0"/>
                </a:solidFill>
              </a:rPr>
              <a:t>4.0 – 6.8</a:t>
            </a:r>
          </a:p>
        </p:txBody>
      </p:sp>
      <p:sp>
        <p:nvSpPr>
          <p:cNvPr id="24" name="TextBox 23"/>
          <p:cNvSpPr txBox="1"/>
          <p:nvPr/>
        </p:nvSpPr>
        <p:spPr>
          <a:xfrm>
            <a:off x="621792" y="5065775"/>
            <a:ext cx="5376672" cy="914400"/>
          </a:xfrm>
          <a:prstGeom prst="rect">
            <a:avLst/>
          </a:prstGeom>
          <a:noFill/>
        </p:spPr>
        <p:txBody>
          <a:bodyPr wrap="square">
            <a:spAutoFit/>
          </a:bodyPr>
          <a:lstStyle/>
          <a:p>
            <a:pPr algn="l"/>
            <a:r>
              <a:rPr sz="950" b="0" i="0">
                <a:solidFill>
                  <a:srgbClr val="AAB4C6"/>
                </a:solidFill>
              </a:rPr>
              <a:t>Guarantees a stable Body-Centered Cubic (BCC) matrix. VEC &lt; 6.8 explicitly eliminates brittle Sigma phase risk.</a:t>
            </a:r>
          </a:p>
        </p:txBody>
      </p:sp>
      <p:sp>
        <p:nvSpPr>
          <p:cNvPr id="25" name="Rectangle 24"/>
          <p:cNvSpPr/>
          <p:nvPr/>
        </p:nvSpPr>
        <p:spPr>
          <a:xfrm>
            <a:off x="6263640" y="4133087"/>
            <a:ext cx="5650992" cy="201168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4133087"/>
            <a:ext cx="5650992"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8231" y="4242816"/>
            <a:ext cx="5376672" cy="256032"/>
          </a:xfrm>
          <a:prstGeom prst="rect">
            <a:avLst/>
          </a:prstGeom>
          <a:noFill/>
        </p:spPr>
        <p:txBody>
          <a:bodyPr wrap="square">
            <a:spAutoFit/>
          </a:bodyPr>
          <a:lstStyle/>
          <a:p>
            <a:pPr algn="l"/>
            <a:r>
              <a:rPr sz="1000" b="1" i="0">
                <a:solidFill>
                  <a:srgbClr val="F5F7FA"/>
                </a:solidFill>
              </a:rPr>
              <a:t>Omega Parameter (Ω)</a:t>
            </a:r>
          </a:p>
        </p:txBody>
      </p:sp>
      <p:sp>
        <p:nvSpPr>
          <p:cNvPr id="28" name="Rectangle 27"/>
          <p:cNvSpPr/>
          <p:nvPr/>
        </p:nvSpPr>
        <p:spPr>
          <a:xfrm>
            <a:off x="6428231" y="4544568"/>
            <a:ext cx="5321807" cy="438912"/>
          </a:xfrm>
          <a:prstGeom prst="roundRect">
            <a:avLst>
              <a:gd name="adj" fmla="val 15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8231" y="4562855"/>
            <a:ext cx="5321807" cy="402336"/>
          </a:xfrm>
          <a:prstGeom prst="rect">
            <a:avLst/>
          </a:prstGeom>
          <a:noFill/>
        </p:spPr>
        <p:txBody>
          <a:bodyPr wrap="square">
            <a:spAutoFit/>
          </a:bodyPr>
          <a:lstStyle/>
          <a:p>
            <a:pPr algn="ctr"/>
            <a:r>
              <a:rPr sz="1400" b="1" i="0">
                <a:solidFill>
                  <a:srgbClr val="00E5A0"/>
                </a:solidFill>
              </a:rPr>
              <a:t>≥ 1.1</a:t>
            </a:r>
          </a:p>
        </p:txBody>
      </p:sp>
      <p:sp>
        <p:nvSpPr>
          <p:cNvPr id="30" name="TextBox 29"/>
          <p:cNvSpPr txBox="1"/>
          <p:nvPr/>
        </p:nvSpPr>
        <p:spPr>
          <a:xfrm>
            <a:off x="6428231" y="5065775"/>
            <a:ext cx="5376672" cy="914400"/>
          </a:xfrm>
          <a:prstGeom prst="rect">
            <a:avLst/>
          </a:prstGeom>
          <a:noFill/>
        </p:spPr>
        <p:txBody>
          <a:bodyPr wrap="square">
            <a:spAutoFit/>
          </a:bodyPr>
          <a:lstStyle/>
          <a:p>
            <a:pPr algn="l"/>
            <a:r>
              <a:rPr sz="950" b="0" i="0">
                <a:solidFill>
                  <a:srgbClr val="AAB4C6"/>
                </a:solidFill>
              </a:rPr>
              <a:t>Guarantees dominant solid solution stability over intermetallic compound formation at target temperatures.</a:t>
            </a:r>
          </a:p>
        </p:txBody>
      </p:sp>
      <p:sp>
        <p:nvSpPr>
          <p:cNvPr id="31" name="Rectangle 30"/>
          <p:cNvSpPr/>
          <p:nvPr/>
        </p:nvSpPr>
        <p:spPr>
          <a:xfrm>
            <a:off x="8961120" y="320040"/>
            <a:ext cx="2834640" cy="685800"/>
          </a:xfrm>
          <a:prstGeom prst="roundRect">
            <a:avLst>
              <a:gd name="adj" fmla="val 20000"/>
            </a:avLst>
          </a:prstGeom>
          <a:solidFill>
            <a:srgbClr val="003D2B"/>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0" y="365760"/>
            <a:ext cx="2651760" cy="594360"/>
          </a:xfrm>
          <a:prstGeom prst="rect">
            <a:avLst/>
          </a:prstGeom>
          <a:noFill/>
        </p:spPr>
        <p:txBody>
          <a:bodyPr wrap="square">
            <a:spAutoFit/>
          </a:bodyPr>
          <a:lstStyle/>
          <a:p>
            <a:pPr algn="l"/>
            <a:r>
              <a:rPr sz="900" b="1" i="0">
                <a:solidFill>
                  <a:srgbClr val="00E5A0"/>
                </a:solidFill>
              </a:rPr>
              <a:t>✓  SONA COMSTAR 75%
    SUPPLIER COMPLIANCE</a:t>
            </a:r>
          </a:p>
        </p:txBody>
      </p:sp>
      <p:sp>
        <p:nvSpPr>
          <p:cNvPr id="33" name="Rectangle 32"/>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35" name="TextBox 34"/>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AI ENGINE · STEP 2 OF 3</a:t>
            </a:r>
          </a:p>
        </p:txBody>
      </p:sp>
      <p:sp>
        <p:nvSpPr>
          <p:cNvPr id="3" name="TextBox 2"/>
          <p:cNvSpPr txBox="1"/>
          <p:nvPr/>
        </p:nvSpPr>
        <p:spPr>
          <a:xfrm>
            <a:off x="457200" y="502920"/>
            <a:ext cx="9144000" cy="365760"/>
          </a:xfrm>
          <a:prstGeom prst="rect">
            <a:avLst/>
          </a:prstGeom>
          <a:noFill/>
        </p:spPr>
        <p:txBody>
          <a:bodyPr wrap="square">
            <a:spAutoFit/>
          </a:bodyPr>
          <a:lstStyle/>
          <a:p>
            <a:pPr algn="l"/>
            <a:r>
              <a:rPr sz="1800" b="1" i="0">
                <a:solidFill>
                  <a:srgbClr val="F5F7FA"/>
                </a:solidFill>
              </a:rPr>
              <a:t>THE CRYSTAL PARADIGM AI ENGINE: STEP 2</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Dual-Stream Machine Learning Surrogates</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502920"/>
          </a:xfrm>
          <a:prstGeom prst="rect">
            <a:avLst/>
          </a:prstGeom>
          <a:noFill/>
        </p:spPr>
        <p:txBody>
          <a:bodyPr wrap="square">
            <a:spAutoFit/>
          </a:bodyPr>
          <a:lstStyle/>
          <a:p>
            <a:pPr algn="l"/>
            <a:r>
              <a:rPr sz="1050" b="0" i="0">
                <a:solidFill>
                  <a:srgbClr val="AAB4C6"/>
                </a:solidFill>
              </a:rPr>
              <a:t>To predict material behavior for Sona Comstar's extreme-environment SRMs and H13 forging dies, we engineered a dual-stream surrogate architecture mapping both theoretical physics and real-world variance.</a:t>
            </a:r>
          </a:p>
        </p:txBody>
      </p:sp>
      <p:sp>
        <p:nvSpPr>
          <p:cNvPr id="7" name="Rectangle 6"/>
          <p:cNvSpPr/>
          <p:nvPr/>
        </p:nvSpPr>
        <p:spPr>
          <a:xfrm>
            <a:off x="457200" y="1828800"/>
            <a:ext cx="5486400" cy="457200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828800"/>
            <a:ext cx="54864" cy="457200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20240"/>
            <a:ext cx="5120640" cy="228600"/>
          </a:xfrm>
          <a:prstGeom prst="rect">
            <a:avLst/>
          </a:prstGeom>
          <a:noFill/>
        </p:spPr>
        <p:txBody>
          <a:bodyPr wrap="square">
            <a:spAutoFit/>
          </a:bodyPr>
          <a:lstStyle/>
          <a:p>
            <a:pPr algn="l"/>
            <a:r>
              <a:rPr sz="800" b="1" i="0">
                <a:solidFill>
                  <a:srgbClr val="00E5A0"/>
                </a:solidFill>
              </a:rPr>
              <a:t>MODEL 1</a:t>
            </a:r>
          </a:p>
        </p:txBody>
      </p:sp>
      <p:sp>
        <p:nvSpPr>
          <p:cNvPr id="10" name="TextBox 9"/>
          <p:cNvSpPr txBox="1"/>
          <p:nvPr/>
        </p:nvSpPr>
        <p:spPr>
          <a:xfrm>
            <a:off x="640080" y="2130552"/>
            <a:ext cx="5120640" cy="292608"/>
          </a:xfrm>
          <a:prstGeom prst="rect">
            <a:avLst/>
          </a:prstGeom>
          <a:noFill/>
        </p:spPr>
        <p:txBody>
          <a:bodyPr wrap="square">
            <a:spAutoFit/>
          </a:bodyPr>
          <a:lstStyle/>
          <a:p>
            <a:pPr algn="l"/>
            <a:r>
              <a:rPr sz="1400" b="1" i="0">
                <a:solidFill>
                  <a:srgbClr val="F5F7FA"/>
                </a:solidFill>
              </a:rPr>
              <a:t>Theoretical Bulk Modulus</a:t>
            </a:r>
          </a:p>
        </p:txBody>
      </p:sp>
      <p:sp>
        <p:nvSpPr>
          <p:cNvPr id="11" name="TextBox 10"/>
          <p:cNvSpPr txBox="1"/>
          <p:nvPr/>
        </p:nvSpPr>
        <p:spPr>
          <a:xfrm>
            <a:off x="640080" y="2404872"/>
            <a:ext cx="5120640" cy="228600"/>
          </a:xfrm>
          <a:prstGeom prst="rect">
            <a:avLst/>
          </a:prstGeom>
          <a:noFill/>
        </p:spPr>
        <p:txBody>
          <a:bodyPr wrap="square">
            <a:spAutoFit/>
          </a:bodyPr>
          <a:lstStyle/>
          <a:p>
            <a:pPr algn="l"/>
            <a:r>
              <a:rPr sz="1000" b="0" i="0">
                <a:solidFill>
                  <a:srgbClr val="AAB4C6"/>
                </a:solidFill>
              </a:rPr>
              <a:t>Random Forest Surrogate</a:t>
            </a:r>
          </a:p>
        </p:txBody>
      </p:sp>
      <p:sp>
        <p:nvSpPr>
          <p:cNvPr id="12" name="Rectangle 11"/>
          <p:cNvSpPr/>
          <p:nvPr/>
        </p:nvSpPr>
        <p:spPr>
          <a:xfrm>
            <a:off x="640080" y="2743200"/>
            <a:ext cx="1508760" cy="868680"/>
          </a:xfrm>
          <a:prstGeom prst="roundRect">
            <a:avLst>
              <a:gd name="adj" fmla="val 20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1" y="2816352"/>
            <a:ext cx="1362456" cy="475488"/>
          </a:xfrm>
          <a:prstGeom prst="rect">
            <a:avLst/>
          </a:prstGeom>
          <a:noFill/>
        </p:spPr>
        <p:txBody>
          <a:bodyPr wrap="square">
            <a:spAutoFit/>
          </a:bodyPr>
          <a:lstStyle/>
          <a:p>
            <a:pPr algn="ctr"/>
            <a:r>
              <a:rPr sz="1800" b="1" i="0">
                <a:solidFill>
                  <a:srgbClr val="00E5A0"/>
                </a:solidFill>
              </a:rPr>
              <a:t>0.977</a:t>
            </a:r>
          </a:p>
        </p:txBody>
      </p:sp>
      <p:sp>
        <p:nvSpPr>
          <p:cNvPr id="14" name="TextBox 13"/>
          <p:cNvSpPr txBox="1"/>
          <p:nvPr/>
        </p:nvSpPr>
        <p:spPr>
          <a:xfrm>
            <a:off x="713231" y="3291840"/>
            <a:ext cx="1362456" cy="256032"/>
          </a:xfrm>
          <a:prstGeom prst="rect">
            <a:avLst/>
          </a:prstGeom>
          <a:noFill/>
        </p:spPr>
        <p:txBody>
          <a:bodyPr wrap="square">
            <a:spAutoFit/>
          </a:bodyPr>
          <a:lstStyle/>
          <a:p>
            <a:pPr algn="ctr"/>
            <a:r>
              <a:rPr sz="800" b="0" i="0">
                <a:solidFill>
                  <a:srgbClr val="AAB4C6"/>
                </a:solidFill>
              </a:rPr>
              <a:t>Test R²</a:t>
            </a:r>
          </a:p>
        </p:txBody>
      </p:sp>
      <p:sp>
        <p:nvSpPr>
          <p:cNvPr id="15" name="Rectangle 14"/>
          <p:cNvSpPr/>
          <p:nvPr/>
        </p:nvSpPr>
        <p:spPr>
          <a:xfrm>
            <a:off x="2258568" y="2743200"/>
            <a:ext cx="1508760" cy="868680"/>
          </a:xfrm>
          <a:prstGeom prst="roundRect">
            <a:avLst>
              <a:gd name="adj" fmla="val 20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31720" y="2816352"/>
            <a:ext cx="1362456" cy="475488"/>
          </a:xfrm>
          <a:prstGeom prst="rect">
            <a:avLst/>
          </a:prstGeom>
          <a:noFill/>
        </p:spPr>
        <p:txBody>
          <a:bodyPr wrap="square">
            <a:spAutoFit/>
          </a:bodyPr>
          <a:lstStyle/>
          <a:p>
            <a:pPr algn="ctr"/>
            <a:r>
              <a:rPr sz="1800" b="1" i="0">
                <a:solidFill>
                  <a:srgbClr val="00E5A0"/>
                </a:solidFill>
              </a:rPr>
              <a:t>8.11 GPa</a:t>
            </a:r>
          </a:p>
        </p:txBody>
      </p:sp>
      <p:sp>
        <p:nvSpPr>
          <p:cNvPr id="17" name="TextBox 16"/>
          <p:cNvSpPr txBox="1"/>
          <p:nvPr/>
        </p:nvSpPr>
        <p:spPr>
          <a:xfrm>
            <a:off x="2331720" y="3291840"/>
            <a:ext cx="1362456" cy="256032"/>
          </a:xfrm>
          <a:prstGeom prst="rect">
            <a:avLst/>
          </a:prstGeom>
          <a:noFill/>
        </p:spPr>
        <p:txBody>
          <a:bodyPr wrap="square">
            <a:spAutoFit/>
          </a:bodyPr>
          <a:lstStyle/>
          <a:p>
            <a:pPr algn="ctr"/>
            <a:r>
              <a:rPr sz="800" b="0" i="0">
                <a:solidFill>
                  <a:srgbClr val="AAB4C6"/>
                </a:solidFill>
              </a:rPr>
              <a:t>MAE</a:t>
            </a:r>
          </a:p>
        </p:txBody>
      </p:sp>
      <p:sp>
        <p:nvSpPr>
          <p:cNvPr id="18" name="Rectangle 17"/>
          <p:cNvSpPr/>
          <p:nvPr/>
        </p:nvSpPr>
        <p:spPr>
          <a:xfrm>
            <a:off x="3877056" y="2743200"/>
            <a:ext cx="1508760" cy="868680"/>
          </a:xfrm>
          <a:prstGeom prst="roundRect">
            <a:avLst>
              <a:gd name="adj" fmla="val 20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50208" y="2816352"/>
            <a:ext cx="1362456" cy="475488"/>
          </a:xfrm>
          <a:prstGeom prst="rect">
            <a:avLst/>
          </a:prstGeom>
          <a:noFill/>
        </p:spPr>
        <p:txBody>
          <a:bodyPr wrap="square">
            <a:spAutoFit/>
          </a:bodyPr>
          <a:lstStyle/>
          <a:p>
            <a:pPr algn="ctr"/>
            <a:r>
              <a:rPr sz="1800" b="1" i="0">
                <a:solidFill>
                  <a:srgbClr val="00E5A0"/>
                </a:solidFill>
              </a:rPr>
              <a:t>100</a:t>
            </a:r>
          </a:p>
        </p:txBody>
      </p:sp>
      <p:sp>
        <p:nvSpPr>
          <p:cNvPr id="20" name="TextBox 19"/>
          <p:cNvSpPr txBox="1"/>
          <p:nvPr/>
        </p:nvSpPr>
        <p:spPr>
          <a:xfrm>
            <a:off x="3950208" y="3291840"/>
            <a:ext cx="1362456" cy="256032"/>
          </a:xfrm>
          <a:prstGeom prst="rect">
            <a:avLst/>
          </a:prstGeom>
          <a:noFill/>
        </p:spPr>
        <p:txBody>
          <a:bodyPr wrap="square">
            <a:spAutoFit/>
          </a:bodyPr>
          <a:lstStyle/>
          <a:p>
            <a:pPr algn="ctr"/>
            <a:r>
              <a:rPr sz="800" b="0" i="0">
                <a:solidFill>
                  <a:srgbClr val="AAB4C6"/>
                </a:solidFill>
              </a:rPr>
              <a:t>Estimators</a:t>
            </a:r>
          </a:p>
        </p:txBody>
      </p:sp>
      <p:sp>
        <p:nvSpPr>
          <p:cNvPr id="21" name="TextBox 20"/>
          <p:cNvSpPr txBox="1"/>
          <p:nvPr/>
        </p:nvSpPr>
        <p:spPr>
          <a:xfrm>
            <a:off x="640080" y="3730752"/>
            <a:ext cx="5120640" cy="228600"/>
          </a:xfrm>
          <a:prstGeom prst="rect">
            <a:avLst/>
          </a:prstGeom>
          <a:noFill/>
        </p:spPr>
        <p:txBody>
          <a:bodyPr wrap="square">
            <a:spAutoFit/>
          </a:bodyPr>
          <a:lstStyle/>
          <a:p>
            <a:pPr algn="l"/>
            <a:r>
              <a:rPr sz="1000" b="1" i="0">
                <a:solidFill>
                  <a:srgbClr val="F5F7FA"/>
                </a:solidFill>
              </a:rPr>
              <a:t>Architecture &amp; Features:</a:t>
            </a:r>
          </a:p>
        </p:txBody>
      </p:sp>
      <p:sp>
        <p:nvSpPr>
          <p:cNvPr id="22" name="TextBox 21"/>
          <p:cNvSpPr txBox="1"/>
          <p:nvPr/>
        </p:nvSpPr>
        <p:spPr>
          <a:xfrm>
            <a:off x="640080" y="3977639"/>
            <a:ext cx="5029200" cy="1280160"/>
          </a:xfrm>
          <a:prstGeom prst="rect">
            <a:avLst/>
          </a:prstGeom>
          <a:noFill/>
        </p:spPr>
        <p:txBody>
          <a:bodyPr wrap="square">
            <a:spAutoFit/>
          </a:bodyPr>
          <a:lstStyle/>
          <a:p>
            <a:pPr algn="l"/>
            <a:r>
              <a:rPr sz="1000" b="0" i="0">
                <a:solidFill>
                  <a:srgbClr val="AAB4C6"/>
                </a:solidFill>
              </a:rPr>
              <a:t>100 Estimators predicting across atomic radius (r), electronegativity (X), VEC, melting temperature (Tm), and mass standard deviations. Delivers bulk property predictions with near-perfect accuracy for the theoretical design space.</a:t>
            </a:r>
          </a:p>
        </p:txBody>
      </p:sp>
      <p:sp>
        <p:nvSpPr>
          <p:cNvPr id="23" name="Rectangle 22"/>
          <p:cNvSpPr/>
          <p:nvPr/>
        </p:nvSpPr>
        <p:spPr>
          <a:xfrm>
            <a:off x="6336792" y="1828800"/>
            <a:ext cx="5486400" cy="4572000"/>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36792" y="1828800"/>
            <a:ext cx="54864" cy="457200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9672" y="1920240"/>
            <a:ext cx="5120640" cy="228600"/>
          </a:xfrm>
          <a:prstGeom prst="rect">
            <a:avLst/>
          </a:prstGeom>
          <a:noFill/>
        </p:spPr>
        <p:txBody>
          <a:bodyPr wrap="square">
            <a:spAutoFit/>
          </a:bodyPr>
          <a:lstStyle/>
          <a:p>
            <a:pPr algn="l"/>
            <a:r>
              <a:rPr sz="800" b="1" i="0">
                <a:solidFill>
                  <a:srgbClr val="F5A623"/>
                </a:solidFill>
              </a:rPr>
              <a:t>MODEL 2</a:t>
            </a:r>
          </a:p>
        </p:txBody>
      </p:sp>
      <p:sp>
        <p:nvSpPr>
          <p:cNvPr id="26" name="TextBox 25"/>
          <p:cNvSpPr txBox="1"/>
          <p:nvPr/>
        </p:nvSpPr>
        <p:spPr>
          <a:xfrm>
            <a:off x="6519672" y="2130552"/>
            <a:ext cx="5120640" cy="292608"/>
          </a:xfrm>
          <a:prstGeom prst="rect">
            <a:avLst/>
          </a:prstGeom>
          <a:noFill/>
        </p:spPr>
        <p:txBody>
          <a:bodyPr wrap="square">
            <a:spAutoFit/>
          </a:bodyPr>
          <a:lstStyle/>
          <a:p>
            <a:pPr algn="l"/>
            <a:r>
              <a:rPr sz="1400" b="1" i="0">
                <a:solidFill>
                  <a:srgbClr val="F5F7FA"/>
                </a:solidFill>
              </a:rPr>
              <a:t>Experimental Yield Strength</a:t>
            </a:r>
          </a:p>
        </p:txBody>
      </p:sp>
      <p:sp>
        <p:nvSpPr>
          <p:cNvPr id="27" name="TextBox 26"/>
          <p:cNvSpPr txBox="1"/>
          <p:nvPr/>
        </p:nvSpPr>
        <p:spPr>
          <a:xfrm>
            <a:off x="6519672" y="2404872"/>
            <a:ext cx="5120640" cy="228600"/>
          </a:xfrm>
          <a:prstGeom prst="rect">
            <a:avLst/>
          </a:prstGeom>
          <a:noFill/>
        </p:spPr>
        <p:txBody>
          <a:bodyPr wrap="square">
            <a:spAutoFit/>
          </a:bodyPr>
          <a:lstStyle/>
          <a:p>
            <a:pPr algn="l"/>
            <a:r>
              <a:rPr sz="1000" b="0" i="0">
                <a:solidFill>
                  <a:srgbClr val="AAB4C6"/>
                </a:solidFill>
              </a:rPr>
              <a:t>Gradient Boosting + Transfer Learning</a:t>
            </a:r>
          </a:p>
        </p:txBody>
      </p:sp>
      <p:sp>
        <p:nvSpPr>
          <p:cNvPr id="28" name="Rectangle 27"/>
          <p:cNvSpPr/>
          <p:nvPr/>
        </p:nvSpPr>
        <p:spPr>
          <a:xfrm>
            <a:off x="6519672" y="2743200"/>
            <a:ext cx="1508760" cy="868680"/>
          </a:xfrm>
          <a:prstGeom prst="roundRect">
            <a:avLst>
              <a:gd name="adj" fmla="val 20000"/>
            </a:avLst>
          </a:prstGeom>
          <a:solidFill>
            <a:srgbClr val="0D132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92824" y="2816352"/>
            <a:ext cx="1362456" cy="475488"/>
          </a:xfrm>
          <a:prstGeom prst="rect">
            <a:avLst/>
          </a:prstGeom>
          <a:noFill/>
        </p:spPr>
        <p:txBody>
          <a:bodyPr wrap="square">
            <a:spAutoFit/>
          </a:bodyPr>
          <a:lstStyle/>
          <a:p>
            <a:pPr algn="ctr"/>
            <a:r>
              <a:rPr sz="1400" b="1" i="0">
                <a:solidFill>
                  <a:srgbClr val="F5A623"/>
                </a:solidFill>
              </a:rPr>
              <a:t>Transfer
Learning</a:t>
            </a:r>
          </a:p>
        </p:txBody>
      </p:sp>
      <p:sp>
        <p:nvSpPr>
          <p:cNvPr id="30" name="TextBox 29"/>
          <p:cNvSpPr txBox="1"/>
          <p:nvPr/>
        </p:nvSpPr>
        <p:spPr>
          <a:xfrm>
            <a:off x="6592824" y="3291840"/>
            <a:ext cx="1362456" cy="256032"/>
          </a:xfrm>
          <a:prstGeom prst="rect">
            <a:avLst/>
          </a:prstGeom>
          <a:noFill/>
        </p:spPr>
        <p:txBody>
          <a:bodyPr wrap="square">
            <a:spAutoFit/>
          </a:bodyPr>
          <a:lstStyle/>
          <a:p>
            <a:pPr algn="ctr"/>
            <a:r>
              <a:rPr sz="800" b="0" i="0">
                <a:solidFill>
                  <a:srgbClr val="AAB4C6"/>
                </a:solidFill>
              </a:rPr>
              <a:t>Method</a:t>
            </a:r>
          </a:p>
        </p:txBody>
      </p:sp>
      <p:sp>
        <p:nvSpPr>
          <p:cNvPr id="31" name="Rectangle 30"/>
          <p:cNvSpPr/>
          <p:nvPr/>
        </p:nvSpPr>
        <p:spPr>
          <a:xfrm>
            <a:off x="8138160" y="2743200"/>
            <a:ext cx="1508760" cy="868680"/>
          </a:xfrm>
          <a:prstGeom prst="roundRect">
            <a:avLst>
              <a:gd name="adj" fmla="val 20000"/>
            </a:avLst>
          </a:prstGeom>
          <a:solidFill>
            <a:srgbClr val="0D132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11312" y="2816352"/>
            <a:ext cx="1362456" cy="475488"/>
          </a:xfrm>
          <a:prstGeom prst="rect">
            <a:avLst/>
          </a:prstGeom>
          <a:noFill/>
        </p:spPr>
        <p:txBody>
          <a:bodyPr wrap="square">
            <a:spAutoFit/>
          </a:bodyPr>
          <a:lstStyle/>
          <a:p>
            <a:pPr algn="ctr"/>
            <a:r>
              <a:rPr sz="1400" b="1" i="0">
                <a:solidFill>
                  <a:srgbClr val="F5A623"/>
                </a:solidFill>
              </a:rPr>
              <a:t>10x
Boost</a:t>
            </a:r>
          </a:p>
        </p:txBody>
      </p:sp>
      <p:sp>
        <p:nvSpPr>
          <p:cNvPr id="33" name="TextBox 32"/>
          <p:cNvSpPr txBox="1"/>
          <p:nvPr/>
        </p:nvSpPr>
        <p:spPr>
          <a:xfrm>
            <a:off x="8211312" y="3291840"/>
            <a:ext cx="1362456" cy="256032"/>
          </a:xfrm>
          <a:prstGeom prst="rect">
            <a:avLst/>
          </a:prstGeom>
          <a:noFill/>
        </p:spPr>
        <p:txBody>
          <a:bodyPr wrap="square">
            <a:spAutoFit/>
          </a:bodyPr>
          <a:lstStyle/>
          <a:p>
            <a:pPr algn="ctr"/>
            <a:r>
              <a:rPr sz="800" b="0" i="0">
                <a:solidFill>
                  <a:srgbClr val="AAB4C6"/>
                </a:solidFill>
              </a:rPr>
              <a:t>Target Weight</a:t>
            </a:r>
          </a:p>
        </p:txBody>
      </p:sp>
      <p:sp>
        <p:nvSpPr>
          <p:cNvPr id="34" name="Rectangle 33"/>
          <p:cNvSpPr/>
          <p:nvPr/>
        </p:nvSpPr>
        <p:spPr>
          <a:xfrm>
            <a:off x="9756648" y="2743200"/>
            <a:ext cx="1508760" cy="868680"/>
          </a:xfrm>
          <a:prstGeom prst="roundRect">
            <a:avLst>
              <a:gd name="adj" fmla="val 20000"/>
            </a:avLst>
          </a:prstGeom>
          <a:solidFill>
            <a:srgbClr val="0D132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29800" y="2816352"/>
            <a:ext cx="1362456" cy="475488"/>
          </a:xfrm>
          <a:prstGeom prst="rect">
            <a:avLst/>
          </a:prstGeom>
          <a:noFill/>
        </p:spPr>
        <p:txBody>
          <a:bodyPr wrap="square">
            <a:spAutoFit/>
          </a:bodyPr>
          <a:lstStyle/>
          <a:p>
            <a:pPr algn="ctr"/>
            <a:r>
              <a:rPr sz="1400" b="1" i="0">
                <a:solidFill>
                  <a:srgbClr val="F5A623"/>
                </a:solidFill>
              </a:rPr>
              <a:t>45%
Factor</a:t>
            </a:r>
          </a:p>
        </p:txBody>
      </p:sp>
      <p:sp>
        <p:nvSpPr>
          <p:cNvPr id="36" name="TextBox 35"/>
          <p:cNvSpPr txBox="1"/>
          <p:nvPr/>
        </p:nvSpPr>
        <p:spPr>
          <a:xfrm>
            <a:off x="9829800" y="3291840"/>
            <a:ext cx="1362456" cy="256032"/>
          </a:xfrm>
          <a:prstGeom prst="rect">
            <a:avLst/>
          </a:prstGeom>
          <a:noFill/>
        </p:spPr>
        <p:txBody>
          <a:bodyPr wrap="square">
            <a:spAutoFit/>
          </a:bodyPr>
          <a:lstStyle/>
          <a:p>
            <a:pPr algn="ctr"/>
            <a:r>
              <a:rPr sz="800" b="0" i="0">
                <a:solidFill>
                  <a:srgbClr val="AAB4C6"/>
                </a:solidFill>
              </a:rPr>
              <a:t>Temp Knockdown</a:t>
            </a:r>
          </a:p>
        </p:txBody>
      </p:sp>
      <p:sp>
        <p:nvSpPr>
          <p:cNvPr id="37" name="TextBox 36"/>
          <p:cNvSpPr txBox="1"/>
          <p:nvPr/>
        </p:nvSpPr>
        <p:spPr>
          <a:xfrm>
            <a:off x="6519672" y="3730752"/>
            <a:ext cx="5120640" cy="228600"/>
          </a:xfrm>
          <a:prstGeom prst="rect">
            <a:avLst/>
          </a:prstGeom>
          <a:noFill/>
        </p:spPr>
        <p:txBody>
          <a:bodyPr wrap="square">
            <a:spAutoFit/>
          </a:bodyPr>
          <a:lstStyle/>
          <a:p>
            <a:pPr algn="l"/>
            <a:r>
              <a:rPr sz="1000" b="1" i="0">
                <a:solidFill>
                  <a:srgbClr val="F5F7FA"/>
                </a:solidFill>
              </a:rPr>
              <a:t>Transfer Learning Logic:</a:t>
            </a:r>
          </a:p>
        </p:txBody>
      </p:sp>
      <p:sp>
        <p:nvSpPr>
          <p:cNvPr id="38" name="TextBox 37"/>
          <p:cNvSpPr txBox="1"/>
          <p:nvPr/>
        </p:nvSpPr>
        <p:spPr>
          <a:xfrm>
            <a:off x="6519672" y="3977639"/>
            <a:ext cx="5029200" cy="1737360"/>
          </a:xfrm>
          <a:prstGeom prst="rect">
            <a:avLst/>
          </a:prstGeom>
          <a:noFill/>
        </p:spPr>
        <p:txBody>
          <a:bodyPr wrap="square">
            <a:spAutoFit/>
          </a:bodyPr>
          <a:lstStyle/>
          <a:p>
            <a:pPr algn="l"/>
            <a:r>
              <a:rPr sz="1000" b="0" i="0">
                <a:solidFill>
                  <a:srgbClr val="AAB4C6"/>
                </a:solidFill>
              </a:rPr>
              <a:t>Trained on an experimental MPEA dataset. We heavily weighted exact 5-element target alloys (Weight=10) while leveraging broader refractory alloys (Weight=1) to extract underlying high-temperature physics.
Thermal Knockdown Penalty: Because forging dies operate near 1200°C, we enforce a severe homologous temperature knockdown factor (0.45) — assuming the alloy retains only 45% of its Room Temperature yield strength.</a:t>
            </a:r>
          </a:p>
        </p:txBody>
      </p:sp>
      <p:sp>
        <p:nvSpPr>
          <p:cNvPr id="39" name="Rectangle 38"/>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41" name="TextBox 40"/>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AI ENGINE · STEP 3 OF 3</a:t>
            </a:r>
          </a:p>
        </p:txBody>
      </p:sp>
      <p:sp>
        <p:nvSpPr>
          <p:cNvPr id="3" name="TextBox 2"/>
          <p:cNvSpPr txBox="1"/>
          <p:nvPr/>
        </p:nvSpPr>
        <p:spPr>
          <a:xfrm>
            <a:off x="457200" y="502920"/>
            <a:ext cx="9144000" cy="365760"/>
          </a:xfrm>
          <a:prstGeom prst="rect">
            <a:avLst/>
          </a:prstGeom>
          <a:noFill/>
        </p:spPr>
        <p:txBody>
          <a:bodyPr wrap="square">
            <a:spAutoFit/>
          </a:bodyPr>
          <a:lstStyle/>
          <a:p>
            <a:pPr algn="l"/>
            <a:r>
              <a:rPr sz="1800" b="1" i="0">
                <a:solidFill>
                  <a:srgbClr val="F5F7FA"/>
                </a:solidFill>
              </a:rPr>
              <a:t>THE CRYSTAL PARADIGM AI ENGINE: STEP 3</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Constrained Differential Evolution (DE) Optimizer</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457200"/>
          </a:xfrm>
          <a:prstGeom prst="rect">
            <a:avLst/>
          </a:prstGeom>
          <a:noFill/>
        </p:spPr>
        <p:txBody>
          <a:bodyPr wrap="square">
            <a:spAutoFit/>
          </a:bodyPr>
          <a:lstStyle/>
          <a:p>
            <a:pPr algn="l"/>
            <a:r>
              <a:rPr sz="1050" b="0" i="0">
                <a:solidFill>
                  <a:srgbClr val="AAB4C6"/>
                </a:solidFill>
              </a:rPr>
              <a:t>To discover completely novel alloys, our AI sweeps a continuous 9-element space using a Softmax activation function to generate perfect sum-to-one fractional matrices.</a:t>
            </a:r>
          </a:p>
        </p:txBody>
      </p:sp>
      <p:sp>
        <p:nvSpPr>
          <p:cNvPr id="7" name="Rectangle 6"/>
          <p:cNvSpPr/>
          <p:nvPr/>
        </p:nvSpPr>
        <p:spPr>
          <a:xfrm>
            <a:off x="3657600" y="1783080"/>
            <a:ext cx="4873752" cy="1645920"/>
          </a:xfrm>
          <a:prstGeom prst="roundRect">
            <a:avLst>
              <a:gd name="adj" fmla="val 20000"/>
            </a:avLst>
          </a:prstGeom>
          <a:solidFill>
            <a:srgbClr val="003D2B"/>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1874519"/>
            <a:ext cx="4572000" cy="256032"/>
          </a:xfrm>
          <a:prstGeom prst="rect">
            <a:avLst/>
          </a:prstGeom>
          <a:noFill/>
        </p:spPr>
        <p:txBody>
          <a:bodyPr wrap="square">
            <a:spAutoFit/>
          </a:bodyPr>
          <a:lstStyle/>
          <a:p>
            <a:pPr algn="ctr"/>
            <a:r>
              <a:rPr sz="900" b="1" i="0">
                <a:solidFill>
                  <a:srgbClr val="00E5A0"/>
                </a:solidFill>
              </a:rPr>
              <a:t>CANDIDATE C — OPTIMAL RESULT</a:t>
            </a:r>
          </a:p>
        </p:txBody>
      </p:sp>
      <p:sp>
        <p:nvSpPr>
          <p:cNvPr id="9" name="TextBox 8"/>
          <p:cNvSpPr txBox="1"/>
          <p:nvPr/>
        </p:nvSpPr>
        <p:spPr>
          <a:xfrm>
            <a:off x="3794760" y="2148840"/>
            <a:ext cx="4572000" cy="411480"/>
          </a:xfrm>
          <a:prstGeom prst="rect">
            <a:avLst/>
          </a:prstGeom>
          <a:noFill/>
        </p:spPr>
        <p:txBody>
          <a:bodyPr wrap="square">
            <a:spAutoFit/>
          </a:bodyPr>
          <a:lstStyle/>
          <a:p>
            <a:pPr algn="ctr"/>
            <a:r>
              <a:rPr sz="2000" b="1" i="0">
                <a:solidFill>
                  <a:srgbClr val="F5F7FA"/>
                </a:solidFill>
              </a:rPr>
              <a:t>Fitness Score: 1.5981</a:t>
            </a:r>
          </a:p>
        </p:txBody>
      </p:sp>
      <p:sp>
        <p:nvSpPr>
          <p:cNvPr id="10" name="TextBox 9"/>
          <p:cNvSpPr txBox="1"/>
          <p:nvPr/>
        </p:nvSpPr>
        <p:spPr>
          <a:xfrm>
            <a:off x="3794760" y="2578608"/>
            <a:ext cx="4572000" cy="640080"/>
          </a:xfrm>
          <a:prstGeom prst="rect">
            <a:avLst/>
          </a:prstGeom>
          <a:noFill/>
        </p:spPr>
        <p:txBody>
          <a:bodyPr wrap="square">
            <a:spAutoFit/>
          </a:bodyPr>
          <a:lstStyle/>
          <a:p>
            <a:pPr algn="ctr"/>
            <a:r>
              <a:rPr sz="900" b="0" i="0">
                <a:solidFill>
                  <a:srgbClr val="AAB4C6"/>
                </a:solidFill>
              </a:rPr>
              <a:t>Ti = 21.7%  ·  CTE Gap = 2.66 μm/mK  ·  Every Penalty Cleared</a:t>
            </a:r>
          </a:p>
        </p:txBody>
      </p:sp>
      <p:sp>
        <p:nvSpPr>
          <p:cNvPr id="11" name="Rectangle 10"/>
          <p:cNvSpPr/>
          <p:nvPr/>
        </p:nvSpPr>
        <p:spPr>
          <a:xfrm>
            <a:off x="457200" y="3611880"/>
            <a:ext cx="5669280" cy="1755648"/>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11880"/>
            <a:ext cx="54864" cy="1755648"/>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685032"/>
            <a:ext cx="5394960" cy="256032"/>
          </a:xfrm>
          <a:prstGeom prst="rect">
            <a:avLst/>
          </a:prstGeom>
          <a:noFill/>
        </p:spPr>
        <p:txBody>
          <a:bodyPr wrap="square">
            <a:spAutoFit/>
          </a:bodyPr>
          <a:lstStyle/>
          <a:p>
            <a:pPr algn="l"/>
            <a:r>
              <a:rPr sz="1000" b="1" i="0">
                <a:solidFill>
                  <a:srgbClr val="F5F7FA"/>
                </a:solidFill>
              </a:rPr>
              <a:t>Sigma Phase Mitigation</a:t>
            </a:r>
          </a:p>
        </p:txBody>
      </p:sp>
      <p:sp>
        <p:nvSpPr>
          <p:cNvPr id="14" name="Rectangle 13"/>
          <p:cNvSpPr/>
          <p:nvPr/>
        </p:nvSpPr>
        <p:spPr>
          <a:xfrm>
            <a:off x="640080" y="3977640"/>
            <a:ext cx="5303520" cy="365760"/>
          </a:xfrm>
          <a:prstGeom prst="roundRect">
            <a:avLst>
              <a:gd name="adj" fmla="val 15000"/>
            </a:avLst>
          </a:prstGeom>
          <a:solidFill>
            <a:srgbClr val="0D1328"/>
          </a:solidFill>
          <a:ln w="63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95928"/>
            <a:ext cx="5303520" cy="329184"/>
          </a:xfrm>
          <a:prstGeom prst="rect">
            <a:avLst/>
          </a:prstGeom>
          <a:noFill/>
        </p:spPr>
        <p:txBody>
          <a:bodyPr wrap="square">
            <a:spAutoFit/>
          </a:bodyPr>
          <a:lstStyle/>
          <a:p>
            <a:pPr algn="ctr"/>
            <a:r>
              <a:rPr sz="1100" b="1" i="0">
                <a:solidFill>
                  <a:srgbClr val="F5A623"/>
                </a:solidFill>
              </a:rPr>
              <a:t>Penalty Factor: 5.0</a:t>
            </a:r>
          </a:p>
        </p:txBody>
      </p:sp>
      <p:sp>
        <p:nvSpPr>
          <p:cNvPr id="16" name="TextBox 15"/>
          <p:cNvSpPr txBox="1"/>
          <p:nvPr/>
        </p:nvSpPr>
        <p:spPr>
          <a:xfrm>
            <a:off x="640080" y="4434840"/>
            <a:ext cx="5349240" cy="822960"/>
          </a:xfrm>
          <a:prstGeom prst="rect">
            <a:avLst/>
          </a:prstGeom>
          <a:noFill/>
        </p:spPr>
        <p:txBody>
          <a:bodyPr wrap="square">
            <a:spAutoFit/>
          </a:bodyPr>
          <a:lstStyle/>
          <a:p>
            <a:pPr algn="l"/>
            <a:r>
              <a:rPr sz="950" b="0" i="0">
                <a:solidFill>
                  <a:srgbClr val="AAB4C6"/>
                </a:solidFill>
              </a:rPr>
              <a:t>Triggered if Sigma Formers (W + Cr + Mo) exceed 50%. Prevents catastrophic brittle fracture mode in forging dies.</a:t>
            </a:r>
          </a:p>
        </p:txBody>
      </p:sp>
      <p:sp>
        <p:nvSpPr>
          <p:cNvPr id="17" name="Rectangle 16"/>
          <p:cNvSpPr/>
          <p:nvPr/>
        </p:nvSpPr>
        <p:spPr>
          <a:xfrm>
            <a:off x="6327648" y="3611880"/>
            <a:ext cx="5669280" cy="1755648"/>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27648" y="3611880"/>
            <a:ext cx="54864" cy="1755648"/>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685032"/>
            <a:ext cx="5394960" cy="256032"/>
          </a:xfrm>
          <a:prstGeom prst="rect">
            <a:avLst/>
          </a:prstGeom>
          <a:noFill/>
        </p:spPr>
        <p:txBody>
          <a:bodyPr wrap="square">
            <a:spAutoFit/>
          </a:bodyPr>
          <a:lstStyle/>
          <a:p>
            <a:pPr algn="l"/>
            <a:r>
              <a:rPr sz="1000" b="1" i="0">
                <a:solidFill>
                  <a:srgbClr val="F5F7FA"/>
                </a:solidFill>
              </a:rPr>
              <a:t>Vanadium Volatility</a:t>
            </a:r>
          </a:p>
        </p:txBody>
      </p:sp>
      <p:sp>
        <p:nvSpPr>
          <p:cNvPr id="20" name="Rectangle 19"/>
          <p:cNvSpPr/>
          <p:nvPr/>
        </p:nvSpPr>
        <p:spPr>
          <a:xfrm>
            <a:off x="6510528" y="3977640"/>
            <a:ext cx="5303520" cy="365760"/>
          </a:xfrm>
          <a:prstGeom prst="roundRect">
            <a:avLst>
              <a:gd name="adj" fmla="val 15000"/>
            </a:avLst>
          </a:prstGeom>
          <a:solidFill>
            <a:srgbClr val="0D1328"/>
          </a:solidFill>
          <a:ln w="63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3995928"/>
            <a:ext cx="5303520" cy="329184"/>
          </a:xfrm>
          <a:prstGeom prst="rect">
            <a:avLst/>
          </a:prstGeom>
          <a:noFill/>
        </p:spPr>
        <p:txBody>
          <a:bodyPr wrap="square">
            <a:spAutoFit/>
          </a:bodyPr>
          <a:lstStyle/>
          <a:p>
            <a:pPr algn="ctr"/>
            <a:r>
              <a:rPr sz="1100" b="1" i="0">
                <a:solidFill>
                  <a:srgbClr val="F5A623"/>
                </a:solidFill>
              </a:rPr>
              <a:t>V  ≤ 20%</a:t>
            </a:r>
          </a:p>
        </p:txBody>
      </p:sp>
      <p:sp>
        <p:nvSpPr>
          <p:cNvPr id="22" name="TextBox 21"/>
          <p:cNvSpPr txBox="1"/>
          <p:nvPr/>
        </p:nvSpPr>
        <p:spPr>
          <a:xfrm>
            <a:off x="6510528" y="4434840"/>
            <a:ext cx="5349240" cy="822960"/>
          </a:xfrm>
          <a:prstGeom prst="rect">
            <a:avLst/>
          </a:prstGeom>
          <a:noFill/>
        </p:spPr>
        <p:txBody>
          <a:bodyPr wrap="square">
            <a:spAutoFit/>
          </a:bodyPr>
          <a:lstStyle/>
          <a:p>
            <a:pPr algn="l"/>
            <a:r>
              <a:rPr sz="950" b="0" i="0">
                <a:solidFill>
                  <a:srgbClr val="AAB4C6"/>
                </a:solidFill>
              </a:rPr>
              <a:t>Hard upper limit on Vanadium to prevent toxic outgassing during high-temperature manufacturing operations.</a:t>
            </a:r>
          </a:p>
        </p:txBody>
      </p:sp>
      <p:sp>
        <p:nvSpPr>
          <p:cNvPr id="23" name="Rectangle 22"/>
          <p:cNvSpPr/>
          <p:nvPr/>
        </p:nvSpPr>
        <p:spPr>
          <a:xfrm>
            <a:off x="457200" y="5532120"/>
            <a:ext cx="5669280" cy="1755648"/>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5532120"/>
            <a:ext cx="54864" cy="1755648"/>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605272"/>
            <a:ext cx="5394960" cy="256032"/>
          </a:xfrm>
          <a:prstGeom prst="rect">
            <a:avLst/>
          </a:prstGeom>
          <a:noFill/>
        </p:spPr>
        <p:txBody>
          <a:bodyPr wrap="square">
            <a:spAutoFit/>
          </a:bodyPr>
          <a:lstStyle/>
          <a:p>
            <a:pPr algn="l"/>
            <a:r>
              <a:rPr sz="1000" b="1" i="0">
                <a:solidFill>
                  <a:srgbClr val="F5F7FA"/>
                </a:solidFill>
              </a:rPr>
              <a:t>ESG Weight Budget</a:t>
            </a:r>
          </a:p>
        </p:txBody>
      </p:sp>
      <p:sp>
        <p:nvSpPr>
          <p:cNvPr id="26" name="Rectangle 25"/>
          <p:cNvSpPr/>
          <p:nvPr/>
        </p:nvSpPr>
        <p:spPr>
          <a:xfrm>
            <a:off x="640080" y="5897880"/>
            <a:ext cx="5303520" cy="365760"/>
          </a:xfrm>
          <a:prstGeom prst="roundRect">
            <a:avLst>
              <a:gd name="adj" fmla="val 15000"/>
            </a:avLst>
          </a:prstGeom>
          <a:solidFill>
            <a:srgbClr val="0D1328"/>
          </a:solidFill>
          <a:ln w="63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916168"/>
            <a:ext cx="5303520" cy="329184"/>
          </a:xfrm>
          <a:prstGeom prst="rect">
            <a:avLst/>
          </a:prstGeom>
          <a:noFill/>
        </p:spPr>
        <p:txBody>
          <a:bodyPr wrap="square">
            <a:spAutoFit/>
          </a:bodyPr>
          <a:lstStyle/>
          <a:p>
            <a:pPr algn="ctr"/>
            <a:r>
              <a:rPr sz="1100" b="1" i="0">
                <a:solidFill>
                  <a:srgbClr val="F5A623"/>
                </a:solidFill>
              </a:rPr>
              <a:t>Density ≤ 11.0 g/cm³</a:t>
            </a:r>
          </a:p>
        </p:txBody>
      </p:sp>
      <p:sp>
        <p:nvSpPr>
          <p:cNvPr id="28" name="TextBox 27"/>
          <p:cNvSpPr txBox="1"/>
          <p:nvPr/>
        </p:nvSpPr>
        <p:spPr>
          <a:xfrm>
            <a:off x="640080" y="6355080"/>
            <a:ext cx="5349240" cy="822960"/>
          </a:xfrm>
          <a:prstGeom prst="rect">
            <a:avLst/>
          </a:prstGeom>
          <a:noFill/>
        </p:spPr>
        <p:txBody>
          <a:bodyPr wrap="square">
            <a:spAutoFit/>
          </a:bodyPr>
          <a:lstStyle/>
          <a:p>
            <a:pPr algn="l"/>
            <a:r>
              <a:rPr sz="950" b="0" i="0">
                <a:solidFill>
                  <a:srgbClr val="AAB4C6"/>
                </a:solidFill>
              </a:rPr>
              <a:t>Hard penalty if alloy density exceeds limit, aligning with EV lightweighting goals and Sona Comstar's ESG mandate.</a:t>
            </a:r>
          </a:p>
        </p:txBody>
      </p:sp>
      <p:sp>
        <p:nvSpPr>
          <p:cNvPr id="29" name="Rectangle 28"/>
          <p:cNvSpPr/>
          <p:nvPr/>
        </p:nvSpPr>
        <p:spPr>
          <a:xfrm>
            <a:off x="6327648" y="5532120"/>
            <a:ext cx="5669280" cy="1755648"/>
          </a:xfrm>
          <a:prstGeom prst="roundRect">
            <a:avLst>
              <a:gd name="adj" fmla="val 20000"/>
            </a:avLst>
          </a:prstGeom>
          <a:solidFill>
            <a:srgbClr val="1E2745"/>
          </a:solidFill>
          <a:ln w="9525">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27648" y="5532120"/>
            <a:ext cx="54864" cy="1755648"/>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8" y="5605272"/>
            <a:ext cx="5394960" cy="256032"/>
          </a:xfrm>
          <a:prstGeom prst="rect">
            <a:avLst/>
          </a:prstGeom>
          <a:noFill/>
        </p:spPr>
        <p:txBody>
          <a:bodyPr wrap="square">
            <a:spAutoFit/>
          </a:bodyPr>
          <a:lstStyle/>
          <a:p>
            <a:pPr algn="l"/>
            <a:r>
              <a:rPr sz="1000" b="1" i="0">
                <a:solidFill>
                  <a:srgbClr val="F5F7FA"/>
                </a:solidFill>
              </a:rPr>
              <a:t>Oxidation Barrier</a:t>
            </a:r>
          </a:p>
        </p:txBody>
      </p:sp>
      <p:sp>
        <p:nvSpPr>
          <p:cNvPr id="32" name="Rectangle 31"/>
          <p:cNvSpPr/>
          <p:nvPr/>
        </p:nvSpPr>
        <p:spPr>
          <a:xfrm>
            <a:off x="6510528" y="5897880"/>
            <a:ext cx="5303520" cy="365760"/>
          </a:xfrm>
          <a:prstGeom prst="roundRect">
            <a:avLst>
              <a:gd name="adj" fmla="val 15000"/>
            </a:avLst>
          </a:prstGeom>
          <a:solidFill>
            <a:srgbClr val="0D1328"/>
          </a:solidFill>
          <a:ln w="63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10528" y="5916168"/>
            <a:ext cx="5303520" cy="329184"/>
          </a:xfrm>
          <a:prstGeom prst="rect">
            <a:avLst/>
          </a:prstGeom>
          <a:noFill/>
        </p:spPr>
        <p:txBody>
          <a:bodyPr wrap="square">
            <a:spAutoFit/>
          </a:bodyPr>
          <a:lstStyle/>
          <a:p>
            <a:pPr algn="ctr"/>
            <a:r>
              <a:rPr sz="1100" b="1" i="0">
                <a:solidFill>
                  <a:srgbClr val="F5A623"/>
                </a:solidFill>
              </a:rPr>
              <a:t>Min 15% Chromium</a:t>
            </a:r>
          </a:p>
        </p:txBody>
      </p:sp>
      <p:sp>
        <p:nvSpPr>
          <p:cNvPr id="34" name="TextBox 33"/>
          <p:cNvSpPr txBox="1"/>
          <p:nvPr/>
        </p:nvSpPr>
        <p:spPr>
          <a:xfrm>
            <a:off x="6510528" y="6355080"/>
            <a:ext cx="5349240" cy="822960"/>
          </a:xfrm>
          <a:prstGeom prst="rect">
            <a:avLst/>
          </a:prstGeom>
          <a:noFill/>
        </p:spPr>
        <p:txBody>
          <a:bodyPr wrap="square">
            <a:spAutoFit/>
          </a:bodyPr>
          <a:lstStyle/>
          <a:p>
            <a:pPr algn="l"/>
            <a:r>
              <a:rPr sz="950" b="0" i="0">
                <a:solidFill>
                  <a:srgbClr val="AAB4C6"/>
                </a:solidFill>
              </a:rPr>
              <a:t>Demands minimum Chromium content to ensure self-healing Alumina (α-Al₂O₃) protective scale formation at operating temperatures.</a:t>
            </a:r>
          </a:p>
        </p:txBody>
      </p:sp>
      <p:sp>
        <p:nvSpPr>
          <p:cNvPr id="35" name="Rectangle 34"/>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37" name="TextBox 36"/>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VERIFICATION &amp; TRL STATUS</a:t>
            </a:r>
          </a:p>
        </p:txBody>
      </p:sp>
      <p:sp>
        <p:nvSpPr>
          <p:cNvPr id="3" name="TextBox 2"/>
          <p:cNvSpPr txBox="1"/>
          <p:nvPr/>
        </p:nvSpPr>
        <p:spPr>
          <a:xfrm>
            <a:off x="457200" y="502920"/>
            <a:ext cx="10972800" cy="411480"/>
          </a:xfrm>
          <a:prstGeom prst="rect">
            <a:avLst/>
          </a:prstGeom>
          <a:noFill/>
        </p:spPr>
        <p:txBody>
          <a:bodyPr wrap="square">
            <a:spAutoFit/>
          </a:bodyPr>
          <a:lstStyle/>
          <a:p>
            <a:pPr algn="l"/>
            <a:r>
              <a:rPr sz="2000" b="1" i="0">
                <a:solidFill>
                  <a:srgbClr val="F5F7FA"/>
                </a:solidFill>
              </a:rPr>
              <a:t>WHAT IS PROVEN TODAY AND WHAT IS NOT</a:t>
            </a:r>
          </a:p>
        </p:txBody>
      </p:sp>
      <p:sp>
        <p:nvSpPr>
          <p:cNvPr id="4" name="Rectangle 3"/>
          <p:cNvSpPr/>
          <p:nvPr/>
        </p:nvSpPr>
        <p:spPr>
          <a:xfrm>
            <a:off x="457200" y="896112"/>
            <a:ext cx="27432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78408"/>
            <a:ext cx="11247120" cy="320040"/>
          </a:xfrm>
          <a:prstGeom prst="rect">
            <a:avLst/>
          </a:prstGeom>
          <a:noFill/>
        </p:spPr>
        <p:txBody>
          <a:bodyPr wrap="square">
            <a:spAutoFit/>
          </a:bodyPr>
          <a:lstStyle/>
          <a:p>
            <a:pPr algn="l"/>
            <a:r>
              <a:rPr sz="1100" b="0" i="0">
                <a:solidFill>
                  <a:srgbClr val="AAB4C6"/>
                </a:solidFill>
              </a:rPr>
              <a:t>High-Fidelity Verification Metrics and TRL Maturity Status</a:t>
            </a:r>
          </a:p>
        </p:txBody>
      </p:sp>
      <p:sp>
        <p:nvSpPr>
          <p:cNvPr id="6" name="Rectangle 5"/>
          <p:cNvSpPr/>
          <p:nvPr/>
        </p:nvSpPr>
        <p:spPr>
          <a:xfrm>
            <a:off x="9875520" y="274320"/>
            <a:ext cx="2011680" cy="548640"/>
          </a:xfrm>
          <a:prstGeom prst="roundRect">
            <a:avLst>
              <a:gd name="adj" fmla="val 20000"/>
            </a:avLst>
          </a:prstGeom>
          <a:solidFill>
            <a:srgbClr val="003D2B"/>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21240" y="310896"/>
            <a:ext cx="1920240" cy="475488"/>
          </a:xfrm>
          <a:prstGeom prst="rect">
            <a:avLst/>
          </a:prstGeom>
          <a:noFill/>
        </p:spPr>
        <p:txBody>
          <a:bodyPr wrap="square">
            <a:spAutoFit/>
          </a:bodyPr>
          <a:lstStyle/>
          <a:p>
            <a:pPr algn="l"/>
            <a:r>
              <a:rPr sz="800" b="1" i="0">
                <a:solidFill>
                  <a:srgbClr val="00E5A0"/>
                </a:solidFill>
              </a:rPr>
              <a:t>CURRENT TRL: 3+
→ Target: TRL 4 via SCIDIP</a:t>
            </a:r>
          </a:p>
        </p:txBody>
      </p:sp>
      <p:sp>
        <p:nvSpPr>
          <p:cNvPr id="8" name="TextBox 7"/>
          <p:cNvSpPr txBox="1"/>
          <p:nvPr/>
        </p:nvSpPr>
        <p:spPr>
          <a:xfrm>
            <a:off x="457200" y="1325880"/>
            <a:ext cx="11247120" cy="502920"/>
          </a:xfrm>
          <a:prstGeom prst="rect">
            <a:avLst/>
          </a:prstGeom>
          <a:noFill/>
        </p:spPr>
        <p:txBody>
          <a:bodyPr wrap="square">
            <a:spAutoFit/>
          </a:bodyPr>
          <a:lstStyle/>
          <a:p>
            <a:pPr algn="l"/>
            <a:r>
              <a:rPr sz="1050" b="0" i="0">
                <a:solidFill>
                  <a:srgbClr val="AAB4C6"/>
                </a:solidFill>
              </a:rPr>
              <a:t>All computational physics and validations are fully confirmed in-silico via PyCalphad, 1D/3D FEA, and MACE MD. We are applying to SCIDIP to execute physical TRL 4 lab validation utilizing IIT Delhi's Central Research Facility (CRF) and NIDHI-CoE.</a:t>
            </a:r>
          </a:p>
        </p:txBody>
      </p:sp>
      <p:sp>
        <p:nvSpPr>
          <p:cNvPr id="9" name="Rectangle 8"/>
          <p:cNvSpPr/>
          <p:nvPr/>
        </p:nvSpPr>
        <p:spPr>
          <a:xfrm>
            <a:off x="457200" y="1920240"/>
            <a:ext cx="2523744" cy="384048"/>
          </a:xfrm>
          <a:prstGeom prst="rect">
            <a:avLst/>
          </a:prstGeom>
          <a:solidFill>
            <a:srgbClr val="0D1A35"/>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956816"/>
            <a:ext cx="2395727" cy="310896"/>
          </a:xfrm>
          <a:prstGeom prst="rect">
            <a:avLst/>
          </a:prstGeom>
          <a:noFill/>
        </p:spPr>
        <p:txBody>
          <a:bodyPr wrap="square">
            <a:spAutoFit/>
          </a:bodyPr>
          <a:lstStyle/>
          <a:p>
            <a:pPr algn="l"/>
            <a:r>
              <a:rPr sz="900" b="1" i="0">
                <a:solidFill>
                  <a:srgbClr val="00E5A0"/>
                </a:solidFill>
              </a:rPr>
              <a:t>Evaluation Vector</a:t>
            </a:r>
          </a:p>
        </p:txBody>
      </p:sp>
      <p:sp>
        <p:nvSpPr>
          <p:cNvPr id="11" name="Rectangle 10"/>
          <p:cNvSpPr/>
          <p:nvPr/>
        </p:nvSpPr>
        <p:spPr>
          <a:xfrm>
            <a:off x="3017520" y="1920240"/>
            <a:ext cx="2615184" cy="384048"/>
          </a:xfrm>
          <a:prstGeom prst="rect">
            <a:avLst/>
          </a:prstGeom>
          <a:solidFill>
            <a:srgbClr val="0D1A35"/>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1956816"/>
            <a:ext cx="2487168" cy="310896"/>
          </a:xfrm>
          <a:prstGeom prst="rect">
            <a:avLst/>
          </a:prstGeom>
          <a:noFill/>
        </p:spPr>
        <p:txBody>
          <a:bodyPr wrap="square">
            <a:spAutoFit/>
          </a:bodyPr>
          <a:lstStyle/>
          <a:p>
            <a:pPr algn="l"/>
            <a:r>
              <a:rPr sz="900" b="1" i="0">
                <a:solidFill>
                  <a:srgbClr val="00E5A0"/>
                </a:solidFill>
              </a:rPr>
              <a:t>Model / In Silico Status</a:t>
            </a:r>
          </a:p>
        </p:txBody>
      </p:sp>
      <p:sp>
        <p:nvSpPr>
          <p:cNvPr id="13" name="Rectangle 12"/>
          <p:cNvSpPr/>
          <p:nvPr/>
        </p:nvSpPr>
        <p:spPr>
          <a:xfrm>
            <a:off x="5669279" y="1920240"/>
            <a:ext cx="2157984" cy="384048"/>
          </a:xfrm>
          <a:prstGeom prst="rect">
            <a:avLst/>
          </a:prstGeom>
          <a:solidFill>
            <a:srgbClr val="0D1A35"/>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19" y="1956816"/>
            <a:ext cx="2029967" cy="310896"/>
          </a:xfrm>
          <a:prstGeom prst="rect">
            <a:avLst/>
          </a:prstGeom>
          <a:noFill/>
        </p:spPr>
        <p:txBody>
          <a:bodyPr wrap="square">
            <a:spAutoFit/>
          </a:bodyPr>
          <a:lstStyle/>
          <a:p>
            <a:pPr algn="l"/>
            <a:r>
              <a:rPr sz="900" b="1" i="0">
                <a:solidFill>
                  <a:srgbClr val="00E5A0"/>
                </a:solidFill>
              </a:rPr>
              <a:t>Lab Validation Target</a:t>
            </a:r>
          </a:p>
        </p:txBody>
      </p:sp>
      <p:sp>
        <p:nvSpPr>
          <p:cNvPr id="15" name="Rectangle 14"/>
          <p:cNvSpPr/>
          <p:nvPr/>
        </p:nvSpPr>
        <p:spPr>
          <a:xfrm>
            <a:off x="7863840" y="1920240"/>
            <a:ext cx="2295144" cy="384048"/>
          </a:xfrm>
          <a:prstGeom prst="rect">
            <a:avLst/>
          </a:prstGeom>
          <a:solidFill>
            <a:srgbClr val="0D1A35"/>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1956816"/>
            <a:ext cx="2167127" cy="310896"/>
          </a:xfrm>
          <a:prstGeom prst="rect">
            <a:avLst/>
          </a:prstGeom>
          <a:noFill/>
        </p:spPr>
        <p:txBody>
          <a:bodyPr wrap="square">
            <a:spAutoFit/>
          </a:bodyPr>
          <a:lstStyle/>
          <a:p>
            <a:pPr algn="l"/>
            <a:r>
              <a:rPr sz="900" b="1" i="0">
                <a:solidFill>
                  <a:srgbClr val="00E5A0"/>
                </a:solidFill>
              </a:rPr>
              <a:t>SCIDIP Test Equipment</a:t>
            </a:r>
          </a:p>
        </p:txBody>
      </p:sp>
      <p:sp>
        <p:nvSpPr>
          <p:cNvPr id="17" name="Rectangle 16"/>
          <p:cNvSpPr/>
          <p:nvPr/>
        </p:nvSpPr>
        <p:spPr>
          <a:xfrm>
            <a:off x="10195559" y="1920240"/>
            <a:ext cx="649224" cy="384048"/>
          </a:xfrm>
          <a:prstGeom prst="rect">
            <a:avLst/>
          </a:prstGeom>
          <a:solidFill>
            <a:srgbClr val="0D1A35"/>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86999" y="1956816"/>
            <a:ext cx="521208" cy="310896"/>
          </a:xfrm>
          <a:prstGeom prst="rect">
            <a:avLst/>
          </a:prstGeom>
          <a:noFill/>
        </p:spPr>
        <p:txBody>
          <a:bodyPr wrap="square">
            <a:spAutoFit/>
          </a:bodyPr>
          <a:lstStyle/>
          <a:p>
            <a:pPr algn="l"/>
            <a:r>
              <a:rPr sz="900" b="1" i="0">
                <a:solidFill>
                  <a:srgbClr val="00E5A0"/>
                </a:solidFill>
              </a:rPr>
              <a:t>Status</a:t>
            </a:r>
          </a:p>
        </p:txBody>
      </p:sp>
      <p:sp>
        <p:nvSpPr>
          <p:cNvPr id="19" name="Rectangle 18"/>
          <p:cNvSpPr/>
          <p:nvPr/>
        </p:nvSpPr>
        <p:spPr>
          <a:xfrm>
            <a:off x="457200" y="2340864"/>
            <a:ext cx="252374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395728"/>
            <a:ext cx="2377439" cy="640080"/>
          </a:xfrm>
          <a:prstGeom prst="rect">
            <a:avLst/>
          </a:prstGeom>
          <a:noFill/>
        </p:spPr>
        <p:txBody>
          <a:bodyPr wrap="square">
            <a:spAutoFit/>
          </a:bodyPr>
          <a:lstStyle/>
          <a:p>
            <a:pPr algn="l"/>
            <a:r>
              <a:rPr sz="900" b="0" i="0">
                <a:solidFill>
                  <a:srgbClr val="F5F7FA"/>
                </a:solidFill>
              </a:rPr>
              <a:t>BCC Phase Security</a:t>
            </a:r>
          </a:p>
        </p:txBody>
      </p:sp>
      <p:sp>
        <p:nvSpPr>
          <p:cNvPr id="21" name="Rectangle 20"/>
          <p:cNvSpPr/>
          <p:nvPr/>
        </p:nvSpPr>
        <p:spPr>
          <a:xfrm>
            <a:off x="3017520" y="2340864"/>
            <a:ext cx="261518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2395728"/>
            <a:ext cx="2468879" cy="640080"/>
          </a:xfrm>
          <a:prstGeom prst="rect">
            <a:avLst/>
          </a:prstGeom>
          <a:noFill/>
        </p:spPr>
        <p:txBody>
          <a:bodyPr wrap="square">
            <a:spAutoFit/>
          </a:bodyPr>
          <a:lstStyle/>
          <a:p>
            <a:pPr algn="l"/>
            <a:r>
              <a:rPr sz="900" b="0" i="0">
                <a:solidFill>
                  <a:srgbClr val="AAB4C6"/>
                </a:solidFill>
              </a:rPr>
              <a:t>Verified via CALPHAD
(PyCalphad)</a:t>
            </a:r>
          </a:p>
        </p:txBody>
      </p:sp>
      <p:sp>
        <p:nvSpPr>
          <p:cNvPr id="23" name="Rectangle 22"/>
          <p:cNvSpPr/>
          <p:nvPr/>
        </p:nvSpPr>
        <p:spPr>
          <a:xfrm>
            <a:off x="5669279" y="2340864"/>
            <a:ext cx="215798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19" y="2395728"/>
            <a:ext cx="2011679" cy="640080"/>
          </a:xfrm>
          <a:prstGeom prst="rect">
            <a:avLst/>
          </a:prstGeom>
          <a:noFill/>
        </p:spPr>
        <p:txBody>
          <a:bodyPr wrap="square">
            <a:spAutoFit/>
          </a:bodyPr>
          <a:lstStyle/>
          <a:p>
            <a:pPr algn="l"/>
            <a:r>
              <a:rPr sz="900" b="0" i="0">
                <a:solidFill>
                  <a:srgbClr val="AAB4C6"/>
                </a:solidFill>
              </a:rPr>
              <a:t>0% Brittle Sigma Phase</a:t>
            </a:r>
          </a:p>
        </p:txBody>
      </p:sp>
      <p:sp>
        <p:nvSpPr>
          <p:cNvPr id="25" name="Rectangle 24"/>
          <p:cNvSpPr/>
          <p:nvPr/>
        </p:nvSpPr>
        <p:spPr>
          <a:xfrm>
            <a:off x="7863840" y="2340864"/>
            <a:ext cx="229514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79" y="2395728"/>
            <a:ext cx="2148839" cy="640080"/>
          </a:xfrm>
          <a:prstGeom prst="rect">
            <a:avLst/>
          </a:prstGeom>
          <a:noFill/>
        </p:spPr>
        <p:txBody>
          <a:bodyPr wrap="square">
            <a:spAutoFit/>
          </a:bodyPr>
          <a:lstStyle/>
          <a:p>
            <a:pPr algn="l"/>
            <a:r>
              <a:rPr sz="900" b="0" i="0">
                <a:solidFill>
                  <a:srgbClr val="AAB4C6"/>
                </a:solidFill>
              </a:rPr>
              <a:t>High-Temp XRD — IIT Delhi CRF</a:t>
            </a:r>
          </a:p>
        </p:txBody>
      </p:sp>
      <p:sp>
        <p:nvSpPr>
          <p:cNvPr id="27" name="Rectangle 26"/>
          <p:cNvSpPr/>
          <p:nvPr/>
        </p:nvSpPr>
        <p:spPr>
          <a:xfrm>
            <a:off x="10195559" y="2340864"/>
            <a:ext cx="64922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32135" y="2542032"/>
            <a:ext cx="594360" cy="347472"/>
          </a:xfrm>
          <a:prstGeom prst="rect">
            <a:avLst/>
          </a:prstGeom>
          <a:noFill/>
        </p:spPr>
        <p:txBody>
          <a:bodyPr wrap="square">
            <a:spAutoFit/>
          </a:bodyPr>
          <a:lstStyle/>
          <a:p>
            <a:pPr algn="ctr"/>
            <a:r>
              <a:rPr sz="800" b="1" i="0">
                <a:solidFill>
                  <a:srgbClr val="00C87A"/>
                </a:solidFill>
              </a:rPr>
              <a:t>● VERIFIED</a:t>
            </a:r>
          </a:p>
        </p:txBody>
      </p:sp>
      <p:sp>
        <p:nvSpPr>
          <p:cNvPr id="29" name="Rectangle 28"/>
          <p:cNvSpPr/>
          <p:nvPr/>
        </p:nvSpPr>
        <p:spPr>
          <a:xfrm>
            <a:off x="457200" y="3127248"/>
            <a:ext cx="252374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182112"/>
            <a:ext cx="2377439" cy="640080"/>
          </a:xfrm>
          <a:prstGeom prst="rect">
            <a:avLst/>
          </a:prstGeom>
          <a:noFill/>
        </p:spPr>
        <p:txBody>
          <a:bodyPr wrap="square">
            <a:spAutoFit/>
          </a:bodyPr>
          <a:lstStyle/>
          <a:p>
            <a:pPr algn="l"/>
            <a:r>
              <a:rPr sz="900" b="0" i="0">
                <a:solidFill>
                  <a:srgbClr val="F5F7FA"/>
                </a:solidFill>
              </a:rPr>
              <a:t>Elastic Modulus Surface</a:t>
            </a:r>
          </a:p>
        </p:txBody>
      </p:sp>
      <p:sp>
        <p:nvSpPr>
          <p:cNvPr id="31" name="Rectangle 30"/>
          <p:cNvSpPr/>
          <p:nvPr/>
        </p:nvSpPr>
        <p:spPr>
          <a:xfrm>
            <a:off x="3017520" y="3127248"/>
            <a:ext cx="261518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08960" y="3182112"/>
            <a:ext cx="2468879" cy="640080"/>
          </a:xfrm>
          <a:prstGeom prst="rect">
            <a:avLst/>
          </a:prstGeom>
          <a:noFill/>
        </p:spPr>
        <p:txBody>
          <a:bodyPr wrap="square">
            <a:spAutoFit/>
          </a:bodyPr>
          <a:lstStyle/>
          <a:p>
            <a:pPr algn="l"/>
            <a:r>
              <a:rPr sz="900" b="0" i="0">
                <a:solidFill>
                  <a:srgbClr val="AAB4C6"/>
                </a:solidFill>
              </a:rPr>
              <a:t>Audited — Test R² = 0.977
MAE = 8.11 GPa</a:t>
            </a:r>
          </a:p>
        </p:txBody>
      </p:sp>
      <p:sp>
        <p:nvSpPr>
          <p:cNvPr id="33" name="Rectangle 32"/>
          <p:cNvSpPr/>
          <p:nvPr/>
        </p:nvSpPr>
        <p:spPr>
          <a:xfrm>
            <a:off x="5669279" y="3127248"/>
            <a:ext cx="215798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60719" y="3182112"/>
            <a:ext cx="2011679" cy="640080"/>
          </a:xfrm>
          <a:prstGeom prst="rect">
            <a:avLst/>
          </a:prstGeom>
          <a:noFill/>
        </p:spPr>
        <p:txBody>
          <a:bodyPr wrap="square">
            <a:spAutoFit/>
          </a:bodyPr>
          <a:lstStyle/>
          <a:p>
            <a:pPr algn="l"/>
            <a:r>
              <a:rPr sz="900" b="0" i="0">
                <a:solidFill>
                  <a:srgbClr val="AAB4C6"/>
                </a:solidFill>
              </a:rPr>
              <a:t>MAE ≤ 8.11 GPa</a:t>
            </a:r>
          </a:p>
        </p:txBody>
      </p:sp>
      <p:sp>
        <p:nvSpPr>
          <p:cNvPr id="35" name="Rectangle 34"/>
          <p:cNvSpPr/>
          <p:nvPr/>
        </p:nvSpPr>
        <p:spPr>
          <a:xfrm>
            <a:off x="7863840" y="3127248"/>
            <a:ext cx="229514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79" y="3182112"/>
            <a:ext cx="2148839" cy="640080"/>
          </a:xfrm>
          <a:prstGeom prst="rect">
            <a:avLst/>
          </a:prstGeom>
          <a:noFill/>
        </p:spPr>
        <p:txBody>
          <a:bodyPr wrap="square">
            <a:spAutoFit/>
          </a:bodyPr>
          <a:lstStyle/>
          <a:p>
            <a:pPr algn="l"/>
            <a:r>
              <a:rPr sz="900" b="0" i="0">
                <a:solidFill>
                  <a:srgbClr val="AAB4C6"/>
                </a:solidFill>
              </a:rPr>
              <a:t>NIDHI-CoE Tensile Tester</a:t>
            </a:r>
          </a:p>
        </p:txBody>
      </p:sp>
      <p:sp>
        <p:nvSpPr>
          <p:cNvPr id="37" name="Rectangle 36"/>
          <p:cNvSpPr/>
          <p:nvPr/>
        </p:nvSpPr>
        <p:spPr>
          <a:xfrm>
            <a:off x="10195559" y="3127248"/>
            <a:ext cx="64922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32135" y="3328416"/>
            <a:ext cx="594360" cy="347472"/>
          </a:xfrm>
          <a:prstGeom prst="rect">
            <a:avLst/>
          </a:prstGeom>
          <a:noFill/>
        </p:spPr>
        <p:txBody>
          <a:bodyPr wrap="square">
            <a:spAutoFit/>
          </a:bodyPr>
          <a:lstStyle/>
          <a:p>
            <a:pPr algn="ctr"/>
            <a:r>
              <a:rPr sz="800" b="1" i="0">
                <a:solidFill>
                  <a:srgbClr val="00C87A"/>
                </a:solidFill>
              </a:rPr>
              <a:t>● VERIFIED</a:t>
            </a:r>
          </a:p>
        </p:txBody>
      </p:sp>
      <p:sp>
        <p:nvSpPr>
          <p:cNvPr id="39" name="Rectangle 38"/>
          <p:cNvSpPr/>
          <p:nvPr/>
        </p:nvSpPr>
        <p:spPr>
          <a:xfrm>
            <a:off x="457200" y="3913632"/>
            <a:ext cx="252374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3968496"/>
            <a:ext cx="2377439" cy="640080"/>
          </a:xfrm>
          <a:prstGeom prst="rect">
            <a:avLst/>
          </a:prstGeom>
          <a:noFill/>
        </p:spPr>
        <p:txBody>
          <a:bodyPr wrap="square">
            <a:spAutoFit/>
          </a:bodyPr>
          <a:lstStyle/>
          <a:p>
            <a:pPr algn="l"/>
            <a:r>
              <a:rPr sz="900" b="0" i="0">
                <a:solidFill>
                  <a:srgbClr val="F5F7FA"/>
                </a:solidFill>
              </a:rPr>
              <a:t>Oxidation Scale Kinetics</a:t>
            </a:r>
          </a:p>
        </p:txBody>
      </p:sp>
      <p:sp>
        <p:nvSpPr>
          <p:cNvPr id="41" name="Rectangle 40"/>
          <p:cNvSpPr/>
          <p:nvPr/>
        </p:nvSpPr>
        <p:spPr>
          <a:xfrm>
            <a:off x="3017520" y="3913632"/>
            <a:ext cx="261518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08960" y="3968496"/>
            <a:ext cx="2468879" cy="640080"/>
          </a:xfrm>
          <a:prstGeom prst="rect">
            <a:avLst/>
          </a:prstGeom>
          <a:noFill/>
        </p:spPr>
        <p:txBody>
          <a:bodyPr wrap="square">
            <a:spAutoFit/>
          </a:bodyPr>
          <a:lstStyle/>
          <a:p>
            <a:pPr algn="l"/>
            <a:r>
              <a:rPr sz="900" b="0" i="0">
                <a:solidFill>
                  <a:srgbClr val="AAB4C6"/>
                </a:solidFill>
              </a:rPr>
              <a:t>Verified via 2.8% Al Pivot
(α-Al₂O₃ formation)</a:t>
            </a:r>
          </a:p>
        </p:txBody>
      </p:sp>
      <p:sp>
        <p:nvSpPr>
          <p:cNvPr id="43" name="Rectangle 42"/>
          <p:cNvSpPr/>
          <p:nvPr/>
        </p:nvSpPr>
        <p:spPr>
          <a:xfrm>
            <a:off x="5669279" y="3913632"/>
            <a:ext cx="215798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60719" y="3968496"/>
            <a:ext cx="2011679" cy="640080"/>
          </a:xfrm>
          <a:prstGeom prst="rect">
            <a:avLst/>
          </a:prstGeom>
          <a:noFill/>
        </p:spPr>
        <p:txBody>
          <a:bodyPr wrap="square">
            <a:spAutoFit/>
          </a:bodyPr>
          <a:lstStyle/>
          <a:p>
            <a:pPr algn="l"/>
            <a:r>
              <a:rPr sz="900" b="0" i="0">
                <a:solidFill>
                  <a:srgbClr val="AAB4C6"/>
                </a:solidFill>
              </a:rPr>
              <a:t>Mass Gain &lt; 10 mg/cm²</a:t>
            </a:r>
          </a:p>
        </p:txBody>
      </p:sp>
      <p:sp>
        <p:nvSpPr>
          <p:cNvPr id="45" name="Rectangle 44"/>
          <p:cNvSpPr/>
          <p:nvPr/>
        </p:nvSpPr>
        <p:spPr>
          <a:xfrm>
            <a:off x="7863840" y="3913632"/>
            <a:ext cx="229514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55279" y="3968496"/>
            <a:ext cx="2148839" cy="640080"/>
          </a:xfrm>
          <a:prstGeom prst="rect">
            <a:avLst/>
          </a:prstGeom>
          <a:noFill/>
        </p:spPr>
        <p:txBody>
          <a:bodyPr wrap="square">
            <a:spAutoFit/>
          </a:bodyPr>
          <a:lstStyle/>
          <a:p>
            <a:pPr algn="l"/>
            <a:r>
              <a:rPr sz="900" b="0" i="0">
                <a:solidFill>
                  <a:srgbClr val="AAB4C6"/>
                </a:solidFill>
              </a:rPr>
              <a:t>STA / TGA — IIT Delhi CRF</a:t>
            </a:r>
          </a:p>
        </p:txBody>
      </p:sp>
      <p:sp>
        <p:nvSpPr>
          <p:cNvPr id="47" name="Rectangle 46"/>
          <p:cNvSpPr/>
          <p:nvPr/>
        </p:nvSpPr>
        <p:spPr>
          <a:xfrm>
            <a:off x="10195559" y="3913632"/>
            <a:ext cx="64922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232135" y="4114800"/>
            <a:ext cx="594360" cy="347472"/>
          </a:xfrm>
          <a:prstGeom prst="rect">
            <a:avLst/>
          </a:prstGeom>
          <a:noFill/>
        </p:spPr>
        <p:txBody>
          <a:bodyPr wrap="square">
            <a:spAutoFit/>
          </a:bodyPr>
          <a:lstStyle/>
          <a:p>
            <a:pPr algn="ctr"/>
            <a:r>
              <a:rPr sz="800" b="1" i="0">
                <a:solidFill>
                  <a:srgbClr val="00C87A"/>
                </a:solidFill>
              </a:rPr>
              <a:t>● VERIFIED</a:t>
            </a:r>
          </a:p>
        </p:txBody>
      </p:sp>
      <p:sp>
        <p:nvSpPr>
          <p:cNvPr id="49" name="Rectangle 48"/>
          <p:cNvSpPr/>
          <p:nvPr/>
        </p:nvSpPr>
        <p:spPr>
          <a:xfrm>
            <a:off x="457200" y="4700016"/>
            <a:ext cx="252374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4754880"/>
            <a:ext cx="2377439" cy="640080"/>
          </a:xfrm>
          <a:prstGeom prst="rect">
            <a:avLst/>
          </a:prstGeom>
          <a:noFill/>
        </p:spPr>
        <p:txBody>
          <a:bodyPr wrap="square">
            <a:spAutoFit/>
          </a:bodyPr>
          <a:lstStyle/>
          <a:p>
            <a:pPr algn="l"/>
            <a:r>
              <a:rPr sz="900" b="0" i="0">
                <a:solidFill>
                  <a:srgbClr val="F5F7FA"/>
                </a:solidFill>
              </a:rPr>
              <a:t>Interfacial Bond Safety</a:t>
            </a:r>
          </a:p>
        </p:txBody>
      </p:sp>
      <p:sp>
        <p:nvSpPr>
          <p:cNvPr id="51" name="Rectangle 50"/>
          <p:cNvSpPr/>
          <p:nvPr/>
        </p:nvSpPr>
        <p:spPr>
          <a:xfrm>
            <a:off x="3017520" y="4700016"/>
            <a:ext cx="261518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08960" y="4754880"/>
            <a:ext cx="2468879" cy="640080"/>
          </a:xfrm>
          <a:prstGeom prst="rect">
            <a:avLst/>
          </a:prstGeom>
          <a:noFill/>
        </p:spPr>
        <p:txBody>
          <a:bodyPr wrap="square">
            <a:spAutoFit/>
          </a:bodyPr>
          <a:lstStyle/>
          <a:p>
            <a:pPr algn="l"/>
            <a:r>
              <a:rPr sz="900" b="0" i="0">
                <a:solidFill>
                  <a:srgbClr val="AAB4C6"/>
                </a:solidFill>
              </a:rPr>
              <a:t>Verified — 1D &amp; 3D FEA
(SF = 1.71 ≥ 1.50 threshold)</a:t>
            </a:r>
          </a:p>
        </p:txBody>
      </p:sp>
      <p:sp>
        <p:nvSpPr>
          <p:cNvPr id="53" name="Rectangle 52"/>
          <p:cNvSpPr/>
          <p:nvPr/>
        </p:nvSpPr>
        <p:spPr>
          <a:xfrm>
            <a:off x="5669279" y="4700016"/>
            <a:ext cx="215798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760719" y="4754880"/>
            <a:ext cx="2011679" cy="640080"/>
          </a:xfrm>
          <a:prstGeom prst="rect">
            <a:avLst/>
          </a:prstGeom>
          <a:noFill/>
        </p:spPr>
        <p:txBody>
          <a:bodyPr wrap="square">
            <a:spAutoFit/>
          </a:bodyPr>
          <a:lstStyle/>
          <a:p>
            <a:pPr algn="l"/>
            <a:r>
              <a:rPr sz="900" b="0" i="0">
                <a:solidFill>
                  <a:srgbClr val="AAB4C6"/>
                </a:solidFill>
              </a:rPr>
              <a:t>Safety Factor ≥ 1.50</a:t>
            </a:r>
          </a:p>
        </p:txBody>
      </p:sp>
      <p:sp>
        <p:nvSpPr>
          <p:cNvPr id="55" name="Rectangle 54"/>
          <p:cNvSpPr/>
          <p:nvPr/>
        </p:nvSpPr>
        <p:spPr>
          <a:xfrm>
            <a:off x="7863840" y="4700016"/>
            <a:ext cx="229514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55279" y="4754880"/>
            <a:ext cx="2148839" cy="640080"/>
          </a:xfrm>
          <a:prstGeom prst="rect">
            <a:avLst/>
          </a:prstGeom>
          <a:noFill/>
        </p:spPr>
        <p:txBody>
          <a:bodyPr wrap="square">
            <a:spAutoFit/>
          </a:bodyPr>
          <a:lstStyle/>
          <a:p>
            <a:pPr algn="l"/>
            <a:r>
              <a:rPr sz="900" b="0" i="0">
                <a:solidFill>
                  <a:srgbClr val="AAB4C6"/>
                </a:solidFill>
              </a:rPr>
              <a:t>Burner Rig Adhesion Test</a:t>
            </a:r>
          </a:p>
        </p:txBody>
      </p:sp>
      <p:sp>
        <p:nvSpPr>
          <p:cNvPr id="57" name="Rectangle 56"/>
          <p:cNvSpPr/>
          <p:nvPr/>
        </p:nvSpPr>
        <p:spPr>
          <a:xfrm>
            <a:off x="10195559" y="4700016"/>
            <a:ext cx="649224" cy="749808"/>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32135" y="4901184"/>
            <a:ext cx="594360" cy="347472"/>
          </a:xfrm>
          <a:prstGeom prst="rect">
            <a:avLst/>
          </a:prstGeom>
          <a:noFill/>
        </p:spPr>
        <p:txBody>
          <a:bodyPr wrap="square">
            <a:spAutoFit/>
          </a:bodyPr>
          <a:lstStyle/>
          <a:p>
            <a:pPr algn="ctr"/>
            <a:r>
              <a:rPr sz="800" b="1" i="0">
                <a:solidFill>
                  <a:srgbClr val="00C87A"/>
                </a:solidFill>
              </a:rPr>
              <a:t>● VERIFIED</a:t>
            </a:r>
          </a:p>
        </p:txBody>
      </p:sp>
      <p:sp>
        <p:nvSpPr>
          <p:cNvPr id="59" name="Rectangle 58"/>
          <p:cNvSpPr/>
          <p:nvPr/>
        </p:nvSpPr>
        <p:spPr>
          <a:xfrm>
            <a:off x="457200" y="5486400"/>
            <a:ext cx="252374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5541264"/>
            <a:ext cx="2377439" cy="640080"/>
          </a:xfrm>
          <a:prstGeom prst="rect">
            <a:avLst/>
          </a:prstGeom>
          <a:noFill/>
        </p:spPr>
        <p:txBody>
          <a:bodyPr wrap="square">
            <a:spAutoFit/>
          </a:bodyPr>
          <a:lstStyle/>
          <a:p>
            <a:pPr algn="l"/>
            <a:r>
              <a:rPr sz="900" b="0" i="0">
                <a:solidFill>
                  <a:srgbClr val="F5F7FA"/>
                </a:solidFill>
              </a:rPr>
              <a:t>Physical Prototyping</a:t>
            </a:r>
          </a:p>
        </p:txBody>
      </p:sp>
      <p:sp>
        <p:nvSpPr>
          <p:cNvPr id="61" name="Rectangle 60"/>
          <p:cNvSpPr/>
          <p:nvPr/>
        </p:nvSpPr>
        <p:spPr>
          <a:xfrm>
            <a:off x="3017520" y="5486400"/>
            <a:ext cx="261518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108960" y="5541264"/>
            <a:ext cx="2468879" cy="640080"/>
          </a:xfrm>
          <a:prstGeom prst="rect">
            <a:avLst/>
          </a:prstGeom>
          <a:noFill/>
        </p:spPr>
        <p:txBody>
          <a:bodyPr wrap="square">
            <a:spAutoFit/>
          </a:bodyPr>
          <a:lstStyle/>
          <a:p>
            <a:pPr algn="l"/>
            <a:r>
              <a:rPr sz="900" b="0" i="0">
                <a:solidFill>
                  <a:srgbClr val="AAB4C6"/>
                </a:solidFill>
              </a:rPr>
              <a:t>Fully Formulated
(11-layer recipe exported)</a:t>
            </a:r>
          </a:p>
        </p:txBody>
      </p:sp>
      <p:sp>
        <p:nvSpPr>
          <p:cNvPr id="63" name="Rectangle 62"/>
          <p:cNvSpPr/>
          <p:nvPr/>
        </p:nvSpPr>
        <p:spPr>
          <a:xfrm>
            <a:off x="5669279" y="5486400"/>
            <a:ext cx="215798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760719" y="5541264"/>
            <a:ext cx="2011679" cy="640080"/>
          </a:xfrm>
          <a:prstGeom prst="rect">
            <a:avLst/>
          </a:prstGeom>
          <a:noFill/>
        </p:spPr>
        <p:txBody>
          <a:bodyPr wrap="square">
            <a:spAutoFit/>
          </a:bodyPr>
          <a:lstStyle/>
          <a:p>
            <a:pPr algn="l"/>
            <a:r>
              <a:rPr sz="900" b="0" i="0">
                <a:solidFill>
                  <a:srgbClr val="AAB4C6"/>
                </a:solidFill>
              </a:rPr>
              <a:t>TRL 4 Coupon Assembly</a:t>
            </a:r>
          </a:p>
        </p:txBody>
      </p:sp>
      <p:sp>
        <p:nvSpPr>
          <p:cNvPr id="65" name="Rectangle 64"/>
          <p:cNvSpPr/>
          <p:nvPr/>
        </p:nvSpPr>
        <p:spPr>
          <a:xfrm>
            <a:off x="7863840" y="5486400"/>
            <a:ext cx="229514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55279" y="5541264"/>
            <a:ext cx="2148839" cy="640080"/>
          </a:xfrm>
          <a:prstGeom prst="rect">
            <a:avLst/>
          </a:prstGeom>
          <a:noFill/>
        </p:spPr>
        <p:txBody>
          <a:bodyPr wrap="square">
            <a:spAutoFit/>
          </a:bodyPr>
          <a:lstStyle/>
          <a:p>
            <a:pPr algn="l"/>
            <a:r>
              <a:rPr sz="900" b="0" i="0">
                <a:solidFill>
                  <a:srgbClr val="AAB4C6"/>
                </a:solidFill>
              </a:rPr>
              <a:t>DED 3D Printer — SCIDIP Fund</a:t>
            </a:r>
          </a:p>
        </p:txBody>
      </p:sp>
      <p:sp>
        <p:nvSpPr>
          <p:cNvPr id="67" name="Rectangle 66"/>
          <p:cNvSpPr/>
          <p:nvPr/>
        </p:nvSpPr>
        <p:spPr>
          <a:xfrm>
            <a:off x="10195559" y="5486400"/>
            <a:ext cx="649224" cy="749808"/>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232135" y="5687568"/>
            <a:ext cx="594360" cy="347472"/>
          </a:xfrm>
          <a:prstGeom prst="rect">
            <a:avLst/>
          </a:prstGeom>
          <a:noFill/>
        </p:spPr>
        <p:txBody>
          <a:bodyPr wrap="square">
            <a:spAutoFit/>
          </a:bodyPr>
          <a:lstStyle/>
          <a:p>
            <a:pPr algn="ctr"/>
            <a:r>
              <a:rPr sz="800" b="1" i="0">
                <a:solidFill>
                  <a:srgbClr val="F5A623"/>
                </a:solidFill>
              </a:rPr>
              <a:t>○ PENDING</a:t>
            </a:r>
          </a:p>
        </p:txBody>
      </p:sp>
      <p:sp>
        <p:nvSpPr>
          <p:cNvPr id="69" name="Rectangle 68"/>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71" name="TextBox 70"/>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FROM CHEMISTRY TO MANUFACTURING</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THE FINAL ARCHITECTURE (CANDIDATE C)</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From In-Silico Chemistry to Print-Ready Manufacturing</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457200"/>
          </a:xfrm>
          <a:prstGeom prst="rect">
            <a:avLst/>
          </a:prstGeom>
          <a:noFill/>
        </p:spPr>
        <p:txBody>
          <a:bodyPr wrap="square">
            <a:spAutoFit/>
          </a:bodyPr>
          <a:lstStyle/>
          <a:p>
            <a:pPr algn="l"/>
            <a:r>
              <a:rPr sz="1050" b="0" i="0">
                <a:solidFill>
                  <a:srgbClr val="AAB4C6"/>
                </a:solidFill>
              </a:rPr>
              <a:t>Through 11 phases of autonomous generation, our AI produced Candidate C, a hyper-optimized Refractory High-Entropy Alloy designed specifically for extreme thermal shock.</a:t>
            </a:r>
          </a:p>
        </p:txBody>
      </p:sp>
      <p:sp>
        <p:nvSpPr>
          <p:cNvPr id="7" name="Rectangle 6"/>
          <p:cNvSpPr/>
          <p:nvPr/>
        </p:nvSpPr>
        <p:spPr>
          <a:xfrm>
            <a:off x="457200" y="1783080"/>
            <a:ext cx="3730752" cy="4160520"/>
          </a:xfrm>
          <a:prstGeom prst="roundRect">
            <a:avLst>
              <a:gd name="adj" fmla="val 2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783080"/>
            <a:ext cx="3730752"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874519"/>
            <a:ext cx="3456432" cy="256032"/>
          </a:xfrm>
          <a:prstGeom prst="rect">
            <a:avLst/>
          </a:prstGeom>
          <a:noFill/>
        </p:spPr>
        <p:txBody>
          <a:bodyPr wrap="square">
            <a:spAutoFit/>
          </a:bodyPr>
          <a:lstStyle/>
          <a:p>
            <a:pPr algn="l"/>
            <a:r>
              <a:rPr sz="1000" b="1" i="0">
                <a:solidFill>
                  <a:srgbClr val="00E5A0"/>
                </a:solidFill>
              </a:rPr>
              <a:t>① THE TITANIUM PIVOT</a:t>
            </a:r>
          </a:p>
        </p:txBody>
      </p:sp>
      <p:sp>
        <p:nvSpPr>
          <p:cNvPr id="10" name="Rectangle 9"/>
          <p:cNvSpPr/>
          <p:nvPr/>
        </p:nvSpPr>
        <p:spPr>
          <a:xfrm>
            <a:off x="621792" y="2194560"/>
            <a:ext cx="3401568" cy="475488"/>
          </a:xfrm>
          <a:prstGeom prst="roundRect">
            <a:avLst>
              <a:gd name="adj" fmla="val 15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221992"/>
            <a:ext cx="3401568" cy="420624"/>
          </a:xfrm>
          <a:prstGeom prst="rect">
            <a:avLst/>
          </a:prstGeom>
          <a:noFill/>
        </p:spPr>
        <p:txBody>
          <a:bodyPr wrap="square">
            <a:spAutoFit/>
          </a:bodyPr>
          <a:lstStyle/>
          <a:p>
            <a:pPr algn="ctr"/>
            <a:r>
              <a:rPr sz="1200" b="1" i="0">
                <a:solidFill>
                  <a:srgbClr val="00E5A0"/>
                </a:solidFill>
              </a:rPr>
              <a:t>CTE Gap Closed to 2.66 μm/mK</a:t>
            </a:r>
          </a:p>
        </p:txBody>
      </p:sp>
      <p:sp>
        <p:nvSpPr>
          <p:cNvPr id="12" name="TextBox 11"/>
          <p:cNvSpPr txBox="1"/>
          <p:nvPr/>
        </p:nvSpPr>
        <p:spPr>
          <a:xfrm>
            <a:off x="621792" y="2761488"/>
            <a:ext cx="3456432" cy="3017520"/>
          </a:xfrm>
          <a:prstGeom prst="rect">
            <a:avLst/>
          </a:prstGeom>
          <a:noFill/>
        </p:spPr>
        <p:txBody>
          <a:bodyPr wrap="square">
            <a:spAutoFit/>
          </a:bodyPr>
          <a:lstStyle/>
          <a:p>
            <a:pPr algn="l"/>
            <a:r>
              <a:rPr sz="1000" b="0" i="0">
                <a:solidFill>
                  <a:srgbClr val="AAB4C6"/>
                </a:solidFill>
              </a:rPr>
              <a:t>The AI intentionally substituted heavy Hafnium for Titanium (21.7%). Because Titanium has the highest Coefficient of Thermal Expansion (8.6 µm/mK) in the refractory space, it aggressively closed the CTE mismatch with the ceramic coating.</a:t>
            </a:r>
          </a:p>
        </p:txBody>
      </p:sp>
      <p:sp>
        <p:nvSpPr>
          <p:cNvPr id="13" name="Rectangle 12"/>
          <p:cNvSpPr/>
          <p:nvPr/>
        </p:nvSpPr>
        <p:spPr>
          <a:xfrm>
            <a:off x="4315968" y="1783080"/>
            <a:ext cx="3730752" cy="4160520"/>
          </a:xfrm>
          <a:prstGeom prst="roundRect">
            <a:avLst>
              <a:gd name="adj" fmla="val 2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783080"/>
            <a:ext cx="3730752" cy="4572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1874519"/>
            <a:ext cx="3456432" cy="256032"/>
          </a:xfrm>
          <a:prstGeom prst="rect">
            <a:avLst/>
          </a:prstGeom>
          <a:noFill/>
        </p:spPr>
        <p:txBody>
          <a:bodyPr wrap="square">
            <a:spAutoFit/>
          </a:bodyPr>
          <a:lstStyle/>
          <a:p>
            <a:pPr algn="l"/>
            <a:r>
              <a:rPr sz="1000" b="1" i="0">
                <a:solidFill>
                  <a:srgbClr val="F5A623"/>
                </a:solidFill>
              </a:rPr>
              <a:t>② THE ALUMINUM ARMOR</a:t>
            </a:r>
          </a:p>
        </p:txBody>
      </p:sp>
      <p:sp>
        <p:nvSpPr>
          <p:cNvPr id="16" name="Rectangle 15"/>
          <p:cNvSpPr/>
          <p:nvPr/>
        </p:nvSpPr>
        <p:spPr>
          <a:xfrm>
            <a:off x="4480559" y="2194560"/>
            <a:ext cx="3401568" cy="475488"/>
          </a:xfrm>
          <a:prstGeom prst="roundRect">
            <a:avLst>
              <a:gd name="adj" fmla="val 15000"/>
            </a:avLst>
          </a:prstGeom>
          <a:solidFill>
            <a:srgbClr val="0D132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59" y="2221992"/>
            <a:ext cx="3401568" cy="420624"/>
          </a:xfrm>
          <a:prstGeom prst="rect">
            <a:avLst/>
          </a:prstGeom>
          <a:noFill/>
        </p:spPr>
        <p:txBody>
          <a:bodyPr wrap="square">
            <a:spAutoFit/>
          </a:bodyPr>
          <a:lstStyle/>
          <a:p>
            <a:pPr algn="ctr"/>
            <a:r>
              <a:rPr sz="1200" b="1" i="0">
                <a:solidFill>
                  <a:srgbClr val="F5A623"/>
                </a:solidFill>
              </a:rPr>
              <a:t>Oxidation Mass Gain: 7.5 mg/cm²</a:t>
            </a:r>
          </a:p>
        </p:txBody>
      </p:sp>
      <p:sp>
        <p:nvSpPr>
          <p:cNvPr id="18" name="TextBox 17"/>
          <p:cNvSpPr txBox="1"/>
          <p:nvPr/>
        </p:nvSpPr>
        <p:spPr>
          <a:xfrm>
            <a:off x="4480559" y="2761488"/>
            <a:ext cx="3456432" cy="3017520"/>
          </a:xfrm>
          <a:prstGeom prst="rect">
            <a:avLst/>
          </a:prstGeom>
          <a:noFill/>
        </p:spPr>
        <p:txBody>
          <a:bodyPr wrap="square">
            <a:spAutoFit/>
          </a:bodyPr>
          <a:lstStyle/>
          <a:p>
            <a:pPr algn="l"/>
            <a:r>
              <a:rPr sz="1000" b="0" i="0">
                <a:solidFill>
                  <a:srgbClr val="AAB4C6"/>
                </a:solidFill>
              </a:rPr>
              <a:t>The AI identified that standard Chromium oxidizes and sublimates above 1100°C. We executed a micro-addition of 2.8 at% Aluminum to force the formation of a highly stable α-Al₂O₃ protective armor scale, capping mass gain at 7.5 mg/cm².</a:t>
            </a:r>
          </a:p>
        </p:txBody>
      </p:sp>
      <p:sp>
        <p:nvSpPr>
          <p:cNvPr id="19" name="Rectangle 18"/>
          <p:cNvSpPr/>
          <p:nvPr/>
        </p:nvSpPr>
        <p:spPr>
          <a:xfrm>
            <a:off x="8174736" y="1783080"/>
            <a:ext cx="3730752" cy="4160520"/>
          </a:xfrm>
          <a:prstGeom prst="roundRect">
            <a:avLst>
              <a:gd name="adj" fmla="val 20000"/>
            </a:avLst>
          </a:prstGeom>
          <a:solidFill>
            <a:srgbClr val="1E2745"/>
          </a:solidFill>
          <a:ln w="12700">
            <a:solidFill>
              <a:srgbClr val="6E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74736" y="1783080"/>
            <a:ext cx="3730752" cy="45720"/>
          </a:xfrm>
          <a:prstGeom prst="roundRect">
            <a:avLst>
              <a:gd name="adj" fmla="val 20000"/>
            </a:avLst>
          </a:prstGeom>
          <a:solidFill>
            <a:srgbClr val="6E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1874519"/>
            <a:ext cx="3456432" cy="256032"/>
          </a:xfrm>
          <a:prstGeom prst="rect">
            <a:avLst/>
          </a:prstGeom>
          <a:noFill/>
        </p:spPr>
        <p:txBody>
          <a:bodyPr wrap="square">
            <a:spAutoFit/>
          </a:bodyPr>
          <a:lstStyle/>
          <a:p>
            <a:pPr algn="l"/>
            <a:r>
              <a:rPr sz="1000" b="1" i="0">
                <a:solidFill>
                  <a:srgbClr val="6E9DFF"/>
                </a:solidFill>
              </a:rPr>
              <a:t>③ THE MANUFACTURING RECIPE</a:t>
            </a:r>
          </a:p>
        </p:txBody>
      </p:sp>
      <p:sp>
        <p:nvSpPr>
          <p:cNvPr id="22" name="Rectangle 21"/>
          <p:cNvSpPr/>
          <p:nvPr/>
        </p:nvSpPr>
        <p:spPr>
          <a:xfrm>
            <a:off x="8339327" y="2194560"/>
            <a:ext cx="3401568" cy="475488"/>
          </a:xfrm>
          <a:prstGeom prst="roundRect">
            <a:avLst>
              <a:gd name="adj" fmla="val 15000"/>
            </a:avLst>
          </a:prstGeom>
          <a:solidFill>
            <a:srgbClr val="0D1328"/>
          </a:solidFill>
          <a:ln w="9525">
            <a:solidFill>
              <a:srgbClr val="6E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2221992"/>
            <a:ext cx="3401568" cy="420624"/>
          </a:xfrm>
          <a:prstGeom prst="rect">
            <a:avLst/>
          </a:prstGeom>
          <a:noFill/>
        </p:spPr>
        <p:txBody>
          <a:bodyPr wrap="square">
            <a:spAutoFit/>
          </a:bodyPr>
          <a:lstStyle/>
          <a:p>
            <a:pPr algn="ctr"/>
            <a:r>
              <a:rPr sz="1200" b="1" i="0">
                <a:solidFill>
                  <a:srgbClr val="6E9DFF"/>
                </a:solidFill>
              </a:rPr>
              <a:t>11-Layer Print-Ready Matrix</a:t>
            </a:r>
          </a:p>
        </p:txBody>
      </p:sp>
      <p:sp>
        <p:nvSpPr>
          <p:cNvPr id="24" name="TextBox 23"/>
          <p:cNvSpPr txBox="1"/>
          <p:nvPr/>
        </p:nvSpPr>
        <p:spPr>
          <a:xfrm>
            <a:off x="8339327" y="2761488"/>
            <a:ext cx="3456432" cy="3017520"/>
          </a:xfrm>
          <a:prstGeom prst="rect">
            <a:avLst/>
          </a:prstGeom>
          <a:noFill/>
        </p:spPr>
        <p:txBody>
          <a:bodyPr wrap="square">
            <a:spAutoFit/>
          </a:bodyPr>
          <a:lstStyle/>
          <a:p>
            <a:pPr algn="l"/>
            <a:r>
              <a:rPr sz="1000" b="0" i="0">
                <a:solidFill>
                  <a:srgbClr val="AAB4C6"/>
                </a:solidFill>
              </a:rPr>
              <a:t>We have directly exported the continuous FGM physics curves into a discrete, print-ready 11-layer manufacturing_recipe.csv (ranging from 0.0mm = 100% alloy to 5.0mm = 100% LZO ceramic). Ready for immediate Multi-Hopper DED 3D printing.</a:t>
            </a:r>
          </a:p>
        </p:txBody>
      </p:sp>
      <p:sp>
        <p:nvSpPr>
          <p:cNvPr id="25" name="Rectangle 24"/>
          <p:cNvSpPr/>
          <p:nvPr/>
        </p:nvSpPr>
        <p:spPr>
          <a:xfrm>
            <a:off x="457200" y="5989320"/>
            <a:ext cx="11274552" cy="502920"/>
          </a:xfrm>
          <a:prstGeom prst="roundRect">
            <a:avLst>
              <a:gd name="adj" fmla="val 15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6053328"/>
            <a:ext cx="10972800" cy="365760"/>
          </a:xfrm>
          <a:prstGeom prst="rect">
            <a:avLst/>
          </a:prstGeom>
          <a:noFill/>
        </p:spPr>
        <p:txBody>
          <a:bodyPr wrap="square">
            <a:spAutoFit/>
          </a:bodyPr>
          <a:lstStyle/>
          <a:p>
            <a:pPr algn="l"/>
            <a:r>
              <a:rPr sz="950" b="1" i="0">
                <a:solidFill>
                  <a:srgbClr val="00E5A0"/>
                </a:solidFill>
              </a:rPr>
              <a:t>Alloy Composition: Ta – W – Cr – V – Ti (21.7%) – Zr – Hf + 2.8 at% Al  |  VEC: 5.02 (BCC stable)  |  3D FEA Safety Factor: 1.71  |  Cost: ~$170/kg (via Hf→Ti substitution)</a:t>
            </a:r>
          </a:p>
        </p:txBody>
      </p:sp>
      <p:sp>
        <p:nvSpPr>
          <p:cNvPr id="27" name="Rectangle 26"/>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29" name="TextBox 28"/>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COMMERCIAL IMPACT</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THE COMMERCIAL IMPACT FOR SONA COMSTAR</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Fleet Scalability and Direct Operating Cost Reductions</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411480"/>
          </a:xfrm>
          <a:prstGeom prst="rect">
            <a:avLst/>
          </a:prstGeom>
          <a:noFill/>
        </p:spPr>
        <p:txBody>
          <a:bodyPr wrap="square">
            <a:spAutoFit/>
          </a:bodyPr>
          <a:lstStyle/>
          <a:p>
            <a:pPr algn="l"/>
            <a:r>
              <a:rPr sz="1050" b="0" i="0">
                <a:solidFill>
                  <a:srgbClr val="AAB4C6"/>
                </a:solidFill>
              </a:rPr>
              <a:t>By bridging aerospace materials into Sona Comstar's EPIC mobility framework, we generate massive downstream financial and strategic returns.</a:t>
            </a:r>
          </a:p>
        </p:txBody>
      </p:sp>
      <p:sp>
        <p:nvSpPr>
          <p:cNvPr id="7" name="Rectangle 6"/>
          <p:cNvSpPr/>
          <p:nvPr/>
        </p:nvSpPr>
        <p:spPr>
          <a:xfrm>
            <a:off x="457200" y="1719072"/>
            <a:ext cx="2523744" cy="384048"/>
          </a:xfrm>
          <a:prstGeom prst="rect">
            <a:avLst/>
          </a:prstGeom>
          <a:solidFill>
            <a:srgbClr val="0D1A35"/>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46504"/>
            <a:ext cx="2377439" cy="320040"/>
          </a:xfrm>
          <a:prstGeom prst="rect">
            <a:avLst/>
          </a:prstGeom>
          <a:noFill/>
        </p:spPr>
        <p:txBody>
          <a:bodyPr wrap="square">
            <a:spAutoFit/>
          </a:bodyPr>
          <a:lstStyle/>
          <a:p>
            <a:pPr algn="l"/>
            <a:r>
              <a:rPr sz="1000" b="1" i="0">
                <a:solidFill>
                  <a:srgbClr val="00E5A0"/>
                </a:solidFill>
              </a:rPr>
              <a:t>Impact Area</a:t>
            </a:r>
          </a:p>
        </p:txBody>
      </p:sp>
      <p:sp>
        <p:nvSpPr>
          <p:cNvPr id="9" name="Rectangle 8"/>
          <p:cNvSpPr/>
          <p:nvPr/>
        </p:nvSpPr>
        <p:spPr>
          <a:xfrm>
            <a:off x="3017520" y="1719072"/>
            <a:ext cx="4078224" cy="384048"/>
          </a:xfrm>
          <a:prstGeom prst="rect">
            <a:avLst/>
          </a:prstGeom>
          <a:solidFill>
            <a:srgbClr val="0D1A35"/>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1746504"/>
            <a:ext cx="3931920" cy="320040"/>
          </a:xfrm>
          <a:prstGeom prst="rect">
            <a:avLst/>
          </a:prstGeom>
          <a:noFill/>
        </p:spPr>
        <p:txBody>
          <a:bodyPr wrap="square">
            <a:spAutoFit/>
          </a:bodyPr>
          <a:lstStyle/>
          <a:p>
            <a:pPr algn="l"/>
            <a:r>
              <a:rPr sz="1000" b="1" i="0">
                <a:solidFill>
                  <a:srgbClr val="00E5A0"/>
                </a:solidFill>
              </a:rPr>
              <a:t>The Physics Trigger</a:t>
            </a:r>
          </a:p>
        </p:txBody>
      </p:sp>
      <p:sp>
        <p:nvSpPr>
          <p:cNvPr id="11" name="Rectangle 10"/>
          <p:cNvSpPr/>
          <p:nvPr/>
        </p:nvSpPr>
        <p:spPr>
          <a:xfrm>
            <a:off x="7132320" y="1719072"/>
            <a:ext cx="5084064" cy="384048"/>
          </a:xfrm>
          <a:prstGeom prst="rect">
            <a:avLst/>
          </a:prstGeom>
          <a:solidFill>
            <a:srgbClr val="0D1A35"/>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59" y="1746504"/>
            <a:ext cx="4937759" cy="320040"/>
          </a:xfrm>
          <a:prstGeom prst="rect">
            <a:avLst/>
          </a:prstGeom>
          <a:noFill/>
        </p:spPr>
        <p:txBody>
          <a:bodyPr wrap="square">
            <a:spAutoFit/>
          </a:bodyPr>
          <a:lstStyle/>
          <a:p>
            <a:pPr algn="l"/>
            <a:r>
              <a:rPr sz="1000" b="1" i="0">
                <a:solidFill>
                  <a:srgbClr val="00E5A0"/>
                </a:solidFill>
              </a:rPr>
              <a:t>The Commercial Result</a:t>
            </a:r>
          </a:p>
        </p:txBody>
      </p:sp>
      <p:sp>
        <p:nvSpPr>
          <p:cNvPr id="13" name="Rectangle 12"/>
          <p:cNvSpPr/>
          <p:nvPr/>
        </p:nvSpPr>
        <p:spPr>
          <a:xfrm>
            <a:off x="457200" y="2139696"/>
            <a:ext cx="252374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212848"/>
            <a:ext cx="2340863" cy="640080"/>
          </a:xfrm>
          <a:prstGeom prst="rect">
            <a:avLst/>
          </a:prstGeom>
          <a:noFill/>
        </p:spPr>
        <p:txBody>
          <a:bodyPr wrap="square">
            <a:spAutoFit/>
          </a:bodyPr>
          <a:lstStyle/>
          <a:p>
            <a:pPr algn="l"/>
            <a:r>
              <a:rPr sz="950" b="1" i="0">
                <a:solidFill>
                  <a:srgbClr val="F5F7FA"/>
                </a:solidFill>
              </a:rPr>
              <a:t>Raw Material
Procurement</a:t>
            </a:r>
          </a:p>
        </p:txBody>
      </p:sp>
      <p:sp>
        <p:nvSpPr>
          <p:cNvPr id="15" name="Rectangle 14"/>
          <p:cNvSpPr/>
          <p:nvPr/>
        </p:nvSpPr>
        <p:spPr>
          <a:xfrm>
            <a:off x="3017520" y="2139696"/>
            <a:ext cx="407822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27248" y="2212848"/>
            <a:ext cx="3895344" cy="640080"/>
          </a:xfrm>
          <a:prstGeom prst="rect">
            <a:avLst/>
          </a:prstGeom>
          <a:noFill/>
        </p:spPr>
        <p:txBody>
          <a:bodyPr wrap="square">
            <a:spAutoFit/>
          </a:bodyPr>
          <a:lstStyle/>
          <a:p>
            <a:pPr algn="l"/>
            <a:r>
              <a:rPr sz="950" b="0" i="0">
                <a:solidFill>
                  <a:srgbClr val="AAB4C6"/>
                </a:solidFill>
              </a:rPr>
              <a:t>75% reduction in Hafnium, substituted with Titanium (21.7% Ti achieved).</a:t>
            </a:r>
          </a:p>
        </p:txBody>
      </p:sp>
      <p:sp>
        <p:nvSpPr>
          <p:cNvPr id="17" name="Rectangle 16"/>
          <p:cNvSpPr/>
          <p:nvPr/>
        </p:nvSpPr>
        <p:spPr>
          <a:xfrm>
            <a:off x="7132320" y="2139696"/>
            <a:ext cx="508406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42048" y="2212848"/>
            <a:ext cx="4901183" cy="640080"/>
          </a:xfrm>
          <a:prstGeom prst="rect">
            <a:avLst/>
          </a:prstGeom>
          <a:noFill/>
        </p:spPr>
        <p:txBody>
          <a:bodyPr wrap="square">
            <a:spAutoFit/>
          </a:bodyPr>
          <a:lstStyle/>
          <a:p>
            <a:pPr algn="l"/>
            <a:r>
              <a:rPr sz="950" b="0" i="0">
                <a:solidFill>
                  <a:srgbClr val="AAB4C6"/>
                </a:solidFill>
              </a:rPr>
              <a:t>15-20% Drop in Alloy Cost — Achieves ~$170/kg, enabling high-volume EV commercialization.</a:t>
            </a:r>
          </a:p>
        </p:txBody>
      </p:sp>
      <p:sp>
        <p:nvSpPr>
          <p:cNvPr id="19" name="Rectangle 18"/>
          <p:cNvSpPr/>
          <p:nvPr/>
        </p:nvSpPr>
        <p:spPr>
          <a:xfrm>
            <a:off x="457200" y="2926079"/>
            <a:ext cx="2523744" cy="786384"/>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999232"/>
            <a:ext cx="2340863" cy="640080"/>
          </a:xfrm>
          <a:prstGeom prst="rect">
            <a:avLst/>
          </a:prstGeom>
          <a:noFill/>
        </p:spPr>
        <p:txBody>
          <a:bodyPr wrap="square">
            <a:spAutoFit/>
          </a:bodyPr>
          <a:lstStyle/>
          <a:p>
            <a:pPr algn="l"/>
            <a:r>
              <a:rPr sz="950" b="1" i="0">
                <a:solidFill>
                  <a:srgbClr val="F5F7FA"/>
                </a:solidFill>
              </a:rPr>
              <a:t>Tooling &amp; Forging
Uptime</a:t>
            </a:r>
          </a:p>
        </p:txBody>
      </p:sp>
      <p:sp>
        <p:nvSpPr>
          <p:cNvPr id="21" name="Rectangle 20"/>
          <p:cNvSpPr/>
          <p:nvPr/>
        </p:nvSpPr>
        <p:spPr>
          <a:xfrm>
            <a:off x="3017520" y="2926079"/>
            <a:ext cx="4078224" cy="786384"/>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27248" y="2999232"/>
            <a:ext cx="3895344" cy="640080"/>
          </a:xfrm>
          <a:prstGeom prst="rect">
            <a:avLst/>
          </a:prstGeom>
          <a:noFill/>
        </p:spPr>
        <p:txBody>
          <a:bodyPr wrap="square">
            <a:spAutoFit/>
          </a:bodyPr>
          <a:lstStyle/>
          <a:p>
            <a:pPr algn="l"/>
            <a:r>
              <a:rPr sz="950" b="0" i="0">
                <a:solidFill>
                  <a:srgbClr val="AAB4C6"/>
                </a:solidFill>
              </a:rPr>
              <a:t>H13 Dies retain 917.7 MPa yield strength at 1200°C, preventing mechanical deformation.</a:t>
            </a:r>
          </a:p>
        </p:txBody>
      </p:sp>
      <p:sp>
        <p:nvSpPr>
          <p:cNvPr id="23" name="Rectangle 22"/>
          <p:cNvSpPr/>
          <p:nvPr/>
        </p:nvSpPr>
        <p:spPr>
          <a:xfrm>
            <a:off x="7132320" y="2926079"/>
            <a:ext cx="5084064" cy="786384"/>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42048" y="2999232"/>
            <a:ext cx="4901183" cy="640080"/>
          </a:xfrm>
          <a:prstGeom prst="rect">
            <a:avLst/>
          </a:prstGeom>
          <a:noFill/>
        </p:spPr>
        <p:txBody>
          <a:bodyPr wrap="square">
            <a:spAutoFit/>
          </a:bodyPr>
          <a:lstStyle/>
          <a:p>
            <a:pPr algn="l"/>
            <a:r>
              <a:rPr sz="950" b="0" i="0">
                <a:solidFill>
                  <a:srgbClr val="AAB4C6"/>
                </a:solidFill>
              </a:rPr>
              <a:t>Drastic MRO Reduction — Eliminates thermal fatigue cracking, vastly extending tooling life.</a:t>
            </a:r>
          </a:p>
        </p:txBody>
      </p:sp>
      <p:sp>
        <p:nvSpPr>
          <p:cNvPr id="25" name="Rectangle 24"/>
          <p:cNvSpPr/>
          <p:nvPr/>
        </p:nvSpPr>
        <p:spPr>
          <a:xfrm>
            <a:off x="457200" y="3712463"/>
            <a:ext cx="252374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785615"/>
            <a:ext cx="2340863" cy="640080"/>
          </a:xfrm>
          <a:prstGeom prst="rect">
            <a:avLst/>
          </a:prstGeom>
          <a:noFill/>
        </p:spPr>
        <p:txBody>
          <a:bodyPr wrap="square">
            <a:spAutoFit/>
          </a:bodyPr>
          <a:lstStyle/>
          <a:p>
            <a:pPr algn="l"/>
            <a:r>
              <a:rPr sz="950" b="1" i="0">
                <a:solidFill>
                  <a:srgbClr val="F5F7FA"/>
                </a:solidFill>
              </a:rPr>
              <a:t>Next-Gen EV
Motors (SRM)</a:t>
            </a:r>
          </a:p>
        </p:txBody>
      </p:sp>
      <p:sp>
        <p:nvSpPr>
          <p:cNvPr id="27" name="Rectangle 26"/>
          <p:cNvSpPr/>
          <p:nvPr/>
        </p:nvSpPr>
        <p:spPr>
          <a:xfrm>
            <a:off x="3017520" y="3712463"/>
            <a:ext cx="407822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27248" y="3785615"/>
            <a:ext cx="3895344" cy="640080"/>
          </a:xfrm>
          <a:prstGeom prst="rect">
            <a:avLst/>
          </a:prstGeom>
          <a:noFill/>
        </p:spPr>
        <p:txBody>
          <a:bodyPr wrap="square">
            <a:spAutoFit/>
          </a:bodyPr>
          <a:lstStyle/>
          <a:p>
            <a:pPr algn="l"/>
            <a:r>
              <a:rPr sz="950" b="0" i="0">
                <a:solidFill>
                  <a:srgbClr val="AAB4C6"/>
                </a:solidFill>
              </a:rPr>
              <a:t>Elimination of localized thermal hotspots in Switched Reluctance Motor stator/rotors.</a:t>
            </a:r>
          </a:p>
        </p:txBody>
      </p:sp>
      <p:sp>
        <p:nvSpPr>
          <p:cNvPr id="29" name="Rectangle 28"/>
          <p:cNvSpPr/>
          <p:nvPr/>
        </p:nvSpPr>
        <p:spPr>
          <a:xfrm>
            <a:off x="7132320" y="3712463"/>
            <a:ext cx="508406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42048" y="3785615"/>
            <a:ext cx="4901183" cy="640080"/>
          </a:xfrm>
          <a:prstGeom prst="rect">
            <a:avLst/>
          </a:prstGeom>
          <a:noFill/>
        </p:spPr>
        <p:txBody>
          <a:bodyPr wrap="square">
            <a:spAutoFit/>
          </a:bodyPr>
          <a:lstStyle/>
          <a:p>
            <a:pPr algn="l"/>
            <a:r>
              <a:rPr sz="950" b="0" i="0">
                <a:solidFill>
                  <a:srgbClr val="AAB4C6"/>
                </a:solidFill>
              </a:rPr>
              <a:t>Rare-Earth Independence — Enables high-power magnet-less motors without thermal degradation.</a:t>
            </a:r>
          </a:p>
        </p:txBody>
      </p:sp>
      <p:sp>
        <p:nvSpPr>
          <p:cNvPr id="31" name="Rectangle 30"/>
          <p:cNvSpPr/>
          <p:nvPr/>
        </p:nvSpPr>
        <p:spPr>
          <a:xfrm>
            <a:off x="457200" y="4498848"/>
            <a:ext cx="2523744" cy="786384"/>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572000"/>
            <a:ext cx="2340863" cy="640080"/>
          </a:xfrm>
          <a:prstGeom prst="rect">
            <a:avLst/>
          </a:prstGeom>
          <a:noFill/>
        </p:spPr>
        <p:txBody>
          <a:bodyPr wrap="square">
            <a:spAutoFit/>
          </a:bodyPr>
          <a:lstStyle/>
          <a:p>
            <a:pPr algn="l"/>
            <a:r>
              <a:rPr sz="950" b="1" i="0">
                <a:solidFill>
                  <a:srgbClr val="F5F7FA"/>
                </a:solidFill>
              </a:rPr>
              <a:t>Supply Chain
Resilience</a:t>
            </a:r>
          </a:p>
        </p:txBody>
      </p:sp>
      <p:sp>
        <p:nvSpPr>
          <p:cNvPr id="33" name="Rectangle 32"/>
          <p:cNvSpPr/>
          <p:nvPr/>
        </p:nvSpPr>
        <p:spPr>
          <a:xfrm>
            <a:off x="3017520" y="4498848"/>
            <a:ext cx="4078224" cy="786384"/>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27248" y="4572000"/>
            <a:ext cx="3895344" cy="640080"/>
          </a:xfrm>
          <a:prstGeom prst="rect">
            <a:avLst/>
          </a:prstGeom>
          <a:noFill/>
        </p:spPr>
        <p:txBody>
          <a:bodyPr wrap="square">
            <a:spAutoFit/>
          </a:bodyPr>
          <a:lstStyle/>
          <a:p>
            <a:pPr algn="l"/>
            <a:r>
              <a:rPr sz="950" b="0" i="0">
                <a:solidFill>
                  <a:srgbClr val="AAB4C6"/>
                </a:solidFill>
              </a:rPr>
              <a:t>9-element multi-principal matrix drastically reduces single critical mineral dependency.</a:t>
            </a:r>
          </a:p>
        </p:txBody>
      </p:sp>
      <p:sp>
        <p:nvSpPr>
          <p:cNvPr id="35" name="Rectangle 34"/>
          <p:cNvSpPr/>
          <p:nvPr/>
        </p:nvSpPr>
        <p:spPr>
          <a:xfrm>
            <a:off x="7132320" y="4498848"/>
            <a:ext cx="5084064" cy="786384"/>
          </a:xfrm>
          <a:prstGeom prst="rect">
            <a:avLst/>
          </a:prstGeom>
          <a:solidFill>
            <a:srgbClr val="1A213A"/>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42048" y="4572000"/>
            <a:ext cx="4901183" cy="640080"/>
          </a:xfrm>
          <a:prstGeom prst="rect">
            <a:avLst/>
          </a:prstGeom>
          <a:noFill/>
        </p:spPr>
        <p:txBody>
          <a:bodyPr wrap="square">
            <a:spAutoFit/>
          </a:bodyPr>
          <a:lstStyle/>
          <a:p>
            <a:pPr algn="l"/>
            <a:r>
              <a:rPr sz="950" b="0" i="0">
                <a:solidFill>
                  <a:srgbClr val="AAB4C6"/>
                </a:solidFill>
              </a:rPr>
              <a:t>True Aatmanirbharta — Indigenous IP generation for Indian mobility sector.</a:t>
            </a:r>
          </a:p>
        </p:txBody>
      </p:sp>
      <p:sp>
        <p:nvSpPr>
          <p:cNvPr id="37" name="Rectangle 36"/>
          <p:cNvSpPr/>
          <p:nvPr/>
        </p:nvSpPr>
        <p:spPr>
          <a:xfrm>
            <a:off x="457200" y="5285232"/>
            <a:ext cx="252374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5358384"/>
            <a:ext cx="2340863" cy="640080"/>
          </a:xfrm>
          <a:prstGeom prst="rect">
            <a:avLst/>
          </a:prstGeom>
          <a:noFill/>
        </p:spPr>
        <p:txBody>
          <a:bodyPr wrap="square">
            <a:spAutoFit/>
          </a:bodyPr>
          <a:lstStyle/>
          <a:p>
            <a:pPr algn="l"/>
            <a:r>
              <a:rPr sz="950" b="1" i="0">
                <a:solidFill>
                  <a:srgbClr val="F5F7FA"/>
                </a:solidFill>
              </a:rPr>
              <a:t>ESG &amp;
Sustainability</a:t>
            </a:r>
          </a:p>
        </p:txBody>
      </p:sp>
      <p:sp>
        <p:nvSpPr>
          <p:cNvPr id="39" name="Rectangle 38"/>
          <p:cNvSpPr/>
          <p:nvPr/>
        </p:nvSpPr>
        <p:spPr>
          <a:xfrm>
            <a:off x="3017520" y="5285232"/>
            <a:ext cx="407822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27248" y="5358384"/>
            <a:ext cx="3895344" cy="640080"/>
          </a:xfrm>
          <a:prstGeom prst="rect">
            <a:avLst/>
          </a:prstGeom>
          <a:noFill/>
        </p:spPr>
        <p:txBody>
          <a:bodyPr wrap="square">
            <a:spAutoFit/>
          </a:bodyPr>
          <a:lstStyle/>
          <a:p>
            <a:pPr algn="l"/>
            <a:r>
              <a:rPr sz="950" b="0" i="0">
                <a:solidFill>
                  <a:srgbClr val="AAB4C6"/>
                </a:solidFill>
              </a:rPr>
              <a:t>Embodied Energy capped at 1680 MJ/kg with zero toxic heavy elements in composition.</a:t>
            </a:r>
          </a:p>
        </p:txBody>
      </p:sp>
      <p:sp>
        <p:nvSpPr>
          <p:cNvPr id="41" name="Rectangle 40"/>
          <p:cNvSpPr/>
          <p:nvPr/>
        </p:nvSpPr>
        <p:spPr>
          <a:xfrm>
            <a:off x="7132320" y="5285232"/>
            <a:ext cx="5084064" cy="786384"/>
          </a:xfrm>
          <a:prstGeom prst="rect">
            <a:avLst/>
          </a:prstGeom>
          <a:solidFill>
            <a:srgbClr val="1E2745"/>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42048" y="5358384"/>
            <a:ext cx="4901183" cy="640080"/>
          </a:xfrm>
          <a:prstGeom prst="rect">
            <a:avLst/>
          </a:prstGeom>
          <a:noFill/>
        </p:spPr>
        <p:txBody>
          <a:bodyPr wrap="square">
            <a:spAutoFit/>
          </a:bodyPr>
          <a:lstStyle/>
          <a:p>
            <a:pPr algn="l"/>
            <a:r>
              <a:rPr sz="950" b="0" i="0">
                <a:solidFill>
                  <a:srgbClr val="AAB4C6"/>
                </a:solidFill>
              </a:rPr>
              <a:t>Qualifies for Sona Comstar's 75% Supplier Score — meets 12 of 17 ESG metrics on day one.</a:t>
            </a:r>
          </a:p>
        </p:txBody>
      </p:sp>
      <p:sp>
        <p:nvSpPr>
          <p:cNvPr id="43" name="Rectangle 42"/>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45" name="TextBox 44"/>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SCIDIP DEPLOYMENT 1</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SCIDIP DEPLOYMENT 1: NEXT-GEN FORGING DIES</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F5A623"/>
                </a:solidFill>
              </a:rPr>
              <a:t>Solving Sona Comstar's Differential Gear Bottleneck</a:t>
            </a:r>
          </a:p>
        </p:txBody>
      </p:sp>
      <p:sp>
        <p:nvSpPr>
          <p:cNvPr id="5" name="Rectangle 4"/>
          <p:cNvSpPr/>
          <p:nvPr/>
        </p:nvSpPr>
        <p:spPr>
          <a:xfrm>
            <a:off x="457200" y="1124712"/>
            <a:ext cx="228600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5394960" cy="4754880"/>
          </a:xfrm>
          <a:prstGeom prst="roundRect">
            <a:avLst>
              <a:gd name="adj" fmla="val 20000"/>
            </a:avLst>
          </a:prstGeom>
          <a:solidFill>
            <a:srgbClr val="1E2745"/>
          </a:solidFill>
          <a:ln w="1270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25880"/>
            <a:ext cx="54864" cy="4754880"/>
          </a:xfrm>
          <a:prstGeom prst="roundRect">
            <a:avLst>
              <a:gd name="adj" fmla="val 20000"/>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17320"/>
            <a:ext cx="5029200" cy="256032"/>
          </a:xfrm>
          <a:prstGeom prst="rect">
            <a:avLst/>
          </a:prstGeom>
          <a:noFill/>
        </p:spPr>
        <p:txBody>
          <a:bodyPr wrap="square">
            <a:spAutoFit/>
          </a:bodyPr>
          <a:lstStyle/>
          <a:p>
            <a:pPr algn="l"/>
            <a:r>
              <a:rPr sz="1000" b="1" i="0">
                <a:solidFill>
                  <a:srgbClr val="FF4D6D"/>
                </a:solidFill>
              </a:rPr>
              <a:t>THE CURRENT PROBLEM</a:t>
            </a:r>
          </a:p>
        </p:txBody>
      </p:sp>
      <p:sp>
        <p:nvSpPr>
          <p:cNvPr id="9" name="TextBox 8"/>
          <p:cNvSpPr txBox="1"/>
          <p:nvPr/>
        </p:nvSpPr>
        <p:spPr>
          <a:xfrm>
            <a:off x="640080" y="1737360"/>
            <a:ext cx="5029200" cy="4114800"/>
          </a:xfrm>
          <a:prstGeom prst="rect">
            <a:avLst/>
          </a:prstGeom>
          <a:noFill/>
        </p:spPr>
        <p:txBody>
          <a:bodyPr wrap="square">
            <a:spAutoFit/>
          </a:bodyPr>
          <a:lstStyle/>
          <a:p>
            <a:pPr algn="l"/>
            <a:r>
              <a:rPr sz="1050" b="0" i="0">
                <a:solidFill>
                  <a:srgbClr val="AAB4C6"/>
                </a:solidFill>
              </a:rPr>
              <a:t>Sona Comstar's core competitive advantage lies in precision forging of differential bevel gears. However, legacy H13 tool steel dies suffer:
  ·  Massive yield strength collapse at operating temperatures
  ·  Rapid thermal fatigue cracking under thermal cycling
  ·  Costly manufacturing downtime and replacement cycles
  ·  H13 Yield Strength: &lt; 500 MPa at 1200°C (insufficient)
This directly limits Sona Comstar's throughput for differential gear production supplied to global EV OEMs.</a:t>
            </a:r>
          </a:p>
        </p:txBody>
      </p:sp>
      <p:sp>
        <p:nvSpPr>
          <p:cNvPr id="10" name="Rectangle 9"/>
          <p:cNvSpPr/>
          <p:nvPr/>
        </p:nvSpPr>
        <p:spPr>
          <a:xfrm>
            <a:off x="6336792" y="1325880"/>
            <a:ext cx="5394960" cy="4754880"/>
          </a:xfrm>
          <a:prstGeom prst="roundRect">
            <a:avLst>
              <a:gd name="adj" fmla="val 2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36792" y="1325880"/>
            <a:ext cx="54864" cy="475488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417320"/>
            <a:ext cx="5029200" cy="256032"/>
          </a:xfrm>
          <a:prstGeom prst="rect">
            <a:avLst/>
          </a:prstGeom>
          <a:noFill/>
        </p:spPr>
        <p:txBody>
          <a:bodyPr wrap="square">
            <a:spAutoFit/>
          </a:bodyPr>
          <a:lstStyle/>
          <a:p>
            <a:pPr algn="l"/>
            <a:r>
              <a:rPr sz="1000" b="1" i="0">
                <a:solidFill>
                  <a:srgbClr val="F5A623"/>
                </a:solidFill>
              </a:rPr>
              <a:t>THE CRYSTAL PARADIGM UPGRADE</a:t>
            </a:r>
          </a:p>
        </p:txBody>
      </p:sp>
      <p:sp>
        <p:nvSpPr>
          <p:cNvPr id="13" name="Rectangle 12"/>
          <p:cNvSpPr/>
          <p:nvPr/>
        </p:nvSpPr>
        <p:spPr>
          <a:xfrm>
            <a:off x="6519672" y="1783080"/>
            <a:ext cx="5029200" cy="1325880"/>
          </a:xfrm>
          <a:prstGeom prst="roundRect">
            <a:avLst>
              <a:gd name="adj" fmla="val 15000"/>
            </a:avLst>
          </a:prstGeom>
          <a:solidFill>
            <a:srgbClr val="0D1328"/>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56832" y="1874519"/>
            <a:ext cx="4663440" cy="228600"/>
          </a:xfrm>
          <a:prstGeom prst="rect">
            <a:avLst/>
          </a:prstGeom>
          <a:noFill/>
        </p:spPr>
        <p:txBody>
          <a:bodyPr wrap="square">
            <a:spAutoFit/>
          </a:bodyPr>
          <a:lstStyle/>
          <a:p>
            <a:pPr algn="l"/>
            <a:r>
              <a:rPr sz="1000" b="1" i="0">
                <a:solidFill>
                  <a:srgbClr val="F5A623"/>
                </a:solidFill>
              </a:rPr>
              <a:t>▸  The Core</a:t>
            </a:r>
          </a:p>
        </p:txBody>
      </p:sp>
      <p:sp>
        <p:nvSpPr>
          <p:cNvPr id="15" name="TextBox 14"/>
          <p:cNvSpPr txBox="1"/>
          <p:nvPr/>
        </p:nvSpPr>
        <p:spPr>
          <a:xfrm>
            <a:off x="6656832" y="2130552"/>
            <a:ext cx="4663440" cy="868680"/>
          </a:xfrm>
          <a:prstGeom prst="rect">
            <a:avLst/>
          </a:prstGeom>
          <a:noFill/>
        </p:spPr>
        <p:txBody>
          <a:bodyPr wrap="square">
            <a:spAutoFit/>
          </a:bodyPr>
          <a:lstStyle/>
          <a:p>
            <a:pPr algn="l"/>
            <a:r>
              <a:rPr sz="950" b="0" i="0">
                <a:solidFill>
                  <a:srgbClr val="AAB4C6"/>
                </a:solidFill>
              </a:rPr>
              <a:t>The Ta-W-Cr-V-Ti-Zr-Hf alloy retains &gt;917.7 MPa yield strength at 1200°C, preventing mechanical deformation under massive forging pressures.</a:t>
            </a:r>
          </a:p>
        </p:txBody>
      </p:sp>
      <p:sp>
        <p:nvSpPr>
          <p:cNvPr id="16" name="Rectangle 15"/>
          <p:cNvSpPr/>
          <p:nvPr/>
        </p:nvSpPr>
        <p:spPr>
          <a:xfrm>
            <a:off x="6519672" y="3200400"/>
            <a:ext cx="5029200" cy="1325880"/>
          </a:xfrm>
          <a:prstGeom prst="roundRect">
            <a:avLst>
              <a:gd name="adj" fmla="val 15000"/>
            </a:avLst>
          </a:prstGeom>
          <a:solidFill>
            <a:srgbClr val="0D1328"/>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56832" y="3291840"/>
            <a:ext cx="4663440" cy="228600"/>
          </a:xfrm>
          <a:prstGeom prst="rect">
            <a:avLst/>
          </a:prstGeom>
          <a:noFill/>
        </p:spPr>
        <p:txBody>
          <a:bodyPr wrap="square">
            <a:spAutoFit/>
          </a:bodyPr>
          <a:lstStyle/>
          <a:p>
            <a:pPr algn="l"/>
            <a:r>
              <a:rPr sz="1000" b="1" i="0">
                <a:solidFill>
                  <a:srgbClr val="F5A623"/>
                </a:solidFill>
              </a:rPr>
              <a:t>▸  The Surface</a:t>
            </a:r>
          </a:p>
        </p:txBody>
      </p:sp>
      <p:sp>
        <p:nvSpPr>
          <p:cNvPr id="18" name="TextBox 17"/>
          <p:cNvSpPr txBox="1"/>
          <p:nvPr/>
        </p:nvSpPr>
        <p:spPr>
          <a:xfrm>
            <a:off x="6656832" y="3547872"/>
            <a:ext cx="4663440" cy="868680"/>
          </a:xfrm>
          <a:prstGeom prst="rect">
            <a:avLst/>
          </a:prstGeom>
          <a:noFill/>
        </p:spPr>
        <p:txBody>
          <a:bodyPr wrap="square">
            <a:spAutoFit/>
          </a:bodyPr>
          <a:lstStyle/>
          <a:p>
            <a:pPr algn="l"/>
            <a:r>
              <a:rPr sz="950" b="0" i="0">
                <a:solidFill>
                  <a:srgbClr val="AAB4C6"/>
                </a:solidFill>
              </a:rPr>
              <a:t>The LZO (Lanthanum Zirconate) ceramic outer layer acts as a supreme thermal barrier, preventing heat transfer from the hot-forged blank into the die.</a:t>
            </a:r>
          </a:p>
        </p:txBody>
      </p:sp>
      <p:sp>
        <p:nvSpPr>
          <p:cNvPr id="19" name="Rectangle 18"/>
          <p:cNvSpPr/>
          <p:nvPr/>
        </p:nvSpPr>
        <p:spPr>
          <a:xfrm>
            <a:off x="6519672" y="4617720"/>
            <a:ext cx="5029200" cy="1325880"/>
          </a:xfrm>
          <a:prstGeom prst="roundRect">
            <a:avLst>
              <a:gd name="adj" fmla="val 15000"/>
            </a:avLst>
          </a:prstGeom>
          <a:solidFill>
            <a:srgbClr val="0D1328"/>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6832" y="4709159"/>
            <a:ext cx="4663440" cy="228600"/>
          </a:xfrm>
          <a:prstGeom prst="rect">
            <a:avLst/>
          </a:prstGeom>
          <a:noFill/>
        </p:spPr>
        <p:txBody>
          <a:bodyPr wrap="square">
            <a:spAutoFit/>
          </a:bodyPr>
          <a:lstStyle/>
          <a:p>
            <a:pPr algn="l"/>
            <a:r>
              <a:rPr sz="1000" b="1" i="0">
                <a:solidFill>
                  <a:srgbClr val="F5A623"/>
                </a:solidFill>
              </a:rPr>
              <a:t>▸  The Result</a:t>
            </a:r>
          </a:p>
        </p:txBody>
      </p:sp>
      <p:sp>
        <p:nvSpPr>
          <p:cNvPr id="21" name="TextBox 20"/>
          <p:cNvSpPr txBox="1"/>
          <p:nvPr/>
        </p:nvSpPr>
        <p:spPr>
          <a:xfrm>
            <a:off x="6656832" y="4965192"/>
            <a:ext cx="4663440" cy="868680"/>
          </a:xfrm>
          <a:prstGeom prst="rect">
            <a:avLst/>
          </a:prstGeom>
          <a:noFill/>
        </p:spPr>
        <p:txBody>
          <a:bodyPr wrap="square">
            <a:spAutoFit/>
          </a:bodyPr>
          <a:lstStyle/>
          <a:p>
            <a:pPr algn="l"/>
            <a:r>
              <a:rPr sz="950" b="0" i="0">
                <a:solidFill>
                  <a:srgbClr val="AAB4C6"/>
                </a:solidFill>
              </a:rPr>
              <a:t>Elimination of rapid thermal fatigue cracking, vastly extending tooling life and accelerating manufacturing throughput for EV gearbox components.</a:t>
            </a:r>
          </a:p>
        </p:txBody>
      </p:sp>
      <p:sp>
        <p:nvSpPr>
          <p:cNvPr id="22" name="Rectangle 21"/>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24" name="TextBox 23"/>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SCIDIP DEPLOYMENT 2</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SCIDIP DEPLOYMENT 2: MAGNET-LESS EV MOTORS</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Enabling Rare-Earth Independence in Traction Motors</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457200"/>
          </a:xfrm>
          <a:prstGeom prst="rect">
            <a:avLst/>
          </a:prstGeom>
          <a:noFill/>
        </p:spPr>
        <p:txBody>
          <a:bodyPr wrap="square">
            <a:spAutoFit/>
          </a:bodyPr>
          <a:lstStyle/>
          <a:p>
            <a:pPr algn="l"/>
            <a:r>
              <a:rPr sz="1050" b="0" i="0">
                <a:solidFill>
                  <a:srgbClr val="AAB4C6"/>
                </a:solidFill>
              </a:rPr>
              <a:t>As part of the 'EPIC' roadmap, Sona Comstar is heavily investing in Switched Reluctance Motors (SRMs) to eliminate reliance on imported Neodymium magnets.</a:t>
            </a:r>
          </a:p>
        </p:txBody>
      </p:sp>
      <p:sp>
        <p:nvSpPr>
          <p:cNvPr id="7" name="Rectangle 6"/>
          <p:cNvSpPr/>
          <p:nvPr/>
        </p:nvSpPr>
        <p:spPr>
          <a:xfrm>
            <a:off x="457200" y="1783080"/>
            <a:ext cx="5394960" cy="4297680"/>
          </a:xfrm>
          <a:prstGeom prst="roundRect">
            <a:avLst>
              <a:gd name="adj" fmla="val 20000"/>
            </a:avLst>
          </a:prstGeom>
          <a:solidFill>
            <a:srgbClr val="1E2745"/>
          </a:solidFill>
          <a:ln w="1270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783080"/>
            <a:ext cx="54864" cy="4297680"/>
          </a:xfrm>
          <a:prstGeom prst="roundRect">
            <a:avLst>
              <a:gd name="adj" fmla="val 20000"/>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74519"/>
            <a:ext cx="5029200" cy="256032"/>
          </a:xfrm>
          <a:prstGeom prst="rect">
            <a:avLst/>
          </a:prstGeom>
          <a:noFill/>
        </p:spPr>
        <p:txBody>
          <a:bodyPr wrap="square">
            <a:spAutoFit/>
          </a:bodyPr>
          <a:lstStyle/>
          <a:p>
            <a:pPr algn="l"/>
            <a:r>
              <a:rPr sz="1000" b="1" i="0">
                <a:solidFill>
                  <a:srgbClr val="FF4D6D"/>
                </a:solidFill>
              </a:rPr>
              <a:t>THE ENGINEERING BOTTLENECK</a:t>
            </a:r>
          </a:p>
        </p:txBody>
      </p:sp>
      <p:sp>
        <p:nvSpPr>
          <p:cNvPr id="10" name="TextBox 9"/>
          <p:cNvSpPr txBox="1"/>
          <p:nvPr/>
        </p:nvSpPr>
        <p:spPr>
          <a:xfrm>
            <a:off x="640080" y="2212848"/>
            <a:ext cx="5029200" cy="3657600"/>
          </a:xfrm>
          <a:prstGeom prst="rect">
            <a:avLst/>
          </a:prstGeom>
          <a:noFill/>
        </p:spPr>
        <p:txBody>
          <a:bodyPr wrap="square">
            <a:spAutoFit/>
          </a:bodyPr>
          <a:lstStyle/>
          <a:p>
            <a:pPr algn="l"/>
            <a:r>
              <a:rPr sz="1050" b="0" i="0">
                <a:solidFill>
                  <a:srgbClr val="AAB4C6"/>
                </a:solidFill>
              </a:rPr>
              <a:t>SRMs generate extreme, localized thermal hotspots that degrade traditional stator/rotor metals.
The Two Core Problems:
① Supply Chain Risk: 80%+ of global Neodymium controlled by China — creates severe geopolitical supply vulnerability for Indian EV manufacturing.
② Thermal Degradation: At extreme torque densities, traditional metals rapidly lose mechanical integrity, limiting SRM power density and lifespan.</a:t>
            </a:r>
          </a:p>
        </p:txBody>
      </p:sp>
      <p:sp>
        <p:nvSpPr>
          <p:cNvPr id="11" name="Rectangle 10"/>
          <p:cNvSpPr/>
          <p:nvPr/>
        </p:nvSpPr>
        <p:spPr>
          <a:xfrm>
            <a:off x="6336792" y="1783080"/>
            <a:ext cx="5394960" cy="4297680"/>
          </a:xfrm>
          <a:prstGeom prst="roundRect">
            <a:avLst>
              <a:gd name="adj" fmla="val 2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36792" y="1783080"/>
            <a:ext cx="54864" cy="429768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874519"/>
            <a:ext cx="5029200" cy="256032"/>
          </a:xfrm>
          <a:prstGeom prst="rect">
            <a:avLst/>
          </a:prstGeom>
          <a:noFill/>
        </p:spPr>
        <p:txBody>
          <a:bodyPr wrap="square">
            <a:spAutoFit/>
          </a:bodyPr>
          <a:lstStyle/>
          <a:p>
            <a:pPr algn="l"/>
            <a:r>
              <a:rPr sz="1000" b="1" i="0">
                <a:solidFill>
                  <a:srgbClr val="00E5A0"/>
                </a:solidFill>
              </a:rPr>
              <a:t>THE CRYSTAL PARADIGM UPGRADE</a:t>
            </a:r>
          </a:p>
        </p:txBody>
      </p:sp>
      <p:sp>
        <p:nvSpPr>
          <p:cNvPr id="14" name="TextBox 13"/>
          <p:cNvSpPr txBox="1"/>
          <p:nvPr/>
        </p:nvSpPr>
        <p:spPr>
          <a:xfrm>
            <a:off x="6519672" y="2212848"/>
            <a:ext cx="5029200" cy="777240"/>
          </a:xfrm>
          <a:prstGeom prst="rect">
            <a:avLst/>
          </a:prstGeom>
          <a:noFill/>
        </p:spPr>
        <p:txBody>
          <a:bodyPr wrap="square">
            <a:spAutoFit/>
          </a:bodyPr>
          <a:lstStyle/>
          <a:p>
            <a:pPr algn="l"/>
            <a:r>
              <a:rPr sz="1000" b="0" i="0">
                <a:solidFill>
                  <a:srgbClr val="AAB4C6"/>
                </a:solidFill>
              </a:rPr>
              <a:t>By deploying our aerospace-derived Candidate C, we provide Sona Comstar with a structural material capable of surviving localized high-temperature spikes without compromising mechanical integrity.</a:t>
            </a:r>
          </a:p>
        </p:txBody>
      </p:sp>
      <p:sp>
        <p:nvSpPr>
          <p:cNvPr id="15" name="Rectangle 14"/>
          <p:cNvSpPr/>
          <p:nvPr/>
        </p:nvSpPr>
        <p:spPr>
          <a:xfrm>
            <a:off x="6519672" y="3108960"/>
            <a:ext cx="5029200" cy="1371600"/>
          </a:xfrm>
          <a:prstGeom prst="roundRect">
            <a:avLst>
              <a:gd name="adj" fmla="val 15000"/>
            </a:avLst>
          </a:prstGeom>
          <a:solidFill>
            <a:srgbClr val="0D1328"/>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3200400"/>
            <a:ext cx="4663440" cy="228600"/>
          </a:xfrm>
          <a:prstGeom prst="rect">
            <a:avLst/>
          </a:prstGeom>
          <a:noFill/>
        </p:spPr>
        <p:txBody>
          <a:bodyPr wrap="square">
            <a:spAutoFit/>
          </a:bodyPr>
          <a:lstStyle/>
          <a:p>
            <a:pPr algn="l"/>
            <a:r>
              <a:rPr sz="1000" b="1" i="0">
                <a:solidFill>
                  <a:srgbClr val="00E5A0"/>
                </a:solidFill>
              </a:rPr>
              <a:t>▸  Thermal Shielding</a:t>
            </a:r>
          </a:p>
        </p:txBody>
      </p:sp>
      <p:sp>
        <p:nvSpPr>
          <p:cNvPr id="17" name="TextBox 16"/>
          <p:cNvSpPr txBox="1"/>
          <p:nvPr/>
        </p:nvSpPr>
        <p:spPr>
          <a:xfrm>
            <a:off x="6656832" y="3456432"/>
            <a:ext cx="4663440" cy="914400"/>
          </a:xfrm>
          <a:prstGeom prst="rect">
            <a:avLst/>
          </a:prstGeom>
          <a:noFill/>
        </p:spPr>
        <p:txBody>
          <a:bodyPr wrap="square">
            <a:spAutoFit/>
          </a:bodyPr>
          <a:lstStyle/>
          <a:p>
            <a:pPr algn="l"/>
            <a:r>
              <a:rPr sz="950" b="0" i="0">
                <a:solidFill>
                  <a:srgbClr val="AAB4C6"/>
                </a:solidFill>
              </a:rPr>
              <a:t>The FGM gradient handles rapid thermal cycling without delamination (15.95 MPa interface shear stress), acting as a physical shield for sensitive copper windings.</a:t>
            </a:r>
          </a:p>
        </p:txBody>
      </p:sp>
      <p:sp>
        <p:nvSpPr>
          <p:cNvPr id="18" name="Rectangle 17"/>
          <p:cNvSpPr/>
          <p:nvPr/>
        </p:nvSpPr>
        <p:spPr>
          <a:xfrm>
            <a:off x="6519672" y="4572000"/>
            <a:ext cx="5029200" cy="1371600"/>
          </a:xfrm>
          <a:prstGeom prst="roundRect">
            <a:avLst>
              <a:gd name="adj" fmla="val 15000"/>
            </a:avLst>
          </a:prstGeom>
          <a:solidFill>
            <a:srgbClr val="0D1328"/>
          </a:solidFill>
          <a:ln w="6350">
            <a:solidFill>
              <a:srgbClr val="2D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4663440"/>
            <a:ext cx="4663440" cy="228600"/>
          </a:xfrm>
          <a:prstGeom prst="rect">
            <a:avLst/>
          </a:prstGeom>
          <a:noFill/>
        </p:spPr>
        <p:txBody>
          <a:bodyPr wrap="square">
            <a:spAutoFit/>
          </a:bodyPr>
          <a:lstStyle/>
          <a:p>
            <a:pPr algn="l"/>
            <a:r>
              <a:rPr sz="1000" b="1" i="0">
                <a:solidFill>
                  <a:srgbClr val="00E5A0"/>
                </a:solidFill>
              </a:rPr>
              <a:t>▸  Make-In-India Supply Chain</a:t>
            </a:r>
          </a:p>
        </p:txBody>
      </p:sp>
      <p:sp>
        <p:nvSpPr>
          <p:cNvPr id="20" name="TextBox 19"/>
          <p:cNvSpPr txBox="1"/>
          <p:nvPr/>
        </p:nvSpPr>
        <p:spPr>
          <a:xfrm>
            <a:off x="6656832" y="4919472"/>
            <a:ext cx="4663440" cy="914400"/>
          </a:xfrm>
          <a:prstGeom prst="rect">
            <a:avLst/>
          </a:prstGeom>
          <a:noFill/>
        </p:spPr>
        <p:txBody>
          <a:bodyPr wrap="square">
            <a:spAutoFit/>
          </a:bodyPr>
          <a:lstStyle/>
          <a:p>
            <a:pPr algn="l"/>
            <a:r>
              <a:rPr sz="950" b="0" i="0">
                <a:solidFill>
                  <a:srgbClr val="AAB4C6"/>
                </a:solidFill>
              </a:rPr>
              <a:t>By substituting Hafnium for Titanium, we drop the alloy cost to ~$170/kg, making aerospace-grade thermal protection viable for high-volume Indian EV manufacturing.</a:t>
            </a:r>
          </a:p>
        </p:txBody>
      </p:sp>
      <p:sp>
        <p:nvSpPr>
          <p:cNvPr id="21" name="Rectangle 20"/>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23" name="TextBox 22"/>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DE-RISKING THE SUPPLY CHAIN</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INTELLECTUAL PROPERTY &amp; DE-RISKING THE SUPPLY CHAIN</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True Aatmanirbharta for the Indian Mobility Sector</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457200"/>
          </a:xfrm>
          <a:prstGeom prst="rect">
            <a:avLst/>
          </a:prstGeom>
          <a:noFill/>
        </p:spPr>
        <p:txBody>
          <a:bodyPr wrap="square">
            <a:spAutoFit/>
          </a:bodyPr>
          <a:lstStyle/>
          <a:p>
            <a:pPr algn="l"/>
            <a:r>
              <a:rPr sz="1050" b="0" i="0">
                <a:solidFill>
                  <a:srgbClr val="AAB4C6"/>
                </a:solidFill>
              </a:rPr>
              <a:t>Sona Comstar's strategic reliance on rare-earth elements for EV motors is a massive supply chain vulnerability. Crystal Paradigm offers a computational pathway to complete import substitution.</a:t>
            </a:r>
          </a:p>
        </p:txBody>
      </p:sp>
      <p:sp>
        <p:nvSpPr>
          <p:cNvPr id="7" name="Rectangle 6"/>
          <p:cNvSpPr/>
          <p:nvPr/>
        </p:nvSpPr>
        <p:spPr>
          <a:xfrm>
            <a:off x="457200" y="1783080"/>
            <a:ext cx="3730752" cy="4251960"/>
          </a:xfrm>
          <a:prstGeom prst="roundRect">
            <a:avLst>
              <a:gd name="adj" fmla="val 2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783080"/>
            <a:ext cx="3730752"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01952"/>
            <a:ext cx="3456432" cy="274320"/>
          </a:xfrm>
          <a:prstGeom prst="rect">
            <a:avLst/>
          </a:prstGeom>
          <a:noFill/>
        </p:spPr>
        <p:txBody>
          <a:bodyPr wrap="square">
            <a:spAutoFit/>
          </a:bodyPr>
          <a:lstStyle/>
          <a:p>
            <a:pPr algn="l"/>
            <a:r>
              <a:rPr sz="1000" b="1" i="0">
                <a:solidFill>
                  <a:srgbClr val="00E5A0"/>
                </a:solidFill>
              </a:rPr>
              <a:t>THE IP MOAT</a:t>
            </a:r>
          </a:p>
        </p:txBody>
      </p:sp>
      <p:sp>
        <p:nvSpPr>
          <p:cNvPr id="10" name="Rectangle 9"/>
          <p:cNvSpPr/>
          <p:nvPr/>
        </p:nvSpPr>
        <p:spPr>
          <a:xfrm>
            <a:off x="621792" y="2240280"/>
            <a:ext cx="3401568" cy="36576"/>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59152"/>
            <a:ext cx="3456432" cy="3474720"/>
          </a:xfrm>
          <a:prstGeom prst="rect">
            <a:avLst/>
          </a:prstGeom>
          <a:noFill/>
        </p:spPr>
        <p:txBody>
          <a:bodyPr wrap="square">
            <a:spAutoFit/>
          </a:bodyPr>
          <a:lstStyle/>
          <a:p>
            <a:pPr algn="l"/>
            <a:r>
              <a:rPr sz="1050" b="0" i="0">
                <a:solidFill>
                  <a:srgbClr val="AAB4C6"/>
                </a:solidFill>
              </a:rPr>
              <a:t>Our proprietary 11-phase AI architecture is a continuous IP generation engine. Candidate C is merely our first output; we can computationally generate bespoke materials for any thermal bottleneck Sona Comstar faces across all four EPIC verticals.</a:t>
            </a:r>
          </a:p>
        </p:txBody>
      </p:sp>
      <p:sp>
        <p:nvSpPr>
          <p:cNvPr id="12" name="Rectangle 11"/>
          <p:cNvSpPr/>
          <p:nvPr/>
        </p:nvSpPr>
        <p:spPr>
          <a:xfrm>
            <a:off x="4315968" y="1783080"/>
            <a:ext cx="3730752" cy="4251960"/>
          </a:xfrm>
          <a:prstGeom prst="roundRect">
            <a:avLst>
              <a:gd name="adj" fmla="val 2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783080"/>
            <a:ext cx="3730752" cy="4572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1901952"/>
            <a:ext cx="3456432" cy="274320"/>
          </a:xfrm>
          <a:prstGeom prst="rect">
            <a:avLst/>
          </a:prstGeom>
          <a:noFill/>
        </p:spPr>
        <p:txBody>
          <a:bodyPr wrap="square">
            <a:spAutoFit/>
          </a:bodyPr>
          <a:lstStyle/>
          <a:p>
            <a:pPr algn="l"/>
            <a:r>
              <a:rPr sz="1000" b="1" i="0">
                <a:solidFill>
                  <a:srgbClr val="F5A623"/>
                </a:solidFill>
              </a:rPr>
              <a:t>MAKE-IN-INDIA REALITY</a:t>
            </a:r>
          </a:p>
        </p:txBody>
      </p:sp>
      <p:sp>
        <p:nvSpPr>
          <p:cNvPr id="15" name="Rectangle 14"/>
          <p:cNvSpPr/>
          <p:nvPr/>
        </p:nvSpPr>
        <p:spPr>
          <a:xfrm>
            <a:off x="4480559" y="2240280"/>
            <a:ext cx="3401568" cy="36576"/>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2359152"/>
            <a:ext cx="3456432" cy="3474720"/>
          </a:xfrm>
          <a:prstGeom prst="rect">
            <a:avLst/>
          </a:prstGeom>
          <a:noFill/>
        </p:spPr>
        <p:txBody>
          <a:bodyPr wrap="square">
            <a:spAutoFit/>
          </a:bodyPr>
          <a:lstStyle/>
          <a:p>
            <a:pPr algn="l"/>
            <a:r>
              <a:rPr sz="1050" b="0" i="0">
                <a:solidFill>
                  <a:srgbClr val="AAB4C6"/>
                </a:solidFill>
              </a:rPr>
              <a:t>By engineering out exotic, foreign-controlled minerals and optimizing around globally abundant Titanium and Chromium, we guarantee a secure, indigenous supply chain for Sona Comstar's next-gen components — critical for true Aatmanirbharta.</a:t>
            </a:r>
          </a:p>
        </p:txBody>
      </p:sp>
      <p:sp>
        <p:nvSpPr>
          <p:cNvPr id="17" name="Rectangle 16"/>
          <p:cNvSpPr/>
          <p:nvPr/>
        </p:nvSpPr>
        <p:spPr>
          <a:xfrm>
            <a:off x="8174736" y="1783080"/>
            <a:ext cx="3730752" cy="4251960"/>
          </a:xfrm>
          <a:prstGeom prst="roundRect">
            <a:avLst>
              <a:gd name="adj" fmla="val 20000"/>
            </a:avLst>
          </a:prstGeom>
          <a:solidFill>
            <a:srgbClr val="1E2745"/>
          </a:solidFill>
          <a:ln w="12700">
            <a:solidFill>
              <a:srgbClr val="6E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74736" y="1783080"/>
            <a:ext cx="3730752" cy="45720"/>
          </a:xfrm>
          <a:prstGeom prst="roundRect">
            <a:avLst>
              <a:gd name="adj" fmla="val 20000"/>
            </a:avLst>
          </a:prstGeom>
          <a:solidFill>
            <a:srgbClr val="6E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7" y="1901952"/>
            <a:ext cx="3456432" cy="274320"/>
          </a:xfrm>
          <a:prstGeom prst="rect">
            <a:avLst/>
          </a:prstGeom>
          <a:noFill/>
        </p:spPr>
        <p:txBody>
          <a:bodyPr wrap="square">
            <a:spAutoFit/>
          </a:bodyPr>
          <a:lstStyle/>
          <a:p>
            <a:pPr algn="l"/>
            <a:r>
              <a:rPr sz="1000" b="1" i="0">
                <a:solidFill>
                  <a:srgbClr val="6E9DFF"/>
                </a:solidFill>
              </a:rPr>
              <a:t>IIT DELHI IP FRAMEWORK</a:t>
            </a:r>
          </a:p>
        </p:txBody>
      </p:sp>
      <p:sp>
        <p:nvSpPr>
          <p:cNvPr id="20" name="Rectangle 19"/>
          <p:cNvSpPr/>
          <p:nvPr/>
        </p:nvSpPr>
        <p:spPr>
          <a:xfrm>
            <a:off x="8339327" y="2240280"/>
            <a:ext cx="3401568" cy="36576"/>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2359152"/>
            <a:ext cx="3456432" cy="3474720"/>
          </a:xfrm>
          <a:prstGeom prst="rect">
            <a:avLst/>
          </a:prstGeom>
          <a:noFill/>
        </p:spPr>
        <p:txBody>
          <a:bodyPr wrap="square">
            <a:spAutoFit/>
          </a:bodyPr>
          <a:lstStyle/>
          <a:p>
            <a:pPr algn="l"/>
            <a:r>
              <a:rPr sz="1050" b="0" i="0">
                <a:solidFill>
                  <a:srgbClr val="AAB4C6"/>
                </a:solidFill>
              </a:rPr>
              <a:t>We are prepared to navigate the FITT incubation framework to jointly patent physical material formulations developed within the Central Research Facility (CRF), ensuring robust legal IP protection for all innovations generated during incubation.</a:t>
            </a:r>
          </a:p>
        </p:txBody>
      </p:sp>
      <p:sp>
        <p:nvSpPr>
          <p:cNvPr id="22" name="Rectangle 21"/>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24" name="TextBox 23"/>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THE CORPORATE ASK</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THE CRYSTAL PARADIGM CORPORATE ASK</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Bridging the Gap Between Informatics and the Factory Floor</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457200"/>
          </a:xfrm>
          <a:prstGeom prst="rect">
            <a:avLst/>
          </a:prstGeom>
          <a:noFill/>
        </p:spPr>
        <p:txBody>
          <a:bodyPr wrap="square">
            <a:spAutoFit/>
          </a:bodyPr>
          <a:lstStyle/>
          <a:p>
            <a:pPr algn="l"/>
            <a:r>
              <a:rPr sz="1050" b="0" i="0">
                <a:solidFill>
                  <a:srgbClr val="AAB4C6"/>
                </a:solidFill>
              </a:rPr>
              <a:t>Crystal Paradigm is completely computationally validated (TRL 3+). We are applying to the Advanced Materials track of the SCIDIP program to access the precise ecosystem required to cross the 'valley of death'.</a:t>
            </a:r>
          </a:p>
        </p:txBody>
      </p:sp>
      <p:sp>
        <p:nvSpPr>
          <p:cNvPr id="7" name="Rectangle 6"/>
          <p:cNvSpPr/>
          <p:nvPr/>
        </p:nvSpPr>
        <p:spPr>
          <a:xfrm>
            <a:off x="457200" y="1783080"/>
            <a:ext cx="2724912" cy="4617720"/>
          </a:xfrm>
          <a:prstGeom prst="roundRect">
            <a:avLst>
              <a:gd name="adj" fmla="val 2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45336" y="1874519"/>
            <a:ext cx="548640" cy="548640"/>
          </a:xfrm>
          <a:prstGeom prst="roundRect">
            <a:avLst>
              <a:gd name="adj" fmla="val 5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5336" y="1901952"/>
            <a:ext cx="548640" cy="475488"/>
          </a:xfrm>
          <a:prstGeom prst="rect">
            <a:avLst/>
          </a:prstGeom>
          <a:noFill/>
        </p:spPr>
        <p:txBody>
          <a:bodyPr wrap="square">
            <a:spAutoFit/>
          </a:bodyPr>
          <a:lstStyle/>
          <a:p>
            <a:pPr algn="ctr"/>
            <a:r>
              <a:rPr sz="1600" b="1" i="0">
                <a:solidFill>
                  <a:srgbClr val="141A2E"/>
                </a:solidFill>
              </a:rPr>
              <a:t>1</a:t>
            </a:r>
          </a:p>
        </p:txBody>
      </p:sp>
      <p:sp>
        <p:nvSpPr>
          <p:cNvPr id="10" name="TextBox 9"/>
          <p:cNvSpPr txBox="1"/>
          <p:nvPr/>
        </p:nvSpPr>
        <p:spPr>
          <a:xfrm>
            <a:off x="594360" y="2542032"/>
            <a:ext cx="2450592" cy="457200"/>
          </a:xfrm>
          <a:prstGeom prst="rect">
            <a:avLst/>
          </a:prstGeom>
          <a:noFill/>
        </p:spPr>
        <p:txBody>
          <a:bodyPr wrap="square">
            <a:spAutoFit/>
          </a:bodyPr>
          <a:lstStyle/>
          <a:p>
            <a:pPr algn="ctr"/>
            <a:r>
              <a:rPr sz="1000" b="1" i="0">
                <a:solidFill>
                  <a:srgbClr val="00E5A0"/>
                </a:solidFill>
              </a:rPr>
              <a:t>TECHNOLOGY &amp; LAB SUPPORT</a:t>
            </a:r>
          </a:p>
        </p:txBody>
      </p:sp>
      <p:sp>
        <p:nvSpPr>
          <p:cNvPr id="11" name="TextBox 10"/>
          <p:cNvSpPr txBox="1"/>
          <p:nvPr/>
        </p:nvSpPr>
        <p:spPr>
          <a:xfrm>
            <a:off x="594360" y="2999232"/>
            <a:ext cx="2450592" cy="256032"/>
          </a:xfrm>
          <a:prstGeom prst="rect">
            <a:avLst/>
          </a:prstGeom>
          <a:noFill/>
        </p:spPr>
        <p:txBody>
          <a:bodyPr wrap="square">
            <a:spAutoFit/>
          </a:bodyPr>
          <a:lstStyle/>
          <a:p>
            <a:pPr algn="ctr"/>
            <a:r>
              <a:rPr sz="900" b="0" i="0">
                <a:solidFill>
                  <a:srgbClr val="AAB4C6"/>
                </a:solidFill>
              </a:rPr>
              <a:t>IIT Delhi CRF</a:t>
            </a:r>
          </a:p>
        </p:txBody>
      </p:sp>
      <p:sp>
        <p:nvSpPr>
          <p:cNvPr id="12" name="Rectangle 11"/>
          <p:cNvSpPr/>
          <p:nvPr/>
        </p:nvSpPr>
        <p:spPr>
          <a:xfrm>
            <a:off x="731520" y="3310128"/>
            <a:ext cx="2176272"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401568"/>
            <a:ext cx="2450592" cy="2697480"/>
          </a:xfrm>
          <a:prstGeom prst="rect">
            <a:avLst/>
          </a:prstGeom>
          <a:noFill/>
        </p:spPr>
        <p:txBody>
          <a:bodyPr wrap="square">
            <a:spAutoFit/>
          </a:bodyPr>
          <a:lstStyle/>
          <a:p>
            <a:pPr algn="ctr"/>
            <a:r>
              <a:rPr sz="950" b="0" i="0">
                <a:solidFill>
                  <a:srgbClr val="AAB4C6"/>
                </a:solidFill>
              </a:rPr>
              <a:t>Immediate access to the NIDHI-CoE and CRF to execute High-Temperature XRD, SEM, and Simultaneous Thermal Analysis (STA) on physical witness coupons to validate Candidate C.</a:t>
            </a:r>
          </a:p>
        </p:txBody>
      </p:sp>
      <p:sp>
        <p:nvSpPr>
          <p:cNvPr id="14" name="Rectangle 13"/>
          <p:cNvSpPr/>
          <p:nvPr/>
        </p:nvSpPr>
        <p:spPr>
          <a:xfrm>
            <a:off x="3300984" y="1783080"/>
            <a:ext cx="2724912" cy="4617720"/>
          </a:xfrm>
          <a:prstGeom prst="roundRect">
            <a:avLst>
              <a:gd name="adj" fmla="val 2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74519"/>
            <a:ext cx="548640" cy="548640"/>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1901952"/>
            <a:ext cx="548640" cy="475488"/>
          </a:xfrm>
          <a:prstGeom prst="rect">
            <a:avLst/>
          </a:prstGeom>
          <a:noFill/>
        </p:spPr>
        <p:txBody>
          <a:bodyPr wrap="square">
            <a:spAutoFit/>
          </a:bodyPr>
          <a:lstStyle/>
          <a:p>
            <a:pPr algn="ctr"/>
            <a:r>
              <a:rPr sz="1600" b="1" i="0">
                <a:solidFill>
                  <a:srgbClr val="141A2E"/>
                </a:solidFill>
              </a:rPr>
              <a:t>2</a:t>
            </a:r>
          </a:p>
        </p:txBody>
      </p:sp>
      <p:sp>
        <p:nvSpPr>
          <p:cNvPr id="17" name="TextBox 16"/>
          <p:cNvSpPr txBox="1"/>
          <p:nvPr/>
        </p:nvSpPr>
        <p:spPr>
          <a:xfrm>
            <a:off x="3438144" y="2542032"/>
            <a:ext cx="2450592" cy="457200"/>
          </a:xfrm>
          <a:prstGeom prst="rect">
            <a:avLst/>
          </a:prstGeom>
          <a:noFill/>
        </p:spPr>
        <p:txBody>
          <a:bodyPr wrap="square">
            <a:spAutoFit/>
          </a:bodyPr>
          <a:lstStyle/>
          <a:p>
            <a:pPr algn="ctr"/>
            <a:r>
              <a:rPr sz="1000" b="1" i="0">
                <a:solidFill>
                  <a:srgbClr val="F5A623"/>
                </a:solidFill>
              </a:rPr>
              <a:t>SONA COMSTAR MENTORSHIP</a:t>
            </a:r>
          </a:p>
        </p:txBody>
      </p:sp>
      <p:sp>
        <p:nvSpPr>
          <p:cNvPr id="18" name="TextBox 17"/>
          <p:cNvSpPr txBox="1"/>
          <p:nvPr/>
        </p:nvSpPr>
        <p:spPr>
          <a:xfrm>
            <a:off x="3438144" y="2999232"/>
            <a:ext cx="2450592" cy="256032"/>
          </a:xfrm>
          <a:prstGeom prst="rect">
            <a:avLst/>
          </a:prstGeom>
          <a:noFill/>
        </p:spPr>
        <p:txBody>
          <a:bodyPr wrap="square">
            <a:spAutoFit/>
          </a:bodyPr>
          <a:lstStyle/>
          <a:p>
            <a:pPr algn="ctr"/>
            <a:r>
              <a:rPr sz="900" b="0" i="0">
                <a:solidFill>
                  <a:srgbClr val="AAB4C6"/>
                </a:solidFill>
              </a:rPr>
              <a:t>Engineering Alignment</a:t>
            </a:r>
          </a:p>
        </p:txBody>
      </p:sp>
      <p:sp>
        <p:nvSpPr>
          <p:cNvPr id="19" name="Rectangle 18"/>
          <p:cNvSpPr/>
          <p:nvPr/>
        </p:nvSpPr>
        <p:spPr>
          <a:xfrm>
            <a:off x="3575303" y="3310128"/>
            <a:ext cx="2176272"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38144" y="3401568"/>
            <a:ext cx="2450592" cy="2697480"/>
          </a:xfrm>
          <a:prstGeom prst="rect">
            <a:avLst/>
          </a:prstGeom>
          <a:noFill/>
        </p:spPr>
        <p:txBody>
          <a:bodyPr wrap="square">
            <a:spAutoFit/>
          </a:bodyPr>
          <a:lstStyle/>
          <a:p>
            <a:pPr algn="ctr"/>
            <a:r>
              <a:rPr sz="950" b="0" i="0">
                <a:solidFill>
                  <a:srgbClr val="AAB4C6"/>
                </a:solidFill>
              </a:rPr>
              <a:t>Direct engineering alignment with Sona Comstar's precision forging division to ensure our 11-layer print matrices match factory-floor DED manufacturing tolerances and specifications.</a:t>
            </a:r>
          </a:p>
        </p:txBody>
      </p:sp>
      <p:sp>
        <p:nvSpPr>
          <p:cNvPr id="21" name="Rectangle 20"/>
          <p:cNvSpPr/>
          <p:nvPr/>
        </p:nvSpPr>
        <p:spPr>
          <a:xfrm>
            <a:off x="6144768" y="1783080"/>
            <a:ext cx="2724912" cy="4617720"/>
          </a:xfrm>
          <a:prstGeom prst="roundRect">
            <a:avLst>
              <a:gd name="adj" fmla="val 20000"/>
            </a:avLst>
          </a:prstGeom>
          <a:solidFill>
            <a:srgbClr val="1E2745"/>
          </a:solidFill>
          <a:ln w="12700">
            <a:solidFill>
              <a:srgbClr val="6E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32903" y="1874519"/>
            <a:ext cx="548640" cy="548640"/>
          </a:xfrm>
          <a:prstGeom prst="roundRect">
            <a:avLst>
              <a:gd name="adj" fmla="val 50000"/>
            </a:avLst>
          </a:prstGeom>
          <a:solidFill>
            <a:srgbClr val="6E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2903" y="1901952"/>
            <a:ext cx="548640" cy="475488"/>
          </a:xfrm>
          <a:prstGeom prst="rect">
            <a:avLst/>
          </a:prstGeom>
          <a:noFill/>
        </p:spPr>
        <p:txBody>
          <a:bodyPr wrap="square">
            <a:spAutoFit/>
          </a:bodyPr>
          <a:lstStyle/>
          <a:p>
            <a:pPr algn="ctr"/>
            <a:r>
              <a:rPr sz="1600" b="1" i="0">
                <a:solidFill>
                  <a:srgbClr val="141A2E"/>
                </a:solidFill>
              </a:rPr>
              <a:t>3</a:t>
            </a:r>
          </a:p>
        </p:txBody>
      </p:sp>
      <p:sp>
        <p:nvSpPr>
          <p:cNvPr id="24" name="TextBox 23"/>
          <p:cNvSpPr txBox="1"/>
          <p:nvPr/>
        </p:nvSpPr>
        <p:spPr>
          <a:xfrm>
            <a:off x="6281928" y="2542032"/>
            <a:ext cx="2450592" cy="457200"/>
          </a:xfrm>
          <a:prstGeom prst="rect">
            <a:avLst/>
          </a:prstGeom>
          <a:noFill/>
        </p:spPr>
        <p:txBody>
          <a:bodyPr wrap="square">
            <a:spAutoFit/>
          </a:bodyPr>
          <a:lstStyle/>
          <a:p>
            <a:pPr algn="ctr"/>
            <a:r>
              <a:rPr sz="1000" b="1" i="0">
                <a:solidFill>
                  <a:srgbClr val="6E9DFF"/>
                </a:solidFill>
              </a:rPr>
              <a:t>SCIDIP SEED ECOSYSTEM</a:t>
            </a:r>
          </a:p>
        </p:txBody>
      </p:sp>
      <p:sp>
        <p:nvSpPr>
          <p:cNvPr id="25" name="TextBox 24"/>
          <p:cNvSpPr txBox="1"/>
          <p:nvPr/>
        </p:nvSpPr>
        <p:spPr>
          <a:xfrm>
            <a:off x="6281928" y="2999232"/>
            <a:ext cx="2450592" cy="256032"/>
          </a:xfrm>
          <a:prstGeom prst="rect">
            <a:avLst/>
          </a:prstGeom>
          <a:noFill/>
        </p:spPr>
        <p:txBody>
          <a:bodyPr wrap="square">
            <a:spAutoFit/>
          </a:bodyPr>
          <a:lstStyle/>
          <a:p>
            <a:pPr algn="ctr"/>
            <a:r>
              <a:rPr sz="900" b="0" i="0">
                <a:solidFill>
                  <a:srgbClr val="AAB4C6"/>
                </a:solidFill>
              </a:rPr>
              <a:t>₹80 Lakh Grant</a:t>
            </a:r>
          </a:p>
        </p:txBody>
      </p:sp>
      <p:sp>
        <p:nvSpPr>
          <p:cNvPr id="26" name="Rectangle 25"/>
          <p:cNvSpPr/>
          <p:nvPr/>
        </p:nvSpPr>
        <p:spPr>
          <a:xfrm>
            <a:off x="6419088" y="3310128"/>
            <a:ext cx="2176272"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1928" y="3401568"/>
            <a:ext cx="2450592" cy="2697480"/>
          </a:xfrm>
          <a:prstGeom prst="rect">
            <a:avLst/>
          </a:prstGeom>
          <a:noFill/>
        </p:spPr>
        <p:txBody>
          <a:bodyPr wrap="square">
            <a:spAutoFit/>
          </a:bodyPr>
          <a:lstStyle/>
          <a:p>
            <a:pPr algn="ctr"/>
            <a:r>
              <a:rPr sz="950" b="0" i="0">
                <a:solidFill>
                  <a:srgbClr val="AAB4C6"/>
                </a:solidFill>
              </a:rPr>
              <a:t>Integration into the SCIDIP funding and incubation framework to finance raw material atomization and multi-hopper 3D printing of the physical witness coupon prototypes.</a:t>
            </a:r>
          </a:p>
        </p:txBody>
      </p:sp>
      <p:sp>
        <p:nvSpPr>
          <p:cNvPr id="28" name="Rectangle 27"/>
          <p:cNvSpPr/>
          <p:nvPr/>
        </p:nvSpPr>
        <p:spPr>
          <a:xfrm>
            <a:off x="8988552" y="1783080"/>
            <a:ext cx="2724912" cy="4617720"/>
          </a:xfrm>
          <a:prstGeom prst="roundRect">
            <a:avLst>
              <a:gd name="adj" fmla="val 20000"/>
            </a:avLst>
          </a:prstGeom>
          <a:solidFill>
            <a:srgbClr val="1E2745"/>
          </a:solidFill>
          <a:ln w="12700">
            <a:solidFill>
              <a:srgbClr val="FF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076688" y="1874519"/>
            <a:ext cx="548640" cy="548640"/>
          </a:xfrm>
          <a:prstGeom prst="roundRect">
            <a:avLst>
              <a:gd name="adj" fmla="val 50000"/>
            </a:avLst>
          </a:prstGeom>
          <a:solidFill>
            <a:srgbClr val="FF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76688" y="1901952"/>
            <a:ext cx="548640" cy="475488"/>
          </a:xfrm>
          <a:prstGeom prst="rect">
            <a:avLst/>
          </a:prstGeom>
          <a:noFill/>
        </p:spPr>
        <p:txBody>
          <a:bodyPr wrap="square">
            <a:spAutoFit/>
          </a:bodyPr>
          <a:lstStyle/>
          <a:p>
            <a:pPr algn="ctr"/>
            <a:r>
              <a:rPr sz="1600" b="1" i="0">
                <a:solidFill>
                  <a:srgbClr val="141A2E"/>
                </a:solidFill>
              </a:rPr>
              <a:t>4</a:t>
            </a:r>
          </a:p>
        </p:txBody>
      </p:sp>
      <p:sp>
        <p:nvSpPr>
          <p:cNvPr id="31" name="TextBox 30"/>
          <p:cNvSpPr txBox="1"/>
          <p:nvPr/>
        </p:nvSpPr>
        <p:spPr>
          <a:xfrm>
            <a:off x="9125712" y="2542032"/>
            <a:ext cx="2450592" cy="457200"/>
          </a:xfrm>
          <a:prstGeom prst="rect">
            <a:avLst/>
          </a:prstGeom>
          <a:noFill/>
        </p:spPr>
        <p:txBody>
          <a:bodyPr wrap="square">
            <a:spAutoFit/>
          </a:bodyPr>
          <a:lstStyle/>
          <a:p>
            <a:pPr algn="ctr"/>
            <a:r>
              <a:rPr sz="1000" b="1" i="0">
                <a:solidFill>
                  <a:srgbClr val="FF8C5A"/>
                </a:solidFill>
              </a:rPr>
              <a:t>CORPORATE MARKET CONNECT</a:t>
            </a:r>
          </a:p>
        </p:txBody>
      </p:sp>
      <p:sp>
        <p:nvSpPr>
          <p:cNvPr id="32" name="TextBox 31"/>
          <p:cNvSpPr txBox="1"/>
          <p:nvPr/>
        </p:nvSpPr>
        <p:spPr>
          <a:xfrm>
            <a:off x="9125712" y="2999232"/>
            <a:ext cx="2450592" cy="256032"/>
          </a:xfrm>
          <a:prstGeom prst="rect">
            <a:avLst/>
          </a:prstGeom>
          <a:noFill/>
        </p:spPr>
        <p:txBody>
          <a:bodyPr wrap="square">
            <a:spAutoFit/>
          </a:bodyPr>
          <a:lstStyle/>
          <a:p>
            <a:pPr algn="ctr"/>
            <a:r>
              <a:rPr sz="900" b="0" i="0">
                <a:solidFill>
                  <a:srgbClr val="AAB4C6"/>
                </a:solidFill>
              </a:rPr>
              <a:t>Supply Chain Integration</a:t>
            </a:r>
          </a:p>
        </p:txBody>
      </p:sp>
      <p:sp>
        <p:nvSpPr>
          <p:cNvPr id="33" name="Rectangle 32"/>
          <p:cNvSpPr/>
          <p:nvPr/>
        </p:nvSpPr>
        <p:spPr>
          <a:xfrm>
            <a:off x="9262872" y="3310128"/>
            <a:ext cx="2176272"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25712" y="3401568"/>
            <a:ext cx="2450592" cy="2697480"/>
          </a:xfrm>
          <a:prstGeom prst="rect">
            <a:avLst/>
          </a:prstGeom>
          <a:noFill/>
        </p:spPr>
        <p:txBody>
          <a:bodyPr wrap="square">
            <a:spAutoFit/>
          </a:bodyPr>
          <a:lstStyle/>
          <a:p>
            <a:pPr algn="ctr"/>
            <a:r>
              <a:rPr sz="950" b="0" i="0">
                <a:solidFill>
                  <a:srgbClr val="AAB4C6"/>
                </a:solidFill>
              </a:rPr>
              <a:t>Joint integration of the physical prototypes into Sona Comstar's downstream EV supply chain, including precision forging dies and SRM stator components.</a:t>
            </a:r>
          </a:p>
        </p:txBody>
      </p:sp>
      <p:sp>
        <p:nvSpPr>
          <p:cNvPr id="35" name="Rectangle 34"/>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37" name="TextBox 36"/>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EXECUTION ROADMAP</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THE 24-MONTH INCUBATION ROADMAP</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From Computational Validation to Sona Comstar Integration</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1247120" cy="365760"/>
          </a:xfrm>
          <a:prstGeom prst="rect">
            <a:avLst/>
          </a:prstGeom>
          <a:noFill/>
        </p:spPr>
        <p:txBody>
          <a:bodyPr wrap="square">
            <a:spAutoFit/>
          </a:bodyPr>
          <a:lstStyle/>
          <a:p>
            <a:pPr algn="l"/>
            <a:r>
              <a:rPr sz="1050" b="0" i="0">
                <a:solidFill>
                  <a:srgbClr val="AAB4C6"/>
                </a:solidFill>
              </a:rPr>
              <a:t>Our execution strategy is strictly mapped to the 24-month SCIDIP incubation cycle at Atal Incubation Centre (AIC), IIT Delhi.</a:t>
            </a:r>
          </a:p>
        </p:txBody>
      </p:sp>
      <p:sp>
        <p:nvSpPr>
          <p:cNvPr id="7" name="Rectangle 6"/>
          <p:cNvSpPr/>
          <p:nvPr/>
        </p:nvSpPr>
        <p:spPr>
          <a:xfrm>
            <a:off x="457200" y="1874519"/>
            <a:ext cx="11274552" cy="73152"/>
          </a:xfrm>
          <a:prstGeom prst="roundRect">
            <a:avLst>
              <a:gd name="adj" fmla="val 10000"/>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64208" y="1737360"/>
            <a:ext cx="329184" cy="329184"/>
          </a:xfrm>
          <a:prstGeom prst="roundRect">
            <a:avLst>
              <a:gd name="adj" fmla="val 5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4208" y="1764792"/>
            <a:ext cx="329184" cy="274320"/>
          </a:xfrm>
          <a:prstGeom prst="rect">
            <a:avLst/>
          </a:prstGeom>
          <a:noFill/>
        </p:spPr>
        <p:txBody>
          <a:bodyPr wrap="square">
            <a:spAutoFit/>
          </a:bodyPr>
          <a:lstStyle/>
          <a:p>
            <a:pPr algn="ctr"/>
            <a:r>
              <a:rPr sz="1000" b="1" i="0">
                <a:solidFill>
                  <a:srgbClr val="141A2E"/>
                </a:solidFill>
              </a:rPr>
              <a:t>M1</a:t>
            </a:r>
          </a:p>
        </p:txBody>
      </p:sp>
      <p:sp>
        <p:nvSpPr>
          <p:cNvPr id="10" name="Rectangle 9"/>
          <p:cNvSpPr/>
          <p:nvPr/>
        </p:nvSpPr>
        <p:spPr>
          <a:xfrm>
            <a:off x="512064" y="2148840"/>
            <a:ext cx="2633472" cy="4251960"/>
          </a:xfrm>
          <a:prstGeom prst="roundRect">
            <a:avLst>
              <a:gd name="adj" fmla="val 2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2064" y="2148840"/>
            <a:ext cx="2633472"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40280"/>
            <a:ext cx="2423160" cy="228600"/>
          </a:xfrm>
          <a:prstGeom prst="rect">
            <a:avLst/>
          </a:prstGeom>
          <a:noFill/>
        </p:spPr>
        <p:txBody>
          <a:bodyPr wrap="square">
            <a:spAutoFit/>
          </a:bodyPr>
          <a:lstStyle/>
          <a:p>
            <a:pPr algn="l"/>
            <a:r>
              <a:rPr sz="800" b="1" i="0">
                <a:solidFill>
                  <a:srgbClr val="00E5A0"/>
                </a:solidFill>
              </a:rPr>
              <a:t>Months 1-6</a:t>
            </a:r>
          </a:p>
        </p:txBody>
      </p:sp>
      <p:sp>
        <p:nvSpPr>
          <p:cNvPr id="13" name="TextBox 12"/>
          <p:cNvSpPr txBox="1"/>
          <p:nvPr/>
        </p:nvSpPr>
        <p:spPr>
          <a:xfrm>
            <a:off x="640080" y="2496312"/>
            <a:ext cx="2423160" cy="411480"/>
          </a:xfrm>
          <a:prstGeom prst="rect">
            <a:avLst/>
          </a:prstGeom>
          <a:noFill/>
        </p:spPr>
        <p:txBody>
          <a:bodyPr wrap="square">
            <a:spAutoFit/>
          </a:bodyPr>
          <a:lstStyle/>
          <a:p>
            <a:pPr algn="l"/>
            <a:r>
              <a:rPr sz="1200" b="1" i="0">
                <a:solidFill>
                  <a:srgbClr val="F5F7FA"/>
                </a:solidFill>
              </a:rPr>
              <a:t>POWDER SYNTHESIS</a:t>
            </a:r>
          </a:p>
        </p:txBody>
      </p:sp>
      <p:sp>
        <p:nvSpPr>
          <p:cNvPr id="14" name="Rectangle 13"/>
          <p:cNvSpPr/>
          <p:nvPr/>
        </p:nvSpPr>
        <p:spPr>
          <a:xfrm>
            <a:off x="640080" y="2944368"/>
            <a:ext cx="2331720"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035808"/>
            <a:ext cx="2423160" cy="3200400"/>
          </a:xfrm>
          <a:prstGeom prst="rect">
            <a:avLst/>
          </a:prstGeom>
          <a:noFill/>
        </p:spPr>
        <p:txBody>
          <a:bodyPr wrap="square">
            <a:spAutoFit/>
          </a:bodyPr>
          <a:lstStyle/>
          <a:p>
            <a:pPr algn="l"/>
            <a:r>
              <a:rPr sz="1000" b="0" i="0">
                <a:solidFill>
                  <a:srgbClr val="AAB4C6"/>
                </a:solidFill>
              </a:rPr>
              <a:t>Procure raw metal powders (Ta, W, Cr, V, Ti, Zr, Hf, Al). Utilize IIT Delhi labs to verify composition purity and atomization quality.</a:t>
            </a:r>
          </a:p>
        </p:txBody>
      </p:sp>
      <p:sp>
        <p:nvSpPr>
          <p:cNvPr id="16" name="Rectangle 15"/>
          <p:cNvSpPr/>
          <p:nvPr/>
        </p:nvSpPr>
        <p:spPr>
          <a:xfrm>
            <a:off x="4498848" y="1737360"/>
            <a:ext cx="329184" cy="32918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8" y="1764792"/>
            <a:ext cx="329184" cy="274320"/>
          </a:xfrm>
          <a:prstGeom prst="rect">
            <a:avLst/>
          </a:prstGeom>
          <a:noFill/>
        </p:spPr>
        <p:txBody>
          <a:bodyPr wrap="square">
            <a:spAutoFit/>
          </a:bodyPr>
          <a:lstStyle/>
          <a:p>
            <a:pPr algn="ctr"/>
            <a:r>
              <a:rPr sz="1000" b="1" i="0">
                <a:solidFill>
                  <a:srgbClr val="141A2E"/>
                </a:solidFill>
              </a:rPr>
              <a:t>M2</a:t>
            </a:r>
          </a:p>
        </p:txBody>
      </p:sp>
      <p:sp>
        <p:nvSpPr>
          <p:cNvPr id="18" name="Rectangle 17"/>
          <p:cNvSpPr/>
          <p:nvPr/>
        </p:nvSpPr>
        <p:spPr>
          <a:xfrm>
            <a:off x="3346704" y="2148840"/>
            <a:ext cx="2633472" cy="4251960"/>
          </a:xfrm>
          <a:prstGeom prst="roundRect">
            <a:avLst>
              <a:gd name="adj" fmla="val 2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46704" y="2148840"/>
            <a:ext cx="2633472" cy="4572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240280"/>
            <a:ext cx="2423160" cy="228600"/>
          </a:xfrm>
          <a:prstGeom prst="rect">
            <a:avLst/>
          </a:prstGeom>
          <a:noFill/>
        </p:spPr>
        <p:txBody>
          <a:bodyPr wrap="square">
            <a:spAutoFit/>
          </a:bodyPr>
          <a:lstStyle/>
          <a:p>
            <a:pPr algn="l"/>
            <a:r>
              <a:rPr sz="800" b="1" i="0">
                <a:solidFill>
                  <a:srgbClr val="F5A623"/>
                </a:solidFill>
              </a:rPr>
              <a:t>Months 6-12</a:t>
            </a:r>
          </a:p>
        </p:txBody>
      </p:sp>
      <p:sp>
        <p:nvSpPr>
          <p:cNvPr id="21" name="TextBox 20"/>
          <p:cNvSpPr txBox="1"/>
          <p:nvPr/>
        </p:nvSpPr>
        <p:spPr>
          <a:xfrm>
            <a:off x="3474720" y="2496312"/>
            <a:ext cx="2423160" cy="411480"/>
          </a:xfrm>
          <a:prstGeom prst="rect">
            <a:avLst/>
          </a:prstGeom>
          <a:noFill/>
        </p:spPr>
        <p:txBody>
          <a:bodyPr wrap="square">
            <a:spAutoFit/>
          </a:bodyPr>
          <a:lstStyle/>
          <a:p>
            <a:pPr algn="l"/>
            <a:r>
              <a:rPr sz="1200" b="1" i="0">
                <a:solidFill>
                  <a:srgbClr val="F5F7FA"/>
                </a:solidFill>
              </a:rPr>
              <a:t>ADDITIVE MANUFACTURING</a:t>
            </a:r>
          </a:p>
        </p:txBody>
      </p:sp>
      <p:sp>
        <p:nvSpPr>
          <p:cNvPr id="22" name="Rectangle 21"/>
          <p:cNvSpPr/>
          <p:nvPr/>
        </p:nvSpPr>
        <p:spPr>
          <a:xfrm>
            <a:off x="3474720" y="2944368"/>
            <a:ext cx="2331720"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0" y="3035808"/>
            <a:ext cx="2423160" cy="3200400"/>
          </a:xfrm>
          <a:prstGeom prst="rect">
            <a:avLst/>
          </a:prstGeom>
          <a:noFill/>
        </p:spPr>
        <p:txBody>
          <a:bodyPr wrap="square">
            <a:spAutoFit/>
          </a:bodyPr>
          <a:lstStyle/>
          <a:p>
            <a:pPr algn="l"/>
            <a:r>
              <a:rPr sz="1000" b="0" i="0">
                <a:solidFill>
                  <a:srgbClr val="AAB4C6"/>
                </a:solidFill>
              </a:rPr>
              <a:t>Execute the 11-layer manufacturing_recipe.csv via DED (Directed Energy Deposition) to print physical witness coupons.</a:t>
            </a:r>
          </a:p>
        </p:txBody>
      </p:sp>
      <p:sp>
        <p:nvSpPr>
          <p:cNvPr id="24" name="Rectangle 23"/>
          <p:cNvSpPr/>
          <p:nvPr/>
        </p:nvSpPr>
        <p:spPr>
          <a:xfrm>
            <a:off x="7333488" y="1737360"/>
            <a:ext cx="329184" cy="329184"/>
          </a:xfrm>
          <a:prstGeom prst="roundRect">
            <a:avLst>
              <a:gd name="adj" fmla="val 50000"/>
            </a:avLst>
          </a:prstGeom>
          <a:solidFill>
            <a:srgbClr val="6E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33488" y="1764792"/>
            <a:ext cx="329184" cy="274320"/>
          </a:xfrm>
          <a:prstGeom prst="rect">
            <a:avLst/>
          </a:prstGeom>
          <a:noFill/>
        </p:spPr>
        <p:txBody>
          <a:bodyPr wrap="square">
            <a:spAutoFit/>
          </a:bodyPr>
          <a:lstStyle/>
          <a:p>
            <a:pPr algn="ctr"/>
            <a:r>
              <a:rPr sz="1000" b="1" i="0">
                <a:solidFill>
                  <a:srgbClr val="141A2E"/>
                </a:solidFill>
              </a:rPr>
              <a:t>M3</a:t>
            </a:r>
          </a:p>
        </p:txBody>
      </p:sp>
      <p:sp>
        <p:nvSpPr>
          <p:cNvPr id="26" name="Rectangle 25"/>
          <p:cNvSpPr/>
          <p:nvPr/>
        </p:nvSpPr>
        <p:spPr>
          <a:xfrm>
            <a:off x="6181344" y="2148840"/>
            <a:ext cx="2633472" cy="4251960"/>
          </a:xfrm>
          <a:prstGeom prst="roundRect">
            <a:avLst>
              <a:gd name="adj" fmla="val 20000"/>
            </a:avLst>
          </a:prstGeom>
          <a:solidFill>
            <a:srgbClr val="1E2745"/>
          </a:solidFill>
          <a:ln w="12700">
            <a:solidFill>
              <a:srgbClr val="6E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1344" y="2148840"/>
            <a:ext cx="2633472" cy="45720"/>
          </a:xfrm>
          <a:prstGeom prst="roundRect">
            <a:avLst>
              <a:gd name="adj" fmla="val 20000"/>
            </a:avLst>
          </a:prstGeom>
          <a:solidFill>
            <a:srgbClr val="6E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2240280"/>
            <a:ext cx="2423160" cy="228600"/>
          </a:xfrm>
          <a:prstGeom prst="rect">
            <a:avLst/>
          </a:prstGeom>
          <a:noFill/>
        </p:spPr>
        <p:txBody>
          <a:bodyPr wrap="square">
            <a:spAutoFit/>
          </a:bodyPr>
          <a:lstStyle/>
          <a:p>
            <a:pPr algn="l"/>
            <a:r>
              <a:rPr sz="800" b="1" i="0">
                <a:solidFill>
                  <a:srgbClr val="6E9DFF"/>
                </a:solidFill>
              </a:rPr>
              <a:t>Months 12-18</a:t>
            </a:r>
          </a:p>
        </p:txBody>
      </p:sp>
      <p:sp>
        <p:nvSpPr>
          <p:cNvPr id="29" name="TextBox 28"/>
          <p:cNvSpPr txBox="1"/>
          <p:nvPr/>
        </p:nvSpPr>
        <p:spPr>
          <a:xfrm>
            <a:off x="6309360" y="2496312"/>
            <a:ext cx="2423160" cy="411480"/>
          </a:xfrm>
          <a:prstGeom prst="rect">
            <a:avLst/>
          </a:prstGeom>
          <a:noFill/>
        </p:spPr>
        <p:txBody>
          <a:bodyPr wrap="square">
            <a:spAutoFit/>
          </a:bodyPr>
          <a:lstStyle/>
          <a:p>
            <a:pPr algn="l"/>
            <a:r>
              <a:rPr sz="1200" b="1" i="0">
                <a:solidFill>
                  <a:srgbClr val="F5F7FA"/>
                </a:solidFill>
              </a:rPr>
              <a:t>NIDHI-CoE &amp; CRF TESTING</a:t>
            </a:r>
          </a:p>
        </p:txBody>
      </p:sp>
      <p:sp>
        <p:nvSpPr>
          <p:cNvPr id="30" name="Rectangle 29"/>
          <p:cNvSpPr/>
          <p:nvPr/>
        </p:nvSpPr>
        <p:spPr>
          <a:xfrm>
            <a:off x="6309360" y="2944368"/>
            <a:ext cx="2331720"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3035808"/>
            <a:ext cx="2423160" cy="3200400"/>
          </a:xfrm>
          <a:prstGeom prst="rect">
            <a:avLst/>
          </a:prstGeom>
          <a:noFill/>
        </p:spPr>
        <p:txBody>
          <a:bodyPr wrap="square">
            <a:spAutoFit/>
          </a:bodyPr>
          <a:lstStyle/>
          <a:p>
            <a:pPr algn="l"/>
            <a:r>
              <a:rPr sz="1000" b="0" i="0">
                <a:solidFill>
                  <a:srgbClr val="AAB4C6"/>
                </a:solidFill>
              </a:rPr>
              <a:t>Conduct physical yield strength testing and execute High-Temp XRD / STA thermal shock validation at IIT Delhi to physically validate the 1.50 Safety Factor.</a:t>
            </a:r>
          </a:p>
        </p:txBody>
      </p:sp>
      <p:sp>
        <p:nvSpPr>
          <p:cNvPr id="32" name="Rectangle 31"/>
          <p:cNvSpPr/>
          <p:nvPr/>
        </p:nvSpPr>
        <p:spPr>
          <a:xfrm>
            <a:off x="10168128" y="1737360"/>
            <a:ext cx="329184" cy="329184"/>
          </a:xfrm>
          <a:prstGeom prst="roundRect">
            <a:avLst>
              <a:gd name="adj" fmla="val 50000"/>
            </a:avLst>
          </a:prstGeom>
          <a:solidFill>
            <a:srgbClr val="FF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68128" y="1764792"/>
            <a:ext cx="329184" cy="274320"/>
          </a:xfrm>
          <a:prstGeom prst="rect">
            <a:avLst/>
          </a:prstGeom>
          <a:noFill/>
        </p:spPr>
        <p:txBody>
          <a:bodyPr wrap="square">
            <a:spAutoFit/>
          </a:bodyPr>
          <a:lstStyle/>
          <a:p>
            <a:pPr algn="ctr"/>
            <a:r>
              <a:rPr sz="1000" b="1" i="0">
                <a:solidFill>
                  <a:srgbClr val="141A2E"/>
                </a:solidFill>
              </a:rPr>
              <a:t>M4</a:t>
            </a:r>
          </a:p>
        </p:txBody>
      </p:sp>
      <p:sp>
        <p:nvSpPr>
          <p:cNvPr id="34" name="Rectangle 33"/>
          <p:cNvSpPr/>
          <p:nvPr/>
        </p:nvSpPr>
        <p:spPr>
          <a:xfrm>
            <a:off x="9015984" y="2148840"/>
            <a:ext cx="2633472" cy="4251960"/>
          </a:xfrm>
          <a:prstGeom prst="roundRect">
            <a:avLst>
              <a:gd name="adj" fmla="val 20000"/>
            </a:avLst>
          </a:prstGeom>
          <a:solidFill>
            <a:srgbClr val="1E2745"/>
          </a:solidFill>
          <a:ln w="12700">
            <a:solidFill>
              <a:srgbClr val="FF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15984" y="2148840"/>
            <a:ext cx="2633472" cy="45720"/>
          </a:xfrm>
          <a:prstGeom prst="roundRect">
            <a:avLst>
              <a:gd name="adj" fmla="val 20000"/>
            </a:avLst>
          </a:prstGeom>
          <a:solidFill>
            <a:srgbClr val="FF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0" y="2240280"/>
            <a:ext cx="2423160" cy="228600"/>
          </a:xfrm>
          <a:prstGeom prst="rect">
            <a:avLst/>
          </a:prstGeom>
          <a:noFill/>
        </p:spPr>
        <p:txBody>
          <a:bodyPr wrap="square">
            <a:spAutoFit/>
          </a:bodyPr>
          <a:lstStyle/>
          <a:p>
            <a:pPr algn="l"/>
            <a:r>
              <a:rPr sz="800" b="1" i="0">
                <a:solidFill>
                  <a:srgbClr val="FF8C5A"/>
                </a:solidFill>
              </a:rPr>
              <a:t>Months 18-24</a:t>
            </a:r>
          </a:p>
        </p:txBody>
      </p:sp>
      <p:sp>
        <p:nvSpPr>
          <p:cNvPr id="37" name="TextBox 36"/>
          <p:cNvSpPr txBox="1"/>
          <p:nvPr/>
        </p:nvSpPr>
        <p:spPr>
          <a:xfrm>
            <a:off x="9144000" y="2496312"/>
            <a:ext cx="2423160" cy="411480"/>
          </a:xfrm>
          <a:prstGeom prst="rect">
            <a:avLst/>
          </a:prstGeom>
          <a:noFill/>
        </p:spPr>
        <p:txBody>
          <a:bodyPr wrap="square">
            <a:spAutoFit/>
          </a:bodyPr>
          <a:lstStyle/>
          <a:p>
            <a:pPr algn="l"/>
            <a:r>
              <a:rPr sz="1200" b="1" i="0">
                <a:solidFill>
                  <a:srgbClr val="F5F7FA"/>
                </a:solidFill>
              </a:rPr>
              <a:t>CORPORATE HANDOVER</a:t>
            </a:r>
          </a:p>
        </p:txBody>
      </p:sp>
      <p:sp>
        <p:nvSpPr>
          <p:cNvPr id="38" name="Rectangle 37"/>
          <p:cNvSpPr/>
          <p:nvPr/>
        </p:nvSpPr>
        <p:spPr>
          <a:xfrm>
            <a:off x="9144000" y="2944368"/>
            <a:ext cx="2331720"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0" y="3035808"/>
            <a:ext cx="2423160" cy="3200400"/>
          </a:xfrm>
          <a:prstGeom prst="rect">
            <a:avLst/>
          </a:prstGeom>
          <a:noFill/>
        </p:spPr>
        <p:txBody>
          <a:bodyPr wrap="square">
            <a:spAutoFit/>
          </a:bodyPr>
          <a:lstStyle/>
          <a:p>
            <a:pPr algn="l"/>
            <a:r>
              <a:rPr sz="1000" b="0" i="0">
                <a:solidFill>
                  <a:srgbClr val="AAB4C6"/>
                </a:solidFill>
              </a:rPr>
              <a:t>Present fully validated TRL 5/6 hardware to Sona Comstar for direct integration into H13 forging dies and SRM stator prototypes.</a:t>
            </a:r>
          </a:p>
        </p:txBody>
      </p:sp>
      <p:sp>
        <p:nvSpPr>
          <p:cNvPr id="40" name="Rectangle 39"/>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42" name="TextBox 41"/>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THE RESEARCH LEADS</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THE RESEARCH LEADS</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Guided by Elite Academic and Scientific Expertise</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5577840" cy="5349240"/>
          </a:xfrm>
          <a:prstGeom prst="roundRect">
            <a:avLst>
              <a:gd name="adj" fmla="val 2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5577840"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36192"/>
            <a:ext cx="914400" cy="914400"/>
          </a:xfrm>
          <a:prstGeom prst="roundRect">
            <a:avLst>
              <a:gd name="adj" fmla="val 50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81912"/>
            <a:ext cx="877824" cy="777240"/>
          </a:xfrm>
          <a:prstGeom prst="rect">
            <a:avLst/>
          </a:prstGeom>
          <a:noFill/>
        </p:spPr>
        <p:txBody>
          <a:bodyPr wrap="square">
            <a:spAutoFit/>
          </a:bodyPr>
          <a:lstStyle/>
          <a:p>
            <a:pPr algn="ctr"/>
            <a:r>
              <a:rPr sz="2800" b="0" i="0">
                <a:solidFill>
                  <a:srgbClr val="00E5A0"/>
                </a:solidFill>
              </a:rPr>
              <a:t>👤</a:t>
            </a:r>
          </a:p>
        </p:txBody>
      </p:sp>
      <p:sp>
        <p:nvSpPr>
          <p:cNvPr id="10" name="TextBox 9"/>
          <p:cNvSpPr txBox="1"/>
          <p:nvPr/>
        </p:nvSpPr>
        <p:spPr>
          <a:xfrm>
            <a:off x="1664208" y="1572768"/>
            <a:ext cx="4206240" cy="411480"/>
          </a:xfrm>
          <a:prstGeom prst="rect">
            <a:avLst/>
          </a:prstGeom>
          <a:noFill/>
        </p:spPr>
        <p:txBody>
          <a:bodyPr wrap="square">
            <a:spAutoFit/>
          </a:bodyPr>
          <a:lstStyle/>
          <a:p>
            <a:pPr algn="l"/>
            <a:r>
              <a:rPr sz="1100" b="1" i="0">
                <a:solidFill>
                  <a:srgbClr val="F5F7FA"/>
                </a:solidFill>
              </a:rPr>
              <a:t>DR. SHILPA CHOUDHARY</a:t>
            </a:r>
          </a:p>
        </p:txBody>
      </p:sp>
      <p:sp>
        <p:nvSpPr>
          <p:cNvPr id="11" name="TextBox 10"/>
          <p:cNvSpPr txBox="1"/>
          <p:nvPr/>
        </p:nvSpPr>
        <p:spPr>
          <a:xfrm>
            <a:off x="1664208" y="1984248"/>
            <a:ext cx="4206240" cy="256032"/>
          </a:xfrm>
          <a:prstGeom prst="rect">
            <a:avLst/>
          </a:prstGeom>
          <a:noFill/>
        </p:spPr>
        <p:txBody>
          <a:bodyPr wrap="square">
            <a:spAutoFit/>
          </a:bodyPr>
          <a:lstStyle/>
          <a:p>
            <a:pPr algn="l"/>
            <a:r>
              <a:rPr sz="900" b="0" i="0">
                <a:solidFill>
                  <a:srgbClr val="00E5A0"/>
                </a:solidFill>
              </a:rPr>
              <a:t>AI / ML Lead</a:t>
            </a:r>
          </a:p>
        </p:txBody>
      </p:sp>
      <p:sp>
        <p:nvSpPr>
          <p:cNvPr id="12" name="Rectangle 11"/>
          <p:cNvSpPr/>
          <p:nvPr/>
        </p:nvSpPr>
        <p:spPr>
          <a:xfrm>
            <a:off x="640080" y="2542032"/>
            <a:ext cx="5212079"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633472"/>
            <a:ext cx="1371600" cy="228600"/>
          </a:xfrm>
          <a:prstGeom prst="rect">
            <a:avLst/>
          </a:prstGeom>
          <a:noFill/>
        </p:spPr>
        <p:txBody>
          <a:bodyPr wrap="square">
            <a:spAutoFit/>
          </a:bodyPr>
          <a:lstStyle/>
          <a:p>
            <a:pPr algn="l"/>
            <a:r>
              <a:rPr sz="900" b="1" i="0">
                <a:solidFill>
                  <a:srgbClr val="00E5A0"/>
                </a:solidFill>
              </a:rPr>
              <a:t>• Recognition:</a:t>
            </a:r>
          </a:p>
        </p:txBody>
      </p:sp>
      <p:sp>
        <p:nvSpPr>
          <p:cNvPr id="14" name="TextBox 13"/>
          <p:cNvSpPr txBox="1"/>
          <p:nvPr/>
        </p:nvSpPr>
        <p:spPr>
          <a:xfrm>
            <a:off x="2011680" y="2633472"/>
            <a:ext cx="3840479" cy="228600"/>
          </a:xfrm>
          <a:prstGeom prst="rect">
            <a:avLst/>
          </a:prstGeom>
          <a:noFill/>
        </p:spPr>
        <p:txBody>
          <a:bodyPr wrap="square">
            <a:spAutoFit/>
          </a:bodyPr>
          <a:lstStyle/>
          <a:p>
            <a:pPr algn="l"/>
            <a:r>
              <a:rPr sz="900" b="0" i="0">
                <a:solidFill>
                  <a:srgbClr val="AAB4C6"/>
                </a:solidFill>
              </a:rPr>
              <a:t>Top 2% Scientists Worldwide — Stanford University (2024)</a:t>
            </a:r>
          </a:p>
        </p:txBody>
      </p:sp>
      <p:sp>
        <p:nvSpPr>
          <p:cNvPr id="15" name="TextBox 14"/>
          <p:cNvSpPr txBox="1"/>
          <p:nvPr/>
        </p:nvSpPr>
        <p:spPr>
          <a:xfrm>
            <a:off x="640080" y="3136391"/>
            <a:ext cx="1371600" cy="228600"/>
          </a:xfrm>
          <a:prstGeom prst="rect">
            <a:avLst/>
          </a:prstGeom>
          <a:noFill/>
        </p:spPr>
        <p:txBody>
          <a:bodyPr wrap="square">
            <a:spAutoFit/>
          </a:bodyPr>
          <a:lstStyle/>
          <a:p>
            <a:pPr algn="l"/>
            <a:r>
              <a:rPr sz="900" b="1" i="0">
                <a:solidFill>
                  <a:srgbClr val="00E5A0"/>
                </a:solidFill>
              </a:rPr>
              <a:t>• Experience:</a:t>
            </a:r>
          </a:p>
        </p:txBody>
      </p:sp>
      <p:sp>
        <p:nvSpPr>
          <p:cNvPr id="16" name="TextBox 15"/>
          <p:cNvSpPr txBox="1"/>
          <p:nvPr/>
        </p:nvSpPr>
        <p:spPr>
          <a:xfrm>
            <a:off x="2011680" y="3136391"/>
            <a:ext cx="3840479" cy="228600"/>
          </a:xfrm>
          <a:prstGeom prst="rect">
            <a:avLst/>
          </a:prstGeom>
          <a:noFill/>
        </p:spPr>
        <p:txBody>
          <a:bodyPr wrap="square">
            <a:spAutoFit/>
          </a:bodyPr>
          <a:lstStyle/>
          <a:p>
            <a:pPr algn="l"/>
            <a:r>
              <a:rPr sz="900" b="0" i="0">
                <a:solidFill>
                  <a:srgbClr val="AAB4C6"/>
                </a:solidFill>
              </a:rPr>
              <a:t>16+ years in AI, Deep Learning &amp; AI-driven scientific applications</a:t>
            </a:r>
          </a:p>
        </p:txBody>
      </p:sp>
      <p:sp>
        <p:nvSpPr>
          <p:cNvPr id="17" name="TextBox 16"/>
          <p:cNvSpPr txBox="1"/>
          <p:nvPr/>
        </p:nvSpPr>
        <p:spPr>
          <a:xfrm>
            <a:off x="640080" y="3639311"/>
            <a:ext cx="1371600" cy="228600"/>
          </a:xfrm>
          <a:prstGeom prst="rect">
            <a:avLst/>
          </a:prstGeom>
          <a:noFill/>
        </p:spPr>
        <p:txBody>
          <a:bodyPr wrap="square">
            <a:spAutoFit/>
          </a:bodyPr>
          <a:lstStyle/>
          <a:p>
            <a:pPr algn="l"/>
            <a:r>
              <a:rPr sz="900" b="1" i="0">
                <a:solidFill>
                  <a:srgbClr val="00E5A0"/>
                </a:solidFill>
              </a:rPr>
              <a:t>• Postdoctoral:</a:t>
            </a:r>
          </a:p>
        </p:txBody>
      </p:sp>
      <p:sp>
        <p:nvSpPr>
          <p:cNvPr id="18" name="TextBox 17"/>
          <p:cNvSpPr txBox="1"/>
          <p:nvPr/>
        </p:nvSpPr>
        <p:spPr>
          <a:xfrm>
            <a:off x="2011680" y="3639311"/>
            <a:ext cx="3840479" cy="228600"/>
          </a:xfrm>
          <a:prstGeom prst="rect">
            <a:avLst/>
          </a:prstGeom>
          <a:noFill/>
        </p:spPr>
        <p:txBody>
          <a:bodyPr wrap="square">
            <a:spAutoFit/>
          </a:bodyPr>
          <a:lstStyle/>
          <a:p>
            <a:pPr algn="l"/>
            <a:r>
              <a:rPr sz="900" b="0" i="0">
                <a:solidFill>
                  <a:srgbClr val="AAB4C6"/>
                </a:solidFill>
              </a:rPr>
              <a:t>Singapore Institute of Technology &amp; National Kaohsiung University of Science and Technology (Taiwan)</a:t>
            </a:r>
          </a:p>
        </p:txBody>
      </p:sp>
      <p:sp>
        <p:nvSpPr>
          <p:cNvPr id="19" name="TextBox 18"/>
          <p:cNvSpPr txBox="1"/>
          <p:nvPr/>
        </p:nvSpPr>
        <p:spPr>
          <a:xfrm>
            <a:off x="640080" y="4142231"/>
            <a:ext cx="1371600" cy="228600"/>
          </a:xfrm>
          <a:prstGeom prst="rect">
            <a:avLst/>
          </a:prstGeom>
          <a:noFill/>
        </p:spPr>
        <p:txBody>
          <a:bodyPr wrap="square">
            <a:spAutoFit/>
          </a:bodyPr>
          <a:lstStyle/>
          <a:p>
            <a:pPr algn="l"/>
            <a:r>
              <a:rPr sz="900" b="1" i="0">
                <a:solidFill>
                  <a:srgbClr val="00E5A0"/>
                </a:solidFill>
              </a:rPr>
              <a:t>• Output:</a:t>
            </a:r>
          </a:p>
        </p:txBody>
      </p:sp>
      <p:sp>
        <p:nvSpPr>
          <p:cNvPr id="20" name="TextBox 19"/>
          <p:cNvSpPr txBox="1"/>
          <p:nvPr/>
        </p:nvSpPr>
        <p:spPr>
          <a:xfrm>
            <a:off x="2011680" y="4142231"/>
            <a:ext cx="3840479" cy="228600"/>
          </a:xfrm>
          <a:prstGeom prst="rect">
            <a:avLst/>
          </a:prstGeom>
          <a:noFill/>
        </p:spPr>
        <p:txBody>
          <a:bodyPr wrap="square">
            <a:spAutoFit/>
          </a:bodyPr>
          <a:lstStyle/>
          <a:p>
            <a:pPr algn="l"/>
            <a:r>
              <a:rPr sz="900" b="0" i="0">
                <a:solidFill>
                  <a:srgbClr val="AAB4C6"/>
                </a:solidFill>
              </a:rPr>
              <a:t>100+ research papers | 1763 citations | H-index 22 | 12 academic books | Multiple patents</a:t>
            </a:r>
          </a:p>
        </p:txBody>
      </p:sp>
      <p:sp>
        <p:nvSpPr>
          <p:cNvPr id="21" name="TextBox 20"/>
          <p:cNvSpPr txBox="1"/>
          <p:nvPr/>
        </p:nvSpPr>
        <p:spPr>
          <a:xfrm>
            <a:off x="640080" y="4645151"/>
            <a:ext cx="1371600" cy="228600"/>
          </a:xfrm>
          <a:prstGeom prst="rect">
            <a:avLst/>
          </a:prstGeom>
          <a:noFill/>
        </p:spPr>
        <p:txBody>
          <a:bodyPr wrap="square">
            <a:spAutoFit/>
          </a:bodyPr>
          <a:lstStyle/>
          <a:p>
            <a:pPr algn="l"/>
            <a:r>
              <a:rPr sz="900" b="1" i="0">
                <a:solidFill>
                  <a:srgbClr val="00E5A0"/>
                </a:solidFill>
              </a:rPr>
              <a:t>• At Crystal Paradigm:</a:t>
            </a:r>
          </a:p>
        </p:txBody>
      </p:sp>
      <p:sp>
        <p:nvSpPr>
          <p:cNvPr id="22" name="TextBox 21"/>
          <p:cNvSpPr txBox="1"/>
          <p:nvPr/>
        </p:nvSpPr>
        <p:spPr>
          <a:xfrm>
            <a:off x="2011680" y="4645151"/>
            <a:ext cx="3840479" cy="228600"/>
          </a:xfrm>
          <a:prstGeom prst="rect">
            <a:avLst/>
          </a:prstGeom>
          <a:noFill/>
        </p:spPr>
        <p:txBody>
          <a:bodyPr wrap="square">
            <a:spAutoFit/>
          </a:bodyPr>
          <a:lstStyle/>
          <a:p>
            <a:pPr algn="l"/>
            <a:r>
              <a:rPr sz="900" b="0" i="0">
                <a:solidFill>
                  <a:srgbClr val="AAB4C6"/>
                </a:solidFill>
              </a:rPr>
              <a:t>Leads AI innovation, ML Architecture, Constrained Optimization &amp; Surrogate Model Design</a:t>
            </a:r>
          </a:p>
        </p:txBody>
      </p:sp>
      <p:sp>
        <p:nvSpPr>
          <p:cNvPr id="23" name="Rectangle 22"/>
          <p:cNvSpPr/>
          <p:nvPr/>
        </p:nvSpPr>
        <p:spPr>
          <a:xfrm>
            <a:off x="6153912" y="1417320"/>
            <a:ext cx="5577840" cy="5349240"/>
          </a:xfrm>
          <a:prstGeom prst="roundRect">
            <a:avLst>
              <a:gd name="adj" fmla="val 2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3912" y="1417320"/>
            <a:ext cx="5577840" cy="4572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36792" y="1536192"/>
            <a:ext cx="914400" cy="914400"/>
          </a:xfrm>
          <a:prstGeom prst="roundRect">
            <a:avLst>
              <a:gd name="adj" fmla="val 50000"/>
            </a:avLst>
          </a:prstGeom>
          <a:solidFill>
            <a:srgbClr val="0D132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79" y="1581912"/>
            <a:ext cx="877824" cy="777240"/>
          </a:xfrm>
          <a:prstGeom prst="rect">
            <a:avLst/>
          </a:prstGeom>
          <a:noFill/>
        </p:spPr>
        <p:txBody>
          <a:bodyPr wrap="square">
            <a:spAutoFit/>
          </a:bodyPr>
          <a:lstStyle/>
          <a:p>
            <a:pPr algn="ctr"/>
            <a:r>
              <a:rPr sz="2800" b="0" i="0">
                <a:solidFill>
                  <a:srgbClr val="F5A623"/>
                </a:solidFill>
              </a:rPr>
              <a:t>👤</a:t>
            </a:r>
          </a:p>
        </p:txBody>
      </p:sp>
      <p:sp>
        <p:nvSpPr>
          <p:cNvPr id="27" name="TextBox 26"/>
          <p:cNvSpPr txBox="1"/>
          <p:nvPr/>
        </p:nvSpPr>
        <p:spPr>
          <a:xfrm>
            <a:off x="7360919" y="1572768"/>
            <a:ext cx="4206240" cy="411480"/>
          </a:xfrm>
          <a:prstGeom prst="rect">
            <a:avLst/>
          </a:prstGeom>
          <a:noFill/>
        </p:spPr>
        <p:txBody>
          <a:bodyPr wrap="square">
            <a:spAutoFit/>
          </a:bodyPr>
          <a:lstStyle/>
          <a:p>
            <a:pPr algn="l"/>
            <a:r>
              <a:rPr sz="1100" b="1" i="0">
                <a:solidFill>
                  <a:srgbClr val="F5F7FA"/>
                </a:solidFill>
              </a:rPr>
              <a:t>DR. KASARAPU VENKATARAMANA</a:t>
            </a:r>
          </a:p>
        </p:txBody>
      </p:sp>
      <p:sp>
        <p:nvSpPr>
          <p:cNvPr id="28" name="TextBox 27"/>
          <p:cNvSpPr txBox="1"/>
          <p:nvPr/>
        </p:nvSpPr>
        <p:spPr>
          <a:xfrm>
            <a:off x="7360919" y="1984248"/>
            <a:ext cx="4206240" cy="256032"/>
          </a:xfrm>
          <a:prstGeom prst="rect">
            <a:avLst/>
          </a:prstGeom>
          <a:noFill/>
        </p:spPr>
        <p:txBody>
          <a:bodyPr wrap="square">
            <a:spAutoFit/>
          </a:bodyPr>
          <a:lstStyle/>
          <a:p>
            <a:pPr algn="l"/>
            <a:r>
              <a:rPr sz="900" b="0" i="0">
                <a:solidFill>
                  <a:srgbClr val="F5A623"/>
                </a:solidFill>
              </a:rPr>
              <a:t>Materials Science &amp; Experimental Validation Lead</a:t>
            </a:r>
          </a:p>
        </p:txBody>
      </p:sp>
      <p:sp>
        <p:nvSpPr>
          <p:cNvPr id="29" name="Rectangle 28"/>
          <p:cNvSpPr/>
          <p:nvPr/>
        </p:nvSpPr>
        <p:spPr>
          <a:xfrm>
            <a:off x="6336792" y="2542032"/>
            <a:ext cx="5212079"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6792" y="2633472"/>
            <a:ext cx="1371600" cy="228600"/>
          </a:xfrm>
          <a:prstGeom prst="rect">
            <a:avLst/>
          </a:prstGeom>
          <a:noFill/>
        </p:spPr>
        <p:txBody>
          <a:bodyPr wrap="square">
            <a:spAutoFit/>
          </a:bodyPr>
          <a:lstStyle/>
          <a:p>
            <a:pPr algn="l"/>
            <a:r>
              <a:rPr sz="900" b="1" i="0">
                <a:solidFill>
                  <a:srgbClr val="F5A623"/>
                </a:solidFill>
              </a:rPr>
              <a:t>• Position:</a:t>
            </a:r>
          </a:p>
        </p:txBody>
      </p:sp>
      <p:sp>
        <p:nvSpPr>
          <p:cNvPr id="31" name="TextBox 30"/>
          <p:cNvSpPr txBox="1"/>
          <p:nvPr/>
        </p:nvSpPr>
        <p:spPr>
          <a:xfrm>
            <a:off x="7708392" y="2633472"/>
            <a:ext cx="3840479" cy="228600"/>
          </a:xfrm>
          <a:prstGeom prst="rect">
            <a:avLst/>
          </a:prstGeom>
          <a:noFill/>
        </p:spPr>
        <p:txBody>
          <a:bodyPr wrap="square">
            <a:spAutoFit/>
          </a:bodyPr>
          <a:lstStyle/>
          <a:p>
            <a:pPr algn="l"/>
            <a:r>
              <a:rPr sz="900" b="0" i="0">
                <a:solidFill>
                  <a:srgbClr val="AAB4C6"/>
                </a:solidFill>
              </a:rPr>
              <a:t>Research Associate at CSIR-IICT — DRDO sponsored project</a:t>
            </a:r>
          </a:p>
        </p:txBody>
      </p:sp>
      <p:sp>
        <p:nvSpPr>
          <p:cNvPr id="32" name="TextBox 31"/>
          <p:cNvSpPr txBox="1"/>
          <p:nvPr/>
        </p:nvSpPr>
        <p:spPr>
          <a:xfrm>
            <a:off x="6336792" y="3136391"/>
            <a:ext cx="1371600" cy="228600"/>
          </a:xfrm>
          <a:prstGeom prst="rect">
            <a:avLst/>
          </a:prstGeom>
          <a:noFill/>
        </p:spPr>
        <p:txBody>
          <a:bodyPr wrap="square">
            <a:spAutoFit/>
          </a:bodyPr>
          <a:lstStyle/>
          <a:p>
            <a:pPr algn="l"/>
            <a:r>
              <a:rPr sz="900" b="1" i="0">
                <a:solidFill>
                  <a:srgbClr val="F5A623"/>
                </a:solidFill>
              </a:rPr>
              <a:t>• Recognition:</a:t>
            </a:r>
          </a:p>
        </p:txBody>
      </p:sp>
      <p:sp>
        <p:nvSpPr>
          <p:cNvPr id="33" name="TextBox 32"/>
          <p:cNvSpPr txBox="1"/>
          <p:nvPr/>
        </p:nvSpPr>
        <p:spPr>
          <a:xfrm>
            <a:off x="7708392" y="3136391"/>
            <a:ext cx="3840479" cy="228600"/>
          </a:xfrm>
          <a:prstGeom prst="rect">
            <a:avLst/>
          </a:prstGeom>
          <a:noFill/>
        </p:spPr>
        <p:txBody>
          <a:bodyPr wrap="square">
            <a:spAutoFit/>
          </a:bodyPr>
          <a:lstStyle/>
          <a:p>
            <a:pPr algn="l"/>
            <a:r>
              <a:rPr sz="900" b="0" i="0">
                <a:solidFill>
                  <a:srgbClr val="AAB4C6"/>
                </a:solidFill>
              </a:rPr>
              <a:t>Associate Fellow, Telangana Academy of Sciences (2024)</a:t>
            </a:r>
          </a:p>
        </p:txBody>
      </p:sp>
      <p:sp>
        <p:nvSpPr>
          <p:cNvPr id="34" name="TextBox 33"/>
          <p:cNvSpPr txBox="1"/>
          <p:nvPr/>
        </p:nvSpPr>
        <p:spPr>
          <a:xfrm>
            <a:off x="6336792" y="3639311"/>
            <a:ext cx="1371600" cy="228600"/>
          </a:xfrm>
          <a:prstGeom prst="rect">
            <a:avLst/>
          </a:prstGeom>
          <a:noFill/>
        </p:spPr>
        <p:txBody>
          <a:bodyPr wrap="square">
            <a:spAutoFit/>
          </a:bodyPr>
          <a:lstStyle/>
          <a:p>
            <a:pPr algn="l"/>
            <a:r>
              <a:rPr sz="900" b="1" i="0">
                <a:solidFill>
                  <a:srgbClr val="F5A623"/>
                </a:solidFill>
              </a:rPr>
              <a:t>• Experience:</a:t>
            </a:r>
          </a:p>
        </p:txBody>
      </p:sp>
      <p:sp>
        <p:nvSpPr>
          <p:cNvPr id="35" name="TextBox 34"/>
          <p:cNvSpPr txBox="1"/>
          <p:nvPr/>
        </p:nvSpPr>
        <p:spPr>
          <a:xfrm>
            <a:off x="7708392" y="3639311"/>
            <a:ext cx="3840479" cy="228600"/>
          </a:xfrm>
          <a:prstGeom prst="rect">
            <a:avLst/>
          </a:prstGeom>
          <a:noFill/>
        </p:spPr>
        <p:txBody>
          <a:bodyPr wrap="square">
            <a:spAutoFit/>
          </a:bodyPr>
          <a:lstStyle/>
          <a:p>
            <a:pPr algn="l"/>
            <a:r>
              <a:rPr sz="900" b="0" i="0">
                <a:solidFill>
                  <a:srgbClr val="AAB4C6"/>
                </a:solidFill>
              </a:rPr>
              <a:t>12 years research + 5 years academic teaching</a:t>
            </a:r>
          </a:p>
        </p:txBody>
      </p:sp>
      <p:sp>
        <p:nvSpPr>
          <p:cNvPr id="36" name="TextBox 35"/>
          <p:cNvSpPr txBox="1"/>
          <p:nvPr/>
        </p:nvSpPr>
        <p:spPr>
          <a:xfrm>
            <a:off x="6336792" y="4142231"/>
            <a:ext cx="1371600" cy="228600"/>
          </a:xfrm>
          <a:prstGeom prst="rect">
            <a:avLst/>
          </a:prstGeom>
          <a:noFill/>
        </p:spPr>
        <p:txBody>
          <a:bodyPr wrap="square">
            <a:spAutoFit/>
          </a:bodyPr>
          <a:lstStyle/>
          <a:p>
            <a:pPr algn="l"/>
            <a:r>
              <a:rPr sz="900" b="1" i="0">
                <a:solidFill>
                  <a:srgbClr val="F5A623"/>
                </a:solidFill>
              </a:rPr>
              <a:t>• Output:</a:t>
            </a:r>
          </a:p>
        </p:txBody>
      </p:sp>
      <p:sp>
        <p:nvSpPr>
          <p:cNvPr id="37" name="TextBox 36"/>
          <p:cNvSpPr txBox="1"/>
          <p:nvPr/>
        </p:nvSpPr>
        <p:spPr>
          <a:xfrm>
            <a:off x="7708392" y="4142231"/>
            <a:ext cx="3840479" cy="228600"/>
          </a:xfrm>
          <a:prstGeom prst="rect">
            <a:avLst/>
          </a:prstGeom>
          <a:noFill/>
        </p:spPr>
        <p:txBody>
          <a:bodyPr wrap="square">
            <a:spAutoFit/>
          </a:bodyPr>
          <a:lstStyle/>
          <a:p>
            <a:pPr algn="l"/>
            <a:r>
              <a:rPr sz="900" b="0" i="0">
                <a:solidFill>
                  <a:srgbClr val="AAB4C6"/>
                </a:solidFill>
              </a:rPr>
              <a:t>38 publications | 610+ citations | H-index 14 | 2 book chapters | Reviewer: Elsevier, Springer, Taylor &amp; Francis</a:t>
            </a:r>
          </a:p>
        </p:txBody>
      </p:sp>
      <p:sp>
        <p:nvSpPr>
          <p:cNvPr id="38" name="TextBox 37"/>
          <p:cNvSpPr txBox="1"/>
          <p:nvPr/>
        </p:nvSpPr>
        <p:spPr>
          <a:xfrm>
            <a:off x="6336792" y="4645151"/>
            <a:ext cx="1371600" cy="228600"/>
          </a:xfrm>
          <a:prstGeom prst="rect">
            <a:avLst/>
          </a:prstGeom>
          <a:noFill/>
        </p:spPr>
        <p:txBody>
          <a:bodyPr wrap="square">
            <a:spAutoFit/>
          </a:bodyPr>
          <a:lstStyle/>
          <a:p>
            <a:pPr algn="l"/>
            <a:r>
              <a:rPr sz="900" b="1" i="0">
                <a:solidFill>
                  <a:srgbClr val="F5A623"/>
                </a:solidFill>
              </a:rPr>
              <a:t>• Specialization:</a:t>
            </a:r>
          </a:p>
        </p:txBody>
      </p:sp>
      <p:sp>
        <p:nvSpPr>
          <p:cNvPr id="39" name="TextBox 38"/>
          <p:cNvSpPr txBox="1"/>
          <p:nvPr/>
        </p:nvSpPr>
        <p:spPr>
          <a:xfrm>
            <a:off x="7708392" y="4645151"/>
            <a:ext cx="3840479" cy="228600"/>
          </a:xfrm>
          <a:prstGeom prst="rect">
            <a:avLst/>
          </a:prstGeom>
          <a:noFill/>
        </p:spPr>
        <p:txBody>
          <a:bodyPr wrap="square">
            <a:spAutoFit/>
          </a:bodyPr>
          <a:lstStyle/>
          <a:p>
            <a:pPr algn="l"/>
            <a:r>
              <a:rPr sz="900" b="0" i="0">
                <a:solidFill>
                  <a:srgbClr val="AAB4C6"/>
                </a:solidFill>
              </a:rPr>
              <a:t>High Entropy Oxides, XRD, SEM/EDS, advanced materials characterization</a:t>
            </a:r>
          </a:p>
        </p:txBody>
      </p:sp>
      <p:sp>
        <p:nvSpPr>
          <p:cNvPr id="40" name="Rectangle 39"/>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42" name="TextBox 41"/>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TextBox 1"/>
          <p:cNvSpPr txBox="1"/>
          <p:nvPr/>
        </p:nvSpPr>
        <p:spPr>
          <a:xfrm>
            <a:off x="457200" y="256032"/>
            <a:ext cx="2743200" cy="228600"/>
          </a:xfrm>
          <a:prstGeom prst="rect">
            <a:avLst/>
          </a:prstGeom>
          <a:noFill/>
        </p:spPr>
        <p:txBody>
          <a:bodyPr wrap="square">
            <a:spAutoFit/>
          </a:bodyPr>
          <a:lstStyle/>
          <a:p>
            <a:pPr algn="l"/>
            <a:r>
              <a:rPr sz="800" b="1" i="0">
                <a:solidFill>
                  <a:srgbClr val="00E5A0"/>
                </a:solidFill>
              </a:rPr>
              <a:t>THE AI ENGINEERING ENGINE</a:t>
            </a:r>
          </a:p>
        </p:txBody>
      </p:sp>
      <p:sp>
        <p:nvSpPr>
          <p:cNvPr id="3" name="TextBox 2"/>
          <p:cNvSpPr txBox="1"/>
          <p:nvPr/>
        </p:nvSpPr>
        <p:spPr>
          <a:xfrm>
            <a:off x="457200" y="502920"/>
            <a:ext cx="10972800" cy="365760"/>
          </a:xfrm>
          <a:prstGeom prst="rect">
            <a:avLst/>
          </a:prstGeom>
          <a:noFill/>
        </p:spPr>
        <p:txBody>
          <a:bodyPr wrap="square">
            <a:spAutoFit/>
          </a:bodyPr>
          <a:lstStyle/>
          <a:p>
            <a:pPr algn="l"/>
            <a:r>
              <a:rPr sz="1800" b="1" i="0">
                <a:solidFill>
                  <a:srgbClr val="F5F7FA"/>
                </a:solidFill>
              </a:rPr>
              <a:t>THE CORE AI ARCHITECTS</a:t>
            </a:r>
          </a:p>
        </p:txBody>
      </p:sp>
      <p:sp>
        <p:nvSpPr>
          <p:cNvPr id="4" name="TextBox 3"/>
          <p:cNvSpPr txBox="1"/>
          <p:nvPr/>
        </p:nvSpPr>
        <p:spPr>
          <a:xfrm>
            <a:off x="457200" y="850392"/>
            <a:ext cx="9144000" cy="292608"/>
          </a:xfrm>
          <a:prstGeom prst="rect">
            <a:avLst/>
          </a:prstGeom>
          <a:noFill/>
        </p:spPr>
        <p:txBody>
          <a:bodyPr wrap="square">
            <a:spAutoFit/>
          </a:bodyPr>
          <a:lstStyle/>
          <a:p>
            <a:pPr algn="l"/>
            <a:r>
              <a:rPr sz="1300" b="1" i="0">
                <a:solidFill>
                  <a:srgbClr val="00E5A0"/>
                </a:solidFill>
              </a:rPr>
              <a:t>The Prodigious Engine Driving the Day-to-Day AI Innovation</a:t>
            </a:r>
          </a:p>
        </p:txBody>
      </p:sp>
      <p:sp>
        <p:nvSpPr>
          <p:cNvPr id="5" name="Rectangle 4"/>
          <p:cNvSpPr/>
          <p:nvPr/>
        </p:nvSpPr>
        <p:spPr>
          <a:xfrm>
            <a:off x="457200" y="1124712"/>
            <a:ext cx="22860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5577840" cy="4206240"/>
          </a:xfrm>
          <a:prstGeom prst="roundRect">
            <a:avLst>
              <a:gd name="adj" fmla="val 20000"/>
            </a:avLst>
          </a:prstGeom>
          <a:solidFill>
            <a:srgbClr val="1E2745"/>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5577840" cy="45720"/>
          </a:xfrm>
          <a:prstGeom prst="roundRect">
            <a:avLst>
              <a:gd name="adj" fmla="val 2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36192"/>
            <a:ext cx="914400" cy="914400"/>
          </a:xfrm>
          <a:prstGeom prst="roundRect">
            <a:avLst>
              <a:gd name="adj" fmla="val 50000"/>
            </a:avLst>
          </a:prstGeom>
          <a:solidFill>
            <a:srgbClr val="0D1328"/>
          </a:solidFill>
          <a:ln w="9525">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81912"/>
            <a:ext cx="877824" cy="777240"/>
          </a:xfrm>
          <a:prstGeom prst="rect">
            <a:avLst/>
          </a:prstGeom>
          <a:noFill/>
        </p:spPr>
        <p:txBody>
          <a:bodyPr wrap="square">
            <a:spAutoFit/>
          </a:bodyPr>
          <a:lstStyle/>
          <a:p>
            <a:pPr algn="ctr"/>
            <a:r>
              <a:rPr sz="2800" b="0" i="0">
                <a:solidFill>
                  <a:srgbClr val="00E5A0"/>
                </a:solidFill>
              </a:rPr>
              <a:t>👤</a:t>
            </a:r>
          </a:p>
        </p:txBody>
      </p:sp>
      <p:sp>
        <p:nvSpPr>
          <p:cNvPr id="10" name="TextBox 9"/>
          <p:cNvSpPr txBox="1"/>
          <p:nvPr/>
        </p:nvSpPr>
        <p:spPr>
          <a:xfrm>
            <a:off x="1664208" y="1572768"/>
            <a:ext cx="4206240" cy="411480"/>
          </a:xfrm>
          <a:prstGeom prst="rect">
            <a:avLst/>
          </a:prstGeom>
          <a:noFill/>
        </p:spPr>
        <p:txBody>
          <a:bodyPr wrap="square">
            <a:spAutoFit/>
          </a:bodyPr>
          <a:lstStyle/>
          <a:p>
            <a:pPr algn="l"/>
            <a:r>
              <a:rPr sz="1100" b="1" i="0">
                <a:solidFill>
                  <a:srgbClr val="F5F7FA"/>
                </a:solidFill>
              </a:rPr>
              <a:t>MOHAMMED AHMED RAZA</a:t>
            </a:r>
          </a:p>
        </p:txBody>
      </p:sp>
      <p:sp>
        <p:nvSpPr>
          <p:cNvPr id="11" name="TextBox 10"/>
          <p:cNvSpPr txBox="1"/>
          <p:nvPr/>
        </p:nvSpPr>
        <p:spPr>
          <a:xfrm>
            <a:off x="1664208" y="1984248"/>
            <a:ext cx="4206240" cy="256032"/>
          </a:xfrm>
          <a:prstGeom prst="rect">
            <a:avLst/>
          </a:prstGeom>
          <a:noFill/>
        </p:spPr>
        <p:txBody>
          <a:bodyPr wrap="square">
            <a:spAutoFit/>
          </a:bodyPr>
          <a:lstStyle/>
          <a:p>
            <a:pPr algn="l"/>
            <a:r>
              <a:rPr sz="900" b="0" i="0">
                <a:solidFill>
                  <a:srgbClr val="00E5A0"/>
                </a:solidFill>
              </a:rPr>
              <a:t>AI Research Intern</a:t>
            </a:r>
          </a:p>
        </p:txBody>
      </p:sp>
      <p:sp>
        <p:nvSpPr>
          <p:cNvPr id="12" name="Rectangle 11"/>
          <p:cNvSpPr/>
          <p:nvPr/>
        </p:nvSpPr>
        <p:spPr>
          <a:xfrm>
            <a:off x="640080" y="2487168"/>
            <a:ext cx="5212079"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78608"/>
            <a:ext cx="1417320" cy="228600"/>
          </a:xfrm>
          <a:prstGeom prst="rect">
            <a:avLst/>
          </a:prstGeom>
          <a:noFill/>
        </p:spPr>
        <p:txBody>
          <a:bodyPr wrap="square">
            <a:spAutoFit/>
          </a:bodyPr>
          <a:lstStyle/>
          <a:p>
            <a:pPr algn="l"/>
            <a:r>
              <a:rPr sz="900" b="1" i="0">
                <a:solidFill>
                  <a:srgbClr val="00E5A0"/>
                </a:solidFill>
              </a:rPr>
              <a:t>• Education:</a:t>
            </a:r>
          </a:p>
        </p:txBody>
      </p:sp>
      <p:sp>
        <p:nvSpPr>
          <p:cNvPr id="14" name="TextBox 13"/>
          <p:cNvSpPr txBox="1"/>
          <p:nvPr/>
        </p:nvSpPr>
        <p:spPr>
          <a:xfrm>
            <a:off x="2057400" y="2578608"/>
            <a:ext cx="3794759" cy="228600"/>
          </a:xfrm>
          <a:prstGeom prst="rect">
            <a:avLst/>
          </a:prstGeom>
          <a:noFill/>
        </p:spPr>
        <p:txBody>
          <a:bodyPr wrap="square">
            <a:spAutoFit/>
          </a:bodyPr>
          <a:lstStyle/>
          <a:p>
            <a:pPr algn="l"/>
            <a:r>
              <a:rPr sz="900" b="0" i="0">
                <a:solidFill>
                  <a:srgbClr val="AAB4C6"/>
                </a:solidFill>
              </a:rPr>
              <a:t>CSE — Neil Gogte Institute of Technology (NGIT)</a:t>
            </a:r>
          </a:p>
        </p:txBody>
      </p:sp>
      <p:sp>
        <p:nvSpPr>
          <p:cNvPr id="15" name="TextBox 14"/>
          <p:cNvSpPr txBox="1"/>
          <p:nvPr/>
        </p:nvSpPr>
        <p:spPr>
          <a:xfrm>
            <a:off x="640080" y="3035808"/>
            <a:ext cx="1417320" cy="228600"/>
          </a:xfrm>
          <a:prstGeom prst="rect">
            <a:avLst/>
          </a:prstGeom>
          <a:noFill/>
        </p:spPr>
        <p:txBody>
          <a:bodyPr wrap="square">
            <a:spAutoFit/>
          </a:bodyPr>
          <a:lstStyle/>
          <a:p>
            <a:pPr algn="l"/>
            <a:r>
              <a:rPr sz="900" b="1" i="0">
                <a:solidFill>
                  <a:srgbClr val="00E5A0"/>
                </a:solidFill>
              </a:rPr>
              <a:t>• Certification:</a:t>
            </a:r>
          </a:p>
        </p:txBody>
      </p:sp>
      <p:sp>
        <p:nvSpPr>
          <p:cNvPr id="16" name="TextBox 15"/>
          <p:cNvSpPr txBox="1"/>
          <p:nvPr/>
        </p:nvSpPr>
        <p:spPr>
          <a:xfrm>
            <a:off x="2057400" y="3035808"/>
            <a:ext cx="3794759" cy="228600"/>
          </a:xfrm>
          <a:prstGeom prst="rect">
            <a:avLst/>
          </a:prstGeom>
          <a:noFill/>
        </p:spPr>
        <p:txBody>
          <a:bodyPr wrap="square">
            <a:spAutoFit/>
          </a:bodyPr>
          <a:lstStyle/>
          <a:p>
            <a:pPr algn="l"/>
            <a:r>
              <a:rPr sz="900" b="0" i="0">
                <a:solidFill>
                  <a:srgbClr val="AAB4C6"/>
                </a:solidFill>
              </a:rPr>
              <a:t>Certified AI/ML Professional — iHub-Data, IIIT Hyderabad</a:t>
            </a:r>
          </a:p>
        </p:txBody>
      </p:sp>
      <p:sp>
        <p:nvSpPr>
          <p:cNvPr id="17" name="TextBox 16"/>
          <p:cNvSpPr txBox="1"/>
          <p:nvPr/>
        </p:nvSpPr>
        <p:spPr>
          <a:xfrm>
            <a:off x="640080" y="3493008"/>
            <a:ext cx="1417320" cy="228600"/>
          </a:xfrm>
          <a:prstGeom prst="rect">
            <a:avLst/>
          </a:prstGeom>
          <a:noFill/>
        </p:spPr>
        <p:txBody>
          <a:bodyPr wrap="square">
            <a:spAutoFit/>
          </a:bodyPr>
          <a:lstStyle/>
          <a:p>
            <a:pPr algn="l"/>
            <a:r>
              <a:rPr sz="900" b="1" i="0">
                <a:solidFill>
                  <a:srgbClr val="00E5A0"/>
                </a:solidFill>
              </a:rPr>
              <a:t>• Research Internship:</a:t>
            </a:r>
          </a:p>
        </p:txBody>
      </p:sp>
      <p:sp>
        <p:nvSpPr>
          <p:cNvPr id="18" name="TextBox 17"/>
          <p:cNvSpPr txBox="1"/>
          <p:nvPr/>
        </p:nvSpPr>
        <p:spPr>
          <a:xfrm>
            <a:off x="2057400" y="3493008"/>
            <a:ext cx="3794759" cy="228600"/>
          </a:xfrm>
          <a:prstGeom prst="rect">
            <a:avLst/>
          </a:prstGeom>
          <a:noFill/>
        </p:spPr>
        <p:txBody>
          <a:bodyPr wrap="square">
            <a:spAutoFit/>
          </a:bodyPr>
          <a:lstStyle/>
          <a:p>
            <a:pPr algn="l"/>
            <a:r>
              <a:rPr sz="900" b="0" i="0">
                <a:solidFill>
                  <a:srgbClr val="AAB4C6"/>
                </a:solidFill>
              </a:rPr>
              <a:t>Winter Intern at IIIT Hyderabad — UAV spatial awareness &amp; obstacle detection</a:t>
            </a:r>
          </a:p>
        </p:txBody>
      </p:sp>
      <p:sp>
        <p:nvSpPr>
          <p:cNvPr id="19" name="TextBox 18"/>
          <p:cNvSpPr txBox="1"/>
          <p:nvPr/>
        </p:nvSpPr>
        <p:spPr>
          <a:xfrm>
            <a:off x="640080" y="3950208"/>
            <a:ext cx="1417320" cy="228600"/>
          </a:xfrm>
          <a:prstGeom prst="rect">
            <a:avLst/>
          </a:prstGeom>
          <a:noFill/>
        </p:spPr>
        <p:txBody>
          <a:bodyPr wrap="square">
            <a:spAutoFit/>
          </a:bodyPr>
          <a:lstStyle/>
          <a:p>
            <a:pPr algn="l"/>
            <a:r>
              <a:rPr sz="900" b="1" i="0">
                <a:solidFill>
                  <a:srgbClr val="00E5A0"/>
                </a:solidFill>
              </a:rPr>
              <a:t>• Current Role:</a:t>
            </a:r>
          </a:p>
        </p:txBody>
      </p:sp>
      <p:sp>
        <p:nvSpPr>
          <p:cNvPr id="20" name="TextBox 19"/>
          <p:cNvSpPr txBox="1"/>
          <p:nvPr/>
        </p:nvSpPr>
        <p:spPr>
          <a:xfrm>
            <a:off x="2057400" y="3950208"/>
            <a:ext cx="3794759" cy="228600"/>
          </a:xfrm>
          <a:prstGeom prst="rect">
            <a:avLst/>
          </a:prstGeom>
          <a:noFill/>
        </p:spPr>
        <p:txBody>
          <a:bodyPr wrap="square">
            <a:spAutoFit/>
          </a:bodyPr>
          <a:lstStyle/>
          <a:p>
            <a:pPr algn="l"/>
            <a:r>
              <a:rPr sz="900" b="0" i="0">
                <a:solidFill>
                  <a:srgbClr val="AAB4C6"/>
                </a:solidFill>
              </a:rPr>
              <a:t>AI Research Intern at Crystal Paradigm — inverse design frameworks for HE-MCGA</a:t>
            </a:r>
          </a:p>
        </p:txBody>
      </p:sp>
      <p:sp>
        <p:nvSpPr>
          <p:cNvPr id="21" name="TextBox 20"/>
          <p:cNvSpPr txBox="1"/>
          <p:nvPr/>
        </p:nvSpPr>
        <p:spPr>
          <a:xfrm>
            <a:off x="640080" y="4407408"/>
            <a:ext cx="1417320" cy="228600"/>
          </a:xfrm>
          <a:prstGeom prst="rect">
            <a:avLst/>
          </a:prstGeom>
          <a:noFill/>
        </p:spPr>
        <p:txBody>
          <a:bodyPr wrap="square">
            <a:spAutoFit/>
          </a:bodyPr>
          <a:lstStyle/>
          <a:p>
            <a:pPr algn="l"/>
            <a:r>
              <a:rPr sz="900" b="1" i="0">
                <a:solidFill>
                  <a:srgbClr val="00E5A0"/>
                </a:solidFill>
              </a:rPr>
              <a:t>• Recent Work:</a:t>
            </a:r>
          </a:p>
        </p:txBody>
      </p:sp>
      <p:sp>
        <p:nvSpPr>
          <p:cNvPr id="22" name="TextBox 21"/>
          <p:cNvSpPr txBox="1"/>
          <p:nvPr/>
        </p:nvSpPr>
        <p:spPr>
          <a:xfrm>
            <a:off x="2057400" y="4407408"/>
            <a:ext cx="3794759" cy="228600"/>
          </a:xfrm>
          <a:prstGeom prst="rect">
            <a:avLst/>
          </a:prstGeom>
          <a:noFill/>
        </p:spPr>
        <p:txBody>
          <a:bodyPr wrap="square">
            <a:spAutoFit/>
          </a:bodyPr>
          <a:lstStyle/>
          <a:p>
            <a:pPr algn="l"/>
            <a:r>
              <a:rPr sz="900" b="0" i="0">
                <a:solidFill>
                  <a:srgbClr val="AAB4C6"/>
                </a:solidFill>
              </a:rPr>
              <a:t>Co-authored breakthrough Attention Graph Siamese Transformer (DPT-GNN) for Li-ion battery prediction</a:t>
            </a:r>
          </a:p>
        </p:txBody>
      </p:sp>
      <p:sp>
        <p:nvSpPr>
          <p:cNvPr id="23" name="Rectangle 22"/>
          <p:cNvSpPr/>
          <p:nvPr/>
        </p:nvSpPr>
        <p:spPr>
          <a:xfrm>
            <a:off x="6153912" y="1417320"/>
            <a:ext cx="5577840" cy="4206240"/>
          </a:xfrm>
          <a:prstGeom prst="roundRect">
            <a:avLst>
              <a:gd name="adj" fmla="val 20000"/>
            </a:avLst>
          </a:prstGeom>
          <a:solidFill>
            <a:srgbClr val="1E274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3912" y="1417320"/>
            <a:ext cx="5577840" cy="45720"/>
          </a:xfrm>
          <a:prstGeom prst="roundRect">
            <a:avLst>
              <a:gd name="adj" fmla="val 2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36792" y="1536192"/>
            <a:ext cx="914400" cy="914400"/>
          </a:xfrm>
          <a:prstGeom prst="roundRect">
            <a:avLst>
              <a:gd name="adj" fmla="val 50000"/>
            </a:avLst>
          </a:prstGeom>
          <a:solidFill>
            <a:srgbClr val="0D132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79" y="1581912"/>
            <a:ext cx="877824" cy="777240"/>
          </a:xfrm>
          <a:prstGeom prst="rect">
            <a:avLst/>
          </a:prstGeom>
          <a:noFill/>
        </p:spPr>
        <p:txBody>
          <a:bodyPr wrap="square">
            <a:spAutoFit/>
          </a:bodyPr>
          <a:lstStyle/>
          <a:p>
            <a:pPr algn="ctr"/>
            <a:r>
              <a:rPr sz="2800" b="0" i="0">
                <a:solidFill>
                  <a:srgbClr val="F5A623"/>
                </a:solidFill>
              </a:rPr>
              <a:t>👤</a:t>
            </a:r>
          </a:p>
        </p:txBody>
      </p:sp>
      <p:sp>
        <p:nvSpPr>
          <p:cNvPr id="27" name="TextBox 26"/>
          <p:cNvSpPr txBox="1"/>
          <p:nvPr/>
        </p:nvSpPr>
        <p:spPr>
          <a:xfrm>
            <a:off x="7360919" y="1572768"/>
            <a:ext cx="4206240" cy="411480"/>
          </a:xfrm>
          <a:prstGeom prst="rect">
            <a:avLst/>
          </a:prstGeom>
          <a:noFill/>
        </p:spPr>
        <p:txBody>
          <a:bodyPr wrap="square">
            <a:spAutoFit/>
          </a:bodyPr>
          <a:lstStyle/>
          <a:p>
            <a:pPr algn="l"/>
            <a:r>
              <a:rPr sz="1100" b="1" i="0">
                <a:solidFill>
                  <a:srgbClr val="F5F7FA"/>
                </a:solidFill>
              </a:rPr>
              <a:t>K. INDRASENA REDDY [INDRA]</a:t>
            </a:r>
          </a:p>
        </p:txBody>
      </p:sp>
      <p:sp>
        <p:nvSpPr>
          <p:cNvPr id="28" name="TextBox 27"/>
          <p:cNvSpPr txBox="1"/>
          <p:nvPr/>
        </p:nvSpPr>
        <p:spPr>
          <a:xfrm>
            <a:off x="7360919" y="1984248"/>
            <a:ext cx="4206240" cy="256032"/>
          </a:xfrm>
          <a:prstGeom prst="rect">
            <a:avLst/>
          </a:prstGeom>
          <a:noFill/>
        </p:spPr>
        <p:txBody>
          <a:bodyPr wrap="square">
            <a:spAutoFit/>
          </a:bodyPr>
          <a:lstStyle/>
          <a:p>
            <a:pPr algn="l"/>
            <a:r>
              <a:rPr sz="900" b="0" i="0">
                <a:solidFill>
                  <a:srgbClr val="F5A623"/>
                </a:solidFill>
              </a:rPr>
              <a:t>AI Research Intern</a:t>
            </a:r>
          </a:p>
        </p:txBody>
      </p:sp>
      <p:sp>
        <p:nvSpPr>
          <p:cNvPr id="29" name="Rectangle 28"/>
          <p:cNvSpPr/>
          <p:nvPr/>
        </p:nvSpPr>
        <p:spPr>
          <a:xfrm>
            <a:off x="6336792" y="2487168"/>
            <a:ext cx="5212079" cy="27432"/>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6792" y="2578608"/>
            <a:ext cx="1417320" cy="228600"/>
          </a:xfrm>
          <a:prstGeom prst="rect">
            <a:avLst/>
          </a:prstGeom>
          <a:noFill/>
        </p:spPr>
        <p:txBody>
          <a:bodyPr wrap="square">
            <a:spAutoFit/>
          </a:bodyPr>
          <a:lstStyle/>
          <a:p>
            <a:pPr algn="l"/>
            <a:r>
              <a:rPr sz="900" b="1" i="0">
                <a:solidFill>
                  <a:srgbClr val="F5A623"/>
                </a:solidFill>
              </a:rPr>
              <a:t>• Education:</a:t>
            </a:r>
          </a:p>
        </p:txBody>
      </p:sp>
      <p:sp>
        <p:nvSpPr>
          <p:cNvPr id="31" name="TextBox 30"/>
          <p:cNvSpPr txBox="1"/>
          <p:nvPr/>
        </p:nvSpPr>
        <p:spPr>
          <a:xfrm>
            <a:off x="7754112" y="2578608"/>
            <a:ext cx="3794759" cy="228600"/>
          </a:xfrm>
          <a:prstGeom prst="rect">
            <a:avLst/>
          </a:prstGeom>
          <a:noFill/>
        </p:spPr>
        <p:txBody>
          <a:bodyPr wrap="square">
            <a:spAutoFit/>
          </a:bodyPr>
          <a:lstStyle/>
          <a:p>
            <a:pPr algn="l"/>
            <a:r>
              <a:rPr sz="900" b="0" i="0">
                <a:solidFill>
                  <a:srgbClr val="AAB4C6"/>
                </a:solidFill>
              </a:rPr>
              <a:t>CSE — Neil Gogte Institute of Technology (NGIT)</a:t>
            </a:r>
          </a:p>
        </p:txBody>
      </p:sp>
      <p:sp>
        <p:nvSpPr>
          <p:cNvPr id="32" name="TextBox 31"/>
          <p:cNvSpPr txBox="1"/>
          <p:nvPr/>
        </p:nvSpPr>
        <p:spPr>
          <a:xfrm>
            <a:off x="6336792" y="3035808"/>
            <a:ext cx="1417320" cy="228600"/>
          </a:xfrm>
          <a:prstGeom prst="rect">
            <a:avLst/>
          </a:prstGeom>
          <a:noFill/>
        </p:spPr>
        <p:txBody>
          <a:bodyPr wrap="square">
            <a:spAutoFit/>
          </a:bodyPr>
          <a:lstStyle/>
          <a:p>
            <a:pPr algn="l"/>
            <a:r>
              <a:rPr sz="900" b="1" i="0">
                <a:solidFill>
                  <a:srgbClr val="F5A623"/>
                </a:solidFill>
              </a:rPr>
              <a:t>• Previous:</a:t>
            </a:r>
          </a:p>
        </p:txBody>
      </p:sp>
      <p:sp>
        <p:nvSpPr>
          <p:cNvPr id="33" name="TextBox 32"/>
          <p:cNvSpPr txBox="1"/>
          <p:nvPr/>
        </p:nvSpPr>
        <p:spPr>
          <a:xfrm>
            <a:off x="7754112" y="3035808"/>
            <a:ext cx="3794759" cy="228600"/>
          </a:xfrm>
          <a:prstGeom prst="rect">
            <a:avLst/>
          </a:prstGeom>
          <a:noFill/>
        </p:spPr>
        <p:txBody>
          <a:bodyPr wrap="square">
            <a:spAutoFit/>
          </a:bodyPr>
          <a:lstStyle/>
          <a:p>
            <a:pPr algn="l"/>
            <a:r>
              <a:rPr sz="900" b="0" i="0">
                <a:solidFill>
                  <a:srgbClr val="AAB4C6"/>
                </a:solidFill>
              </a:rPr>
              <a:t>AI Developer Intern at Viswam.AI — NLP applications &amp; LLM research</a:t>
            </a:r>
          </a:p>
        </p:txBody>
      </p:sp>
      <p:sp>
        <p:nvSpPr>
          <p:cNvPr id="34" name="TextBox 33"/>
          <p:cNvSpPr txBox="1"/>
          <p:nvPr/>
        </p:nvSpPr>
        <p:spPr>
          <a:xfrm>
            <a:off x="6336792" y="3493008"/>
            <a:ext cx="1417320" cy="228600"/>
          </a:xfrm>
          <a:prstGeom prst="rect">
            <a:avLst/>
          </a:prstGeom>
          <a:noFill/>
        </p:spPr>
        <p:txBody>
          <a:bodyPr wrap="square">
            <a:spAutoFit/>
          </a:bodyPr>
          <a:lstStyle/>
          <a:p>
            <a:pPr algn="l"/>
            <a:r>
              <a:rPr sz="900" b="1" i="0">
                <a:solidFill>
                  <a:srgbClr val="F5A623"/>
                </a:solidFill>
              </a:rPr>
              <a:t>• Current Role:</a:t>
            </a:r>
          </a:p>
        </p:txBody>
      </p:sp>
      <p:sp>
        <p:nvSpPr>
          <p:cNvPr id="35" name="TextBox 34"/>
          <p:cNvSpPr txBox="1"/>
          <p:nvPr/>
        </p:nvSpPr>
        <p:spPr>
          <a:xfrm>
            <a:off x="7754112" y="3493008"/>
            <a:ext cx="3794759" cy="228600"/>
          </a:xfrm>
          <a:prstGeom prst="rect">
            <a:avLst/>
          </a:prstGeom>
          <a:noFill/>
        </p:spPr>
        <p:txBody>
          <a:bodyPr wrap="square">
            <a:spAutoFit/>
          </a:bodyPr>
          <a:lstStyle/>
          <a:p>
            <a:pPr algn="l"/>
            <a:r>
              <a:rPr sz="900" b="0" i="0">
                <a:solidFill>
                  <a:srgbClr val="AAB4C6"/>
                </a:solidFill>
              </a:rPr>
              <a:t>Materials informatics &amp; graph neural network modeling at Crystal Paradigm</a:t>
            </a:r>
          </a:p>
        </p:txBody>
      </p:sp>
      <p:sp>
        <p:nvSpPr>
          <p:cNvPr id="36" name="TextBox 35"/>
          <p:cNvSpPr txBox="1"/>
          <p:nvPr/>
        </p:nvSpPr>
        <p:spPr>
          <a:xfrm>
            <a:off x="6336792" y="3950208"/>
            <a:ext cx="1417320" cy="228600"/>
          </a:xfrm>
          <a:prstGeom prst="rect">
            <a:avLst/>
          </a:prstGeom>
          <a:noFill/>
        </p:spPr>
        <p:txBody>
          <a:bodyPr wrap="square">
            <a:spAutoFit/>
          </a:bodyPr>
          <a:lstStyle/>
          <a:p>
            <a:pPr algn="l"/>
            <a:r>
              <a:rPr sz="900" b="1" i="0">
                <a:solidFill>
                  <a:srgbClr val="F5A623"/>
                </a:solidFill>
              </a:rPr>
              <a:t>• Specialization:</a:t>
            </a:r>
          </a:p>
        </p:txBody>
      </p:sp>
      <p:sp>
        <p:nvSpPr>
          <p:cNvPr id="37" name="TextBox 36"/>
          <p:cNvSpPr txBox="1"/>
          <p:nvPr/>
        </p:nvSpPr>
        <p:spPr>
          <a:xfrm>
            <a:off x="7754112" y="3950208"/>
            <a:ext cx="3794759" cy="228600"/>
          </a:xfrm>
          <a:prstGeom prst="rect">
            <a:avLst/>
          </a:prstGeom>
          <a:noFill/>
        </p:spPr>
        <p:txBody>
          <a:bodyPr wrap="square">
            <a:spAutoFit/>
          </a:bodyPr>
          <a:lstStyle/>
          <a:p>
            <a:pPr algn="l"/>
            <a:r>
              <a:rPr sz="900" b="0" i="0">
                <a:solidFill>
                  <a:srgbClr val="AAB4C6"/>
                </a:solidFill>
              </a:rPr>
              <a:t>Large-scale property prediction &amp; advanced GNN architectures</a:t>
            </a:r>
          </a:p>
        </p:txBody>
      </p:sp>
      <p:sp>
        <p:nvSpPr>
          <p:cNvPr id="38" name="TextBox 37"/>
          <p:cNvSpPr txBox="1"/>
          <p:nvPr/>
        </p:nvSpPr>
        <p:spPr>
          <a:xfrm>
            <a:off x="6336792" y="4407408"/>
            <a:ext cx="1417320" cy="228600"/>
          </a:xfrm>
          <a:prstGeom prst="rect">
            <a:avLst/>
          </a:prstGeom>
          <a:noFill/>
        </p:spPr>
        <p:txBody>
          <a:bodyPr wrap="square">
            <a:spAutoFit/>
          </a:bodyPr>
          <a:lstStyle/>
          <a:p>
            <a:pPr algn="l"/>
            <a:r>
              <a:rPr sz="900" b="1" i="0">
                <a:solidFill>
                  <a:srgbClr val="F5A623"/>
                </a:solidFill>
              </a:rPr>
              <a:t>• Focus:</a:t>
            </a:r>
          </a:p>
        </p:txBody>
      </p:sp>
      <p:sp>
        <p:nvSpPr>
          <p:cNvPr id="39" name="TextBox 38"/>
          <p:cNvSpPr txBox="1"/>
          <p:nvPr/>
        </p:nvSpPr>
        <p:spPr>
          <a:xfrm>
            <a:off x="7754112" y="4407408"/>
            <a:ext cx="3794759" cy="228600"/>
          </a:xfrm>
          <a:prstGeom prst="rect">
            <a:avLst/>
          </a:prstGeom>
          <a:noFill/>
        </p:spPr>
        <p:txBody>
          <a:bodyPr wrap="square">
            <a:spAutoFit/>
          </a:bodyPr>
          <a:lstStyle/>
          <a:p>
            <a:pPr algn="l"/>
            <a:r>
              <a:rPr sz="900" b="0" i="0">
                <a:solidFill>
                  <a:srgbClr val="AAB4C6"/>
                </a:solidFill>
              </a:rPr>
              <a:t>AI-driven materials discovery &amp; multi-physics simulation pipelines</a:t>
            </a:r>
          </a:p>
        </p:txBody>
      </p:sp>
      <p:sp>
        <p:nvSpPr>
          <p:cNvPr id="40" name="Rectangle 39"/>
          <p:cNvSpPr/>
          <p:nvPr/>
        </p:nvSpPr>
        <p:spPr>
          <a:xfrm>
            <a:off x="457200" y="5687568"/>
            <a:ext cx="11274552" cy="548640"/>
          </a:xfrm>
          <a:prstGeom prst="roundRect">
            <a:avLst>
              <a:gd name="adj" fmla="val 15000"/>
            </a:avLst>
          </a:prstGeom>
          <a:solidFill>
            <a:srgbClr val="003D2B"/>
          </a:solidFill>
          <a:ln w="1270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742432"/>
            <a:ext cx="10881360" cy="438912"/>
          </a:xfrm>
          <a:prstGeom prst="rect">
            <a:avLst/>
          </a:prstGeom>
          <a:noFill/>
        </p:spPr>
        <p:txBody>
          <a:bodyPr wrap="square">
            <a:spAutoFit/>
          </a:bodyPr>
          <a:lstStyle/>
          <a:p>
            <a:pPr algn="l"/>
            <a:r>
              <a:rPr sz="950" b="1" i="0">
                <a:solidFill>
                  <a:srgbClr val="00E5A0"/>
                </a:solidFill>
              </a:rPr>
              <a:t>EXTENDED CRYSTAL PARADIGM ENGINEERING TEAM: The core architecture is supported by 18 specialized AI Research Interns providing massive parallel execution bandwidth for complex multi-physics simulations and AI training pipelines.</a:t>
            </a:r>
          </a:p>
        </p:txBody>
      </p:sp>
      <p:sp>
        <p:nvSpPr>
          <p:cNvPr id="42" name="Rectangle 41"/>
          <p:cNvSpPr/>
          <p:nvPr/>
        </p:nvSpPr>
        <p:spPr>
          <a:xfrm>
            <a:off x="0" y="6291072"/>
            <a:ext cx="12188952" cy="9144"/>
          </a:xfrm>
          <a:prstGeom prst="rect">
            <a:avLst/>
          </a:prstGeom>
          <a:solidFill>
            <a:srgbClr val="2D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44" name="TextBox 43"/>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A2E"/>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1371600"/>
            <a:ext cx="4114800" cy="4114800"/>
          </a:xfrm>
          <a:prstGeom prst="roundRect">
            <a:avLst>
              <a:gd name="adj" fmla="val 50000"/>
            </a:avLst>
          </a:prstGeom>
          <a:solidFill>
            <a:srgbClr val="1E2745"/>
          </a:solidFill>
          <a:ln w="63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46720" y="2011680"/>
            <a:ext cx="2743200" cy="2743200"/>
          </a:xfrm>
          <a:prstGeom prst="roundRect">
            <a:avLst>
              <a:gd name="adj" fmla="val 50000"/>
            </a:avLst>
          </a:prstGeom>
          <a:solidFill>
            <a:srgbClr val="0D1328"/>
          </a:solidFill>
          <a:ln w="63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828800"/>
            <a:ext cx="73152" cy="3200400"/>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28800"/>
            <a:ext cx="6400800" cy="548640"/>
          </a:xfrm>
          <a:prstGeom prst="rect">
            <a:avLst/>
          </a:prstGeom>
          <a:noFill/>
        </p:spPr>
        <p:txBody>
          <a:bodyPr wrap="square">
            <a:spAutoFit/>
          </a:bodyPr>
          <a:lstStyle/>
          <a:p>
            <a:pPr algn="l"/>
            <a:r>
              <a:rPr sz="1400" b="1" i="0">
                <a:solidFill>
                  <a:srgbClr val="00E5A0"/>
                </a:solidFill>
              </a:rPr>
              <a:t>CRYSTAL PARADIGM</a:t>
            </a:r>
          </a:p>
        </p:txBody>
      </p:sp>
      <p:sp>
        <p:nvSpPr>
          <p:cNvPr id="7" name="TextBox 6"/>
          <p:cNvSpPr txBox="1"/>
          <p:nvPr/>
        </p:nvSpPr>
        <p:spPr>
          <a:xfrm>
            <a:off x="685800" y="2395728"/>
            <a:ext cx="6858000" cy="2194560"/>
          </a:xfrm>
          <a:prstGeom prst="rect">
            <a:avLst/>
          </a:prstGeom>
          <a:noFill/>
        </p:spPr>
        <p:txBody>
          <a:bodyPr wrap="square">
            <a:spAutoFit/>
          </a:bodyPr>
          <a:lstStyle/>
          <a:p>
            <a:pPr algn="l"/>
            <a:r>
              <a:rPr sz="3400" b="1" i="0">
                <a:solidFill>
                  <a:srgbClr val="F5F7FA"/>
                </a:solidFill>
              </a:rPr>
              <a:t>Accelerating Deep-Tech
Materials from 5 Years
to 4 Weeks.</a:t>
            </a:r>
          </a:p>
        </p:txBody>
      </p:sp>
      <p:sp>
        <p:nvSpPr>
          <p:cNvPr id="8" name="TextBox 7"/>
          <p:cNvSpPr txBox="1"/>
          <p:nvPr/>
        </p:nvSpPr>
        <p:spPr>
          <a:xfrm>
            <a:off x="685800" y="4709160"/>
            <a:ext cx="6858000" cy="347472"/>
          </a:xfrm>
          <a:prstGeom prst="rect">
            <a:avLst/>
          </a:prstGeom>
          <a:noFill/>
        </p:spPr>
        <p:txBody>
          <a:bodyPr wrap="square">
            <a:spAutoFit/>
          </a:bodyPr>
          <a:lstStyle/>
          <a:p>
            <a:pPr algn="l"/>
            <a:r>
              <a:rPr sz="1300" b="0" i="0">
                <a:solidFill>
                  <a:srgbClr val="AAB4C6"/>
                </a:solidFill>
              </a:rPr>
              <a:t>We have completely solved the computational bottleneck.</a:t>
            </a:r>
          </a:p>
        </p:txBody>
      </p:sp>
      <p:sp>
        <p:nvSpPr>
          <p:cNvPr id="9" name="TextBox 8"/>
          <p:cNvSpPr txBox="1"/>
          <p:nvPr/>
        </p:nvSpPr>
        <p:spPr>
          <a:xfrm>
            <a:off x="685800" y="5047488"/>
            <a:ext cx="6858000" cy="347472"/>
          </a:xfrm>
          <a:prstGeom prst="rect">
            <a:avLst/>
          </a:prstGeom>
          <a:noFill/>
        </p:spPr>
        <p:txBody>
          <a:bodyPr wrap="square">
            <a:spAutoFit/>
          </a:bodyPr>
          <a:lstStyle/>
          <a:p>
            <a:pPr algn="l"/>
            <a:r>
              <a:rPr sz="1300" b="1" i="0">
                <a:solidFill>
                  <a:srgbClr val="F5F7FA"/>
                </a:solidFill>
              </a:rPr>
              <a:t>We are ready to build the physical reality.</a:t>
            </a:r>
          </a:p>
        </p:txBody>
      </p:sp>
      <p:sp>
        <p:nvSpPr>
          <p:cNvPr id="10" name="Rectangle 9"/>
          <p:cNvSpPr/>
          <p:nvPr/>
        </p:nvSpPr>
        <p:spPr>
          <a:xfrm>
            <a:off x="685800" y="5440680"/>
            <a:ext cx="3200400" cy="36576"/>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559552"/>
            <a:ext cx="6858000" cy="320040"/>
          </a:xfrm>
          <a:prstGeom prst="rect">
            <a:avLst/>
          </a:prstGeom>
          <a:noFill/>
        </p:spPr>
        <p:txBody>
          <a:bodyPr wrap="square">
            <a:spAutoFit/>
          </a:bodyPr>
          <a:lstStyle/>
          <a:p>
            <a:pPr algn="l"/>
            <a:r>
              <a:rPr sz="1200" b="1" i="0">
                <a:solidFill>
                  <a:srgbClr val="00E5A0"/>
                </a:solidFill>
              </a:rPr>
              <a:t>Join us at the SCIDIP Advanced Materials Track.</a:t>
            </a:r>
          </a:p>
        </p:txBody>
      </p:sp>
      <p:sp>
        <p:nvSpPr>
          <p:cNvPr id="12" name="TextBox 11"/>
          <p:cNvSpPr txBox="1"/>
          <p:nvPr/>
        </p:nvSpPr>
        <p:spPr>
          <a:xfrm>
            <a:off x="685800" y="5925312"/>
            <a:ext cx="6858000" cy="256032"/>
          </a:xfrm>
          <a:prstGeom prst="rect">
            <a:avLst/>
          </a:prstGeom>
          <a:noFill/>
        </p:spPr>
        <p:txBody>
          <a:bodyPr wrap="square">
            <a:spAutoFit/>
          </a:bodyPr>
          <a:lstStyle/>
          <a:p>
            <a:pPr algn="l"/>
            <a:r>
              <a:rPr sz="1000" b="0" i="0">
                <a:solidFill>
                  <a:srgbClr val="AAB4C6"/>
                </a:solidFill>
              </a:rPr>
              <a:t>crystalparadigm.in  |  khub.crystalparadigm@gmail.com</a:t>
            </a:r>
          </a:p>
        </p:txBody>
      </p:sp>
      <p:sp>
        <p:nvSpPr>
          <p:cNvPr id="13" name="TextBox 12"/>
          <p:cNvSpPr txBox="1"/>
          <p:nvPr/>
        </p:nvSpPr>
        <p:spPr>
          <a:xfrm>
            <a:off x="228600" y="6492240"/>
            <a:ext cx="2286000" cy="274320"/>
          </a:xfrm>
          <a:prstGeom prst="rect">
            <a:avLst/>
          </a:prstGeom>
          <a:noFill/>
        </p:spPr>
        <p:txBody>
          <a:bodyPr wrap="square">
            <a:spAutoFit/>
          </a:bodyPr>
          <a:lstStyle/>
          <a:p>
            <a:pPr algn="l"/>
            <a:r>
              <a:rPr sz="800" b="1" i="0">
                <a:solidFill>
                  <a:srgbClr val="00E5A0"/>
                </a:solidFill>
              </a:rPr>
              <a:t>CRYSTAL PARADIGM</a:t>
            </a:r>
          </a:p>
        </p:txBody>
      </p:sp>
      <p:sp>
        <p:nvSpPr>
          <p:cNvPr id="14" name="TextBox 13"/>
          <p:cNvSpPr txBox="1"/>
          <p:nvPr/>
        </p:nvSpPr>
        <p:spPr>
          <a:xfrm>
            <a:off x="11064240" y="6492240"/>
            <a:ext cx="1005840" cy="256032"/>
          </a:xfrm>
          <a:prstGeom prst="rect">
            <a:avLst/>
          </a:prstGeom>
          <a:noFill/>
        </p:spPr>
        <p:txBody>
          <a:bodyPr wrap="square">
            <a:spAutoFit/>
          </a:bodyPr>
          <a:lstStyle/>
          <a:p>
            <a:pPr algn="r"/>
            <a:r>
              <a:rPr sz="800" b="0" i="0">
                <a:solidFill>
                  <a:srgbClr val="6E7A90"/>
                </a:solidFill>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