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57200" cy="6711696"/>
          </a:xfrm>
          <a:prstGeom prst="rect">
            <a:avLst/>
          </a:prstGeom>
          <a:solidFill>
            <a:srgbClr val="1B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CF0F1"/>
                </a:solidFill>
              </a:rPr>
              <a:t>FITT | IIT Delhi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CF0F1"/>
                </a:solidFill>
              </a:rPr>
              <a:t>x  Sona Comstar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We Have Been Selected.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4A261"/>
                </a:solidFill>
              </a:rPr>
              <a:t>SCIDIP 2026 — IIT Delhi Innovation Program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73152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Crystal Paradigm has been selected through a 2-round competitive evaluation
for the Sona Comstar — IIT Delhi Innovation Program (SCIDIP) 2026,
one of India's most prestigious deep-tech startup incubation programs.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2560320" cy="146304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</a:rPr>
              <a:t>Rs.80L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5532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Max Grant
Per Startup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846320"/>
            <a:ext cx="2560320" cy="146304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</a:rPr>
              <a:t>24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532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Incubation
Period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846320"/>
            <a:ext cx="2560320" cy="146304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</a:rPr>
              <a:t>2 Rounds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532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Selection
Process Cleared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4846320"/>
            <a:ext cx="2560320" cy="146304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4937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261"/>
                </a:solidFill>
              </a:rPr>
              <a:t>6th Edition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532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Program
Legacy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CF0F1"/>
                </a:solidFill>
              </a:rPr>
              <a:t>Presenter: Crystal Paradigm | crystalparadigm.in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57200" cy="6711696"/>
          </a:xfrm>
          <a:prstGeom prst="rect">
            <a:avLst/>
          </a:prstGeom>
          <a:solidFill>
            <a:srgbClr val="1B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PROGRAM: SCIDIP &amp; FITT IIT Delhi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31520"/>
            <a:ext cx="109728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5212080" cy="539496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Who is FITT IIT Delhi?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CF0F1"/>
                </a:solidFill>
              </a:rPr>
              <a:t>•  Foundation for Innovation and Technology Transfer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Official Industry Interface of IIT Delhi — one of India's top 3 engineering institutions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Manages 300+ Crore in R&amp;D contracts annually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Runs NIDHI-CoE, Atal Incubation Centre (AIC), BioNEST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Has incubated 200+ startups in diverse deep-tech sectors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Connects startups with IIT Delhi's world-class CRF labs: XRD, SEM/EDS, STA, LENS/DED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Manages IP filing, technology transfer, and investor connect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Organizes periodic pitch events, investor connects and networking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868680"/>
            <a:ext cx="5852160" cy="5394960"/>
          </a:xfrm>
          <a:prstGeom prst="rect">
            <a:avLst/>
          </a:prstGeom>
          <a:solidFill>
            <a:srgbClr val="123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960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What is SCIDIP?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41732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CF0F1"/>
                </a:solidFill>
              </a:rPr>
              <a:t>•  Sona Comstar — IIT Delhi Innovation Program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6th Edition (Year 2025-26) — now in its 6th consecutive year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National open call for startups, researchers &amp; innovators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Focus: Smart, Safe &amp; Clean Mobility technologies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Rs.1.6 Cr Total Grant Pool for 5-6 selected startups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Up to Rs.80 Lakhs per selected startup as Grant-in-Aid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Funding released in 5 milestone-linked tranches over 24 months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Focus Areas: EV Tech, Advanced Batteries, Advanced Materials, Industry 4.0, Autonomous Vehicles, Sustainability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Selection: 2 rigorous evaluation rounds (Technical + Techno-Commercial)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CF0F1"/>
                </a:solidFill>
              </a:rPr>
              <a:t>Source: fitt-iitd.in/web/sona-comstar-iit-delhi-innovation-program-scidip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57200" cy="6711696"/>
          </a:xfrm>
          <a:prstGeom prst="rect">
            <a:avLst/>
          </a:prstGeom>
          <a:solidFill>
            <a:srgbClr val="1B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WHO IS SONA COMSTAR &amp; WHY ONLY IIT DELHI?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31520"/>
            <a:ext cx="109728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5212080" cy="301752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14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Who is Sona Comstar?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CF0F1"/>
                </a:solidFill>
              </a:rPr>
              <a:t>•  India's leading Automotive Systems &amp; Components manufacturer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Listed company (NSE: SONACOMS) with Rs.3,200+ Cr revenue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9 manufacturing plants: India, China, Mexico, USA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Manufactures precision driveline gears, differential assemblies, electric motors (SRM), and motor control units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EPIC Roadmap: Electric, Personalized, Intelligent, Connected vehicles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Key OEM clients: Tata, Mahindra, Ather, Honda, BMW, GM, Ford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Actively scaling next-gen magnet-less Switched Reluctance Motors (SRMs)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868680"/>
            <a:ext cx="5852160" cy="3017520"/>
          </a:xfrm>
          <a:prstGeom prst="rect">
            <a:avLst/>
          </a:prstGeom>
          <a:solidFill>
            <a:srgbClr val="3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9144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Why ONLY IIT Delhi Can Characterize Our Material?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32588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CF0F1"/>
                </a:solidFill>
              </a:rPr>
              <a:t>•  Our HE-MCGA material (9-element RHEA + 11-layer FGM) operates at 1400 C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Physical validation requires STA at 1500 C, high-temp XRD, and SEM/EDS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Only IIT Delhi CRF houses all required equipment in one facility in India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Safran (France) — our previous collaborator — has already REJECTED the project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No private lab in India can characterize refractory HEA + FGM composites at this temperature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IIT Delhi is not optional — it is the only viable path to TRL 4+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69080"/>
            <a:ext cx="11247120" cy="2468880"/>
          </a:xfrm>
          <a:prstGeom prst="rect">
            <a:avLst/>
          </a:prstGeom>
          <a:solidFill>
            <a:srgbClr val="1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Program Track Record — Previous Cohort Winners (Calls 1-5)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CF0F1"/>
                </a:solidFill>
              </a:rPr>
              <a:t>Call 1: QUANTEON POWERTRAIN, inGO Electric   |   Call 2: CREATARA, P3C Technology &amp; Solutions   |   Call 3: MOTOR AMA, Octarange Technologies
Call 4: Calvem Controls, Aatral ESP, Dopar Energy   |   Call 5: Baud Resources, EV Recharge, GroKalp H2CNT, Planzit
REAL RESULT: IGNIT Technical Solutions Pvt. Ltd. received Rs.40 LAKHS from SONA COMSTAR-FITT for Battery Thermal Management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CF0F1"/>
                </a:solidFill>
              </a:rPr>
              <a:t>Source: sonacomstar.com | fitt-iitd.in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57200" cy="6711696"/>
          </a:xfrm>
          <a:prstGeom prst="rect">
            <a:avLst/>
          </a:prstGeom>
          <a:solidFill>
            <a:srgbClr val="1B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WE HAVE DONE — THE HE-MCGA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31520"/>
            <a:ext cx="109728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868680"/>
            <a:ext cx="11247120" cy="155448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The HE-MCGA Project — What Crystal Paradigm Has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CF0F1"/>
                </a:solidFill>
              </a:rPr>
              <a:t>We have computationally engineered a constrained 9-element High-Entropy Alloy (RHEA) fused with an 11-layer Functionally Graded Material (FGM) using our proprietary AI platform. This "HE-MCGA" system achieves a 3D-validated aerospace Safety Factor of 1.71 (clearing the 1.50 airworthiness threshold), an oxidation mass gain of just 7.5 mg/cm2, and reduces critical Hafnium exposure by &gt;75% — entirely through physics-informed inverse design. We are at TRL 3+.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3474720" cy="12801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24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BFF"/>
                </a:solidFill>
              </a:rPr>
              <a:t>Safety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1.71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383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</a:rPr>
              <a:t>Target: 1.50 (Cleared)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560320"/>
            <a:ext cx="3474720" cy="12801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624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A4F"/>
                </a:solidFill>
              </a:rPr>
              <a:t>Oxidation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7.5 mg/cm2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383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</a:rPr>
              <a:t>Industry limit: &lt;10 (Cleared)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2560320"/>
            <a:ext cx="3474720" cy="128016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6243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</a:rPr>
              <a:t>Hf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&gt;75%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383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CF0F1"/>
                </a:solidFill>
              </a:rPr>
              <a:t>vs. baseline CMSX-4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11247120" cy="2468880"/>
          </a:xfrm>
          <a:prstGeom prst="rect">
            <a:avLst/>
          </a:prstGeom>
          <a:solidFill>
            <a:srgbClr val="1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How We Applied &amp; How We Were Selected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262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CF0F1"/>
                </a:solidFill>
              </a:rPr>
              <a:t>•  Applied under the "Advanced Materials" track of SCIDIP 2026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Round 1 — Technical Expert Committee: Evaluated on innovation, feasibility, TRL and preliminary data. We CLEARED.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Round 2 — Techno-Commercial Panel: Industry + investor + FITT representatives evaluated technical strength, IP, team &amp; business plan. We CLEARED.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Now selected for the final presentation event at IIT Delhi — the final approval round before grant disbursement begins.</a:t>
            </a:r>
          </a:p>
          <a:p/>
          <a:p>
            <a:pPr algn="l"/>
            <a:r>
              <a:rPr sz="1050">
                <a:solidFill>
                  <a:srgbClr val="ECF0F1"/>
                </a:solidFill>
              </a:rPr>
              <a:t>•  Crystal Paradigm has a published Indian Patent (App No: 202641084226) and a Q1-SCI publication supporting this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457200" cy="6711696"/>
          </a:xfrm>
          <a:prstGeom prst="rect">
            <a:avLst/>
          </a:prstGeom>
          <a:solidFill>
            <a:srgbClr val="1B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 GAIN — WHY THIS TRIP TO DELHI IS WORTH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731520"/>
            <a:ext cx="1097280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3566160" cy="22860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3566160" cy="3200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960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Rs.80L Grant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129844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Direct non-dilutive grant to fund raw material atomization, additive manufacturing (DED/LENS), and physical prototype fabrication — no equity lost.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914400"/>
            <a:ext cx="3566160" cy="22860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914400"/>
            <a:ext cx="3566160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960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IIT Delhi Lab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29844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Access to CRF: High-Temp STA (1500C), XRD, SEM/EDS, LENS/DED — the ONLY Indian facility capable of characterizing our 9-element RHEA+FGM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914400"/>
            <a:ext cx="3566160" cy="22860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914400"/>
            <a:ext cx="3566160" cy="3200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960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Mentorship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29844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Technical mentorship from IIT Delhi faculty + Sona Comstar engineering division for DED tolerance alignment and real-world integration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3566160" cy="22860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3566160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35204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Investor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" y="385876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FITT connects incubatees with its VC/investor network for follow-on funding beyond the SCIDIP grant.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474720"/>
            <a:ext cx="3566160" cy="22860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474720"/>
            <a:ext cx="356616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5204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Recognition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85876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IIT Delhi incubatee status provides national credibility, publication opportunities, and government scheme eligibility (NIDHI, BIRAC, etc.)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474720"/>
            <a:ext cx="3566160" cy="22860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474720"/>
            <a:ext cx="3566160" cy="320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5204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Market Connect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58768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CF0F1"/>
                </a:solidFill>
              </a:rPr>
              <a:t>Direct access to Sona Comstar EV supply chain — mapping our validated FGM into H13 forging dies and SRM stator components for commercialization.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Beyond HE-MCGA: IIT Delhi incubation opens Crystal Paradigm's entire AI-materials platform to national research partnerships, government grants (DST, NITI Aayog), and international collaborations.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