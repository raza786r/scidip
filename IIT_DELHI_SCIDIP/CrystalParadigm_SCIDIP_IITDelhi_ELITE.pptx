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70" r:id="rId4"/>
    <p:sldId id="271" r:id="rId34"/>
    <p:sldId id="272" r:id="rId33"/>
    <p:sldId id="259" r:id="rId6"/>
    <p:sldId id="260" r:id="rId7"/>
    <p:sldId id="261" r:id="rId8"/>
    <p:sldId id="262" r:id="rId9"/>
    <p:sldId id="263" r:id="rId10"/>
    <p:sldId id="264" r:id="rId11"/>
    <p:sldId id="265" r:id="rId12"/>
    <p:sldId id="266" r:id="rId13"/>
    <p:sldId id="267" r:id="rId14"/>
    <p:sldId id="268" r:id="rId15"/>
    <p:sldId id="273" r:id="rId40"/>
    <p:sldId id="274" r:id="rId41"/>
    <p:sldId id="275" r:id="rId42"/>
    <p:sldId id="276" r:id="rId43"/>
    <p:sldId id="277" r:id="rId44"/>
    <p:sldId id="269" r:id="rId16"/>
  </p:sldIdLst>
  <p:sldSz cx="9144000" cy="5143500" type="screen16x9"/>
  <p:notesSz cx="51435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Space Grotesk" panose="020B0604020202020204" charset="0"/>
      <p:bold r:id="rId30"/>
    </p:embeddedFont>
    <p:embeddedFont>
      <p:font typeface="Space Grotesk SemiBold"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dsu46NZDv1iNawfR3J/rA+h4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slide" Target="slides/slide4.xml"/><Relationship Id="rId34" Type="http://schemas.openxmlformats.org/officeDocument/2006/relationships/slide" Target="slides/slide3.xml"/><Relationship Id="rId35" Type="http://customschemas.google.com/relationships/presentationmetadata" Target="meta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5893f04f_6_75:notes"/>
          <p:cNvSpPr txBox="1">
            <a:spLocks noGrp="1"/>
          </p:cNvSpPr>
          <p:nvPr>
            <p:ph type="body" idx="1"/>
          </p:nvPr>
        </p:nvSpPr>
        <p:spPr>
          <a:xfrm>
            <a:off x="514350" y="4343400"/>
            <a:ext cx="41148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e85893f04f_6_7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g3e8969c066b_83_15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g3e8969c066b_83_15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g3e8969c066b_83_15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3e8969c066b_83_159"/>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g3e8969c066b_83_159"/>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24" name="Google Shape;24;g3e8969c066b_83_15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g3e8969c066b_83_15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g3e8969c066b_83_15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g3e8969c066b_83_165"/>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g3e8969c066b_83_165"/>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30" name="Google Shape;30;g3e8969c066b_83_16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g3e8969c066b_83_16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g3e8969c066b_83_16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g3e8969c066b_83_171"/>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g3e8969c066b_83_171"/>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6" name="Google Shape;36;g3e8969c066b_83_17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7" name="Google Shape;37;g3e8969c066b_83_17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g3e8969c066b_83_17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g3e8969c066b_83_17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1" name="Google Shape;41;g3e8969c066b_83_177"/>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2" name="Google Shape;42;g3e8969c066b_83_177"/>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3" name="Google Shape;43;g3e8969c066b_83_17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4" name="Google Shape;44;g3e8969c066b_83_17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5" name="Google Shape;45;g3e8969c066b_83_17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g3e8969c066b_83_18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8" name="Google Shape;48;g3e8969c066b_83_184"/>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9" name="Google Shape;49;g3e8969c066b_83_184"/>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0" name="Google Shape;50;g3e8969c066b_83_184"/>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51" name="Google Shape;51;g3e8969c066b_83_184"/>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2" name="Google Shape;52;g3e8969c066b_83_18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g3e8969c066b_83_18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4" name="Google Shape;54;g3e8969c066b_83_18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g3e8969c066b_83_19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7" name="Google Shape;57;g3e8969c066b_83_19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g3e8969c066b_83_19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g3e8969c066b_83_19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g3e8969c066b_83_198"/>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g3e8969c066b_83_198"/>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63" name="Google Shape;63;g3e8969c066b_83_198"/>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4" name="Google Shape;64;g3e8969c066b_83_19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g3e8969c066b_83_19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g3e8969c066b_83_19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g3e8969c066b_83_205"/>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9" name="Google Shape;69;g3e8969c066b_83_205"/>
          <p:cNvSpPr>
            <a:spLocks noGrp="1"/>
          </p:cNvSpPr>
          <p:nvPr>
            <p:ph type="pic" idx="2"/>
          </p:nvPr>
        </p:nvSpPr>
        <p:spPr>
          <a:xfrm>
            <a:off x="896144" y="306388"/>
            <a:ext cx="2743200" cy="2057400"/>
          </a:xfrm>
          <a:prstGeom prst="rect">
            <a:avLst/>
          </a:prstGeom>
          <a:noFill/>
          <a:ln>
            <a:noFill/>
          </a:ln>
        </p:spPr>
      </p:sp>
      <p:sp>
        <p:nvSpPr>
          <p:cNvPr id="70" name="Google Shape;70;g3e8969c066b_83_205"/>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71" name="Google Shape;71;g3e8969c066b_83_20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g3e8969c066b_83_20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g3e8969c066b_83_20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g3e8969c066b_83_212"/>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g3e8969c066b_83_212"/>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g3e8969c066b_83_2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g3e8969c066b_83_2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g3e8969c066b_83_2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g3e8969c066b_83_218"/>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g3e8969c066b_83_218"/>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83" name="Google Shape;83;g3e8969c066b_83_2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g3e8969c066b_83_2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g3e8969c066b_83_2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47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g3e8969c066b_83_14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13" name="Google Shape;13;g3e8969c066b_83_149"/>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14" name="Google Shape;14;g3e8969c066b_83_14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5" name="Google Shape;15;g3e8969c066b_83_14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6" name="Google Shape;16;g3e8969c066b_83_1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hyperlink" Target="http://crystalparadigm.i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g3e85893f04f_6_75"/>
          <p:cNvGrpSpPr/>
          <p:nvPr/>
        </p:nvGrpSpPr>
        <p:grpSpPr>
          <a:xfrm>
            <a:off x="476250" y="285750"/>
            <a:ext cx="8191500" cy="809625"/>
            <a:chOff x="476250" y="285750"/>
            <a:chExt cx="8191500" cy="809625"/>
          </a:xfrm>
        </p:grpSpPr>
        <p:sp>
          <p:nvSpPr>
            <p:cNvPr id="91" name="Google Shape;91;g3e85893f04f_6_75"/>
            <p:cNvSpPr txBox="1"/>
            <p:nvPr/>
          </p:nvSpPr>
          <p:spPr>
            <a:xfrm>
              <a:off x="476250" y="285750"/>
              <a:ext cx="8191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330" b="1" dirty="0">
                  <a:solidFill>
                    <a:srgbClr val="1A365D"/>
                  </a:solidFill>
                  <a:latin typeface="Space Grotesk"/>
                  <a:ea typeface="Space Grotesk"/>
                  <a:cs typeface="Space Grotesk"/>
                  <a:sym typeface="Space Grotesk"/>
                </a:rPr>
                <a:t>CRYSTAL </a:t>
              </a:r>
              <a:r>
                <a:rPr lang="en-US" sz="3330" b="1" dirty="0">
                  <a:solidFill>
                    <a:srgbClr val="2BDEFD"/>
                  </a:solidFill>
                  <a:latin typeface="Space Grotesk"/>
                  <a:ea typeface="Space Grotesk"/>
                  <a:cs typeface="Space Grotesk"/>
                  <a:sym typeface="Space Grotesk"/>
                </a:rPr>
                <a:t>PARADIGM</a:t>
              </a:r>
              <a:endParaRPr sz="3330" b="1" dirty="0">
                <a:solidFill>
                  <a:srgbClr val="1A365D"/>
                </a:solidFill>
                <a:latin typeface="Space Grotesk"/>
                <a:ea typeface="Space Grotesk"/>
                <a:cs typeface="Space Grotesk"/>
                <a:sym typeface="Space Grotesk"/>
              </a:endParaRPr>
            </a:p>
            <a:p>
              <a:pPr marL="0" lvl="0" indent="0" algn="l" rtl="0">
                <a:spcBef>
                  <a:spcPts val="375"/>
                </a:spcBef>
                <a:spcAft>
                  <a:spcPts val="0"/>
                </a:spcAft>
                <a:buNone/>
              </a:pPr>
              <a:r>
                <a:rPr lang="en-US" sz="1295" b="1" dirty="0">
                  <a:solidFill>
                    <a:srgbClr val="64748B"/>
                  </a:solidFill>
                  <a:latin typeface="Space Grotesk"/>
                  <a:ea typeface="Space Grotesk"/>
                  <a:cs typeface="Space Grotesk"/>
                  <a:sym typeface="Space Grotesk"/>
                </a:rPr>
                <a:t>AI-Integrated Materials Architectures for Advanced Mobility &amp; Aerospace</a:t>
              </a:r>
              <a:endParaRPr sz="1295" b="1" dirty="0">
                <a:solidFill>
                  <a:srgbClr val="64748B"/>
                </a:solidFill>
                <a:latin typeface="Space Grotesk"/>
                <a:ea typeface="Space Grotesk"/>
                <a:cs typeface="Space Grotesk"/>
                <a:sym typeface="Space Grotesk"/>
              </a:endParaRPr>
            </a:p>
          </p:txBody>
        </p:sp>
        <p:cxnSp>
          <p:nvCxnSpPr>
            <p:cNvPr id="92" name="Google Shape;92;g3e85893f04f_6_75"/>
            <p:cNvCxnSpPr/>
            <p:nvPr/>
          </p:nvCxnSpPr>
          <p:spPr>
            <a:xfrm>
              <a:off x="476250" y="1095375"/>
              <a:ext cx="8191500" cy="0"/>
            </a:xfrm>
            <a:prstGeom prst="straightConnector1">
              <a:avLst/>
            </a:prstGeom>
            <a:solidFill>
              <a:srgbClr val="FFFFFF"/>
            </a:solidFill>
            <a:ln w="19050" cap="flat" cmpd="sng">
              <a:solidFill>
                <a:srgbClr val="E2E8F0"/>
              </a:solidFill>
              <a:prstDash val="solid"/>
              <a:round/>
              <a:headEnd type="none" w="sm" len="sm"/>
              <a:tailEnd type="none" w="sm" len="sm"/>
            </a:ln>
          </p:spPr>
        </p:cxnSp>
      </p:grpSp>
      <p:sp>
        <p:nvSpPr>
          <p:cNvPr id="93" name="Google Shape;93;g3e85893f04f_6_75"/>
          <p:cNvSpPr txBox="1"/>
          <p:nvPr/>
        </p:nvSpPr>
        <p:spPr>
          <a:xfrm>
            <a:off x="476250" y="1333500"/>
            <a:ext cx="5143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dirty="0">
                <a:solidFill>
                  <a:srgbClr val="1A365D"/>
                </a:solidFill>
                <a:latin typeface="Inter SemiBold"/>
                <a:ea typeface="Inter SemiBold"/>
                <a:cs typeface="Inter SemiBold"/>
                <a:sym typeface="Inter SemiBold"/>
              </a:rPr>
              <a:t>Advanced Materials for Extreme-Environment Applications</a:t>
            </a:r>
            <a:endParaRPr sz="1300" b="1" dirty="0">
              <a:solidFill>
                <a:srgbClr val="1A365D"/>
              </a:solidFill>
              <a:latin typeface="Inter SemiBold"/>
              <a:ea typeface="Inter SemiBold"/>
              <a:cs typeface="Inter SemiBold"/>
              <a:sym typeface="Inter SemiBold"/>
            </a:endParaRPr>
          </a:p>
          <a:p>
            <a:pPr marL="0" lvl="0" indent="0" algn="l" rtl="0">
              <a:spcBef>
                <a:spcPts val="900"/>
              </a:spcBef>
              <a:spcAft>
                <a:spcPts val="0"/>
              </a:spcAft>
              <a:buNone/>
            </a:pPr>
            <a:r>
              <a:rPr lang="en-US" sz="1150" dirty="0">
                <a:solidFill>
                  <a:srgbClr val="1E293B"/>
                </a:solidFill>
                <a:latin typeface="Inter"/>
                <a:ea typeface="Inter"/>
                <a:cs typeface="Inter"/>
                <a:sym typeface="Inter"/>
              </a:rPr>
              <a:t>Crystal Paradigm is a research-driven organization at the intersection of artificial intelligence and materials science. We field a deep-tech startup that has computationally validated a next-generation turbine blade material and extreme-environment mobility components achieving a </a:t>
            </a:r>
            <a:r>
              <a:rPr lang="en-US" sz="1150" b="1" dirty="0">
                <a:solidFill>
                  <a:srgbClr val="1A365D"/>
                </a:solidFill>
                <a:latin typeface="Inter"/>
                <a:ea typeface="Inter"/>
                <a:cs typeface="Inter"/>
                <a:sym typeface="Inter"/>
              </a:rPr>
              <a:t>3D aerospace Safety Factor of 1.71</a:t>
            </a:r>
            <a:r>
              <a:rPr lang="en-US" sz="1150" dirty="0">
                <a:solidFill>
                  <a:srgbClr val="1E293B"/>
                </a:solidFill>
                <a:latin typeface="Inter"/>
                <a:ea typeface="Inter"/>
                <a:cs typeface="Inter"/>
                <a:sym typeface="Inter"/>
              </a:rPr>
              <a:t> - exceeding the 1.50 airworthiness threshold by 14%.</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300" b="1" dirty="0">
                <a:solidFill>
                  <a:srgbClr val="1A365D"/>
                </a:solidFill>
                <a:latin typeface="Inter SemiBold"/>
                <a:ea typeface="Inter SemiBold"/>
                <a:cs typeface="Inter SemiBold"/>
                <a:sym typeface="Inter SemiBold"/>
              </a:rPr>
              <a:t>Our Mission</a:t>
            </a:r>
            <a:endParaRPr sz="1300" b="1" dirty="0">
              <a:solidFill>
                <a:srgbClr val="1A365D"/>
              </a:solidFill>
              <a:latin typeface="Inter SemiBold"/>
              <a:ea typeface="Inter SemiBold"/>
              <a:cs typeface="Inter SemiBold"/>
              <a:sym typeface="Inter SemiBold"/>
            </a:endParaRPr>
          </a:p>
          <a:p>
            <a:pPr marL="0" lvl="0" indent="0" algn="l" rtl="0">
              <a:spcBef>
                <a:spcPts val="750"/>
              </a:spcBef>
              <a:spcAft>
                <a:spcPts val="0"/>
              </a:spcAft>
              <a:buNone/>
            </a:pPr>
            <a:r>
              <a:rPr lang="en-US" sz="1150" dirty="0">
                <a:solidFill>
                  <a:srgbClr val="1E293B"/>
                </a:solidFill>
                <a:latin typeface="Inter"/>
                <a:ea typeface="Inter"/>
                <a:cs typeface="Inter"/>
                <a:sym typeface="Inter"/>
              </a:rPr>
              <a:t>To accelerate the discovery of next-generation materials by combining machine learning, high-performance computing (HPC), and experimental validation in one closed loop.</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000" dirty="0">
                <a:solidFill>
                  <a:srgbClr val="64748B"/>
                </a:solidFill>
                <a:highlight>
                  <a:srgbClr val="F8FAFC"/>
                </a:highlight>
                <a:latin typeface="Inter"/>
                <a:ea typeface="Inter"/>
                <a:cs typeface="Inter"/>
                <a:sym typeface="Inter"/>
              </a:rPr>
              <a:t>Targeting extreme-environment mobility and aerospace applications: refractory high-entropy alloys paired with functionally graded ceramic coatings, merging in-house data curation with high-fidelity physics models to generate direct, print-ready manufacturing matrices.</a:t>
            </a:r>
            <a:endParaRPr sz="1000" dirty="0">
              <a:solidFill>
                <a:srgbClr val="64748B"/>
              </a:solidFill>
              <a:highlight>
                <a:srgbClr val="F8FAFC"/>
              </a:highlight>
              <a:latin typeface="Inter"/>
              <a:ea typeface="Inter"/>
              <a:cs typeface="Inter"/>
              <a:sym typeface="Inter"/>
            </a:endParaRPr>
          </a:p>
        </p:txBody>
      </p:sp>
      <p:grpSp>
        <p:nvGrpSpPr>
          <p:cNvPr id="94" name="Google Shape;94;g3e85893f04f_6_75"/>
          <p:cNvGrpSpPr/>
          <p:nvPr/>
        </p:nvGrpSpPr>
        <p:grpSpPr>
          <a:xfrm>
            <a:off x="6022075" y="525144"/>
            <a:ext cx="2840355" cy="4142371"/>
            <a:chOff x="6286500" y="1333500"/>
            <a:chExt cx="2286000" cy="3333900"/>
          </a:xfrm>
        </p:grpSpPr>
        <p:pic>
          <p:nvPicPr>
            <p:cNvPr id="95" name="Google Shape;95;g3e85893f04f_6_75"/>
            <p:cNvPicPr preferRelativeResize="0"/>
            <p:nvPr/>
          </p:nvPicPr>
          <p:blipFill rotWithShape="1">
            <a:blip r:embed="rId4">
              <a:alphaModFix/>
            </a:blip>
            <a:srcRect/>
            <a:stretch/>
          </p:blipFill>
          <p:spPr>
            <a:xfrm>
              <a:off x="6477000" y="1333500"/>
              <a:ext cx="1905000" cy="1905000"/>
            </a:xfrm>
            <a:prstGeom prst="ellipse">
              <a:avLst/>
            </a:prstGeom>
            <a:noFill/>
            <a:ln>
              <a:noFill/>
            </a:ln>
          </p:spPr>
        </p:pic>
        <p:sp>
          <p:nvSpPr>
            <p:cNvPr id="96" name="Google Shape;96;g3e85893f04f_6_75"/>
            <p:cNvSpPr/>
            <p:nvPr/>
          </p:nvSpPr>
          <p:spPr>
            <a:xfrm>
              <a:off x="6286500" y="3429000"/>
              <a:ext cx="2286000" cy="1238400"/>
            </a:xfrm>
            <a:prstGeom prst="roundRect">
              <a:avLst>
                <a:gd name="adj" fmla="val 923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g3e85893f04f_6_75"/>
            <p:cNvSpPr txBox="1"/>
            <p:nvPr/>
          </p:nvSpPr>
          <p:spPr>
            <a:xfrm>
              <a:off x="6286500" y="3429000"/>
              <a:ext cx="2286000" cy="1238400"/>
            </a:xfrm>
            <a:prstGeom prst="rect">
              <a:avLst/>
            </a:prstGeom>
            <a:noFill/>
            <a:ln>
              <a:noFill/>
            </a:ln>
          </p:spPr>
          <p:txBody>
            <a:bodyPr spcFirstLastPara="1" wrap="square" lIns="118325" tIns="118325" rIns="118325" bIns="118325" anchor="ctr" anchorCtr="0">
              <a:noAutofit/>
            </a:bodyPr>
            <a:lstStyle/>
            <a:p>
              <a:pPr marL="0" lvl="0" indent="0" algn="ctr" rtl="0">
                <a:spcBef>
                  <a:spcPts val="0"/>
                </a:spcBef>
                <a:spcAft>
                  <a:spcPts val="0"/>
                </a:spcAft>
                <a:buNone/>
              </a:pPr>
              <a:r>
                <a:rPr lang="en-US" sz="2733" b="1" dirty="0">
                  <a:solidFill>
                    <a:srgbClr val="FFFFFF"/>
                  </a:solidFill>
                  <a:latin typeface="Space Grotesk"/>
                  <a:ea typeface="Space Grotesk"/>
                  <a:cs typeface="Space Grotesk"/>
                  <a:sym typeface="Space Grotesk"/>
                </a:rPr>
                <a:t>4 </a:t>
              </a:r>
              <a:r>
                <a:rPr lang="en-US" sz="1242" b="0" dirty="0">
                  <a:solidFill>
                    <a:srgbClr val="2BDEFD"/>
                  </a:solidFill>
                  <a:latin typeface="Space Grotesk"/>
                  <a:ea typeface="Space Grotesk"/>
                  <a:cs typeface="Space Grotesk"/>
                  <a:sym typeface="Space Grotesk"/>
                </a:rPr>
                <a:t>Research Papers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(under Review)</a:t>
              </a:r>
              <a:endParaRPr sz="994" i="1" dirty="0">
                <a:solidFill>
                  <a:srgbClr val="94A3B8"/>
                </a:solidFill>
                <a:latin typeface="Space Grotesk"/>
                <a:ea typeface="Space Grotesk"/>
                <a:cs typeface="Space Grotesk"/>
                <a:sym typeface="Space Grotesk"/>
              </a:endParaRPr>
            </a:p>
            <a:p>
              <a:pPr marL="0" lvl="0" indent="0" algn="ctr" rtl="0">
                <a:spcBef>
                  <a:spcPts val="932"/>
                </a:spcBef>
                <a:spcAft>
                  <a:spcPts val="0"/>
                </a:spcAft>
                <a:buNone/>
              </a:pPr>
              <a:r>
                <a:rPr lang="en-US" sz="2733" b="1" dirty="0">
                  <a:solidFill>
                    <a:srgbClr val="FFFFFF"/>
                  </a:solidFill>
                  <a:latin typeface="Space Grotesk"/>
                  <a:ea typeface="Space Grotesk"/>
                  <a:cs typeface="Space Grotesk"/>
                  <a:sym typeface="Space Grotesk"/>
                </a:rPr>
                <a:t>2 </a:t>
              </a:r>
              <a:r>
                <a:rPr lang="en-US" sz="1242" b="0" dirty="0">
                  <a:solidFill>
                    <a:srgbClr val="2BDEFD"/>
                  </a:solidFill>
                  <a:latin typeface="Space Grotesk"/>
                  <a:ea typeface="Space Grotesk"/>
                  <a:cs typeface="Space Grotesk"/>
                  <a:sym typeface="Space Grotesk"/>
                </a:rPr>
                <a:t>Patents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(1  Accepted)</a:t>
              </a:r>
              <a:endParaRPr sz="994" i="1" dirty="0">
                <a:solidFill>
                  <a:srgbClr val="94A3B8"/>
                </a:solidFill>
                <a:latin typeface="Space Grotesk"/>
                <a:ea typeface="Space Grotesk"/>
                <a:cs typeface="Space Grotesk"/>
                <a:sym typeface="Space Grotes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07008"/>
          </a:xfrm>
          <a:prstGeom prst="rect">
            <a:avLst/>
          </a:prstGeom>
          <a:solidFill>
            <a:srgbClr val="0F203C"/>
          </a:solidFill>
          <a:ln w="12700">
            <a:solidFill>
              <a:srgbClr val="0F203C"/>
            </a:solidFill>
            <a:prstDash val="solid"/>
          </a:ln>
        </p:spPr>
        <p:txBody>
          <a:bodyPr/>
          <a:lstStyle/>
          <a:p>
            <a:endParaRPr/>
          </a:p>
        </p:txBody>
      </p:sp>
      <p:sp>
        <p:nvSpPr>
          <p:cNvPr id="3" name="Shape 1"/>
          <p:cNvSpPr/>
          <p:nvPr/>
        </p:nvSpPr>
        <p:spPr>
          <a:xfrm>
            <a:off x="0" y="1207008"/>
            <a:ext cx="9144000" cy="45720"/>
          </a:xfrm>
          <a:prstGeom prst="rect">
            <a:avLst/>
          </a:prstGeom>
          <a:solidFill>
            <a:srgbClr val="00B4D8"/>
          </a:solidFill>
          <a:ln w="12700">
            <a:solidFill>
              <a:srgbClr val="00B4D8"/>
            </a:solidFill>
            <a:prstDash val="solid"/>
          </a:ln>
        </p:spPr>
        <p:txBody>
          <a:bodyPr/>
          <a:lstStyle/>
          <a:p>
            <a:endParaRPr/>
          </a:p>
        </p:txBody>
      </p:sp>
      <p:sp>
        <p:nvSpPr>
          <p:cNvPr id="4" name="Text 2"/>
          <p:cNvSpPr/>
          <p:nvPr/>
        </p:nvSpPr>
        <p:spPr>
          <a:xfrm>
            <a:off x="347472" y="91440"/>
            <a:ext cx="8412480" cy="201168"/>
          </a:xfrm>
          <a:prstGeom prst="rect">
            <a:avLst/>
          </a:prstGeom>
          <a:noFill/>
          <a:ln/>
        </p:spPr>
        <p:txBody>
          <a:bodyPr wrap="square" lIns="0" tIns="0" rIns="0" bIns="0" rtlCol="0" anchor="ctr"/>
          <a:lstStyle/>
          <a:p>
            <a:pPr marL="0" indent="0">
              <a:buNone/>
            </a:pPr>
            <a:r>
              <a:rPr lang="en-US" sz="750" b="1" kern="0" spc="250" dirty="0">
                <a:solidFill>
                  <a:srgbClr val="00B4D8"/>
                </a:solidFill>
                <a:latin typeface="Calibri" pitchFamily="34" charset="0"/>
                <a:ea typeface="Calibri" pitchFamily="34" charset="-122"/>
                <a:cs typeface="Calibri" pitchFamily="34" charset="-120"/>
              </a:rPr>
              <a:t>CRYSTAL PARADIGM  ·  SCIDIP APPLICATION</a:t>
            </a:r>
            <a:endParaRPr lang="en-US" sz="750" dirty="0"/>
          </a:p>
        </p:txBody>
      </p:sp>
      <p:sp>
        <p:nvSpPr>
          <p:cNvPr id="5" name="Text 3"/>
          <p:cNvSpPr/>
          <p:nvPr/>
        </p:nvSpPr>
        <p:spPr>
          <a:xfrm>
            <a:off x="347472" y="274320"/>
            <a:ext cx="8412480" cy="566928"/>
          </a:xfrm>
          <a:prstGeom prst="rect">
            <a:avLst/>
          </a:prstGeom>
          <a:noFill/>
          <a:ln/>
        </p:spPr>
        <p:txBody>
          <a:bodyPr wrap="square" lIns="0" tIns="0" rIns="0" bIns="0" rtlCol="0" anchor="ctr"/>
          <a:lstStyle/>
          <a:p>
            <a:pPr marL="0" indent="0">
              <a:buNone/>
            </a:pPr>
            <a:r>
              <a:rPr lang="en-US" sz="2200" b="1" kern="0" spc="120" dirty="0">
                <a:solidFill>
                  <a:srgbClr val="FFFFFF"/>
                </a:solidFill>
                <a:latin typeface="Calibri" pitchFamily="34" charset="0"/>
                <a:ea typeface="Calibri" pitchFamily="34" charset="-122"/>
                <a:cs typeface="Calibri" pitchFamily="34" charset="-120"/>
              </a:rPr>
              <a:t>STRATEGIC ALIGNMENT: SCIDIP FOCUS AREAS</a:t>
            </a:r>
            <a:endParaRPr lang="en-US" sz="2200" dirty="0"/>
          </a:p>
        </p:txBody>
      </p:sp>
      <p:sp>
        <p:nvSpPr>
          <p:cNvPr id="6" name="Text 4"/>
          <p:cNvSpPr/>
          <p:nvPr/>
        </p:nvSpPr>
        <p:spPr>
          <a:xfrm>
            <a:off x="347472" y="859536"/>
            <a:ext cx="8412480" cy="274320"/>
          </a:xfrm>
          <a:prstGeom prst="rect">
            <a:avLst/>
          </a:prstGeom>
          <a:noFill/>
          <a:ln/>
        </p:spPr>
        <p:txBody>
          <a:bodyPr wrap="square" lIns="0" tIns="0" rIns="0" bIns="0" rtlCol="0" anchor="ctr"/>
          <a:lstStyle/>
          <a:p>
            <a:pPr marL="0" indent="0">
              <a:buNone/>
            </a:pPr>
            <a:r>
              <a:rPr lang="en-US" sz="1000" i="1" dirty="0">
                <a:solidFill>
                  <a:srgbClr val="8BBFD8"/>
                </a:solidFill>
                <a:latin typeface="Calibri" pitchFamily="34" charset="0"/>
                <a:ea typeface="Calibri" pitchFamily="34" charset="-122"/>
                <a:cs typeface="Calibri" pitchFamily="34" charset="-120"/>
              </a:rPr>
              <a:t>Bridging the gap between AI-driven discovery and physical bulk materials.</a:t>
            </a:r>
            <a:endParaRPr lang="en-US" sz="1000" dirty="0"/>
          </a:p>
        </p:txBody>
      </p:sp>
      <p:sp>
        <p:nvSpPr>
          <p:cNvPr id="7" name="Shape 5"/>
          <p:cNvSpPr/>
          <p:nvPr/>
        </p:nvSpPr>
        <p:spPr>
          <a:xfrm>
            <a:off x="256032"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8" name="Shape 6"/>
          <p:cNvSpPr/>
          <p:nvPr/>
        </p:nvSpPr>
        <p:spPr>
          <a:xfrm>
            <a:off x="256032" y="1371600"/>
            <a:ext cx="4224528" cy="64008"/>
          </a:xfrm>
          <a:prstGeom prst="rect">
            <a:avLst/>
          </a:prstGeom>
          <a:solidFill>
            <a:srgbClr val="00B4D8"/>
          </a:solidFill>
          <a:ln w="12700">
            <a:solidFill>
              <a:srgbClr val="00B4D8"/>
            </a:solidFill>
            <a:prstDash val="solid"/>
          </a:ln>
        </p:spPr>
        <p:txBody>
          <a:bodyPr/>
          <a:lstStyle/>
          <a:p>
            <a:endParaRPr/>
          </a:p>
        </p:txBody>
      </p:sp>
      <p:sp>
        <p:nvSpPr>
          <p:cNvPr id="9" name="Text 7"/>
          <p:cNvSpPr/>
          <p:nvPr/>
        </p:nvSpPr>
        <p:spPr>
          <a:xfrm>
            <a:off x="438912"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1</a:t>
            </a:r>
            <a:endParaRPr lang="en-US" sz="800" dirty="0"/>
          </a:p>
        </p:txBody>
      </p:sp>
      <p:sp>
        <p:nvSpPr>
          <p:cNvPr id="10" name="Text 8"/>
          <p:cNvSpPr/>
          <p:nvPr/>
        </p:nvSpPr>
        <p:spPr>
          <a:xfrm>
            <a:off x="438912" y="1645920"/>
            <a:ext cx="3950208" cy="320040"/>
          </a:xfrm>
          <a:prstGeom prst="rect">
            <a:avLst/>
          </a:prstGeom>
          <a:noFill/>
          <a:ln/>
        </p:spPr>
        <p:txBody>
          <a:bodyPr wrap="square" lIns="0" tIns="0" rIns="0" bIns="0" rtlCol="0" anchor="ctr"/>
          <a:lstStyle/>
          <a:p>
            <a:pPr marL="0" indent="0">
              <a:buNone/>
            </a:pPr>
            <a:r>
              <a:rPr lang="en-US" sz="1450" b="1" kern="0" spc="80" dirty="0">
                <a:solidFill>
                  <a:srgbClr val="0F203C"/>
                </a:solidFill>
                <a:latin typeface="Calibri" pitchFamily="34" charset="0"/>
                <a:ea typeface="Calibri" pitchFamily="34" charset="-122"/>
                <a:cs typeface="Calibri" pitchFamily="34" charset="-120"/>
              </a:rPr>
              <a:t>ADVANCED MATERIALS</a:t>
            </a:r>
            <a:endParaRPr lang="en-US" sz="1450" dirty="0"/>
          </a:p>
        </p:txBody>
      </p:sp>
      <p:sp>
        <p:nvSpPr>
          <p:cNvPr id="11" name="Text 9"/>
          <p:cNvSpPr/>
          <p:nvPr/>
        </p:nvSpPr>
        <p:spPr>
          <a:xfrm>
            <a:off x="438912"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Multi-Material Systems, Gradients &amp; Additive Processes</a:t>
            </a:r>
            <a:endParaRPr lang="en-US" sz="950" dirty="0"/>
          </a:p>
        </p:txBody>
      </p:sp>
      <p:sp>
        <p:nvSpPr>
          <p:cNvPr id="12" name="Shape 10"/>
          <p:cNvSpPr/>
          <p:nvPr/>
        </p:nvSpPr>
        <p:spPr>
          <a:xfrm>
            <a:off x="438912" y="2249424"/>
            <a:ext cx="3858768" cy="0"/>
          </a:xfrm>
          <a:prstGeom prst="line">
            <a:avLst/>
          </a:prstGeom>
          <a:noFill/>
          <a:ln w="9525">
            <a:solidFill>
              <a:srgbClr val="D6E4EF"/>
            </a:solidFill>
            <a:prstDash val="solid"/>
          </a:ln>
        </p:spPr>
        <p:txBody>
          <a:bodyPr/>
          <a:lstStyle/>
          <a:p>
            <a:endParaRPr/>
          </a:p>
        </p:txBody>
      </p:sp>
      <p:sp>
        <p:nvSpPr>
          <p:cNvPr id="13" name="Shape 11"/>
          <p:cNvSpPr/>
          <p:nvPr/>
        </p:nvSpPr>
        <p:spPr>
          <a:xfrm>
            <a:off x="438912" y="2377440"/>
            <a:ext cx="82296" cy="82296"/>
          </a:xfrm>
          <a:prstGeom prst="ellipse">
            <a:avLst/>
          </a:prstGeom>
          <a:solidFill>
            <a:srgbClr val="00B4D8"/>
          </a:solidFill>
          <a:ln w="12700">
            <a:solidFill>
              <a:srgbClr val="00B4D8"/>
            </a:solidFill>
            <a:prstDash val="solid"/>
          </a:ln>
        </p:spPr>
        <p:txBody>
          <a:bodyPr/>
          <a:lstStyle/>
          <a:p>
            <a:endParaRPr/>
          </a:p>
        </p:txBody>
      </p:sp>
      <p:sp>
        <p:nvSpPr>
          <p:cNvPr id="14" name="Text 12"/>
          <p:cNvSpPr/>
          <p:nvPr/>
        </p:nvSpPr>
        <p:spPr>
          <a:xfrm>
            <a:off x="585216"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Multi-Material TBCs: Solved the 1400°C CTE mismatch using an integrated Lanthanum Zirconate (LZO) ceramic coating coupled with a refractory HEA core.</a:t>
            </a:r>
            <a:endParaRPr lang="en-US" sz="950" dirty="0"/>
          </a:p>
        </p:txBody>
      </p:sp>
      <p:sp>
        <p:nvSpPr>
          <p:cNvPr id="15" name="Shape 13"/>
          <p:cNvSpPr/>
          <p:nvPr/>
        </p:nvSpPr>
        <p:spPr>
          <a:xfrm>
            <a:off x="438912" y="2953512"/>
            <a:ext cx="82296" cy="82296"/>
          </a:xfrm>
          <a:prstGeom prst="ellipse">
            <a:avLst/>
          </a:prstGeom>
          <a:solidFill>
            <a:srgbClr val="00B4D8"/>
          </a:solidFill>
          <a:ln w="12700">
            <a:solidFill>
              <a:srgbClr val="00B4D8"/>
            </a:solidFill>
            <a:prstDash val="solid"/>
          </a:ln>
        </p:spPr>
        <p:txBody>
          <a:bodyPr/>
          <a:lstStyle/>
          <a:p>
            <a:endParaRPr/>
          </a:p>
        </p:txBody>
      </p:sp>
      <p:sp>
        <p:nvSpPr>
          <p:cNvPr id="16" name="Text 14"/>
          <p:cNvSpPr/>
          <p:nvPr/>
        </p:nvSpPr>
        <p:spPr>
          <a:xfrm>
            <a:off x="585216"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Physical &amp; Mechanical Gradients: Our 11-layer Functionally Graded Material (FGM) completely eliminates macro-stress concentrations at the coating interface.</a:t>
            </a:r>
            <a:endParaRPr lang="en-US" sz="950" dirty="0"/>
          </a:p>
        </p:txBody>
      </p:sp>
      <p:sp>
        <p:nvSpPr>
          <p:cNvPr id="17" name="Shape 15"/>
          <p:cNvSpPr/>
          <p:nvPr/>
        </p:nvSpPr>
        <p:spPr>
          <a:xfrm>
            <a:off x="438912" y="3529584"/>
            <a:ext cx="82296" cy="82296"/>
          </a:xfrm>
          <a:prstGeom prst="ellipse">
            <a:avLst/>
          </a:prstGeom>
          <a:solidFill>
            <a:srgbClr val="00B4D8"/>
          </a:solidFill>
          <a:ln w="12700">
            <a:solidFill>
              <a:srgbClr val="00B4D8"/>
            </a:solidFill>
            <a:prstDash val="solid"/>
          </a:ln>
        </p:spPr>
        <p:txBody>
          <a:bodyPr/>
          <a:lstStyle/>
          <a:p>
            <a:endParaRPr/>
          </a:p>
        </p:txBody>
      </p:sp>
      <p:sp>
        <p:nvSpPr>
          <p:cNvPr id="18" name="Text 16"/>
          <p:cNvSpPr/>
          <p:nvPr/>
        </p:nvSpPr>
        <p:spPr>
          <a:xfrm>
            <a:off x="585216"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Additive Processes: The entire architecture is formulated for immediate multi-hopper Laser Engineered Net Shaping (LENS / DED) 3D printing.</a:t>
            </a:r>
            <a:endParaRPr lang="en-US" sz="950" dirty="0"/>
          </a:p>
        </p:txBody>
      </p:sp>
      <p:sp>
        <p:nvSpPr>
          <p:cNvPr id="19" name="Shape 17"/>
          <p:cNvSpPr/>
          <p:nvPr/>
        </p:nvSpPr>
        <p:spPr>
          <a:xfrm>
            <a:off x="4663440"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20" name="Shape 18"/>
          <p:cNvSpPr/>
          <p:nvPr/>
        </p:nvSpPr>
        <p:spPr>
          <a:xfrm>
            <a:off x="4663440" y="1371600"/>
            <a:ext cx="4224528" cy="64008"/>
          </a:xfrm>
          <a:prstGeom prst="rect">
            <a:avLst/>
          </a:prstGeom>
          <a:solidFill>
            <a:srgbClr val="00B4D8"/>
          </a:solidFill>
          <a:ln w="12700">
            <a:solidFill>
              <a:srgbClr val="00B4D8"/>
            </a:solidFill>
            <a:prstDash val="solid"/>
          </a:ln>
        </p:spPr>
        <p:txBody>
          <a:bodyPr/>
          <a:lstStyle/>
          <a:p>
            <a:endParaRPr/>
          </a:p>
        </p:txBody>
      </p:sp>
      <p:sp>
        <p:nvSpPr>
          <p:cNvPr id="21" name="Text 19"/>
          <p:cNvSpPr/>
          <p:nvPr/>
        </p:nvSpPr>
        <p:spPr>
          <a:xfrm>
            <a:off x="4846320"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2</a:t>
            </a:r>
            <a:endParaRPr lang="en-US" sz="800" dirty="0"/>
          </a:p>
        </p:txBody>
      </p:sp>
      <p:sp>
        <p:nvSpPr>
          <p:cNvPr id="22" name="Text 20"/>
          <p:cNvSpPr/>
          <p:nvPr/>
        </p:nvSpPr>
        <p:spPr>
          <a:xfrm>
            <a:off x="4846320" y="1645920"/>
            <a:ext cx="3950208" cy="320040"/>
          </a:xfrm>
          <a:prstGeom prst="rect">
            <a:avLst/>
          </a:prstGeom>
          <a:noFill/>
          <a:ln/>
        </p:spPr>
        <p:txBody>
          <a:bodyPr wrap="square" lIns="0" tIns="0" rIns="0" bIns="0" rtlCol="0" anchor="ctr"/>
          <a:lstStyle/>
          <a:p>
            <a:pPr marL="0" indent="0">
              <a:buNone/>
            </a:pPr>
            <a:r>
              <a:rPr lang="en-US" sz="1250" b="1" kern="0" spc="60" dirty="0">
                <a:solidFill>
                  <a:srgbClr val="0F203C"/>
                </a:solidFill>
                <a:latin typeface="Calibri" pitchFamily="34" charset="0"/>
                <a:ea typeface="Calibri" pitchFamily="34" charset="-122"/>
                <a:cs typeface="Calibri" pitchFamily="34" charset="-120"/>
              </a:rPr>
              <a:t>INDUSTRY 4.0 &amp; AI</a:t>
            </a:r>
            <a:endParaRPr lang="en-US" sz="1250" dirty="0"/>
          </a:p>
        </p:txBody>
      </p:sp>
      <p:sp>
        <p:nvSpPr>
          <p:cNvPr id="23" name="Text 21"/>
          <p:cNvSpPr/>
          <p:nvPr/>
        </p:nvSpPr>
        <p:spPr>
          <a:xfrm>
            <a:off x="4846320"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AI-Driven Design, Simulation &amp; Digital Twins</a:t>
            </a:r>
            <a:endParaRPr lang="en-US" sz="950" dirty="0"/>
          </a:p>
        </p:txBody>
      </p:sp>
      <p:sp>
        <p:nvSpPr>
          <p:cNvPr id="24" name="Shape 22"/>
          <p:cNvSpPr/>
          <p:nvPr/>
        </p:nvSpPr>
        <p:spPr>
          <a:xfrm>
            <a:off x="4846320" y="2249424"/>
            <a:ext cx="3858768" cy="0"/>
          </a:xfrm>
          <a:prstGeom prst="line">
            <a:avLst/>
          </a:prstGeom>
          <a:noFill/>
          <a:ln w="9525">
            <a:solidFill>
              <a:srgbClr val="D6E4EF"/>
            </a:solidFill>
            <a:prstDash val="solid"/>
          </a:ln>
        </p:spPr>
        <p:txBody>
          <a:bodyPr/>
          <a:lstStyle/>
          <a:p>
            <a:endParaRPr/>
          </a:p>
        </p:txBody>
      </p:sp>
      <p:sp>
        <p:nvSpPr>
          <p:cNvPr id="25" name="Shape 23"/>
          <p:cNvSpPr/>
          <p:nvPr/>
        </p:nvSpPr>
        <p:spPr>
          <a:xfrm>
            <a:off x="4846320" y="2377440"/>
            <a:ext cx="82296" cy="82296"/>
          </a:xfrm>
          <a:prstGeom prst="ellipse">
            <a:avLst/>
          </a:prstGeom>
          <a:solidFill>
            <a:srgbClr val="00B4D8"/>
          </a:solidFill>
          <a:ln w="12700">
            <a:solidFill>
              <a:srgbClr val="00B4D8"/>
            </a:solidFill>
            <a:prstDash val="solid"/>
          </a:ln>
        </p:spPr>
        <p:txBody>
          <a:bodyPr/>
          <a:lstStyle/>
          <a:p>
            <a:endParaRPr/>
          </a:p>
        </p:txBody>
      </p:sp>
      <p:sp>
        <p:nvSpPr>
          <p:cNvPr id="26" name="Text 24"/>
          <p:cNvSpPr/>
          <p:nvPr/>
        </p:nvSpPr>
        <p:spPr>
          <a:xfrm>
            <a:off x="4992624"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AI for Composite Architectures: Deployed Constrained Differential Evolution (DE) combined with Random Forest surrogates to navigate a 9-element hypercube in minutes.</a:t>
            </a:r>
            <a:endParaRPr lang="en-US" sz="950" dirty="0"/>
          </a:p>
        </p:txBody>
      </p:sp>
      <p:sp>
        <p:nvSpPr>
          <p:cNvPr id="27" name="Shape 25"/>
          <p:cNvSpPr/>
          <p:nvPr/>
        </p:nvSpPr>
        <p:spPr>
          <a:xfrm>
            <a:off x="4846320" y="2953512"/>
            <a:ext cx="82296" cy="82296"/>
          </a:xfrm>
          <a:prstGeom prst="ellipse">
            <a:avLst/>
          </a:prstGeom>
          <a:solidFill>
            <a:srgbClr val="00B4D8"/>
          </a:solidFill>
          <a:ln w="12700">
            <a:solidFill>
              <a:srgbClr val="00B4D8"/>
            </a:solidFill>
            <a:prstDash val="solid"/>
          </a:ln>
        </p:spPr>
        <p:txBody>
          <a:bodyPr/>
          <a:lstStyle/>
          <a:p>
            <a:endParaRPr/>
          </a:p>
        </p:txBody>
      </p:sp>
      <p:sp>
        <p:nvSpPr>
          <p:cNvPr id="28" name="Text 26"/>
          <p:cNvSpPr/>
          <p:nvPr/>
        </p:nvSpPr>
        <p:spPr>
          <a:xfrm>
            <a:off x="4992624"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Numerical Performance Simulation: Validated candidates via 3D FEniCS FEA stress grids (Aerospace SF = 1.71) and MACE/CHGNet ML Force Field Molecular Dynamics.</a:t>
            </a:r>
            <a:endParaRPr lang="en-US" sz="950" dirty="0"/>
          </a:p>
        </p:txBody>
      </p:sp>
      <p:sp>
        <p:nvSpPr>
          <p:cNvPr id="29" name="Shape 27"/>
          <p:cNvSpPr/>
          <p:nvPr/>
        </p:nvSpPr>
        <p:spPr>
          <a:xfrm>
            <a:off x="4846320" y="3529584"/>
            <a:ext cx="82296" cy="82296"/>
          </a:xfrm>
          <a:prstGeom prst="ellipse">
            <a:avLst/>
          </a:prstGeom>
          <a:solidFill>
            <a:srgbClr val="00B4D8"/>
          </a:solidFill>
          <a:ln w="12700">
            <a:solidFill>
              <a:srgbClr val="00B4D8"/>
            </a:solidFill>
            <a:prstDash val="solid"/>
          </a:ln>
        </p:spPr>
        <p:txBody>
          <a:bodyPr/>
          <a:lstStyle/>
          <a:p>
            <a:endParaRPr/>
          </a:p>
        </p:txBody>
      </p:sp>
      <p:sp>
        <p:nvSpPr>
          <p:cNvPr id="30" name="Text 28"/>
          <p:cNvSpPr/>
          <p:nvPr/>
        </p:nvSpPr>
        <p:spPr>
          <a:xfrm>
            <a:off x="4992624"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Chemical Gradients: Automatically converts continuous AI property curves into discrete, print-ready metal-ceramic gradient parameters.</a:t>
            </a:r>
            <a:endParaRPr lang="en-US" sz="950" dirty="0"/>
          </a:p>
        </p:txBody>
      </p:sp>
      <p:sp>
        <p:nvSpPr>
          <p:cNvPr id="31" name="Shape 29"/>
          <p:cNvSpPr/>
          <p:nvPr/>
        </p:nvSpPr>
        <p:spPr>
          <a:xfrm>
            <a:off x="0" y="4599432"/>
            <a:ext cx="9144000" cy="45720"/>
          </a:xfrm>
          <a:prstGeom prst="rect">
            <a:avLst/>
          </a:prstGeom>
          <a:solidFill>
            <a:srgbClr val="00B4D8"/>
          </a:solidFill>
          <a:ln w="12700">
            <a:solidFill>
              <a:srgbClr val="00B4D8"/>
            </a:solidFill>
            <a:prstDash val="solid"/>
          </a:ln>
        </p:spPr>
        <p:txBody>
          <a:bodyPr/>
          <a:lstStyle/>
          <a:p>
            <a:endParaRPr/>
          </a:p>
        </p:txBody>
      </p:sp>
      <p:sp>
        <p:nvSpPr>
          <p:cNvPr id="32" name="Shape 30"/>
          <p:cNvSpPr/>
          <p:nvPr/>
        </p:nvSpPr>
        <p:spPr>
          <a:xfrm>
            <a:off x="0" y="4645152"/>
            <a:ext cx="9144000" cy="544068"/>
          </a:xfrm>
          <a:prstGeom prst="rect">
            <a:avLst/>
          </a:prstGeom>
          <a:solidFill>
            <a:srgbClr val="0F203C"/>
          </a:solidFill>
          <a:ln w="12700">
            <a:solidFill>
              <a:srgbClr val="0F203C"/>
            </a:solidFill>
            <a:prstDash val="solid"/>
          </a:ln>
        </p:spPr>
        <p:txBody>
          <a:bodyPr/>
          <a:lstStyle/>
          <a:p>
            <a:endParaRPr/>
          </a:p>
        </p:txBody>
      </p:sp>
      <p:sp>
        <p:nvSpPr>
          <p:cNvPr id="33" name="Shape 31"/>
          <p:cNvSpPr/>
          <p:nvPr/>
        </p:nvSpPr>
        <p:spPr>
          <a:xfrm>
            <a:off x="256032" y="4718304"/>
            <a:ext cx="1417320" cy="292608"/>
          </a:xfrm>
          <a:prstGeom prst="rect">
            <a:avLst/>
          </a:prstGeom>
          <a:solidFill>
            <a:srgbClr val="00B4D8"/>
          </a:solidFill>
          <a:ln w="12700">
            <a:solidFill>
              <a:srgbClr val="00B4D8"/>
            </a:solidFill>
            <a:prstDash val="solid"/>
          </a:ln>
        </p:spPr>
        <p:txBody>
          <a:bodyPr/>
          <a:lstStyle/>
          <a:p>
            <a:endParaRPr/>
          </a:p>
        </p:txBody>
      </p:sp>
      <p:sp>
        <p:nvSpPr>
          <p:cNvPr id="34" name="Text 32"/>
          <p:cNvSpPr/>
          <p:nvPr/>
        </p:nvSpPr>
        <p:spPr>
          <a:xfrm>
            <a:off x="256032" y="4718304"/>
            <a:ext cx="1417320" cy="292608"/>
          </a:xfrm>
          <a:prstGeom prst="rect">
            <a:avLst/>
          </a:prstGeom>
          <a:noFill/>
          <a:ln/>
        </p:spPr>
        <p:txBody>
          <a:bodyPr wrap="square" lIns="0" tIns="0" rIns="0" bIns="0" rtlCol="0" anchor="ctr"/>
          <a:lstStyle/>
          <a:p>
            <a:pPr marL="0" indent="0" algn="ctr">
              <a:buNone/>
            </a:pPr>
            <a:r>
              <a:rPr lang="en-US" sz="750" b="1" kern="0" spc="150" dirty="0">
                <a:solidFill>
                  <a:srgbClr val="0F203C"/>
                </a:solidFill>
                <a:latin typeface="Calibri" pitchFamily="34" charset="0"/>
                <a:ea typeface="Calibri" pitchFamily="34" charset="-122"/>
                <a:cs typeface="Calibri" pitchFamily="34" charset="-120"/>
              </a:rPr>
              <a:t>THE UNIFIED SOLUTION</a:t>
            </a:r>
            <a:endParaRPr lang="en-US" sz="750" dirty="0"/>
          </a:p>
        </p:txBody>
      </p:sp>
      <p:sp>
        <p:nvSpPr>
          <p:cNvPr id="35" name="Shape 33"/>
          <p:cNvSpPr/>
          <p:nvPr/>
        </p:nvSpPr>
        <p:spPr>
          <a:xfrm>
            <a:off x="1828800" y="4709160"/>
            <a:ext cx="0" cy="310896"/>
          </a:xfrm>
          <a:prstGeom prst="line">
            <a:avLst/>
          </a:prstGeom>
          <a:noFill/>
          <a:ln w="19050">
            <a:solidFill>
              <a:srgbClr val="1E3A57"/>
            </a:solidFill>
            <a:prstDash val="solid"/>
          </a:ln>
        </p:spPr>
        <p:txBody>
          <a:bodyPr/>
          <a:lstStyle/>
          <a:p>
            <a:endParaRPr/>
          </a:p>
        </p:txBody>
      </p:sp>
      <p:sp>
        <p:nvSpPr>
          <p:cNvPr id="36" name="Text 34"/>
          <p:cNvSpPr/>
          <p:nvPr/>
        </p:nvSpPr>
        <p:spPr>
          <a:xfrm>
            <a:off x="1993392" y="4690872"/>
            <a:ext cx="6949440" cy="384048"/>
          </a:xfrm>
          <a:prstGeom prst="rect">
            <a:avLst/>
          </a:prstGeom>
          <a:noFill/>
          <a:ln/>
        </p:spPr>
        <p:txBody>
          <a:bodyPr wrap="square" lIns="0" tIns="0" rIns="0" bIns="0" rtlCol="0" anchor="ctr"/>
          <a:lstStyle/>
          <a:p>
            <a:pPr marL="0" indent="0">
              <a:buNone/>
            </a:pPr>
            <a:r>
              <a:rPr lang="en-US" sz="1100" dirty="0">
                <a:solidFill>
                  <a:srgbClr val="D0E8F5"/>
                </a:solidFill>
                <a:latin typeface="Calibri" pitchFamily="34" charset="0"/>
                <a:ea typeface="Calibri" pitchFamily="34" charset="-122"/>
                <a:cs typeface="Calibri" pitchFamily="34" charset="-120"/>
              </a:rPr>
              <a:t>Crystal Paradigm does not just provide a material (Focus Area 1) or software (Focus Area 2) - we provide a complete, unbroken data-to-manufacturing pipeline.</a:t>
            </a:r>
            <a:endParaRPr lang="en-US" sz="11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CHALLENGE WE WERE CALLED TO SOLVE</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How Crystal Paradigm Was Born: From an Aerospace Emergency to an Indian Mobility Revolution</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61872"/>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1645920" cy="164592"/>
          </a:xfrm>
          <a:prstGeom prst="rect">
            <a:avLst/>
          </a:prstGeom>
          <a:noFill/>
        </p:spPr>
        <p:txBody>
          <a:bodyPr wrap="square" lIns="0" rIns="0" tIns="25400" bIns="25400">
            <a:spAutoFit/>
          </a:bodyPr>
          <a:lstStyle/>
          <a:p>
            <a:pPr algn="l"/>
            <a:r>
              <a:rPr sz="800" b="1" i="0">
                <a:solidFill>
                  <a:srgbClr val="00B4D8"/>
                </a:solidFill>
              </a:rPr>
              <a:t>THE ORIGINATING PROBLEM</a:t>
            </a:r>
          </a:p>
        </p:txBody>
      </p:sp>
      <p:sp>
        <p:nvSpPr>
          <p:cNvPr id="9" name="TextBox 8"/>
          <p:cNvSpPr txBox="1"/>
          <p:nvPr/>
        </p:nvSpPr>
        <p:spPr>
          <a:xfrm>
            <a:off x="402336" y="1572768"/>
            <a:ext cx="3840480" cy="274320"/>
          </a:xfrm>
          <a:prstGeom prst="rect">
            <a:avLst/>
          </a:prstGeom>
          <a:noFill/>
        </p:spPr>
        <p:txBody>
          <a:bodyPr wrap="square" lIns="0" rIns="0" tIns="25400" bIns="25400">
            <a:spAutoFit/>
          </a:bodyPr>
          <a:lstStyle/>
          <a:p>
            <a:pPr algn="l"/>
            <a:r>
              <a:rPr sz="1300" b="1" i="0">
                <a:solidFill>
                  <a:srgbClr val="1A365D"/>
                </a:solidFill>
              </a:rPr>
              <a:t>The 1,400°C Thermal Fire Limit</a:t>
            </a:r>
          </a:p>
        </p:txBody>
      </p:sp>
      <p:sp>
        <p:nvSpPr>
          <p:cNvPr id="10" name="Rectangle 9"/>
          <p:cNvSpPr/>
          <p:nvPr/>
        </p:nvSpPr>
        <p:spPr>
          <a:xfrm>
            <a:off x="402336"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1938528"/>
            <a:ext cx="3840480" cy="2468880"/>
          </a:xfrm>
          <a:prstGeom prst="rect">
            <a:avLst/>
          </a:prstGeom>
          <a:noFill/>
        </p:spPr>
        <p:txBody>
          <a:bodyPr wrap="square">
            <a:spAutoFit/>
          </a:bodyPr>
          <a:lstStyle/>
          <a:p>
            <a:pPr>
              <a:spcAft>
                <a:spcPts val="400"/>
              </a:spcAft>
            </a:pPr>
            <a:r>
              <a:rPr sz="850" b="0">
                <a:solidFill>
                  <a:srgbClr val="111111"/>
                </a:solidFill>
              </a:rPr>
              <a:t>Modern gas turbine engines breach 1,400°C Turbine Entry Temperature (TET). This temperature exceeds the melting point of conventional nickel-based superalloys — the industry's gold standard for 60 years.</a:t>
            </a:r>
          </a:p>
          <a:p>
            <a:pPr>
              <a:spcAft>
                <a:spcPts val="400"/>
              </a:spcAft>
            </a:pPr>
            <a:r>
              <a:rPr sz="400" b="0">
                <a:solidFill>
                  <a:srgbClr val="111111"/>
                </a:solidFill>
              </a:rPr>
              <a:t/>
            </a:r>
          </a:p>
          <a:p>
            <a:pPr>
              <a:spcAft>
                <a:spcPts val="400"/>
              </a:spcAft>
            </a:pPr>
            <a:r>
              <a:rPr sz="850" b="0">
                <a:solidFill>
                  <a:srgbClr val="111111"/>
                </a:solidFill>
              </a:rPr>
              <a:t>Traditional ceramic thermal barrier coatings (TBCs) FAIL at these temperatures because the massive Coefficient of Thermal Expansion (CTE) mismatch between the metal substrate and the ceramic layer causes violent spallation — the protective armor literally shatters off the turbine blade.</a:t>
            </a:r>
          </a:p>
          <a:p>
            <a:pPr>
              <a:spcAft>
                <a:spcPts val="400"/>
              </a:spcAft>
            </a:pPr>
            <a:r>
              <a:rPr sz="400" b="0">
                <a:solidFill>
                  <a:srgbClr val="111111"/>
                </a:solidFill>
              </a:rPr>
              <a:t/>
            </a:r>
          </a:p>
          <a:p>
            <a:pPr>
              <a:spcAft>
                <a:spcPts val="400"/>
              </a:spcAft>
            </a:pPr>
            <a:r>
              <a:rPr sz="850" b="1">
                <a:solidFill>
                  <a:srgbClr val="0F203C"/>
                </a:solidFill>
              </a:rPr>
              <a:t>The industry had no computational solution for this. Trial-and-error lab experiments take 5+ years per alloy composition. This was the exact vacuum Crystal Paradigm was built to fill.</a:t>
            </a:r>
          </a:p>
        </p:txBody>
      </p:sp>
      <p:sp>
        <p:nvSpPr>
          <p:cNvPr id="12" name="Rectangle 11"/>
          <p:cNvSpPr/>
          <p:nvPr/>
        </p:nvSpPr>
        <p:spPr>
          <a:xfrm>
            <a:off x="4700016"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0016" y="1261872"/>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1389888"/>
            <a:ext cx="3657600" cy="164592"/>
          </a:xfrm>
          <a:prstGeom prst="rect">
            <a:avLst/>
          </a:prstGeom>
          <a:noFill/>
        </p:spPr>
        <p:txBody>
          <a:bodyPr wrap="square" lIns="0" rIns="0" tIns="25400" bIns="25400">
            <a:spAutoFit/>
          </a:bodyPr>
          <a:lstStyle/>
          <a:p>
            <a:pPr algn="l"/>
            <a:r>
              <a:rPr sz="800" b="1" i="0">
                <a:solidFill>
                  <a:srgbClr val="00B4D8"/>
                </a:solidFill>
              </a:rPr>
              <a:t>THE TERRESTRIAL PIVOT — WHY SCIDIP</a:t>
            </a:r>
          </a:p>
        </p:txBody>
      </p:sp>
      <p:sp>
        <p:nvSpPr>
          <p:cNvPr id="15" name="TextBox 14"/>
          <p:cNvSpPr txBox="1"/>
          <p:nvPr/>
        </p:nvSpPr>
        <p:spPr>
          <a:xfrm>
            <a:off x="4846320" y="1572768"/>
            <a:ext cx="3840480" cy="274320"/>
          </a:xfrm>
          <a:prstGeom prst="rect">
            <a:avLst/>
          </a:prstGeom>
          <a:noFill/>
        </p:spPr>
        <p:txBody>
          <a:bodyPr wrap="square" lIns="0" rIns="0" tIns="25400" bIns="25400">
            <a:spAutoFit/>
          </a:bodyPr>
          <a:lstStyle/>
          <a:p>
            <a:pPr algn="l"/>
            <a:r>
              <a:rPr sz="1300" b="1" i="0">
                <a:solidFill>
                  <a:srgbClr val="1A365D"/>
                </a:solidFill>
              </a:rPr>
              <a:t>Sona Comstar Faces the Same Physics</a:t>
            </a:r>
          </a:p>
        </p:txBody>
      </p:sp>
      <p:sp>
        <p:nvSpPr>
          <p:cNvPr id="16" name="Rectangle 15"/>
          <p:cNvSpPr/>
          <p:nvPr/>
        </p:nvSpPr>
        <p:spPr>
          <a:xfrm>
            <a:off x="4846320"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199339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2624" y="1965960"/>
            <a:ext cx="3474720" cy="164592"/>
          </a:xfrm>
          <a:prstGeom prst="rect">
            <a:avLst/>
          </a:prstGeom>
          <a:noFill/>
        </p:spPr>
        <p:txBody>
          <a:bodyPr wrap="square" lIns="0" rIns="0" tIns="25400" bIns="25400">
            <a:spAutoFit/>
          </a:bodyPr>
          <a:lstStyle/>
          <a:p>
            <a:pPr algn="l"/>
            <a:r>
              <a:rPr sz="800" b="1" i="0">
                <a:solidFill>
                  <a:srgbClr val="00B4D8"/>
                </a:solidFill>
              </a:rPr>
              <a:t>FORGING DIES</a:t>
            </a:r>
          </a:p>
        </p:txBody>
      </p:sp>
      <p:sp>
        <p:nvSpPr>
          <p:cNvPr id="19" name="TextBox 18"/>
          <p:cNvSpPr txBox="1"/>
          <p:nvPr/>
        </p:nvSpPr>
        <p:spPr>
          <a:xfrm>
            <a:off x="4992624" y="2148840"/>
            <a:ext cx="3474720" cy="502920"/>
          </a:xfrm>
          <a:prstGeom prst="rect">
            <a:avLst/>
          </a:prstGeom>
          <a:noFill/>
        </p:spPr>
        <p:txBody>
          <a:bodyPr wrap="square" lIns="0" rIns="0" tIns="25400" bIns="25400">
            <a:spAutoFit/>
          </a:bodyPr>
          <a:lstStyle/>
          <a:p>
            <a:pPr algn="l"/>
            <a:r>
              <a:rPr sz="750" b="0" i="0">
                <a:solidFill>
                  <a:srgbClr val="111111"/>
                </a:solidFill>
              </a:rPr>
              <a:t>H13 tool steel dies hit yield-strength collapse at 1,200°C during high-speed differential gear forging — Sona Comstar's core revenue product. Die failure = manufacturing downtime = cost overruns.</a:t>
            </a:r>
          </a:p>
        </p:txBody>
      </p:sp>
      <p:sp>
        <p:nvSpPr>
          <p:cNvPr id="20" name="Rectangle 19"/>
          <p:cNvSpPr/>
          <p:nvPr/>
        </p:nvSpPr>
        <p:spPr>
          <a:xfrm>
            <a:off x="4846320" y="2679191"/>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46320" y="281635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92624" y="2788920"/>
            <a:ext cx="3474720" cy="164592"/>
          </a:xfrm>
          <a:prstGeom prst="rect">
            <a:avLst/>
          </a:prstGeom>
          <a:noFill/>
        </p:spPr>
        <p:txBody>
          <a:bodyPr wrap="square" lIns="0" rIns="0" tIns="25400" bIns="25400">
            <a:spAutoFit/>
          </a:bodyPr>
          <a:lstStyle/>
          <a:p>
            <a:pPr algn="l"/>
            <a:r>
              <a:rPr sz="800" b="1" i="0">
                <a:solidFill>
                  <a:srgbClr val="1A365D"/>
                </a:solidFill>
              </a:rPr>
              <a:t>EV TRACTION MOTORS</a:t>
            </a:r>
          </a:p>
        </p:txBody>
      </p:sp>
      <p:sp>
        <p:nvSpPr>
          <p:cNvPr id="23" name="TextBox 22"/>
          <p:cNvSpPr txBox="1"/>
          <p:nvPr/>
        </p:nvSpPr>
        <p:spPr>
          <a:xfrm>
            <a:off x="4992624" y="2971800"/>
            <a:ext cx="3474720" cy="502920"/>
          </a:xfrm>
          <a:prstGeom prst="rect">
            <a:avLst/>
          </a:prstGeom>
          <a:noFill/>
        </p:spPr>
        <p:txBody>
          <a:bodyPr wrap="square" lIns="0" rIns="0" tIns="25400" bIns="25400">
            <a:spAutoFit/>
          </a:bodyPr>
          <a:lstStyle/>
          <a:p>
            <a:pPr algn="l"/>
            <a:r>
              <a:rPr sz="750" b="0" i="0">
                <a:solidFill>
                  <a:srgbClr val="111111"/>
                </a:solidFill>
              </a:rPr>
              <a:t>Sona Comstar's SRM (Switched Reluctance Motor) program eliminates Neodymium, but extreme localized thermal hotspots degrade rotor/stator metals — limiting power density and motor life.</a:t>
            </a:r>
          </a:p>
        </p:txBody>
      </p:sp>
      <p:sp>
        <p:nvSpPr>
          <p:cNvPr id="24" name="Rectangle 23"/>
          <p:cNvSpPr/>
          <p:nvPr/>
        </p:nvSpPr>
        <p:spPr>
          <a:xfrm>
            <a:off x="4846320" y="3502152"/>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46320" y="363931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92624" y="3611879"/>
            <a:ext cx="3474720" cy="164592"/>
          </a:xfrm>
          <a:prstGeom prst="rect">
            <a:avLst/>
          </a:prstGeom>
          <a:noFill/>
        </p:spPr>
        <p:txBody>
          <a:bodyPr wrap="square" lIns="0" rIns="0" tIns="25400" bIns="25400">
            <a:spAutoFit/>
          </a:bodyPr>
          <a:lstStyle/>
          <a:p>
            <a:pPr algn="l"/>
            <a:r>
              <a:rPr sz="800" b="1" i="0">
                <a:solidFill>
                  <a:srgbClr val="059669"/>
                </a:solidFill>
              </a:rPr>
              <a:t>SUPPLY CHAIN RISK</a:t>
            </a:r>
          </a:p>
        </p:txBody>
      </p:sp>
      <p:sp>
        <p:nvSpPr>
          <p:cNvPr id="27" name="TextBox 26"/>
          <p:cNvSpPr txBox="1"/>
          <p:nvPr/>
        </p:nvSpPr>
        <p:spPr>
          <a:xfrm>
            <a:off x="4992624" y="3794759"/>
            <a:ext cx="3474720" cy="502920"/>
          </a:xfrm>
          <a:prstGeom prst="rect">
            <a:avLst/>
          </a:prstGeom>
          <a:noFill/>
        </p:spPr>
        <p:txBody>
          <a:bodyPr wrap="square" lIns="0" rIns="0" tIns="25400" bIns="25400">
            <a:spAutoFit/>
          </a:bodyPr>
          <a:lstStyle/>
          <a:p>
            <a:pPr algn="l"/>
            <a:r>
              <a:rPr sz="750" b="0" i="0">
                <a:solidFill>
                  <a:srgbClr val="111111"/>
                </a:solidFill>
              </a:rPr>
              <a:t>80%+ of global Neodymium and Hafnium is Chinese-controlled. One geopolitical shift collapses the supply chain for India's entire EV sector. True Aatmanirbharta demands an indigenous material solution.</a:t>
            </a:r>
          </a:p>
        </p:txBody>
      </p:sp>
      <p:sp>
        <p:nvSpPr>
          <p:cNvPr id="28" name="Rectangle 27"/>
          <p:cNvSpPr/>
          <p:nvPr/>
        </p:nvSpPr>
        <p:spPr>
          <a:xfrm>
            <a:off x="4846320" y="4325112"/>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AI ENGINE: ONE SOLUTION, TWO MARKETS</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If our AI can prevent a jet turbine from melting at 1,400°C — it can revolutionize Sona Comstar's EPIC roadmap</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98448"/>
            <a:ext cx="2267712" cy="6400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98448"/>
            <a:ext cx="2267712" cy="1874519"/>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89888"/>
            <a:ext cx="2066543" cy="347472"/>
          </a:xfrm>
          <a:prstGeom prst="rect">
            <a:avLst/>
          </a:prstGeom>
          <a:noFill/>
        </p:spPr>
        <p:txBody>
          <a:bodyPr wrap="square" lIns="0" rIns="0" tIns="25400" bIns="25400">
            <a:spAutoFit/>
          </a:bodyPr>
          <a:lstStyle/>
          <a:p>
            <a:pPr algn="ctr"/>
            <a:r>
              <a:rPr sz="900" b="1" i="0">
                <a:solidFill>
                  <a:srgbClr val="FFFFFF"/>
                </a:solidFill>
              </a:rPr>
              <a:t>AEROSPACE
EXTREMES</a:t>
            </a:r>
          </a:p>
        </p:txBody>
      </p:sp>
      <p:sp>
        <p:nvSpPr>
          <p:cNvPr id="10" name="Rectangle 9"/>
          <p:cNvSpPr/>
          <p:nvPr/>
        </p:nvSpPr>
        <p:spPr>
          <a:xfrm>
            <a:off x="438912"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28800"/>
            <a:ext cx="2066543" cy="411480"/>
          </a:xfrm>
          <a:prstGeom prst="rect">
            <a:avLst/>
          </a:prstGeom>
          <a:noFill/>
        </p:spPr>
        <p:txBody>
          <a:bodyPr wrap="square" lIns="0" rIns="0" tIns="25400" bIns="25400">
            <a:spAutoFit/>
          </a:bodyPr>
          <a:lstStyle/>
          <a:p>
            <a:pPr algn="ctr"/>
            <a:r>
              <a:rPr sz="1400" b="1" i="0">
                <a:solidFill>
                  <a:srgbClr val="2BDEFD"/>
                </a:solidFill>
              </a:rPr>
              <a:t>1,400°C
Turbine TET</a:t>
            </a:r>
          </a:p>
        </p:txBody>
      </p:sp>
      <p:sp>
        <p:nvSpPr>
          <p:cNvPr id="12" name="TextBox 11"/>
          <p:cNvSpPr txBox="1"/>
          <p:nvPr/>
        </p:nvSpPr>
        <p:spPr>
          <a:xfrm>
            <a:off x="2615184" y="1920240"/>
            <a:ext cx="365760" cy="365760"/>
          </a:xfrm>
          <a:prstGeom prst="rect">
            <a:avLst/>
          </a:prstGeom>
          <a:noFill/>
        </p:spPr>
        <p:txBody>
          <a:bodyPr wrap="square" lIns="0" rIns="0" tIns="25400" bIns="25400">
            <a:spAutoFit/>
          </a:bodyPr>
          <a:lstStyle/>
          <a:p>
            <a:pPr algn="ctr"/>
            <a:r>
              <a:rPr sz="2000" b="1" i="0">
                <a:solidFill>
                  <a:srgbClr val="00B4D8"/>
                </a:solidFill>
              </a:rPr>
              <a:t>→</a:t>
            </a:r>
          </a:p>
        </p:txBody>
      </p:sp>
      <p:sp>
        <p:nvSpPr>
          <p:cNvPr id="13" name="Rectangle 12"/>
          <p:cNvSpPr/>
          <p:nvPr/>
        </p:nvSpPr>
        <p:spPr>
          <a:xfrm>
            <a:off x="3419856"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19856" y="1298448"/>
            <a:ext cx="226771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9856" y="1298448"/>
            <a:ext cx="2267712" cy="1874519"/>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1389888"/>
            <a:ext cx="2066543" cy="347472"/>
          </a:xfrm>
          <a:prstGeom prst="rect">
            <a:avLst/>
          </a:prstGeom>
          <a:noFill/>
        </p:spPr>
        <p:txBody>
          <a:bodyPr wrap="square" lIns="0" rIns="0" tIns="25400" bIns="25400">
            <a:spAutoFit/>
          </a:bodyPr>
          <a:lstStyle/>
          <a:p>
            <a:pPr algn="ctr"/>
            <a:r>
              <a:rPr sz="900" b="1" i="0">
                <a:solidFill>
                  <a:srgbClr val="0F203C"/>
                </a:solidFill>
              </a:rPr>
              <a:t>CRYSTAL PARADIGM
AI ENGINE</a:t>
            </a:r>
          </a:p>
        </p:txBody>
      </p:sp>
      <p:sp>
        <p:nvSpPr>
          <p:cNvPr id="17" name="Rectangle 16"/>
          <p:cNvSpPr/>
          <p:nvPr/>
        </p:nvSpPr>
        <p:spPr>
          <a:xfrm>
            <a:off x="3602736"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828800"/>
            <a:ext cx="2066543" cy="411480"/>
          </a:xfrm>
          <a:prstGeom prst="rect">
            <a:avLst/>
          </a:prstGeom>
          <a:noFill/>
        </p:spPr>
        <p:txBody>
          <a:bodyPr wrap="square" lIns="0" rIns="0" tIns="25400" bIns="25400">
            <a:spAutoFit/>
          </a:bodyPr>
          <a:lstStyle/>
          <a:p>
            <a:pPr algn="ctr"/>
            <a:r>
              <a:rPr sz="1400" b="1" i="0">
                <a:solidFill>
                  <a:srgbClr val="0F203C"/>
                </a:solidFill>
              </a:rPr>
              <a:t>11-Phase
Autonomous Pipeline</a:t>
            </a:r>
          </a:p>
        </p:txBody>
      </p:sp>
      <p:sp>
        <p:nvSpPr>
          <p:cNvPr id="19" name="TextBox 18"/>
          <p:cNvSpPr txBox="1"/>
          <p:nvPr/>
        </p:nvSpPr>
        <p:spPr>
          <a:xfrm>
            <a:off x="5779008" y="1920240"/>
            <a:ext cx="365760" cy="365760"/>
          </a:xfrm>
          <a:prstGeom prst="rect">
            <a:avLst/>
          </a:prstGeom>
          <a:noFill/>
        </p:spPr>
        <p:txBody>
          <a:bodyPr wrap="square" lIns="0" rIns="0" tIns="25400" bIns="25400">
            <a:spAutoFit/>
          </a:bodyPr>
          <a:lstStyle/>
          <a:p>
            <a:pPr algn="ctr"/>
            <a:r>
              <a:rPr sz="2000" b="1" i="0">
                <a:solidFill>
                  <a:srgbClr val="00B4D8"/>
                </a:solidFill>
              </a:rPr>
              <a:t>→</a:t>
            </a:r>
          </a:p>
        </p:txBody>
      </p:sp>
      <p:sp>
        <p:nvSpPr>
          <p:cNvPr id="20" name="Rectangle 19"/>
          <p:cNvSpPr/>
          <p:nvPr/>
        </p:nvSpPr>
        <p:spPr>
          <a:xfrm>
            <a:off x="6583680"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1298448"/>
            <a:ext cx="226771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0" y="1298448"/>
            <a:ext cx="2267712" cy="1874519"/>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8" y="1389888"/>
            <a:ext cx="2066543" cy="347472"/>
          </a:xfrm>
          <a:prstGeom prst="rect">
            <a:avLst/>
          </a:prstGeom>
          <a:noFill/>
        </p:spPr>
        <p:txBody>
          <a:bodyPr wrap="square" lIns="0" rIns="0" tIns="25400" bIns="25400">
            <a:spAutoFit/>
          </a:bodyPr>
          <a:lstStyle/>
          <a:p>
            <a:pPr algn="ctr"/>
            <a:r>
              <a:rPr sz="900" b="1" i="0">
                <a:solidFill>
                  <a:srgbClr val="FFFFFF"/>
                </a:solidFill>
              </a:rPr>
              <a:t>SONA COMSTAR
EPIC ROADMAP</a:t>
            </a:r>
          </a:p>
        </p:txBody>
      </p:sp>
      <p:sp>
        <p:nvSpPr>
          <p:cNvPr id="24" name="Rectangle 23"/>
          <p:cNvSpPr/>
          <p:nvPr/>
        </p:nvSpPr>
        <p:spPr>
          <a:xfrm>
            <a:off x="6766560"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8" y="1828800"/>
            <a:ext cx="2066543" cy="411480"/>
          </a:xfrm>
          <a:prstGeom prst="rect">
            <a:avLst/>
          </a:prstGeom>
          <a:noFill/>
        </p:spPr>
        <p:txBody>
          <a:bodyPr wrap="square" lIns="0" rIns="0" tIns="25400" bIns="25400">
            <a:spAutoFit/>
          </a:bodyPr>
          <a:lstStyle/>
          <a:p>
            <a:pPr algn="ctr"/>
            <a:r>
              <a:rPr sz="1400" b="1" i="0">
                <a:solidFill>
                  <a:srgbClr val="2BDEFD"/>
                </a:solidFill>
              </a:rPr>
              <a:t>H13 Dies + SRM
Motors + ESG</a:t>
            </a:r>
          </a:p>
        </p:txBody>
      </p:sp>
      <p:sp>
        <p:nvSpPr>
          <p:cNvPr id="26" name="TextBox 25"/>
          <p:cNvSpPr txBox="1"/>
          <p:nvPr/>
        </p:nvSpPr>
        <p:spPr>
          <a:xfrm>
            <a:off x="256032" y="3291840"/>
            <a:ext cx="8595360" cy="201168"/>
          </a:xfrm>
          <a:prstGeom prst="rect">
            <a:avLst/>
          </a:prstGeom>
          <a:noFill/>
        </p:spPr>
        <p:txBody>
          <a:bodyPr wrap="square" lIns="0" rIns="0" tIns="25400" bIns="25400">
            <a:spAutoFit/>
          </a:bodyPr>
          <a:lstStyle/>
          <a:p>
            <a:pPr algn="l"/>
            <a:r>
              <a:rPr sz="900" b="1" i="0">
                <a:solidFill>
                  <a:srgbClr val="1A365D"/>
                </a:solidFill>
              </a:rPr>
              <a:t>WHAT OUR AI PROVED — THE THREE VALIDATED OUTPUTS</a:t>
            </a:r>
          </a:p>
        </p:txBody>
      </p:sp>
      <p:sp>
        <p:nvSpPr>
          <p:cNvPr id="27" name="Rectangle 26"/>
          <p:cNvSpPr/>
          <p:nvPr/>
        </p:nvSpPr>
        <p:spPr>
          <a:xfrm>
            <a:off x="256032" y="3520440"/>
            <a:ext cx="859536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6032"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6032"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730752"/>
            <a:ext cx="2633472" cy="256032"/>
          </a:xfrm>
          <a:prstGeom prst="rect">
            <a:avLst/>
          </a:prstGeom>
          <a:noFill/>
        </p:spPr>
        <p:txBody>
          <a:bodyPr wrap="square" lIns="0" rIns="0" tIns="25400" bIns="25400">
            <a:spAutoFit/>
          </a:bodyPr>
          <a:lstStyle/>
          <a:p>
            <a:pPr algn="l"/>
            <a:r>
              <a:rPr sz="1300" b="1" i="0">
                <a:solidFill>
                  <a:srgbClr val="1A365D"/>
                </a:solidFill>
              </a:rPr>
              <a:t>R² = 0.977</a:t>
            </a:r>
          </a:p>
        </p:txBody>
      </p:sp>
      <p:sp>
        <p:nvSpPr>
          <p:cNvPr id="31" name="TextBox 30"/>
          <p:cNvSpPr txBox="1"/>
          <p:nvPr/>
        </p:nvSpPr>
        <p:spPr>
          <a:xfrm>
            <a:off x="365760" y="4005072"/>
            <a:ext cx="2633472" cy="749808"/>
          </a:xfrm>
          <a:prstGeom prst="rect">
            <a:avLst/>
          </a:prstGeom>
          <a:noFill/>
        </p:spPr>
        <p:txBody>
          <a:bodyPr wrap="square" lIns="0" rIns="0" tIns="25400" bIns="25400">
            <a:spAutoFit/>
          </a:bodyPr>
          <a:lstStyle/>
          <a:p>
            <a:pPr algn="l"/>
            <a:r>
              <a:rPr sz="800" b="0" i="0">
                <a:solidFill>
                  <a:srgbClr val="111111"/>
                </a:solidFill>
              </a:rPr>
              <a:t>Random Forest bulk modulus model. Test MAE of just 8.11 GPa. Independently audited computational performance.</a:t>
            </a:r>
          </a:p>
        </p:txBody>
      </p:sp>
      <p:sp>
        <p:nvSpPr>
          <p:cNvPr id="32" name="Rectangle 31"/>
          <p:cNvSpPr/>
          <p:nvPr/>
        </p:nvSpPr>
        <p:spPr>
          <a:xfrm>
            <a:off x="3291840"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91840"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01568" y="3730752"/>
            <a:ext cx="2633472" cy="256032"/>
          </a:xfrm>
          <a:prstGeom prst="rect">
            <a:avLst/>
          </a:prstGeom>
          <a:noFill/>
        </p:spPr>
        <p:txBody>
          <a:bodyPr wrap="square" lIns="0" rIns="0" tIns="25400" bIns="25400">
            <a:spAutoFit/>
          </a:bodyPr>
          <a:lstStyle/>
          <a:p>
            <a:pPr algn="l"/>
            <a:r>
              <a:rPr sz="1300" b="1" i="0">
                <a:solidFill>
                  <a:srgbClr val="1A365D"/>
                </a:solidFill>
              </a:rPr>
              <a:t>1.5981 Safety Factor</a:t>
            </a:r>
          </a:p>
        </p:txBody>
      </p:sp>
      <p:sp>
        <p:nvSpPr>
          <p:cNvPr id="35" name="TextBox 34"/>
          <p:cNvSpPr txBox="1"/>
          <p:nvPr/>
        </p:nvSpPr>
        <p:spPr>
          <a:xfrm>
            <a:off x="3401568" y="4005072"/>
            <a:ext cx="2633472" cy="749808"/>
          </a:xfrm>
          <a:prstGeom prst="rect">
            <a:avLst/>
          </a:prstGeom>
          <a:noFill/>
        </p:spPr>
        <p:txBody>
          <a:bodyPr wrap="square" lIns="0" rIns="0" tIns="25400" bIns="25400">
            <a:spAutoFit/>
          </a:bodyPr>
          <a:lstStyle/>
          <a:p>
            <a:pPr algn="l"/>
            <a:r>
              <a:rPr sz="800" b="0" i="0">
                <a:solidFill>
                  <a:srgbClr val="111111"/>
                </a:solidFill>
              </a:rPr>
              <a:t>Differential Evolution optimizer. Globally optimal alloy: Ti 21.7% — zero sigma phase, zero spallation.</a:t>
            </a:r>
          </a:p>
        </p:txBody>
      </p:sp>
      <p:sp>
        <p:nvSpPr>
          <p:cNvPr id="36" name="Rectangle 35"/>
          <p:cNvSpPr/>
          <p:nvPr/>
        </p:nvSpPr>
        <p:spPr>
          <a:xfrm>
            <a:off x="6327648"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27648"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7376" y="3730752"/>
            <a:ext cx="2633472" cy="256032"/>
          </a:xfrm>
          <a:prstGeom prst="rect">
            <a:avLst/>
          </a:prstGeom>
          <a:noFill/>
        </p:spPr>
        <p:txBody>
          <a:bodyPr wrap="square" lIns="0" rIns="0" tIns="25400" bIns="25400">
            <a:spAutoFit/>
          </a:bodyPr>
          <a:lstStyle/>
          <a:p>
            <a:pPr algn="l"/>
            <a:r>
              <a:rPr sz="1300" b="1" i="0">
                <a:solidFill>
                  <a:srgbClr val="1A365D"/>
                </a:solidFill>
              </a:rPr>
              <a:t>15.95 MPa Interface Stress</a:t>
            </a:r>
          </a:p>
        </p:txBody>
      </p:sp>
      <p:sp>
        <p:nvSpPr>
          <p:cNvPr id="39" name="TextBox 38"/>
          <p:cNvSpPr txBox="1"/>
          <p:nvPr/>
        </p:nvSpPr>
        <p:spPr>
          <a:xfrm>
            <a:off x="6437376" y="4005072"/>
            <a:ext cx="2633472" cy="749808"/>
          </a:xfrm>
          <a:prstGeom prst="rect">
            <a:avLst/>
          </a:prstGeom>
          <a:noFill/>
        </p:spPr>
        <p:txBody>
          <a:bodyPr wrap="square" lIns="0" rIns="0" tIns="25400" bIns="25400">
            <a:spAutoFit/>
          </a:bodyPr>
          <a:lstStyle/>
          <a:p>
            <a:pPr algn="l"/>
            <a:r>
              <a:rPr sz="800" b="0" i="0">
                <a:solidFill>
                  <a:srgbClr val="111111"/>
                </a:solidFill>
              </a:rPr>
              <a:t>11-layer FGM power-law gradient (n=1.1). CTE gap dropped to 2.66 μm/mK. Ready for DED 3D printing.</a:t>
            </a:r>
          </a:p>
        </p:txBody>
      </p:sp>
      <p:sp>
        <p:nvSpPr>
          <p:cNvPr id="40" name="TextBox 39"/>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0" name="Google Shape;130;p2"/>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THIS MATTERS NOW</a:t>
            </a:r>
            <a:endParaRPr sz="2450" b="0" i="0" u="none" strike="noStrike" cap="none">
              <a:solidFill>
                <a:schemeClr val="dk1"/>
              </a:solidFill>
              <a:latin typeface="Calibri"/>
              <a:ea typeface="Calibri"/>
              <a:cs typeface="Calibri"/>
              <a:sym typeface="Calibri"/>
            </a:endParaRPr>
          </a:p>
        </p:txBody>
      </p:sp>
      <p:sp>
        <p:nvSpPr>
          <p:cNvPr id="131" name="Google Shape;131;p2"/>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Addressing Extreme-Environment Industrial Imperatives and Supply Chain Resilience</a:t>
            </a:r>
            <a:endParaRPr sz="1200" b="0" i="0" u="none" strike="noStrike" cap="none">
              <a:solidFill>
                <a:schemeClr val="dk1"/>
              </a:solidFill>
              <a:latin typeface="Calibri"/>
              <a:ea typeface="Calibri"/>
              <a:cs typeface="Calibri"/>
              <a:sym typeface="Calibri"/>
            </a:endParaRPr>
          </a:p>
        </p:txBody>
      </p:sp>
      <p:sp>
        <p:nvSpPr>
          <p:cNvPr id="132" name="Google Shape;132;p2"/>
          <p:cNvSpPr/>
          <p:nvPr/>
        </p:nvSpPr>
        <p:spPr>
          <a:xfrm>
            <a:off x="600075" y="1441252"/>
            <a:ext cx="811530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The Aerothermal Fire Limit</a:t>
            </a:r>
            <a:endParaRPr sz="1000" b="0" i="0" u="none" strike="noStrike" cap="none" dirty="0">
              <a:solidFill>
                <a:schemeClr val="dk1"/>
              </a:solidFill>
              <a:latin typeface="Calibri"/>
              <a:ea typeface="Calibri"/>
              <a:cs typeface="Calibri"/>
              <a:sym typeface="Calibri"/>
            </a:endParaRPr>
          </a:p>
        </p:txBody>
      </p:sp>
      <p:sp>
        <p:nvSpPr>
          <p:cNvPr id="133" name="Google Shape;133;p2"/>
          <p:cNvSpPr/>
          <p:nvPr/>
        </p:nvSpPr>
        <p:spPr>
          <a:xfrm>
            <a:off x="600075" y="1659136"/>
            <a:ext cx="8115300"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Next-generation turbine entries run at 1400^C (1673^K). These severe limits introduce extreme expansion stresses and oxidation kinetics that outpace legacy protective systems.</a:t>
            </a:r>
            <a:endParaRPr sz="850" b="0" i="0" u="none" strike="noStrike" cap="none">
              <a:solidFill>
                <a:schemeClr val="dk1"/>
              </a:solidFill>
              <a:latin typeface="Calibri"/>
              <a:ea typeface="Calibri"/>
              <a:cs typeface="Calibri"/>
              <a:sym typeface="Calibri"/>
            </a:endParaRPr>
          </a:p>
        </p:txBody>
      </p:sp>
      <p:sp>
        <p:nvSpPr>
          <p:cNvPr id="134" name="Google Shape;134;p2"/>
          <p:cNvSpPr/>
          <p:nvPr/>
        </p:nvSpPr>
        <p:spPr>
          <a:xfrm>
            <a:off x="600063" y="2182443"/>
            <a:ext cx="8115300" cy="182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Supply Chain Resilience</a:t>
            </a:r>
            <a:endParaRPr sz="1000" i="0" u="none" strike="noStrike" cap="none" dirty="0">
              <a:solidFill>
                <a:schemeClr val="dk1"/>
              </a:solidFill>
              <a:latin typeface="Calibri"/>
              <a:ea typeface="Calibri"/>
              <a:cs typeface="Calibri"/>
              <a:sym typeface="Calibri"/>
            </a:endParaRPr>
          </a:p>
        </p:txBody>
      </p:sp>
      <p:sp>
        <p:nvSpPr>
          <p:cNvPr id="135" name="Google Shape;135;p2"/>
          <p:cNvSpPr/>
          <p:nvPr/>
        </p:nvSpPr>
        <p:spPr>
          <a:xfrm>
            <a:off x="600075" y="2398534"/>
            <a:ext cx="8115300" cy="600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Conventional designs rely heavily on rare elements like Hafnium. Our solution intentionally limits high-risk dependencies to mitigate price volatility and supply chain exposure. </a:t>
            </a:r>
            <a:endParaRPr sz="850" b="0" i="0" u="none" strike="noStrike" cap="none">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r>
              <a:rPr lang="en-US" sz="850">
                <a:solidFill>
                  <a:srgbClr val="111111"/>
                </a:solidFill>
                <a:latin typeface="Inter"/>
                <a:ea typeface="Inter"/>
                <a:cs typeface="Inter"/>
                <a:sym typeface="Inter"/>
              </a:rPr>
              <a:t>Directly aligned with next-generation open-rotor program targets for TET &gt; 1400°C and 20% SFC improvement.</a:t>
            </a: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p:txBody>
      </p:sp>
      <p:sp>
        <p:nvSpPr>
          <p:cNvPr id="136" name="Google Shape;136;p2"/>
          <p:cNvSpPr/>
          <p:nvPr/>
        </p:nvSpPr>
        <p:spPr>
          <a:xfrm>
            <a:off x="578644"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FUEL BURN</a:t>
            </a: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578644" y="3662958"/>
            <a:ext cx="2319319"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A365D"/>
              </a:buClr>
              <a:buSzPts val="750"/>
              <a:buFont typeface="Inter"/>
              <a:buNone/>
            </a:pPr>
            <a:r>
              <a:rPr lang="en-US" sz="750" b="1" i="0" u="none" strike="noStrike" cap="none">
                <a:solidFill>
                  <a:srgbClr val="1A365D"/>
                </a:solidFill>
                <a:latin typeface="Inter"/>
                <a:ea typeface="Inter"/>
                <a:cs typeface="Inter"/>
                <a:sym typeface="Inter"/>
              </a:rPr>
              <a:t>15% reduction</a:t>
            </a:r>
            <a:r>
              <a:rPr lang="en-US" sz="800" b="0" i="0" u="none" strike="noStrike" cap="none">
                <a:solidFill>
                  <a:srgbClr val="111111"/>
                </a:solidFill>
                <a:latin typeface="Inter"/>
                <a:ea typeface="Inter"/>
                <a:cs typeface="Inter"/>
                <a:sym typeface="Inter"/>
              </a:rPr>
              <a:t> in compressor parasitic bleed air, driving an immediate </a:t>
            </a:r>
            <a:r>
              <a:rPr lang="en-US" sz="750" b="1" i="0" u="none" strike="noStrike" cap="none">
                <a:solidFill>
                  <a:srgbClr val="1A365D"/>
                </a:solidFill>
                <a:latin typeface="Inter"/>
                <a:ea typeface="Inter"/>
                <a:cs typeface="Inter"/>
                <a:sym typeface="Inter"/>
              </a:rPr>
              <a:t>1.5% net reduction</a:t>
            </a:r>
            <a:r>
              <a:rPr lang="en-US" sz="800" b="0" i="0" u="none" strike="noStrike" cap="none">
                <a:solidFill>
                  <a:srgbClr val="111111"/>
                </a:solidFill>
                <a:latin typeface="Inter"/>
                <a:ea typeface="Inter"/>
                <a:cs typeface="Inter"/>
                <a:sym typeface="Inter"/>
              </a:rPr>
              <a:t> in Specific Fuel Consumption (SFC).</a:t>
            </a:r>
            <a:endParaRPr sz="800" b="0" i="0" u="none" strike="noStrike" cap="none">
              <a:solidFill>
                <a:schemeClr val="dk1"/>
              </a:solidFill>
              <a:latin typeface="Calibri"/>
              <a:ea typeface="Calibri"/>
              <a:cs typeface="Calibri"/>
              <a:sym typeface="Calibri"/>
            </a:endParaRPr>
          </a:p>
        </p:txBody>
      </p:sp>
      <p:sp>
        <p:nvSpPr>
          <p:cNvPr id="138" name="Google Shape;138;p2"/>
          <p:cNvSpPr/>
          <p:nvPr/>
        </p:nvSpPr>
        <p:spPr>
          <a:xfrm>
            <a:off x="3412313" y="3391495"/>
            <a:ext cx="2319347"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MRO MAINTENANCE</a:t>
            </a:r>
            <a:endParaRPr sz="900" b="0" i="0" u="none" strike="noStrike" cap="none">
              <a:solidFill>
                <a:schemeClr val="dk1"/>
              </a:solidFill>
              <a:latin typeface="Calibri"/>
              <a:ea typeface="Calibri"/>
              <a:cs typeface="Calibri"/>
              <a:sym typeface="Calibri"/>
            </a:endParaRPr>
          </a:p>
        </p:txBody>
      </p:sp>
      <p:sp>
        <p:nvSpPr>
          <p:cNvPr id="139" name="Google Shape;139;p2"/>
          <p:cNvSpPr/>
          <p:nvPr/>
        </p:nvSpPr>
        <p:spPr>
          <a:xfrm>
            <a:off x="3412313" y="3662958"/>
            <a:ext cx="2319347"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Lowering thermal degradation to extend engine shop visit intervals and </a:t>
            </a:r>
            <a:r>
              <a:rPr lang="en-US" sz="750" b="1" i="0" u="none" strike="noStrike" cap="none">
                <a:solidFill>
                  <a:srgbClr val="1A365D"/>
                </a:solidFill>
                <a:latin typeface="Inter"/>
                <a:ea typeface="Inter"/>
                <a:cs typeface="Inter"/>
                <a:sym typeface="Inter"/>
              </a:rPr>
              <a:t>blade operational life cycles</a:t>
            </a:r>
            <a:r>
              <a:rPr lang="en-US" sz="800" b="0" i="0" u="none" strike="noStrike" cap="none">
                <a:solidFill>
                  <a:srgbClr val="111111"/>
                </a:solidFill>
                <a:latin typeface="Inter"/>
                <a:ea typeface="Inter"/>
                <a:cs typeface="Inter"/>
                <a:sym typeface="Inter"/>
              </a:rPr>
              <a:t> significantly.</a:t>
            </a:r>
            <a:endParaRPr sz="800" b="0" i="0" u="none" strike="noStrike" cap="none">
              <a:solidFill>
                <a:schemeClr val="dk1"/>
              </a:solidFill>
              <a:latin typeface="Calibri"/>
              <a:ea typeface="Calibri"/>
              <a:cs typeface="Calibri"/>
              <a:sym typeface="Calibri"/>
            </a:endParaRPr>
          </a:p>
        </p:txBody>
      </p:sp>
      <p:sp>
        <p:nvSpPr>
          <p:cNvPr id="140" name="Google Shape;140;p2"/>
          <p:cNvSpPr/>
          <p:nvPr/>
        </p:nvSpPr>
        <p:spPr>
          <a:xfrm>
            <a:off x="6246009"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MANUFACTURABILITY</a:t>
            </a:r>
            <a:endParaRPr sz="900" b="0" i="0" u="none" strike="noStrike" cap="none">
              <a:solidFill>
                <a:schemeClr val="dk1"/>
              </a:solidFill>
              <a:latin typeface="Calibri"/>
              <a:ea typeface="Calibri"/>
              <a:cs typeface="Calibri"/>
              <a:sym typeface="Calibri"/>
            </a:endParaRPr>
          </a:p>
        </p:txBody>
      </p:sp>
      <p:sp>
        <p:nvSpPr>
          <p:cNvPr id="141" name="Google Shape;141;p2"/>
          <p:cNvSpPr/>
          <p:nvPr/>
        </p:nvSpPr>
        <p:spPr>
          <a:xfrm>
            <a:off x="6246000" y="3662947"/>
            <a:ext cx="2319300" cy="8529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Direct export of a universal, </a:t>
            </a:r>
            <a:r>
              <a:rPr lang="en-US" sz="750" b="1" i="0" u="none" strike="noStrike" cap="none">
                <a:solidFill>
                  <a:srgbClr val="1A365D"/>
                </a:solidFill>
                <a:latin typeface="Inter"/>
                <a:ea typeface="Inter"/>
                <a:cs typeface="Inter"/>
                <a:sym typeface="Inter"/>
              </a:rPr>
              <a:t>print-ready 11-layer compositional matrix</a:t>
            </a:r>
            <a:r>
              <a:rPr lang="en-US" sz="800" b="0" i="0" u="none" strike="noStrike" cap="none">
                <a:solidFill>
                  <a:srgbClr val="111111"/>
                </a:solidFill>
                <a:latin typeface="Inter"/>
                <a:ea typeface="Inter"/>
                <a:cs typeface="Inter"/>
                <a:sym typeface="Inter"/>
              </a:rPr>
              <a:t> to drive multi-hopper 3D printers for shop-floor deployment</a:t>
            </a:r>
            <a:r>
              <a:rPr lang="en-US" sz="800">
                <a:solidFill>
                  <a:srgbClr val="111111"/>
                </a:solidFill>
                <a:latin typeface="Inter"/>
                <a:ea typeface="Inter"/>
                <a:cs typeface="Inter"/>
                <a:sym typeface="Inter"/>
              </a:rPr>
              <a:t>,drastically reducing physical prototyping lead times from months to days.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 descr="preencoded.png"/>
          <p:cNvPicPr preferRelativeResize="0"/>
          <p:nvPr/>
        </p:nvPicPr>
        <p:blipFill rotWithShape="1">
          <a:blip r:embed="rId3">
            <a:alphaModFix/>
          </a:blip>
          <a:srcRect/>
          <a:stretch/>
        </p:blipFill>
        <p:spPr>
          <a:xfrm>
            <a:off x="0" y="182675"/>
            <a:ext cx="9143999" cy="5143500"/>
          </a:xfrm>
          <a:prstGeom prst="rect">
            <a:avLst/>
          </a:prstGeom>
          <a:noFill/>
          <a:ln>
            <a:noFill/>
          </a:ln>
        </p:spPr>
      </p:pic>
      <p:sp>
        <p:nvSpPr>
          <p:cNvPr id="148" name="Google Shape;148;p3"/>
          <p:cNvSpPr/>
          <p:nvPr/>
        </p:nvSpPr>
        <p:spPr>
          <a:xfrm>
            <a:off x="428625" y="817318"/>
            <a:ext cx="3714750" cy="660071"/>
          </a:xfrm>
          <a:prstGeom prst="rect">
            <a:avLst/>
          </a:prstGeom>
          <a:noFill/>
          <a:ln>
            <a:noFill/>
          </a:ln>
        </p:spPr>
        <p:txBody>
          <a:bodyPr spcFirstLastPara="1" wrap="square" lIns="0" tIns="0" rIns="0" bIns="0" anchor="t" anchorCtr="0">
            <a:spAutoFit/>
          </a:bodyPr>
          <a:lstStyle/>
          <a:p>
            <a:pPr marL="0" marR="0" lvl="0" indent="0" algn="l" rtl="0">
              <a:lnSpc>
                <a:spcPct val="88000"/>
              </a:lnSpc>
              <a:spcBef>
                <a:spcPts val="0"/>
              </a:spcBef>
              <a:spcAft>
                <a:spcPts val="0"/>
              </a:spcAft>
              <a:buClr>
                <a:srgbClr val="1A365D"/>
              </a:buClr>
              <a:buSzPts val="2100"/>
              <a:buFont typeface="Space Grotesk SemiBold"/>
              <a:buNone/>
            </a:pPr>
            <a:r>
              <a:rPr lang="en-US" sz="2100" b="1" i="0" u="none" strike="noStrike" cap="none">
                <a:solidFill>
                  <a:srgbClr val="1A365D"/>
                </a:solidFill>
                <a:latin typeface="Space Grotesk SemiBold"/>
                <a:ea typeface="Space Grotesk SemiBold"/>
                <a:cs typeface="Space Grotesk SemiBold"/>
                <a:sym typeface="Space Grotesk SemiBold"/>
              </a:rPr>
              <a:t>THE TECHNICAL PROBLEM IN ONE PICTURE</a:t>
            </a:r>
            <a:endParaRPr sz="2100" b="0" i="0" u="none" strike="noStrike" cap="none">
              <a:solidFill>
                <a:schemeClr val="dk1"/>
              </a:solidFill>
              <a:latin typeface="Calibri"/>
              <a:ea typeface="Calibri"/>
              <a:cs typeface="Calibri"/>
              <a:sym typeface="Calibri"/>
            </a:endParaRPr>
          </a:p>
        </p:txBody>
      </p:sp>
      <p:sp>
        <p:nvSpPr>
          <p:cNvPr id="149" name="Google Shape;149;p3"/>
          <p:cNvSpPr/>
          <p:nvPr/>
        </p:nvSpPr>
        <p:spPr>
          <a:xfrm>
            <a:off x="600075" y="1691701"/>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Thermal Expansion Discontinuity</a:t>
            </a:r>
            <a:endParaRPr sz="900" b="0" i="0" u="none" strike="noStrike" cap="none">
              <a:solidFill>
                <a:schemeClr val="dk1"/>
              </a:solidFill>
              <a:latin typeface="Calibri"/>
              <a:ea typeface="Calibri"/>
              <a:cs typeface="Calibri"/>
              <a:sym typeface="Calibri"/>
            </a:endParaRPr>
          </a:p>
        </p:txBody>
      </p:sp>
      <p:sp>
        <p:nvSpPr>
          <p:cNvPr id="150" name="Google Shape;150;p3"/>
          <p:cNvSpPr/>
          <p:nvPr/>
        </p:nvSpPr>
        <p:spPr>
          <a:xfrm>
            <a:off x="600075" y="1856000"/>
            <a:ext cx="3543300" cy="4506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a:solidFill>
                  <a:srgbClr val="111111"/>
                </a:solidFill>
                <a:latin typeface="Inter"/>
                <a:ea typeface="Inter"/>
                <a:cs typeface="Inter"/>
                <a:sym typeface="Inter"/>
              </a:rPr>
              <a:t>Metallic base (α ≈ 6.44-14.0 μm/m·K) vs LZO coating (α = 9.1 μm/m·K). Interface shear forces exceed 850 MPa, far surpassing the thermal limits of legacy Inconel 718 and CMSX-4.</a:t>
            </a:r>
            <a:endParaRPr sz="750" b="0" i="0" u="none" strike="noStrike" cap="none">
              <a:solidFill>
                <a:schemeClr val="dk1"/>
              </a:solidFill>
              <a:latin typeface="Calibri"/>
              <a:ea typeface="Calibri"/>
              <a:cs typeface="Calibri"/>
              <a:sym typeface="Calibri"/>
            </a:endParaRPr>
          </a:p>
        </p:txBody>
      </p:sp>
      <p:sp>
        <p:nvSpPr>
          <p:cNvPr id="151" name="Google Shape;151;p3"/>
          <p:cNvSpPr/>
          <p:nvPr/>
        </p:nvSpPr>
        <p:spPr>
          <a:xfrm>
            <a:off x="600075" y="235032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Microstructural Phase Decay</a:t>
            </a:r>
            <a:endParaRPr sz="900" b="0" i="0" u="none" strike="noStrike" cap="none">
              <a:solidFill>
                <a:schemeClr val="dk1"/>
              </a:solidFill>
              <a:latin typeface="Calibri"/>
              <a:ea typeface="Calibri"/>
              <a:cs typeface="Calibri"/>
              <a:sym typeface="Calibri"/>
            </a:endParaRPr>
          </a:p>
        </p:txBody>
      </p:sp>
      <p:sp>
        <p:nvSpPr>
          <p:cNvPr id="152" name="Google Shape;152;p3"/>
          <p:cNvSpPr/>
          <p:nvPr/>
        </p:nvSpPr>
        <p:spPr>
          <a:xfrm>
            <a:off x="600075" y="255034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Oxygen diffusion precipitates brittle sigma phases , causing rapid material loss and interface failure.</a:t>
            </a:r>
            <a:endParaRPr sz="750" b="0" i="0" u="none" strike="noStrike" cap="none">
              <a:solidFill>
                <a:schemeClr val="dk1"/>
              </a:solidFill>
              <a:latin typeface="Calibri"/>
              <a:ea typeface="Calibri"/>
              <a:cs typeface="Calibri"/>
              <a:sym typeface="Calibri"/>
            </a:endParaRPr>
          </a:p>
        </p:txBody>
      </p:sp>
      <p:sp>
        <p:nvSpPr>
          <p:cNvPr id="153" name="Google Shape;153;p3"/>
          <p:cNvSpPr/>
          <p:nvPr/>
        </p:nvSpPr>
        <p:spPr>
          <a:xfrm>
            <a:off x="600075" y="300894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Cooling Hole Threat</a:t>
            </a:r>
            <a:endParaRPr sz="900" b="0" i="0" u="none" strike="noStrike" cap="none">
              <a:solidFill>
                <a:schemeClr val="dk1"/>
              </a:solidFill>
              <a:latin typeface="Calibri"/>
              <a:ea typeface="Calibri"/>
              <a:cs typeface="Calibri"/>
              <a:sym typeface="Calibri"/>
            </a:endParaRPr>
          </a:p>
        </p:txBody>
      </p:sp>
      <p:sp>
        <p:nvSpPr>
          <p:cNvPr id="154" name="Google Shape;154;p3"/>
          <p:cNvSpPr/>
          <p:nvPr/>
        </p:nvSpPr>
        <p:spPr>
          <a:xfrm>
            <a:off x="600075" y="320896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Laser-drilled holes create stress concentration , accelerating crack propagation and layer delamination.</a:t>
            </a:r>
            <a:endParaRPr sz="750" b="0" i="0" u="none" strike="noStrike" cap="none">
              <a:solidFill>
                <a:schemeClr val="dk1"/>
              </a:solidFill>
              <a:latin typeface="Calibri"/>
              <a:ea typeface="Calibri"/>
              <a:cs typeface="Calibri"/>
              <a:sym typeface="Calibri"/>
            </a:endParaRPr>
          </a:p>
        </p:txBody>
      </p:sp>
      <p:sp>
        <p:nvSpPr>
          <p:cNvPr id="155" name="Google Shape;155;p3"/>
          <p:cNvSpPr/>
          <p:nvPr/>
        </p:nvSpPr>
        <p:spPr>
          <a:xfrm>
            <a:off x="600075" y="366756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Unified Imperative</a:t>
            </a:r>
            <a:endParaRPr sz="900" b="0" i="0" u="none" strike="noStrike" cap="none">
              <a:solidFill>
                <a:schemeClr val="dk1"/>
              </a:solidFill>
              <a:latin typeface="Calibri"/>
              <a:ea typeface="Calibri"/>
              <a:cs typeface="Calibri"/>
              <a:sym typeface="Calibri"/>
            </a:endParaRPr>
          </a:p>
        </p:txBody>
      </p:sp>
      <p:sp>
        <p:nvSpPr>
          <p:cNvPr id="156" name="Google Shape;156;p3"/>
          <p:cNvSpPr/>
          <p:nvPr/>
        </p:nvSpPr>
        <p:spPr>
          <a:xfrm>
            <a:off x="600075" y="386758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Substrate, cooling channels, and insulating layers must be optimized as a single system to prevent failure. Same physics govern forging die failure, EV motor thermal cycling, and railway brake degradation.</a:t>
            </a:r>
            <a:endParaRPr sz="750" b="0" i="0" u="none" strike="noStrike" cap="none">
              <a:solidFill>
                <a:schemeClr val="dk1"/>
              </a:solidFill>
              <a:latin typeface="Calibri"/>
              <a:ea typeface="Calibri"/>
              <a:cs typeface="Calibri"/>
              <a:sym typeface="Calibri"/>
            </a:endParaRPr>
          </a:p>
        </p:txBody>
      </p:sp>
      <p:sp>
        <p:nvSpPr>
          <p:cNvPr id="157" name="Google Shape;157;p3"/>
          <p:cNvSpPr/>
          <p:nvPr/>
        </p:nvSpPr>
        <p:spPr>
          <a:xfrm>
            <a:off x="4572000" y="0"/>
            <a:ext cx="4572000" cy="5143500"/>
          </a:xfrm>
          <a:prstGeom prst="rect">
            <a:avLst/>
          </a:prstGeom>
          <a:solidFill>
            <a:srgbClr val="F8FA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000625" y="874216"/>
            <a:ext cx="3714750" cy="14644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800"/>
              <a:buFont typeface="Space Grotesk SemiBold"/>
              <a:buNone/>
            </a:pPr>
            <a:r>
              <a:rPr lang="en-US" sz="800" b="0" i="0" u="none" strike="noStrike" cap="none">
                <a:solidFill>
                  <a:srgbClr val="1A365D"/>
                </a:solidFill>
                <a:latin typeface="Space Grotesk SemiBold"/>
                <a:ea typeface="Space Grotesk SemiBold"/>
                <a:cs typeface="Space Grotesk SemiBold"/>
                <a:sym typeface="Space Grotesk SemiBold"/>
              </a:rPr>
              <a:t>THERMOMECHANICAL FAILURE-MODE ANALYSIS</a:t>
            </a:r>
            <a:endParaRPr sz="800" b="0" i="0" u="none" strike="noStrike" cap="none">
              <a:solidFill>
                <a:schemeClr val="dk1"/>
              </a:solidFill>
              <a:latin typeface="Calibri"/>
              <a:ea typeface="Calibri"/>
              <a:cs typeface="Calibri"/>
              <a:sym typeface="Calibri"/>
            </a:endParaRPr>
          </a:p>
        </p:txBody>
      </p:sp>
      <p:pic>
        <p:nvPicPr>
          <p:cNvPr id="159" name="Google Shape;159;p3" descr="preencoded.png"/>
          <p:cNvPicPr preferRelativeResize="0"/>
          <p:nvPr/>
        </p:nvPicPr>
        <p:blipFill rotWithShape="1">
          <a:blip r:embed="rId4">
            <a:alphaModFix/>
          </a:blip>
          <a:srcRect/>
          <a:stretch/>
        </p:blipFill>
        <p:spPr>
          <a:xfrm>
            <a:off x="5000625" y="1163538"/>
            <a:ext cx="3571875" cy="2857500"/>
          </a:xfrm>
          <a:prstGeom prst="rect">
            <a:avLst/>
          </a:prstGeom>
          <a:noFill/>
          <a:ln>
            <a:noFill/>
          </a:ln>
        </p:spPr>
      </p:pic>
      <p:sp>
        <p:nvSpPr>
          <p:cNvPr id="160" name="Google Shape;160;p3"/>
          <p:cNvSpPr/>
          <p:nvPr/>
        </p:nvSpPr>
        <p:spPr>
          <a:xfrm>
            <a:off x="7429500" y="2806601"/>
            <a:ext cx="912614"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429500" y="2806601"/>
            <a:ext cx="912614"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SHEAR &gt; 850 MPa</a:t>
            </a:r>
            <a:endParaRPr sz="600" b="0" i="0" u="none" strike="noStrike" cap="none">
              <a:solidFill>
                <a:schemeClr val="dk1"/>
              </a:solidFill>
              <a:latin typeface="Calibri"/>
              <a:ea typeface="Calibri"/>
              <a:cs typeface="Calibri"/>
              <a:sym typeface="Calibri"/>
            </a:endParaRPr>
          </a:p>
        </p:txBody>
      </p:sp>
      <p:sp>
        <p:nvSpPr>
          <p:cNvPr id="162" name="Google Shape;162;p3"/>
          <p:cNvSpPr/>
          <p:nvPr/>
        </p:nvSpPr>
        <p:spPr>
          <a:xfrm>
            <a:off x="5572125" y="2306538"/>
            <a:ext cx="1019770"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572125" y="2306538"/>
            <a:ext cx="1019770"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DELAMINATION RISK</a:t>
            </a:r>
            <a:endParaRPr sz="600" b="0" i="0" u="none" strike="noStrike" cap="none">
              <a:solidFill>
                <a:schemeClr val="dk1"/>
              </a:solidFill>
              <a:latin typeface="Calibri"/>
              <a:ea typeface="Calibri"/>
              <a:cs typeface="Calibri"/>
              <a:sym typeface="Calibri"/>
            </a:endParaRPr>
          </a:p>
        </p:txBody>
      </p:sp>
      <p:sp>
        <p:nvSpPr>
          <p:cNvPr id="164" name="Google Shape;164;p3"/>
          <p:cNvSpPr/>
          <p:nvPr/>
        </p:nvSpPr>
        <p:spPr>
          <a:xfrm>
            <a:off x="5000625" y="4163913"/>
            <a:ext cx="3714750" cy="10537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64748B"/>
              </a:buClr>
              <a:buSzPts val="600"/>
              <a:buFont typeface="Inter"/>
              <a:buNone/>
            </a:pPr>
            <a:r>
              <a:rPr lang="en-US" sz="600" b="0" i="0" u="none" strike="noStrike" cap="none">
                <a:solidFill>
                  <a:srgbClr val="64748B"/>
                </a:solidFill>
                <a:latin typeface="Inter"/>
                <a:ea typeface="Inter"/>
                <a:cs typeface="Inter"/>
                <a:sym typeface="Inter"/>
              </a:rPr>
              <a:t>Schematic cross-section showing interfacial stress singularities and crack initiation zones.</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
          <p:cNvSpPr txBox="1"/>
          <p:nvPr/>
        </p:nvSpPr>
        <p:spPr>
          <a:xfrm>
            <a:off x="83925" y="149325"/>
            <a:ext cx="47625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OUR ADVANCED ARCHITECTURE &amp; RECIPIENT LAYOUT</a:t>
            </a:r>
            <a:endParaRPr sz="2200" b="1">
              <a:solidFill>
                <a:srgbClr val="1A365D"/>
              </a:solidFill>
              <a:latin typeface="Space Grotesk"/>
              <a:ea typeface="Space Grotesk"/>
              <a:cs typeface="Space Grotesk"/>
              <a:sym typeface="Space Grotesk"/>
            </a:endParaRPr>
          </a:p>
        </p:txBody>
      </p:sp>
      <p:grpSp>
        <p:nvGrpSpPr>
          <p:cNvPr id="171" name="Google Shape;171;p4"/>
          <p:cNvGrpSpPr/>
          <p:nvPr/>
        </p:nvGrpSpPr>
        <p:grpSpPr>
          <a:xfrm>
            <a:off x="428625" y="1238250"/>
            <a:ext cx="3333900" cy="3238575"/>
            <a:chOff x="428625" y="1238250"/>
            <a:chExt cx="3333900" cy="3238575"/>
          </a:xfrm>
        </p:grpSpPr>
        <p:sp>
          <p:nvSpPr>
            <p:cNvPr id="172" name="Google Shape;172;p4"/>
            <p:cNvSpPr/>
            <p:nvPr/>
          </p:nvSpPr>
          <p:spPr>
            <a:xfrm>
              <a:off x="428625" y="1238250"/>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4"/>
            <p:cNvSpPr txBox="1"/>
            <p:nvPr/>
          </p:nvSpPr>
          <p:spPr>
            <a:xfrm>
              <a:off x="571500" y="1333500"/>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Substrate Phase Security</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Optimized quinary refractory HEA matrix ensuring stable single-phase BCC solid solution.</a:t>
              </a:r>
              <a:endParaRPr sz="900" b="0">
                <a:solidFill>
                  <a:srgbClr val="475569"/>
                </a:solidFill>
                <a:latin typeface="Inter"/>
                <a:ea typeface="Inter"/>
                <a:cs typeface="Inter"/>
                <a:sym typeface="Inter"/>
              </a:endParaRPr>
            </a:p>
          </p:txBody>
        </p:sp>
        <p:sp>
          <p:nvSpPr>
            <p:cNvPr id="174" name="Google Shape;174;p4"/>
            <p:cNvSpPr/>
            <p:nvPr/>
          </p:nvSpPr>
          <p:spPr>
            <a:xfrm>
              <a:off x="428625" y="2143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4"/>
            <p:cNvSpPr txBox="1"/>
            <p:nvPr/>
          </p:nvSpPr>
          <p:spPr>
            <a:xfrm>
              <a:off x="571500" y="2238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The Pareto Gradient</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Transition zone governed by power-law exponent </a:t>
              </a:r>
              <a:r>
                <a:rPr lang="en-US" sz="833" b="1">
                  <a:solidFill>
                    <a:srgbClr val="1A365D"/>
                  </a:solidFill>
                  <a:latin typeface="Inter"/>
                  <a:ea typeface="Inter"/>
                  <a:cs typeface="Inter"/>
                  <a:sym typeface="Inter"/>
                </a:rPr>
                <a:t>n=1.1</a:t>
              </a:r>
              <a:r>
                <a:rPr lang="en-US" sz="833" b="0">
                  <a:solidFill>
                    <a:srgbClr val="475569"/>
                  </a:solidFill>
                  <a:latin typeface="Inter"/>
                  <a:ea typeface="Inter"/>
                  <a:cs typeface="Inter"/>
                  <a:sym typeface="Inter"/>
                </a:rPr>
                <a:t>, shifting shear stresses away from the surface.</a:t>
              </a:r>
              <a:endParaRPr sz="833" b="0">
                <a:solidFill>
                  <a:srgbClr val="475569"/>
                </a:solidFill>
                <a:latin typeface="Inter"/>
                <a:ea typeface="Inter"/>
                <a:cs typeface="Inter"/>
                <a:sym typeface="Inter"/>
              </a:endParaRPr>
            </a:p>
          </p:txBody>
        </p:sp>
        <p:sp>
          <p:nvSpPr>
            <p:cNvPr id="176" name="Google Shape;176;p4"/>
            <p:cNvSpPr/>
            <p:nvPr/>
          </p:nvSpPr>
          <p:spPr>
            <a:xfrm>
              <a:off x="428625" y="2905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4"/>
            <p:cNvSpPr txBox="1"/>
            <p:nvPr/>
          </p:nvSpPr>
          <p:spPr>
            <a:xfrm>
              <a:off x="571500" y="3000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Transpiration Porosity Network</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Integrated micro-pores programmed via selective laser sintering, allowing cooling air to weep uniformly.</a:t>
              </a:r>
              <a:endParaRPr sz="833" b="0">
                <a:solidFill>
                  <a:srgbClr val="475569"/>
                </a:solidFill>
                <a:latin typeface="Inter"/>
                <a:ea typeface="Inter"/>
                <a:cs typeface="Inter"/>
                <a:sym typeface="Inter"/>
              </a:endParaRPr>
            </a:p>
          </p:txBody>
        </p:sp>
        <p:sp>
          <p:nvSpPr>
            <p:cNvPr id="178" name="Google Shape;178;p4"/>
            <p:cNvSpPr/>
            <p:nvPr/>
          </p:nvSpPr>
          <p:spPr>
            <a:xfrm>
              <a:off x="428625" y="3667125"/>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4"/>
            <p:cNvSpPr txBox="1"/>
            <p:nvPr/>
          </p:nvSpPr>
          <p:spPr>
            <a:xfrm>
              <a:off x="571500" y="3762375"/>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Hardware-Agnostic Output</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Direct export of 11-layer data ledger  to drive multi-hopper LENS printers.</a:t>
              </a:r>
              <a:endParaRPr sz="900" b="0">
                <a:solidFill>
                  <a:srgbClr val="475569"/>
                </a:solidFill>
                <a:latin typeface="Inter"/>
                <a:ea typeface="Inter"/>
                <a:cs typeface="Inter"/>
                <a:sym typeface="Inter"/>
              </a:endParaRPr>
            </a:p>
          </p:txBody>
        </p:sp>
      </p:grpSp>
      <p:grpSp>
        <p:nvGrpSpPr>
          <p:cNvPr id="180" name="Google Shape;180;p4"/>
          <p:cNvGrpSpPr/>
          <p:nvPr/>
        </p:nvGrpSpPr>
        <p:grpSpPr>
          <a:xfrm>
            <a:off x="4106000" y="717063"/>
            <a:ext cx="4857900" cy="3572119"/>
            <a:chOff x="4000500" y="333375"/>
            <a:chExt cx="4857900" cy="4476900"/>
          </a:xfrm>
        </p:grpSpPr>
        <p:sp>
          <p:nvSpPr>
            <p:cNvPr id="181" name="Google Shape;181;p4"/>
            <p:cNvSpPr/>
            <p:nvPr/>
          </p:nvSpPr>
          <p:spPr>
            <a:xfrm>
              <a:off x="4000500" y="333375"/>
              <a:ext cx="4857900" cy="4476900"/>
            </a:xfrm>
            <a:prstGeom prst="roundRect">
              <a:avLst>
                <a:gd name="adj" fmla="val 170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2" name="Google Shape;182;p4"/>
            <p:cNvGrpSpPr/>
            <p:nvPr/>
          </p:nvGrpSpPr>
          <p:grpSpPr>
            <a:xfrm>
              <a:off x="4000500" y="333375"/>
              <a:ext cx="4857600" cy="381000"/>
              <a:chOff x="4000500" y="333375"/>
              <a:chExt cx="4857600" cy="381000"/>
            </a:xfrm>
          </p:grpSpPr>
          <p:pic>
            <p:nvPicPr>
              <p:cNvPr id="183" name="Google Shape;183;p4"/>
              <p:cNvPicPr preferRelativeResize="0"/>
              <p:nvPr/>
            </p:nvPicPr>
            <p:blipFill rotWithShape="1">
              <a:blip r:embed="rId4">
                <a:alphaModFix/>
              </a:blip>
              <a:srcRect/>
              <a:stretch/>
            </p:blipFill>
            <p:spPr>
              <a:xfrm>
                <a:off x="4000500" y="333375"/>
                <a:ext cx="476400" cy="381000"/>
              </a:xfrm>
              <a:prstGeom prst="rect">
                <a:avLst/>
              </a:prstGeom>
              <a:noFill/>
              <a:ln>
                <a:noFill/>
              </a:ln>
            </p:spPr>
          </p:pic>
          <p:sp>
            <p:nvSpPr>
              <p:cNvPr id="184" name="Google Shape;184;p4"/>
              <p:cNvSpPr/>
              <p:nvPr/>
            </p:nvSpPr>
            <p:spPr>
              <a:xfrm>
                <a:off x="4476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4"/>
              <p:cNvSpPr/>
              <p:nvPr/>
            </p:nvSpPr>
            <p:spPr>
              <a:xfrm>
                <a:off x="5238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4"/>
              <p:cNvSpPr/>
              <p:nvPr/>
            </p:nvSpPr>
            <p:spPr>
              <a:xfrm>
                <a:off x="6000750" y="333375"/>
                <a:ext cx="8574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7" name="Google Shape;187;p4"/>
              <p:cNvPicPr preferRelativeResize="0"/>
              <p:nvPr/>
            </p:nvPicPr>
            <p:blipFill rotWithShape="1">
              <a:blip r:embed="rId5">
                <a:alphaModFix/>
              </a:blip>
              <a:srcRect/>
              <a:stretch/>
            </p:blipFill>
            <p:spPr>
              <a:xfrm>
                <a:off x="6858000" y="333375"/>
                <a:ext cx="2000100" cy="381000"/>
              </a:xfrm>
              <a:prstGeom prst="rect">
                <a:avLst/>
              </a:prstGeom>
              <a:noFill/>
              <a:ln>
                <a:noFill/>
              </a:ln>
            </p:spPr>
          </p:pic>
          <p:sp>
            <p:nvSpPr>
              <p:cNvPr id="188" name="Google Shape;188;p4"/>
              <p:cNvSpPr txBox="1"/>
              <p:nvPr/>
            </p:nvSpPr>
            <p:spPr>
              <a:xfrm>
                <a:off x="4000500" y="333375"/>
                <a:ext cx="476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Layer</a:t>
                </a:r>
                <a:endParaRPr sz="800" b="0">
                  <a:solidFill>
                    <a:srgbClr val="FFFFFF"/>
                  </a:solidFill>
                  <a:latin typeface="Space Grotesk SemiBold"/>
                  <a:ea typeface="Space Grotesk SemiBold"/>
                  <a:cs typeface="Space Grotesk SemiBold"/>
                  <a:sym typeface="Space Grotesk SemiBold"/>
                </a:endParaRPr>
              </a:p>
            </p:txBody>
          </p:sp>
          <p:sp>
            <p:nvSpPr>
              <p:cNvPr id="189" name="Google Shape;189;p4"/>
              <p:cNvSpPr txBox="1"/>
              <p:nvPr/>
            </p:nvSpPr>
            <p:spPr>
              <a:xfrm>
                <a:off x="4476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Depth (mm)</a:t>
                </a:r>
                <a:endParaRPr sz="800" b="0">
                  <a:solidFill>
                    <a:srgbClr val="FFFFFF"/>
                  </a:solidFill>
                  <a:latin typeface="Space Grotesk SemiBold"/>
                  <a:ea typeface="Space Grotesk SemiBold"/>
                  <a:cs typeface="Space Grotesk SemiBold"/>
                  <a:sym typeface="Space Grotesk SemiBold"/>
                </a:endParaRPr>
              </a:p>
            </p:txBody>
          </p:sp>
          <p:sp>
            <p:nvSpPr>
              <p:cNvPr id="190" name="Google Shape;190;p4"/>
              <p:cNvSpPr txBox="1"/>
              <p:nvPr/>
            </p:nvSpPr>
            <p:spPr>
              <a:xfrm>
                <a:off x="5238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Alloy Vol %</a:t>
                </a:r>
                <a:endParaRPr sz="800" b="0">
                  <a:solidFill>
                    <a:srgbClr val="FFFFFF"/>
                  </a:solidFill>
                  <a:latin typeface="Space Grotesk SemiBold"/>
                  <a:ea typeface="Space Grotesk SemiBold"/>
                  <a:cs typeface="Space Grotesk SemiBold"/>
                  <a:sym typeface="Space Grotesk SemiBold"/>
                </a:endParaRPr>
              </a:p>
            </p:txBody>
          </p:sp>
          <p:sp>
            <p:nvSpPr>
              <p:cNvPr id="191" name="Google Shape;191;p4"/>
              <p:cNvSpPr txBox="1"/>
              <p:nvPr/>
            </p:nvSpPr>
            <p:spPr>
              <a:xfrm>
                <a:off x="6000750" y="333375"/>
                <a:ext cx="857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Ceramic Vol %</a:t>
                </a:r>
                <a:endParaRPr sz="800" b="0">
                  <a:solidFill>
                    <a:srgbClr val="FFFFFF"/>
                  </a:solidFill>
                  <a:latin typeface="Space Grotesk SemiBold"/>
                  <a:ea typeface="Space Grotesk SemiBold"/>
                  <a:cs typeface="Space Grotesk SemiBold"/>
                  <a:sym typeface="Space Grotesk SemiBold"/>
                </a:endParaRPr>
              </a:p>
            </p:txBody>
          </p:sp>
          <p:sp>
            <p:nvSpPr>
              <p:cNvPr id="192" name="Google Shape;192;p4"/>
              <p:cNvSpPr txBox="1"/>
              <p:nvPr/>
            </p:nvSpPr>
            <p:spPr>
              <a:xfrm>
                <a:off x="6858000" y="333375"/>
                <a:ext cx="200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Profile Description</a:t>
                </a:r>
                <a:endParaRPr sz="800" b="0">
                  <a:solidFill>
                    <a:srgbClr val="FFFFFF"/>
                  </a:solidFill>
                  <a:latin typeface="Space Grotesk SemiBold"/>
                  <a:ea typeface="Space Grotesk SemiBold"/>
                  <a:cs typeface="Space Grotesk SemiBold"/>
                  <a:sym typeface="Space Grotesk SemiBold"/>
                </a:endParaRPr>
              </a:p>
            </p:txBody>
          </p:sp>
        </p:grpSp>
        <p:grpSp>
          <p:nvGrpSpPr>
            <p:cNvPr id="193" name="Google Shape;193;p4"/>
            <p:cNvGrpSpPr/>
            <p:nvPr/>
          </p:nvGrpSpPr>
          <p:grpSpPr>
            <a:xfrm>
              <a:off x="4000500" y="714375"/>
              <a:ext cx="4857900" cy="3214838"/>
              <a:chOff x="4000500" y="714375"/>
              <a:chExt cx="4857900" cy="3214838"/>
            </a:xfrm>
          </p:grpSpPr>
          <p:sp>
            <p:nvSpPr>
              <p:cNvPr id="194" name="Google Shape;194;p4"/>
              <p:cNvSpPr/>
              <p:nvPr/>
            </p:nvSpPr>
            <p:spPr>
              <a:xfrm>
                <a:off x="4000500" y="714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4"/>
              <p:cNvSpPr txBox="1"/>
              <p:nvPr/>
            </p:nvSpPr>
            <p:spPr>
              <a:xfrm>
                <a:off x="4000500" y="714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a:t>
                </a:r>
                <a:endParaRPr sz="800">
                  <a:solidFill>
                    <a:srgbClr val="1E293B"/>
                  </a:solidFill>
                  <a:latin typeface="Inter"/>
                  <a:ea typeface="Inter"/>
                  <a:cs typeface="Inter"/>
                  <a:sym typeface="Inter"/>
                </a:endParaRPr>
              </a:p>
            </p:txBody>
          </p:sp>
          <p:sp>
            <p:nvSpPr>
              <p:cNvPr id="196" name="Google Shape;196;p4"/>
              <p:cNvSpPr txBox="1"/>
              <p:nvPr/>
            </p:nvSpPr>
            <p:spPr>
              <a:xfrm>
                <a:off x="4476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p:txBody>
          </p:sp>
          <p:sp>
            <p:nvSpPr>
              <p:cNvPr id="197" name="Google Shape;197;p4"/>
              <p:cNvSpPr txBox="1"/>
              <p:nvPr/>
            </p:nvSpPr>
            <p:spPr>
              <a:xfrm>
                <a:off x="5238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p:txBody>
          </p:sp>
          <p:sp>
            <p:nvSpPr>
              <p:cNvPr id="198" name="Google Shape;198;p4"/>
              <p:cNvSpPr txBox="1"/>
              <p:nvPr/>
            </p:nvSpPr>
            <p:spPr>
              <a:xfrm>
                <a:off x="6000750" y="714375"/>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a:t>
                </a:r>
                <a:endParaRPr sz="800">
                  <a:solidFill>
                    <a:srgbClr val="1E293B"/>
                  </a:solidFill>
                  <a:latin typeface="Inter"/>
                  <a:ea typeface="Inter"/>
                  <a:cs typeface="Inter"/>
                  <a:sym typeface="Inter"/>
                </a:endParaRPr>
              </a:p>
            </p:txBody>
          </p:sp>
          <p:sp>
            <p:nvSpPr>
              <p:cNvPr id="199" name="Google Shape;199;p4"/>
              <p:cNvSpPr txBox="1"/>
              <p:nvPr/>
            </p:nvSpPr>
            <p:spPr>
              <a:xfrm>
                <a:off x="6858000" y="714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Refractory HEA Base</a:t>
                </a:r>
                <a:endParaRPr sz="800">
                  <a:solidFill>
                    <a:srgbClr val="1E293B"/>
                  </a:solidFill>
                  <a:latin typeface="Inter"/>
                  <a:ea typeface="Inter"/>
                  <a:cs typeface="Inter"/>
                  <a:sym typeface="Inter"/>
                </a:endParaRPr>
              </a:p>
            </p:txBody>
          </p:sp>
          <p:sp>
            <p:nvSpPr>
              <p:cNvPr id="200" name="Google Shape;200;p4"/>
              <p:cNvSpPr/>
              <p:nvPr/>
            </p:nvSpPr>
            <p:spPr>
              <a:xfrm>
                <a:off x="4000500" y="1000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4000500" y="1000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2</a:t>
                </a:r>
                <a:endParaRPr sz="800">
                  <a:solidFill>
                    <a:srgbClr val="1E293B"/>
                  </a:solidFill>
                  <a:latin typeface="Inter"/>
                  <a:ea typeface="Inter"/>
                  <a:cs typeface="Inter"/>
                  <a:sym typeface="Inter"/>
                </a:endParaRPr>
              </a:p>
            </p:txBody>
          </p:sp>
          <p:sp>
            <p:nvSpPr>
              <p:cNvPr id="202" name="Google Shape;202;p4"/>
              <p:cNvSpPr txBox="1"/>
              <p:nvPr/>
            </p:nvSpPr>
            <p:spPr>
              <a:xfrm>
                <a:off x="4476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0.50</a:t>
                </a:r>
                <a:endParaRPr sz="800">
                  <a:solidFill>
                    <a:srgbClr val="1E293B"/>
                  </a:solidFill>
                  <a:latin typeface="Inter"/>
                  <a:ea typeface="Inter"/>
                  <a:cs typeface="Inter"/>
                  <a:sym typeface="Inter"/>
                </a:endParaRPr>
              </a:p>
            </p:txBody>
          </p:sp>
          <p:sp>
            <p:nvSpPr>
              <p:cNvPr id="203" name="Google Shape;203;p4"/>
              <p:cNvSpPr txBox="1"/>
              <p:nvPr/>
            </p:nvSpPr>
            <p:spPr>
              <a:xfrm>
                <a:off x="5238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04" name="Google Shape;204;p4"/>
              <p:cNvSpPr txBox="1"/>
              <p:nvPr/>
            </p:nvSpPr>
            <p:spPr>
              <a:xfrm>
                <a:off x="6000750" y="10611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05" name="Google Shape;205;p4"/>
              <p:cNvSpPr txBox="1"/>
              <p:nvPr/>
            </p:nvSpPr>
            <p:spPr>
              <a:xfrm>
                <a:off x="6858000" y="1000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06" name="Google Shape;206;p4"/>
              <p:cNvSpPr/>
              <p:nvPr/>
            </p:nvSpPr>
            <p:spPr>
              <a:xfrm>
                <a:off x="4000500" y="1285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4"/>
              <p:cNvSpPr txBox="1"/>
              <p:nvPr/>
            </p:nvSpPr>
            <p:spPr>
              <a:xfrm>
                <a:off x="4000500" y="1285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a:t>
                </a:r>
                <a:endParaRPr sz="800">
                  <a:solidFill>
                    <a:srgbClr val="1E293B"/>
                  </a:solidFill>
                  <a:latin typeface="Inter"/>
                  <a:ea typeface="Inter"/>
                  <a:cs typeface="Inter"/>
                  <a:sym typeface="Inter"/>
                </a:endParaRPr>
              </a:p>
            </p:txBody>
          </p:sp>
          <p:sp>
            <p:nvSpPr>
              <p:cNvPr id="208" name="Google Shape;208;p4"/>
              <p:cNvSpPr txBox="1"/>
              <p:nvPr/>
            </p:nvSpPr>
            <p:spPr>
              <a:xfrm>
                <a:off x="4476750" y="1285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a:t>
                </a:r>
                <a:endParaRPr sz="800">
                  <a:solidFill>
                    <a:srgbClr val="1E293B"/>
                  </a:solidFill>
                  <a:latin typeface="Inter"/>
                  <a:ea typeface="Inter"/>
                  <a:cs typeface="Inter"/>
                  <a:sym typeface="Inter"/>
                </a:endParaRPr>
              </a:p>
            </p:txBody>
          </p:sp>
          <p:sp>
            <p:nvSpPr>
              <p:cNvPr id="209" name="Google Shape;209;p4"/>
              <p:cNvSpPr txBox="1"/>
              <p:nvPr/>
            </p:nvSpPr>
            <p:spPr>
              <a:xfrm>
                <a:off x="5238750" y="1285797"/>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10" name="Google Shape;210;p4"/>
              <p:cNvSpPr txBox="1"/>
              <p:nvPr/>
            </p:nvSpPr>
            <p:spPr>
              <a:xfrm>
                <a:off x="6000750" y="1305379"/>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11" name="Google Shape;211;p4"/>
              <p:cNvSpPr txBox="1"/>
              <p:nvPr/>
            </p:nvSpPr>
            <p:spPr>
              <a:xfrm>
                <a:off x="6858000" y="1285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12" name="Google Shape;212;p4"/>
              <p:cNvSpPr/>
              <p:nvPr/>
            </p:nvSpPr>
            <p:spPr>
              <a:xfrm>
                <a:off x="4000500" y="15716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4000500" y="1571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4</a:t>
                </a:r>
                <a:endParaRPr sz="800" b="0">
                  <a:solidFill>
                    <a:srgbClr val="0891B2"/>
                  </a:solidFill>
                  <a:latin typeface="Inter SemiBold"/>
                  <a:ea typeface="Inter SemiBold"/>
                  <a:cs typeface="Inter SemiBold"/>
                  <a:sym typeface="Inter SemiBold"/>
                </a:endParaRPr>
              </a:p>
            </p:txBody>
          </p:sp>
          <p:sp>
            <p:nvSpPr>
              <p:cNvPr id="214" name="Google Shape;214;p4"/>
              <p:cNvSpPr txBox="1"/>
              <p:nvPr/>
            </p:nvSpPr>
            <p:spPr>
              <a:xfrm>
                <a:off x="4476750" y="1571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1.50</a:t>
                </a:r>
                <a:endParaRPr sz="800" b="0">
                  <a:solidFill>
                    <a:srgbClr val="0891B2"/>
                  </a:solidFill>
                  <a:latin typeface="Inter SemiBold"/>
                  <a:ea typeface="Inter SemiBold"/>
                  <a:cs typeface="Inter SemiBold"/>
                  <a:sym typeface="Inter SemiBold"/>
                </a:endParaRPr>
              </a:p>
            </p:txBody>
          </p:sp>
          <p:sp>
            <p:nvSpPr>
              <p:cNvPr id="215" name="Google Shape;215;p4"/>
              <p:cNvSpPr txBox="1"/>
              <p:nvPr/>
            </p:nvSpPr>
            <p:spPr>
              <a:xfrm>
                <a:off x="5238750" y="164964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6" name="Google Shape;216;p4"/>
              <p:cNvSpPr txBox="1"/>
              <p:nvPr/>
            </p:nvSpPr>
            <p:spPr>
              <a:xfrm>
                <a:off x="6000750" y="1610634"/>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7" name="Google Shape;217;p4"/>
              <p:cNvSpPr txBox="1"/>
              <p:nvPr/>
            </p:nvSpPr>
            <p:spPr>
              <a:xfrm>
                <a:off x="6858000" y="1571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18" name="Google Shape;218;p4"/>
              <p:cNvSpPr/>
              <p:nvPr/>
            </p:nvSpPr>
            <p:spPr>
              <a:xfrm>
                <a:off x="4000500" y="18573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4"/>
              <p:cNvSpPr txBox="1"/>
              <p:nvPr/>
            </p:nvSpPr>
            <p:spPr>
              <a:xfrm>
                <a:off x="4000500" y="1857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5</a:t>
                </a:r>
                <a:endParaRPr sz="800" b="0">
                  <a:solidFill>
                    <a:srgbClr val="0891B2"/>
                  </a:solidFill>
                  <a:latin typeface="Inter SemiBold"/>
                  <a:ea typeface="Inter SemiBold"/>
                  <a:cs typeface="Inter SemiBold"/>
                  <a:sym typeface="Inter SemiBold"/>
                </a:endParaRPr>
              </a:p>
            </p:txBody>
          </p:sp>
          <p:sp>
            <p:nvSpPr>
              <p:cNvPr id="220" name="Google Shape;220;p4"/>
              <p:cNvSpPr txBox="1"/>
              <p:nvPr/>
            </p:nvSpPr>
            <p:spPr>
              <a:xfrm>
                <a:off x="4476750" y="1857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2.00</a:t>
                </a:r>
                <a:endParaRPr sz="800" b="0">
                  <a:solidFill>
                    <a:srgbClr val="0891B2"/>
                  </a:solidFill>
                  <a:latin typeface="Inter SemiBold"/>
                  <a:ea typeface="Inter SemiBold"/>
                  <a:cs typeface="Inter SemiBold"/>
                  <a:sym typeface="Inter SemiBold"/>
                </a:endParaRPr>
              </a:p>
            </p:txBody>
          </p:sp>
          <p:sp>
            <p:nvSpPr>
              <p:cNvPr id="221" name="Google Shape;221;p4"/>
              <p:cNvSpPr txBox="1"/>
              <p:nvPr/>
            </p:nvSpPr>
            <p:spPr>
              <a:xfrm>
                <a:off x="5238750" y="193539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2" name="Google Shape;222;p4"/>
              <p:cNvSpPr txBox="1"/>
              <p:nvPr/>
            </p:nvSpPr>
            <p:spPr>
              <a:xfrm>
                <a:off x="6000750" y="189472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3" name="Google Shape;223;p4"/>
              <p:cNvSpPr txBox="1"/>
              <p:nvPr/>
            </p:nvSpPr>
            <p:spPr>
              <a:xfrm>
                <a:off x="6858000" y="1857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24" name="Google Shape;224;p4"/>
              <p:cNvSpPr/>
              <p:nvPr/>
            </p:nvSpPr>
            <p:spPr>
              <a:xfrm>
                <a:off x="4000500" y="21431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4"/>
              <p:cNvSpPr txBox="1"/>
              <p:nvPr/>
            </p:nvSpPr>
            <p:spPr>
              <a:xfrm>
                <a:off x="4000500" y="2143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6</a:t>
                </a:r>
                <a:endParaRPr sz="800" b="0">
                  <a:solidFill>
                    <a:srgbClr val="0891B2"/>
                  </a:solidFill>
                  <a:latin typeface="Inter SemiBold"/>
                  <a:ea typeface="Inter SemiBold"/>
                  <a:cs typeface="Inter SemiBold"/>
                  <a:sym typeface="Inter SemiBold"/>
                </a:endParaRPr>
              </a:p>
            </p:txBody>
          </p:sp>
          <p:sp>
            <p:nvSpPr>
              <p:cNvPr id="226" name="Google Shape;226;p4"/>
              <p:cNvSpPr txBox="1"/>
              <p:nvPr/>
            </p:nvSpPr>
            <p:spPr>
              <a:xfrm>
                <a:off x="4476750" y="2143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2.50</a:t>
                </a:r>
                <a:endParaRPr sz="800" b="0">
                  <a:solidFill>
                    <a:srgbClr val="0891B2"/>
                  </a:solidFill>
                  <a:latin typeface="Inter SemiBold"/>
                  <a:ea typeface="Inter SemiBold"/>
                  <a:cs typeface="Inter SemiBold"/>
                  <a:sym typeface="Inter SemiBold"/>
                </a:endParaRPr>
              </a:p>
            </p:txBody>
          </p:sp>
          <p:sp>
            <p:nvSpPr>
              <p:cNvPr id="227" name="Google Shape;227;p4"/>
              <p:cNvSpPr txBox="1"/>
              <p:nvPr/>
            </p:nvSpPr>
            <p:spPr>
              <a:xfrm>
                <a:off x="5238750" y="2214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8" name="Google Shape;228;p4"/>
              <p:cNvSpPr txBox="1"/>
              <p:nvPr/>
            </p:nvSpPr>
            <p:spPr>
              <a:xfrm>
                <a:off x="6000750" y="221785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9" name="Google Shape;229;p4"/>
              <p:cNvSpPr txBox="1"/>
              <p:nvPr/>
            </p:nvSpPr>
            <p:spPr>
              <a:xfrm>
                <a:off x="6858000" y="2143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0" name="Google Shape;230;p4"/>
              <p:cNvSpPr/>
              <p:nvPr/>
            </p:nvSpPr>
            <p:spPr>
              <a:xfrm>
                <a:off x="4000500" y="24288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4"/>
              <p:cNvSpPr txBox="1"/>
              <p:nvPr/>
            </p:nvSpPr>
            <p:spPr>
              <a:xfrm>
                <a:off x="4000500" y="2428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7</a:t>
                </a:r>
                <a:endParaRPr sz="800" b="0">
                  <a:solidFill>
                    <a:srgbClr val="0891B2"/>
                  </a:solidFill>
                  <a:latin typeface="Inter SemiBold"/>
                  <a:ea typeface="Inter SemiBold"/>
                  <a:cs typeface="Inter SemiBold"/>
                  <a:sym typeface="Inter SemiBold"/>
                </a:endParaRPr>
              </a:p>
            </p:txBody>
          </p:sp>
          <p:sp>
            <p:nvSpPr>
              <p:cNvPr id="232" name="Google Shape;232;p4"/>
              <p:cNvSpPr txBox="1"/>
              <p:nvPr/>
            </p:nvSpPr>
            <p:spPr>
              <a:xfrm>
                <a:off x="4476750" y="2428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3.00</a:t>
                </a:r>
                <a:endParaRPr sz="800" b="0">
                  <a:solidFill>
                    <a:srgbClr val="0891B2"/>
                  </a:solidFill>
                  <a:latin typeface="Inter SemiBold"/>
                  <a:ea typeface="Inter SemiBold"/>
                  <a:cs typeface="Inter SemiBold"/>
                  <a:sym typeface="Inter SemiBold"/>
                </a:endParaRPr>
              </a:p>
            </p:txBody>
          </p:sp>
          <p:sp>
            <p:nvSpPr>
              <p:cNvPr id="233" name="Google Shape;233;p4"/>
              <p:cNvSpPr txBox="1"/>
              <p:nvPr/>
            </p:nvSpPr>
            <p:spPr>
              <a:xfrm>
                <a:off x="5238750" y="2500250"/>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4" name="Google Shape;234;p4"/>
              <p:cNvSpPr txBox="1"/>
              <p:nvPr/>
            </p:nvSpPr>
            <p:spPr>
              <a:xfrm>
                <a:off x="6000750" y="250360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5" name="Google Shape;235;p4"/>
              <p:cNvSpPr txBox="1"/>
              <p:nvPr/>
            </p:nvSpPr>
            <p:spPr>
              <a:xfrm>
                <a:off x="6858000" y="2428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6" name="Google Shape;236;p4"/>
              <p:cNvSpPr/>
              <p:nvPr/>
            </p:nvSpPr>
            <p:spPr>
              <a:xfrm>
                <a:off x="4000500" y="27146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4"/>
              <p:cNvSpPr txBox="1"/>
              <p:nvPr/>
            </p:nvSpPr>
            <p:spPr>
              <a:xfrm>
                <a:off x="4000500" y="2714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8</a:t>
                </a:r>
                <a:endParaRPr sz="800">
                  <a:solidFill>
                    <a:srgbClr val="1E293B"/>
                  </a:solidFill>
                  <a:latin typeface="Inter"/>
                  <a:ea typeface="Inter"/>
                  <a:cs typeface="Inter"/>
                  <a:sym typeface="Inter"/>
                </a:endParaRPr>
              </a:p>
            </p:txBody>
          </p:sp>
          <p:sp>
            <p:nvSpPr>
              <p:cNvPr id="238" name="Google Shape;238;p4"/>
              <p:cNvSpPr txBox="1"/>
              <p:nvPr/>
            </p:nvSpPr>
            <p:spPr>
              <a:xfrm>
                <a:off x="4476750" y="2714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3.50</a:t>
                </a:r>
                <a:endParaRPr sz="800">
                  <a:solidFill>
                    <a:srgbClr val="1E293B"/>
                  </a:solidFill>
                  <a:latin typeface="Inter"/>
                  <a:ea typeface="Inter"/>
                  <a:cs typeface="Inter"/>
                  <a:sym typeface="Inter"/>
                </a:endParaRPr>
              </a:p>
            </p:txBody>
          </p:sp>
          <p:sp>
            <p:nvSpPr>
              <p:cNvPr id="239" name="Google Shape;239;p4"/>
              <p:cNvSpPr txBox="1"/>
              <p:nvPr/>
            </p:nvSpPr>
            <p:spPr>
              <a:xfrm>
                <a:off x="5238750" y="27860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0" name="Google Shape;240;p4"/>
              <p:cNvSpPr txBox="1"/>
              <p:nvPr/>
            </p:nvSpPr>
            <p:spPr>
              <a:xfrm>
                <a:off x="6000750" y="27860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1" name="Google Shape;241;p4"/>
              <p:cNvSpPr txBox="1"/>
              <p:nvPr/>
            </p:nvSpPr>
            <p:spPr>
              <a:xfrm>
                <a:off x="6858000" y="2714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2" name="Google Shape;242;p4"/>
              <p:cNvSpPr/>
              <p:nvPr/>
            </p:nvSpPr>
            <p:spPr>
              <a:xfrm>
                <a:off x="4000500" y="3000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4"/>
              <p:cNvSpPr txBox="1"/>
              <p:nvPr/>
            </p:nvSpPr>
            <p:spPr>
              <a:xfrm>
                <a:off x="4000500" y="3000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9</a:t>
                </a:r>
                <a:endParaRPr sz="800">
                  <a:solidFill>
                    <a:srgbClr val="1E293B"/>
                  </a:solidFill>
                  <a:latin typeface="Inter"/>
                  <a:ea typeface="Inter"/>
                  <a:cs typeface="Inter"/>
                  <a:sym typeface="Inter"/>
                </a:endParaRPr>
              </a:p>
            </p:txBody>
          </p:sp>
          <p:sp>
            <p:nvSpPr>
              <p:cNvPr id="244" name="Google Shape;244;p4"/>
              <p:cNvSpPr txBox="1"/>
              <p:nvPr/>
            </p:nvSpPr>
            <p:spPr>
              <a:xfrm>
                <a:off x="4476750" y="3000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4.00</a:t>
                </a:r>
                <a:endParaRPr sz="800">
                  <a:solidFill>
                    <a:srgbClr val="1E293B"/>
                  </a:solidFill>
                  <a:latin typeface="Inter"/>
                  <a:ea typeface="Inter"/>
                  <a:cs typeface="Inter"/>
                  <a:sym typeface="Inter"/>
                </a:endParaRPr>
              </a:p>
            </p:txBody>
          </p:sp>
          <p:sp>
            <p:nvSpPr>
              <p:cNvPr id="245" name="Google Shape;245;p4"/>
              <p:cNvSpPr txBox="1"/>
              <p:nvPr/>
            </p:nvSpPr>
            <p:spPr>
              <a:xfrm>
                <a:off x="5238750" y="30718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6" name="Google Shape;246;p4"/>
              <p:cNvSpPr txBox="1"/>
              <p:nvPr/>
            </p:nvSpPr>
            <p:spPr>
              <a:xfrm>
                <a:off x="6000750" y="3071781"/>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7" name="Google Shape;247;p4"/>
              <p:cNvSpPr txBox="1"/>
              <p:nvPr/>
            </p:nvSpPr>
            <p:spPr>
              <a:xfrm>
                <a:off x="6858000" y="3000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8" name="Google Shape;248;p4"/>
              <p:cNvSpPr/>
              <p:nvPr/>
            </p:nvSpPr>
            <p:spPr>
              <a:xfrm>
                <a:off x="4000500" y="3286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4"/>
              <p:cNvSpPr txBox="1"/>
              <p:nvPr/>
            </p:nvSpPr>
            <p:spPr>
              <a:xfrm>
                <a:off x="4000500" y="3286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a:t>
                </a:r>
                <a:endParaRPr sz="800">
                  <a:solidFill>
                    <a:srgbClr val="1E293B"/>
                  </a:solidFill>
                  <a:latin typeface="Inter"/>
                  <a:ea typeface="Inter"/>
                  <a:cs typeface="Inter"/>
                  <a:sym typeface="Inter"/>
                </a:endParaRPr>
              </a:p>
            </p:txBody>
          </p:sp>
          <p:sp>
            <p:nvSpPr>
              <p:cNvPr id="250" name="Google Shape;250;p4"/>
              <p:cNvSpPr txBox="1"/>
              <p:nvPr/>
            </p:nvSpPr>
            <p:spPr>
              <a:xfrm>
                <a:off x="4476750" y="3286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4.50</a:t>
                </a:r>
                <a:endParaRPr sz="800">
                  <a:solidFill>
                    <a:srgbClr val="1E293B"/>
                  </a:solidFill>
                  <a:latin typeface="Inter"/>
                  <a:ea typeface="Inter"/>
                  <a:cs typeface="Inter"/>
                  <a:sym typeface="Inter"/>
                </a:endParaRPr>
              </a:p>
            </p:txBody>
          </p:sp>
          <p:sp>
            <p:nvSpPr>
              <p:cNvPr id="251" name="Google Shape;251;p4"/>
              <p:cNvSpPr txBox="1"/>
              <p:nvPr/>
            </p:nvSpPr>
            <p:spPr>
              <a:xfrm>
                <a:off x="5238750" y="3357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2" name="Google Shape;252;p4"/>
              <p:cNvSpPr txBox="1"/>
              <p:nvPr/>
            </p:nvSpPr>
            <p:spPr>
              <a:xfrm>
                <a:off x="6000750" y="33575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3" name="Google Shape;253;p4"/>
              <p:cNvSpPr txBox="1"/>
              <p:nvPr/>
            </p:nvSpPr>
            <p:spPr>
              <a:xfrm>
                <a:off x="6858000" y="3286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54" name="Google Shape;254;p4"/>
              <p:cNvSpPr/>
              <p:nvPr/>
            </p:nvSpPr>
            <p:spPr>
              <a:xfrm>
                <a:off x="4000500" y="3571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4"/>
              <p:cNvSpPr txBox="1"/>
              <p:nvPr/>
            </p:nvSpPr>
            <p:spPr>
              <a:xfrm>
                <a:off x="4000500" y="3571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11</a:t>
                </a:r>
                <a:endParaRPr sz="800">
                  <a:solidFill>
                    <a:srgbClr val="1E293B"/>
                  </a:solidFill>
                  <a:latin typeface="Inter"/>
                  <a:ea typeface="Inter"/>
                  <a:cs typeface="Inter"/>
                  <a:sym typeface="Inter"/>
                </a:endParaRPr>
              </a:p>
            </p:txBody>
          </p:sp>
          <p:sp>
            <p:nvSpPr>
              <p:cNvPr id="256" name="Google Shape;256;p4"/>
              <p:cNvSpPr txBox="1"/>
              <p:nvPr/>
            </p:nvSpPr>
            <p:spPr>
              <a:xfrm>
                <a:off x="4476750" y="3571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5.00</a:t>
                </a:r>
                <a:endParaRPr sz="800">
                  <a:solidFill>
                    <a:srgbClr val="1E293B"/>
                  </a:solidFill>
                  <a:latin typeface="Inter"/>
                  <a:ea typeface="Inter"/>
                  <a:cs typeface="Inter"/>
                  <a:sym typeface="Inter"/>
                </a:endParaRPr>
              </a:p>
            </p:txBody>
          </p:sp>
          <p:sp>
            <p:nvSpPr>
              <p:cNvPr id="257" name="Google Shape;257;p4"/>
              <p:cNvSpPr txBox="1"/>
              <p:nvPr/>
            </p:nvSpPr>
            <p:spPr>
              <a:xfrm>
                <a:off x="5238750" y="36433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8" name="Google Shape;258;p4"/>
              <p:cNvSpPr txBox="1"/>
              <p:nvPr/>
            </p:nvSpPr>
            <p:spPr>
              <a:xfrm>
                <a:off x="6000750" y="36433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9" name="Google Shape;259;p4"/>
              <p:cNvSpPr txBox="1"/>
              <p:nvPr/>
            </p:nvSpPr>
            <p:spPr>
              <a:xfrm>
                <a:off x="6858000" y="3571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Porous LZO Ceramic</a:t>
                </a:r>
                <a:endParaRPr sz="800">
                  <a:solidFill>
                    <a:srgbClr val="1E293B"/>
                  </a:solidFill>
                  <a:latin typeface="Inter"/>
                  <a:ea typeface="Inter"/>
                  <a:cs typeface="Inter"/>
                  <a:sym typeface="Inter"/>
                </a:endParaRPr>
              </a:p>
            </p:txBody>
          </p:sp>
        </p:grpSp>
        <p:sp>
          <p:nvSpPr>
            <p:cNvPr id="260" name="Google Shape;260;p4"/>
            <p:cNvSpPr txBox="1"/>
            <p:nvPr/>
          </p:nvSpPr>
          <p:spPr>
            <a:xfrm>
              <a:off x="4000500" y="4572000"/>
              <a:ext cx="4857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a:solidFill>
                    <a:srgbClr val="94A3B8"/>
                  </a:solidFill>
                  <a:latin typeface="Inter"/>
                  <a:ea typeface="Inter"/>
                  <a:cs typeface="Inter"/>
                  <a:sym typeface="Inter"/>
                </a:rPr>
                <a:t> 			Optimized for 5.0 mm transition zone.</a:t>
              </a:r>
              <a:endParaRPr sz="800">
                <a:solidFill>
                  <a:srgbClr val="94A3B8"/>
                </a:solidFill>
                <a:latin typeface="Inter"/>
                <a:ea typeface="Inter"/>
                <a:cs typeface="Inter"/>
                <a:sym typeface="Inter"/>
              </a:endParaRPr>
            </a:p>
          </p:txBody>
        </p:sp>
      </p:grpSp>
      <p:grpSp>
        <p:nvGrpSpPr>
          <p:cNvPr id="261" name="Google Shape;261;p4"/>
          <p:cNvGrpSpPr/>
          <p:nvPr/>
        </p:nvGrpSpPr>
        <p:grpSpPr>
          <a:xfrm>
            <a:off x="428625" y="4476825"/>
            <a:ext cx="8370825" cy="500400"/>
            <a:chOff x="428625" y="4476825"/>
            <a:chExt cx="8370825" cy="500400"/>
          </a:xfrm>
        </p:grpSpPr>
        <p:sp>
          <p:nvSpPr>
            <p:cNvPr id="262" name="Google Shape;262;p4"/>
            <p:cNvSpPr/>
            <p:nvPr/>
          </p:nvSpPr>
          <p:spPr>
            <a:xfrm>
              <a:off x="428625" y="4619625"/>
              <a:ext cx="3333900" cy="190500"/>
            </a:xfrm>
            <a:prstGeom prst="roundRect">
              <a:avLst>
                <a:gd name="adj" fmla="val 1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4"/>
            <p:cNvSpPr txBox="1"/>
            <p:nvPr/>
          </p:nvSpPr>
          <p:spPr>
            <a:xfrm>
              <a:off x="476250" y="4476825"/>
              <a:ext cx="8323200" cy="50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1A365D"/>
                  </a:solidFill>
                  <a:latin typeface="Inter Medium"/>
                  <a:ea typeface="Inter Medium"/>
                  <a:cs typeface="Inter Medium"/>
                  <a:sym typeface="Inter Medium"/>
                </a:rPr>
                <a:t>Elemental family details are fully provided (Ta-W-Cr-V-Ti-Zr-Hf-Al-Nb), but exact compositional ratios are proprietary to protect Crystal Paradigm IP; full composition disclosure is available for joint engineering teams during subsequent technical reviews under an NDA </a:t>
              </a:r>
              <a:endParaRPr sz="1100" b="0">
                <a:solidFill>
                  <a:srgbClr val="1A365D"/>
                </a:solidFill>
                <a:latin typeface="Inter Medium"/>
                <a:ea typeface="Inter Medium"/>
                <a:cs typeface="Inter Medium"/>
                <a:sym typeface="Inter Medium"/>
              </a:endParaRPr>
            </a:p>
          </p:txBody>
        </p:sp>
      </p:grpSp>
      <p:sp>
        <p:nvSpPr>
          <p:cNvPr id="264" name="Google Shape;264;p4"/>
          <p:cNvSpPr txBox="1"/>
          <p:nvPr/>
        </p:nvSpPr>
        <p:spPr>
          <a:xfrm>
            <a:off x="4657525" y="211250"/>
            <a:ext cx="4632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b="1">
                <a:solidFill>
                  <a:srgbClr val="1A365D"/>
                </a:solidFill>
                <a:latin typeface="Space Grotesk"/>
                <a:ea typeface="Space Grotesk"/>
                <a:cs typeface="Space Grotesk"/>
                <a:sym typeface="Space Grotesk"/>
              </a:rPr>
              <a:t>          11-Layer Graded FGM Design Profile </a:t>
            </a:r>
            <a:endParaRPr b="1">
              <a:solidFill>
                <a:srgbClr val="1A365D"/>
              </a:solidFill>
              <a:latin typeface="Space Grotesk"/>
              <a:ea typeface="Space Grotesk"/>
              <a:cs typeface="Space Grotesk"/>
              <a:sym typeface="Space Grotesk"/>
            </a:endParaRPr>
          </a:p>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(Proprietary Composition Ratios Masked Pending Formal NDA Review) </a:t>
            </a:r>
            <a:endParaRPr sz="1000" b="1">
              <a:solidFill>
                <a:srgbClr val="1A365D"/>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descr="preencoded.png"/>
          <p:cNvPicPr preferRelativeResize="0"/>
          <p:nvPr/>
        </p:nvPicPr>
        <p:blipFill rotWithShape="1">
          <a:blip r:embed="rId3">
            <a:alphaModFix/>
          </a:blip>
          <a:srcRect/>
          <a:stretch/>
        </p:blipFill>
        <p:spPr>
          <a:xfrm>
            <a:off x="0" y="-26377"/>
            <a:ext cx="9143999" cy="5143500"/>
          </a:xfrm>
          <a:prstGeom prst="rect">
            <a:avLst/>
          </a:prstGeom>
          <a:noFill/>
          <a:ln>
            <a:noFill/>
          </a:ln>
        </p:spPr>
      </p:pic>
      <p:sp>
        <p:nvSpPr>
          <p:cNvPr id="271" name="Google Shape;271;p5"/>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WE WIN TECHNICALLY</a:t>
            </a:r>
            <a:endParaRPr sz="2450" b="0" i="0" u="none" strike="noStrike" cap="none">
              <a:solidFill>
                <a:schemeClr val="dk1"/>
              </a:solidFill>
              <a:latin typeface="Calibri"/>
              <a:ea typeface="Calibri"/>
              <a:cs typeface="Calibri"/>
              <a:sym typeface="Calibri"/>
            </a:endParaRPr>
          </a:p>
        </p:txBody>
      </p:sp>
      <p:sp>
        <p:nvSpPr>
          <p:cNvPr id="272" name="Google Shape;272;p5"/>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System-Level Innovation and Active Environmental Armor</a:t>
            </a:r>
            <a:endParaRPr sz="1200" b="0" i="0" u="none" strike="noStrike" cap="none">
              <a:solidFill>
                <a:schemeClr val="dk1"/>
              </a:solidFill>
              <a:latin typeface="Calibri"/>
              <a:ea typeface="Calibri"/>
              <a:cs typeface="Calibri"/>
              <a:sym typeface="Calibri"/>
            </a:endParaRPr>
          </a:p>
        </p:txBody>
      </p:sp>
      <p:sp>
        <p:nvSpPr>
          <p:cNvPr id="273" name="Google Shape;273;p5"/>
          <p:cNvSpPr/>
          <p:nvPr/>
        </p:nvSpPr>
        <p:spPr>
          <a:xfrm>
            <a:off x="600075" y="1369814"/>
            <a:ext cx="8115300" cy="411435"/>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111111"/>
              </a:buClr>
              <a:buSzPts val="950"/>
              <a:buFont typeface="Inter"/>
              <a:buNone/>
            </a:pPr>
            <a:r>
              <a:rPr lang="en-US" sz="950" b="0" i="0" u="none" strike="noStrike" cap="none">
                <a:solidFill>
                  <a:srgbClr val="111111"/>
                </a:solidFill>
                <a:latin typeface="Inter"/>
                <a:ea typeface="Inter"/>
                <a:cs typeface="Inter"/>
                <a:sym typeface="Inter"/>
              </a:rPr>
              <a:t>Our platform executes a unified optimization run that solves for substrate chemistry, gradient shapes, and active transpiration mechanics concurrently, minimizing interface mismatch to just </a:t>
            </a:r>
            <a:r>
              <a:rPr lang="en-US" sz="900" b="0" i="0" u="none" strike="noStrike" cap="none">
                <a:solidFill>
                  <a:srgbClr val="1A365D"/>
                </a:solidFill>
                <a:latin typeface="Inter"/>
                <a:ea typeface="Inter"/>
                <a:cs typeface="Inter"/>
                <a:sym typeface="Inter"/>
              </a:rPr>
              <a:t>2.66 μm/mK</a:t>
            </a:r>
            <a:r>
              <a:rPr lang="en-US" sz="950" b="0" i="0" u="none" strike="noStrike" cap="none">
                <a:solidFill>
                  <a:srgbClr val="111111"/>
                </a:solidFill>
                <a:latin typeface="Inter"/>
                <a:ea typeface="Inter"/>
                <a:cs typeface="Inter"/>
                <a:sym typeface="Inter"/>
              </a:rPr>
              <a:t>.</a:t>
            </a:r>
            <a:endParaRPr sz="950" b="0" i="0" u="none" strike="noStrike" cap="none">
              <a:solidFill>
                <a:schemeClr val="dk1"/>
              </a:solidFill>
              <a:latin typeface="Calibri"/>
              <a:ea typeface="Calibri"/>
              <a:cs typeface="Calibri"/>
              <a:sym typeface="Calibri"/>
            </a:endParaRPr>
          </a:p>
        </p:txBody>
      </p:sp>
      <p:pic>
        <p:nvPicPr>
          <p:cNvPr id="274" name="Google Shape;274;p5" descr="preencoded.png"/>
          <p:cNvPicPr preferRelativeResize="0"/>
          <p:nvPr/>
        </p:nvPicPr>
        <p:blipFill rotWithShape="1">
          <a:blip r:embed="rId4">
            <a:alphaModFix/>
          </a:blip>
          <a:srcRect/>
          <a:stretch/>
        </p:blipFill>
        <p:spPr>
          <a:xfrm>
            <a:off x="614363" y="2293813"/>
            <a:ext cx="171450" cy="171450"/>
          </a:xfrm>
          <a:prstGeom prst="rect">
            <a:avLst/>
          </a:prstGeom>
          <a:noFill/>
          <a:ln>
            <a:noFill/>
          </a:ln>
        </p:spPr>
      </p:pic>
      <p:sp>
        <p:nvSpPr>
          <p:cNvPr id="275" name="Google Shape;275;p5"/>
          <p:cNvSpPr/>
          <p:nvPr/>
        </p:nvSpPr>
        <p:spPr>
          <a:xfrm>
            <a:off x="892969" y="2288456"/>
            <a:ext cx="124837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PHASE STABILITY</a:t>
            </a:r>
            <a:endParaRPr sz="1000" b="0" i="0" u="none" strike="noStrike" cap="none">
              <a:solidFill>
                <a:schemeClr val="dk1"/>
              </a:solidFill>
              <a:latin typeface="Calibri"/>
              <a:ea typeface="Calibri"/>
              <a:cs typeface="Calibri"/>
              <a:sym typeface="Calibri"/>
            </a:endParaRPr>
          </a:p>
        </p:txBody>
      </p:sp>
      <p:sp>
        <p:nvSpPr>
          <p:cNvPr id="276" name="Google Shape;276;p5"/>
          <p:cNvSpPr/>
          <p:nvPr/>
        </p:nvSpPr>
        <p:spPr>
          <a:xfrm>
            <a:off x="614363"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Audited VEC of </a:t>
            </a:r>
            <a:r>
              <a:rPr lang="en-US" sz="800" b="0" i="0" u="none" strike="noStrike" cap="none">
                <a:solidFill>
                  <a:srgbClr val="1A365D"/>
                </a:solidFill>
                <a:latin typeface="Inter"/>
                <a:ea typeface="Inter"/>
                <a:cs typeface="Inter"/>
                <a:sym typeface="Inter"/>
              </a:rPr>
              <a:t>5.02</a:t>
            </a:r>
            <a:r>
              <a:rPr lang="en-US" sz="850" b="0" i="0" u="none" strike="noStrike" cap="none">
                <a:solidFill>
                  <a:srgbClr val="111111"/>
                </a:solidFill>
                <a:latin typeface="Inter"/>
                <a:ea typeface="Inter"/>
                <a:cs typeface="Inter"/>
                <a:sym typeface="Inter"/>
              </a:rPr>
              <a:t> ensures a stable single-phase BCC solid solution with zero sigma phase risk up to its solidus limit (What this means: 3x longer component life). </a:t>
            </a:r>
            <a:r>
              <a:rPr lang="en-US" sz="850">
                <a:solidFill>
                  <a:srgbClr val="111111"/>
                </a:solidFill>
                <a:latin typeface="Inter"/>
                <a:ea typeface="Inter"/>
                <a:cs typeface="Inter"/>
                <a:sym typeface="Inter"/>
              </a:rPr>
              <a:t>its solidus limit of 2727^K</a:t>
            </a:r>
            <a:r>
              <a:rPr lang="en-US" sz="850" b="0" i="0" u="none" strike="noStrike" cap="none">
                <a:solidFill>
                  <a:srgbClr val="111111"/>
                </a:solidFill>
                <a:latin typeface="Inter"/>
                <a:ea typeface="Inter"/>
                <a:cs typeface="Inter"/>
                <a:sym typeface="Inter"/>
              </a:rPr>
              <a:t>.</a:t>
            </a:r>
            <a:endParaRPr sz="850" b="0" i="0" u="none" strike="noStrike" cap="none">
              <a:solidFill>
                <a:schemeClr val="dk1"/>
              </a:solidFill>
              <a:latin typeface="Calibri"/>
              <a:ea typeface="Calibri"/>
              <a:cs typeface="Calibri"/>
              <a:sym typeface="Calibri"/>
            </a:endParaRPr>
          </a:p>
        </p:txBody>
      </p:sp>
      <p:pic>
        <p:nvPicPr>
          <p:cNvPr id="277" name="Google Shape;277;p5" descr="preencoded.png"/>
          <p:cNvPicPr preferRelativeResize="0"/>
          <p:nvPr/>
        </p:nvPicPr>
        <p:blipFill rotWithShape="1">
          <a:blip r:embed="rId5">
            <a:alphaModFix/>
          </a:blip>
          <a:srcRect/>
          <a:stretch/>
        </p:blipFill>
        <p:spPr>
          <a:xfrm>
            <a:off x="4864894" y="2293813"/>
            <a:ext cx="171450" cy="171450"/>
          </a:xfrm>
          <a:prstGeom prst="rect">
            <a:avLst/>
          </a:prstGeom>
          <a:noFill/>
          <a:ln>
            <a:noFill/>
          </a:ln>
        </p:spPr>
      </p:pic>
      <p:sp>
        <p:nvSpPr>
          <p:cNvPr id="278" name="Google Shape;278;p5"/>
          <p:cNvSpPr/>
          <p:nvPr/>
        </p:nvSpPr>
        <p:spPr>
          <a:xfrm>
            <a:off x="5143500" y="2288456"/>
            <a:ext cx="1696641"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OXIDATION RESISTANCE</a:t>
            </a:r>
            <a:endParaRPr sz="1000" b="0" i="0" u="none" strike="noStrike" cap="none">
              <a:solidFill>
                <a:schemeClr val="dk1"/>
              </a:solidFill>
              <a:latin typeface="Calibri"/>
              <a:ea typeface="Calibri"/>
              <a:cs typeface="Calibri"/>
              <a:sym typeface="Calibri"/>
            </a:endParaRPr>
          </a:p>
        </p:txBody>
      </p:sp>
      <p:sp>
        <p:nvSpPr>
          <p:cNvPr id="279" name="Google Shape;279;p5"/>
          <p:cNvSpPr/>
          <p:nvPr/>
        </p:nvSpPr>
        <p:spPr>
          <a:xfrm>
            <a:off x="4864894"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Self-healing Alumina armor limits high-temperature scale growth to </a:t>
            </a:r>
            <a:r>
              <a:rPr lang="en-US" sz="800" b="0" i="0" u="none" strike="noStrike" cap="none">
                <a:solidFill>
                  <a:srgbClr val="1A365D"/>
                </a:solidFill>
                <a:latin typeface="Inter"/>
                <a:ea typeface="Inter"/>
                <a:cs typeface="Inter"/>
                <a:sym typeface="Inter"/>
              </a:rPr>
              <a:t>&lt; 10 mg/cm²</a:t>
            </a:r>
            <a:r>
              <a:rPr lang="en-US" sz="850" b="0" i="0" u="none" strike="noStrike" cap="none">
                <a:solidFill>
                  <a:srgbClr val="111111"/>
                </a:solidFill>
                <a:latin typeface="Inter"/>
                <a:ea typeface="Inter"/>
                <a:cs typeface="Inter"/>
                <a:sym typeface="Inter"/>
              </a:rPr>
              <a:t> (exceptional 7.5 mg/cm² achieved - Survives at 200°C higher temperatures).</a:t>
            </a:r>
            <a:endParaRPr sz="850" b="0" i="0" u="none" strike="noStrike" cap="none">
              <a:solidFill>
                <a:schemeClr val="dk1"/>
              </a:solidFill>
              <a:latin typeface="Calibri"/>
              <a:ea typeface="Calibri"/>
              <a:cs typeface="Calibri"/>
              <a:sym typeface="Calibri"/>
            </a:endParaRPr>
          </a:p>
        </p:txBody>
      </p:sp>
      <p:pic>
        <p:nvPicPr>
          <p:cNvPr id="280" name="Google Shape;280;p5" descr="preencoded.png"/>
          <p:cNvPicPr preferRelativeResize="0"/>
          <p:nvPr/>
        </p:nvPicPr>
        <p:blipFill rotWithShape="1">
          <a:blip r:embed="rId6">
            <a:alphaModFix/>
          </a:blip>
          <a:srcRect/>
          <a:stretch/>
        </p:blipFill>
        <p:spPr>
          <a:xfrm>
            <a:off x="614363" y="3794001"/>
            <a:ext cx="171450" cy="171450"/>
          </a:xfrm>
          <a:prstGeom prst="rect">
            <a:avLst/>
          </a:prstGeom>
          <a:noFill/>
          <a:ln>
            <a:noFill/>
          </a:ln>
        </p:spPr>
      </p:pic>
      <p:sp>
        <p:nvSpPr>
          <p:cNvPr id="281" name="Google Shape;281;p5"/>
          <p:cNvSpPr/>
          <p:nvPr/>
        </p:nvSpPr>
        <p:spPr>
          <a:xfrm>
            <a:off x="892969" y="3788643"/>
            <a:ext cx="1852017"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ADHESION PERFORMANCE</a:t>
            </a:r>
            <a:endParaRPr sz="1000" b="0" i="0" u="none" strike="noStrike" cap="none">
              <a:solidFill>
                <a:schemeClr val="dk1"/>
              </a:solidFill>
              <a:latin typeface="Calibri"/>
              <a:ea typeface="Calibri"/>
              <a:cs typeface="Calibri"/>
              <a:sym typeface="Calibri"/>
            </a:endParaRPr>
          </a:p>
        </p:txBody>
      </p:sp>
      <p:sp>
        <p:nvSpPr>
          <p:cNvPr id="282" name="Google Shape;282;p5"/>
          <p:cNvSpPr/>
          <p:nvPr/>
        </p:nvSpPr>
        <p:spPr>
          <a:xfrm>
            <a:off x="614363"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Power-law gradient curves (</a:t>
            </a:r>
            <a:r>
              <a:rPr lang="en-US" sz="800" b="0" i="0" u="none" strike="noStrike" cap="none">
                <a:solidFill>
                  <a:srgbClr val="1A365D"/>
                </a:solidFill>
                <a:latin typeface="Inter"/>
                <a:ea typeface="Inter"/>
                <a:cs typeface="Inter"/>
                <a:sym typeface="Inter"/>
              </a:rPr>
              <a:t>n=1.1</a:t>
            </a:r>
            <a:r>
              <a:rPr lang="en-US" sz="850" b="0" i="0" u="none" strike="noStrike" cap="none">
                <a:solidFill>
                  <a:srgbClr val="111111"/>
                </a:solidFill>
                <a:latin typeface="Inter"/>
                <a:ea typeface="Inter"/>
                <a:cs typeface="Inter"/>
                <a:sym typeface="Inter"/>
              </a:rPr>
              <a:t>) minimize internal shear forces and prevent coating spallation at 1400°C.</a:t>
            </a:r>
            <a:endParaRPr sz="850" b="0" i="0" u="none" strike="noStrike" cap="none">
              <a:solidFill>
                <a:schemeClr val="dk1"/>
              </a:solidFill>
              <a:latin typeface="Calibri"/>
              <a:ea typeface="Calibri"/>
              <a:cs typeface="Calibri"/>
              <a:sym typeface="Calibri"/>
            </a:endParaRPr>
          </a:p>
        </p:txBody>
      </p:sp>
      <p:pic>
        <p:nvPicPr>
          <p:cNvPr id="283" name="Google Shape;283;p5" descr="preencoded.png"/>
          <p:cNvPicPr preferRelativeResize="0"/>
          <p:nvPr/>
        </p:nvPicPr>
        <p:blipFill rotWithShape="1">
          <a:blip r:embed="rId7">
            <a:alphaModFix/>
          </a:blip>
          <a:srcRect/>
          <a:stretch/>
        </p:blipFill>
        <p:spPr>
          <a:xfrm>
            <a:off x="4864894" y="3794001"/>
            <a:ext cx="192881" cy="171450"/>
          </a:xfrm>
          <a:prstGeom prst="rect">
            <a:avLst/>
          </a:prstGeom>
          <a:noFill/>
          <a:ln>
            <a:noFill/>
          </a:ln>
        </p:spPr>
      </p:pic>
      <p:sp>
        <p:nvSpPr>
          <p:cNvPr id="284" name="Google Shape;284;p5"/>
          <p:cNvSpPr/>
          <p:nvPr/>
        </p:nvSpPr>
        <p:spPr>
          <a:xfrm>
            <a:off x="5164931" y="3788643"/>
            <a:ext cx="1559123"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MANUFACTURABILITY</a:t>
            </a:r>
            <a:endParaRPr sz="1000" b="0" i="0" u="none" strike="noStrike" cap="none">
              <a:solidFill>
                <a:schemeClr val="dk1"/>
              </a:solidFill>
              <a:latin typeface="Calibri"/>
              <a:ea typeface="Calibri"/>
              <a:cs typeface="Calibri"/>
              <a:sym typeface="Calibri"/>
            </a:endParaRPr>
          </a:p>
        </p:txBody>
      </p:sp>
      <p:sp>
        <p:nvSpPr>
          <p:cNvPr id="285" name="Google Shape;285;p5"/>
          <p:cNvSpPr/>
          <p:nvPr/>
        </p:nvSpPr>
        <p:spPr>
          <a:xfrm>
            <a:off x="4864894"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The universal </a:t>
            </a:r>
            <a:r>
              <a:rPr lang="en-US" sz="800">
                <a:solidFill>
                  <a:srgbClr val="1A365D"/>
                </a:solidFill>
                <a:latin typeface="Inter"/>
                <a:ea typeface="Inter"/>
                <a:cs typeface="Inter"/>
                <a:sym typeface="Inter"/>
              </a:rPr>
              <a:t>proprietary LENS  printing matrix</a:t>
            </a:r>
            <a:r>
              <a:rPr lang="en-US" sz="850" b="0" i="0" u="none" strike="noStrike" cap="none">
                <a:solidFill>
                  <a:srgbClr val="111111"/>
                </a:solidFill>
                <a:latin typeface="Inter"/>
                <a:ea typeface="Inter"/>
                <a:cs typeface="Inter"/>
                <a:sym typeface="Inter"/>
              </a:rPr>
              <a:t> maps composition directly to commercial multi-hopper 3D printers.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
          <p:cNvSpPr/>
          <p:nvPr/>
        </p:nvSpPr>
        <p:spPr>
          <a:xfrm>
            <a:off x="428625" y="357188"/>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WHAT IS PROVEN TODAY AND WHAT IS NOT</a:t>
            </a:r>
            <a:endParaRPr sz="2450" b="0" i="0" u="none" strike="noStrike" cap="none">
              <a:solidFill>
                <a:schemeClr val="dk1"/>
              </a:solidFill>
              <a:latin typeface="Calibri"/>
              <a:ea typeface="Calibri"/>
              <a:cs typeface="Calibri"/>
              <a:sym typeface="Calibri"/>
            </a:endParaRPr>
          </a:p>
        </p:txBody>
      </p:sp>
      <p:sp>
        <p:nvSpPr>
          <p:cNvPr id="292" name="Google Shape;292;p6"/>
          <p:cNvSpPr/>
          <p:nvPr/>
        </p:nvSpPr>
        <p:spPr>
          <a:xfrm>
            <a:off x="428625" y="866180"/>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High-Fidelity Verification Metrics and TRL Maturity Status</a:t>
            </a:r>
            <a:endParaRPr sz="1200" b="0" i="0" u="none" strike="noStrike" cap="none">
              <a:solidFill>
                <a:schemeClr val="dk1"/>
              </a:solidFill>
              <a:latin typeface="Calibri"/>
              <a:ea typeface="Calibri"/>
              <a:cs typeface="Calibri"/>
              <a:sym typeface="Calibri"/>
            </a:endParaRPr>
          </a:p>
        </p:txBody>
      </p:sp>
      <p:sp>
        <p:nvSpPr>
          <p:cNvPr id="293" name="Google Shape;293;p6"/>
          <p:cNvSpPr/>
          <p:nvPr/>
        </p:nvSpPr>
        <p:spPr>
          <a:xfrm>
            <a:off x="60007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High-Fidelity Models</a:t>
            </a:r>
            <a:endParaRPr sz="1000" b="0" i="0" u="none" strike="noStrike" cap="none">
              <a:solidFill>
                <a:schemeClr val="dk1"/>
              </a:solidFill>
              <a:latin typeface="Calibri"/>
              <a:ea typeface="Calibri"/>
              <a:cs typeface="Calibri"/>
              <a:sym typeface="Calibri"/>
            </a:endParaRPr>
          </a:p>
        </p:txBody>
      </p:sp>
      <p:sp>
        <p:nvSpPr>
          <p:cNvPr id="294" name="Google Shape;294;p6"/>
          <p:cNvSpPr/>
          <p:nvPr/>
        </p:nvSpPr>
        <p:spPr>
          <a:xfrm>
            <a:off x="60007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In-memory properties surrogate model audited at </a:t>
            </a:r>
            <a:r>
              <a:rPr lang="en-US" sz="800" b="1" i="0" u="none" strike="noStrike" cap="none">
                <a:solidFill>
                  <a:srgbClr val="111111"/>
                </a:solidFill>
                <a:latin typeface="Inter"/>
                <a:ea typeface="Inter"/>
                <a:cs typeface="Inter"/>
                <a:sym typeface="Inter"/>
              </a:rPr>
              <a:t>Test R^2 = 0.977</a:t>
            </a:r>
            <a:r>
              <a:rPr lang="en-US" sz="850" b="0" i="0" u="none" strike="noStrike" cap="none">
                <a:solidFill>
                  <a:srgbClr val="111111"/>
                </a:solidFill>
                <a:latin typeface="Inter"/>
                <a:ea typeface="Inter"/>
                <a:cs typeface="Inter"/>
                <a:sym typeface="Inter"/>
              </a:rPr>
              <a:t> and </a:t>
            </a:r>
            <a:r>
              <a:rPr lang="en-US" sz="800" b="1" i="0" u="none" strike="noStrike" cap="none">
                <a:solidFill>
                  <a:srgbClr val="111111"/>
                </a:solidFill>
                <a:latin typeface="Inter"/>
                <a:ea typeface="Inter"/>
                <a:cs typeface="Inter"/>
                <a:sym typeface="Inter"/>
              </a:rPr>
              <a:t>MAE = 8.11 GPa</a:t>
            </a:r>
            <a:r>
              <a:rPr lang="en-US" sz="850" b="0" i="0" u="none" strike="noStrike" cap="none">
                <a:solidFill>
                  <a:srgbClr val="111111"/>
                </a:solidFill>
                <a:latin typeface="Inter"/>
                <a:ea typeface="Inter"/>
                <a:cs typeface="Inter"/>
                <a:sym typeface="Inter"/>
              </a:rPr>
              <a:t>. Verified via cloud-scaled 3D FEniCS FEA stress grids.</a:t>
            </a:r>
            <a:endParaRPr sz="850" b="0" i="0" u="none" strike="noStrike" cap="none">
              <a:solidFill>
                <a:schemeClr val="dk1"/>
              </a:solidFill>
              <a:latin typeface="Calibri"/>
              <a:ea typeface="Calibri"/>
              <a:cs typeface="Calibri"/>
              <a:sym typeface="Calibri"/>
            </a:endParaRPr>
          </a:p>
        </p:txBody>
      </p:sp>
      <p:sp>
        <p:nvSpPr>
          <p:cNvPr id="295" name="Google Shape;295;p6"/>
          <p:cNvSpPr/>
          <p:nvPr/>
        </p:nvSpPr>
        <p:spPr>
          <a:xfrm>
            <a:off x="488632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Ab Initio Phase Consistency</a:t>
            </a:r>
            <a:endParaRPr sz="1000" b="0" i="0" u="none" strike="noStrike" cap="none">
              <a:solidFill>
                <a:schemeClr val="dk1"/>
              </a:solidFill>
              <a:latin typeface="Calibri"/>
              <a:ea typeface="Calibri"/>
              <a:cs typeface="Calibri"/>
              <a:sym typeface="Calibri"/>
            </a:endParaRPr>
          </a:p>
        </p:txBody>
      </p:sp>
      <p:sp>
        <p:nvSpPr>
          <p:cNvPr id="296" name="Google Shape;296;p6"/>
          <p:cNvSpPr/>
          <p:nvPr/>
        </p:nvSpPr>
        <p:spPr>
          <a:xfrm>
            <a:off x="488632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CALPHAD sweeps and Gradient Boosting regressors (R^2 = 0.958) confirm stable </a:t>
            </a:r>
            <a:r>
              <a:rPr lang="en-US" sz="800" b="1" i="0" u="none" strike="noStrike" cap="none">
                <a:solidFill>
                  <a:srgbClr val="111111"/>
                </a:solidFill>
                <a:latin typeface="Inter"/>
                <a:ea typeface="Inter"/>
                <a:cs typeface="Inter"/>
                <a:sym typeface="Inter"/>
              </a:rPr>
              <a:t>single-phase BCC matrix</a:t>
            </a:r>
            <a:r>
              <a:rPr lang="en-US" sz="850" b="0" i="0" u="none" strike="noStrike" cap="none">
                <a:solidFill>
                  <a:srgbClr val="111111"/>
                </a:solidFill>
                <a:latin typeface="Inter"/>
                <a:ea typeface="Inter"/>
                <a:cs typeface="Inter"/>
                <a:sym typeface="Inter"/>
              </a:rPr>
              <a:t> across extreme thermal envelopes.</a:t>
            </a:r>
            <a:endParaRPr sz="850" b="0" i="0" u="none" strike="noStrike" cap="none">
              <a:solidFill>
                <a:schemeClr val="dk1"/>
              </a:solidFill>
              <a:latin typeface="Calibri"/>
              <a:ea typeface="Calibri"/>
              <a:cs typeface="Calibri"/>
              <a:sym typeface="Calibri"/>
            </a:endParaRPr>
          </a:p>
        </p:txBody>
      </p:sp>
      <p:sp>
        <p:nvSpPr>
          <p:cNvPr id="297" name="Google Shape;297;p6"/>
          <p:cNvSpPr/>
          <p:nvPr/>
        </p:nvSpPr>
        <p:spPr>
          <a:xfrm>
            <a:off x="428625" y="2282037"/>
            <a:ext cx="186117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28625" y="2282037"/>
            <a:ext cx="186117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Evaluation Vector</a:t>
            </a:r>
            <a:endParaRPr sz="700" b="0" i="0" u="none" strike="noStrike" cap="none">
              <a:solidFill>
                <a:schemeClr val="dk1"/>
              </a:solidFill>
              <a:latin typeface="Calibri"/>
              <a:ea typeface="Calibri"/>
              <a:cs typeface="Calibri"/>
              <a:sym typeface="Calibri"/>
            </a:endParaRPr>
          </a:p>
        </p:txBody>
      </p:sp>
      <p:sp>
        <p:nvSpPr>
          <p:cNvPr id="299" name="Google Shape;299;p6"/>
          <p:cNvSpPr/>
          <p:nvPr/>
        </p:nvSpPr>
        <p:spPr>
          <a:xfrm>
            <a:off x="2289795" y="2282037"/>
            <a:ext cx="1677302"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2289795" y="2282037"/>
            <a:ext cx="1677302"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Model / In Silico Status</a:t>
            </a:r>
            <a:endParaRPr sz="700" b="0" i="0" u="none" strike="noStrike" cap="none">
              <a:solidFill>
                <a:schemeClr val="dk1"/>
              </a:solidFill>
              <a:latin typeface="Calibri"/>
              <a:ea typeface="Calibri"/>
              <a:cs typeface="Calibri"/>
              <a:sym typeface="Calibri"/>
            </a:endParaRPr>
          </a:p>
        </p:txBody>
      </p:sp>
      <p:sp>
        <p:nvSpPr>
          <p:cNvPr id="301" name="Google Shape;301;p6"/>
          <p:cNvSpPr/>
          <p:nvPr/>
        </p:nvSpPr>
        <p:spPr>
          <a:xfrm>
            <a:off x="3967097" y="2282037"/>
            <a:ext cx="1774915"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3967097" y="2282037"/>
            <a:ext cx="1774915"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Experimental Lab Status</a:t>
            </a:r>
            <a:endParaRPr sz="700" b="0" i="0" u="none" strike="noStrike" cap="none">
              <a:solidFill>
                <a:schemeClr val="dk1"/>
              </a:solidFill>
              <a:latin typeface="Calibri"/>
              <a:ea typeface="Calibri"/>
              <a:cs typeface="Calibri"/>
              <a:sym typeface="Calibri"/>
            </a:endParaRPr>
          </a:p>
        </p:txBody>
      </p:sp>
      <p:sp>
        <p:nvSpPr>
          <p:cNvPr id="303" name="Google Shape;303;p6"/>
          <p:cNvSpPr/>
          <p:nvPr/>
        </p:nvSpPr>
        <p:spPr>
          <a:xfrm>
            <a:off x="5742012" y="2282037"/>
            <a:ext cx="1849813"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5742012" y="2282037"/>
            <a:ext cx="1849813"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Validation Target</a:t>
            </a:r>
            <a:endParaRPr sz="700" b="0" i="0" u="none" strike="noStrike" cap="none">
              <a:solidFill>
                <a:schemeClr val="dk1"/>
              </a:solidFill>
              <a:latin typeface="Calibri"/>
              <a:ea typeface="Calibri"/>
              <a:cs typeface="Calibri"/>
              <a:sym typeface="Calibri"/>
            </a:endParaRPr>
          </a:p>
        </p:txBody>
      </p:sp>
      <p:sp>
        <p:nvSpPr>
          <p:cNvPr id="305" name="Google Shape;305;p6"/>
          <p:cNvSpPr/>
          <p:nvPr/>
        </p:nvSpPr>
        <p:spPr>
          <a:xfrm>
            <a:off x="7591825" y="2282037"/>
            <a:ext cx="112355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91825" y="2282037"/>
            <a:ext cx="112355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Status</a:t>
            </a:r>
            <a:endParaRPr sz="700" b="0" i="0" u="none" strike="noStrike" cap="none">
              <a:solidFill>
                <a:schemeClr val="dk1"/>
              </a:solidFill>
              <a:latin typeface="Calibri"/>
              <a:ea typeface="Calibri"/>
              <a:cs typeface="Calibri"/>
              <a:sym typeface="Calibri"/>
            </a:endParaRPr>
          </a:p>
        </p:txBody>
      </p:sp>
      <p:sp>
        <p:nvSpPr>
          <p:cNvPr id="307" name="Google Shape;307;p6"/>
          <p:cNvSpPr/>
          <p:nvPr/>
        </p:nvSpPr>
        <p:spPr>
          <a:xfrm>
            <a:off x="428625" y="2580289"/>
            <a:ext cx="1861170"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BCC Phase Security</a:t>
            </a:r>
            <a:endParaRPr sz="750" b="0" i="0" u="none" strike="noStrike" cap="none">
              <a:solidFill>
                <a:schemeClr val="dk1"/>
              </a:solidFill>
              <a:latin typeface="Calibri"/>
              <a:ea typeface="Calibri"/>
              <a:cs typeface="Calibri"/>
              <a:sym typeface="Calibri"/>
            </a:endParaRPr>
          </a:p>
        </p:txBody>
      </p:sp>
      <p:sp>
        <p:nvSpPr>
          <p:cNvPr id="308" name="Google Shape;308;p6"/>
          <p:cNvSpPr/>
          <p:nvPr/>
        </p:nvSpPr>
        <p:spPr>
          <a:xfrm>
            <a:off x="2289795" y="2580289"/>
            <a:ext cx="1677302"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(CALPHAD)</a:t>
            </a:r>
            <a:endParaRPr sz="750" b="0" i="0" u="none" strike="noStrike" cap="none">
              <a:solidFill>
                <a:schemeClr val="dk1"/>
              </a:solidFill>
              <a:latin typeface="Calibri"/>
              <a:ea typeface="Calibri"/>
              <a:cs typeface="Calibri"/>
              <a:sym typeface="Calibri"/>
            </a:endParaRPr>
          </a:p>
        </p:txBody>
      </p:sp>
      <p:sp>
        <p:nvSpPr>
          <p:cNvPr id="309" name="Google Shape;309;p6"/>
          <p:cNvSpPr/>
          <p:nvPr/>
        </p:nvSpPr>
        <p:spPr>
          <a:xfrm>
            <a:off x="3967097" y="2580289"/>
            <a:ext cx="1774915"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Lab Sweep</a:t>
            </a:r>
            <a:endParaRPr sz="750" b="0" i="0" u="none" strike="noStrike" cap="none">
              <a:solidFill>
                <a:schemeClr val="dk1"/>
              </a:solidFill>
              <a:latin typeface="Calibri"/>
              <a:ea typeface="Calibri"/>
              <a:cs typeface="Calibri"/>
              <a:sym typeface="Calibri"/>
            </a:endParaRPr>
          </a:p>
        </p:txBody>
      </p:sp>
      <p:sp>
        <p:nvSpPr>
          <p:cNvPr id="310" name="Google Shape;310;p6"/>
          <p:cNvSpPr/>
          <p:nvPr/>
        </p:nvSpPr>
        <p:spPr>
          <a:xfrm>
            <a:off x="5742012" y="2580289"/>
            <a:ext cx="1849813"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0% Brittle Sigma Phase</a:t>
            </a:r>
            <a:endParaRPr sz="750" b="0" i="0" u="none" strike="noStrike" cap="none">
              <a:solidFill>
                <a:schemeClr val="dk1"/>
              </a:solidFill>
              <a:latin typeface="Calibri"/>
              <a:ea typeface="Calibri"/>
              <a:cs typeface="Calibri"/>
              <a:sym typeface="Calibri"/>
            </a:endParaRPr>
          </a:p>
        </p:txBody>
      </p:sp>
      <p:sp>
        <p:nvSpPr>
          <p:cNvPr id="311" name="Google Shape;311;p6"/>
          <p:cNvSpPr/>
          <p:nvPr/>
        </p:nvSpPr>
        <p:spPr>
          <a:xfrm>
            <a:off x="7698974" y="26660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7913294" y="2694589"/>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3" name="Google Shape;313;p6"/>
          <p:cNvSpPr/>
          <p:nvPr/>
        </p:nvSpPr>
        <p:spPr>
          <a:xfrm>
            <a:off x="428625" y="2917831"/>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Elastic Modulus Surface</a:t>
            </a:r>
            <a:endParaRPr sz="750" b="0" i="0" u="none" strike="noStrike" cap="none">
              <a:solidFill>
                <a:schemeClr val="dk1"/>
              </a:solidFill>
              <a:latin typeface="Calibri"/>
              <a:ea typeface="Calibri"/>
              <a:cs typeface="Calibri"/>
              <a:sym typeface="Calibri"/>
            </a:endParaRPr>
          </a:p>
        </p:txBody>
      </p:sp>
      <p:sp>
        <p:nvSpPr>
          <p:cNvPr id="314" name="Google Shape;314;p6"/>
          <p:cNvSpPr/>
          <p:nvPr/>
        </p:nvSpPr>
        <p:spPr>
          <a:xfrm>
            <a:off x="2289795" y="2917831"/>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Audited (R^2=0.977$)</a:t>
            </a:r>
            <a:endParaRPr sz="750" b="0" i="0" u="none" strike="noStrike" cap="none">
              <a:solidFill>
                <a:schemeClr val="dk1"/>
              </a:solidFill>
              <a:latin typeface="Calibri"/>
              <a:ea typeface="Calibri"/>
              <a:cs typeface="Calibri"/>
              <a:sym typeface="Calibri"/>
            </a:endParaRPr>
          </a:p>
        </p:txBody>
      </p:sp>
      <p:sp>
        <p:nvSpPr>
          <p:cNvPr id="315" name="Google Shape;315;p6"/>
          <p:cNvSpPr/>
          <p:nvPr/>
        </p:nvSpPr>
        <p:spPr>
          <a:xfrm>
            <a:off x="3967097" y="2917831"/>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Coupon Tensile</a:t>
            </a:r>
            <a:endParaRPr sz="750" b="0" i="0" u="none" strike="noStrike" cap="none">
              <a:solidFill>
                <a:schemeClr val="dk1"/>
              </a:solidFill>
              <a:latin typeface="Calibri"/>
              <a:ea typeface="Calibri"/>
              <a:cs typeface="Calibri"/>
              <a:sym typeface="Calibri"/>
            </a:endParaRPr>
          </a:p>
        </p:txBody>
      </p:sp>
      <p:sp>
        <p:nvSpPr>
          <p:cNvPr id="316" name="Google Shape;316;p6"/>
          <p:cNvSpPr/>
          <p:nvPr/>
        </p:nvSpPr>
        <p:spPr>
          <a:xfrm>
            <a:off x="5742012" y="2917831"/>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MAE ≤ 8.11 GPa</a:t>
            </a:r>
            <a:endParaRPr sz="750" b="0" i="0" u="none" strike="noStrike" cap="none">
              <a:solidFill>
                <a:schemeClr val="dk1"/>
              </a:solidFill>
              <a:latin typeface="Calibri"/>
              <a:ea typeface="Calibri"/>
              <a:cs typeface="Calibri"/>
              <a:sym typeface="Calibri"/>
            </a:endParaRPr>
          </a:p>
        </p:txBody>
      </p:sp>
      <p:sp>
        <p:nvSpPr>
          <p:cNvPr id="317" name="Google Shape;317;p6"/>
          <p:cNvSpPr/>
          <p:nvPr/>
        </p:nvSpPr>
        <p:spPr>
          <a:xfrm>
            <a:off x="7698973" y="30071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913302" y="3035775"/>
            <a:ext cx="3876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9" name="Google Shape;319;p6"/>
          <p:cNvSpPr/>
          <p:nvPr/>
        </p:nvSpPr>
        <p:spPr>
          <a:xfrm>
            <a:off x="428625" y="3258945"/>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Oxidation Scale Kinetics</a:t>
            </a:r>
            <a:endParaRPr sz="750" b="0" i="0" u="none" strike="noStrike" cap="none">
              <a:solidFill>
                <a:schemeClr val="dk1"/>
              </a:solidFill>
              <a:latin typeface="Calibri"/>
              <a:ea typeface="Calibri"/>
              <a:cs typeface="Calibri"/>
              <a:sym typeface="Calibri"/>
            </a:endParaRPr>
          </a:p>
        </p:txBody>
      </p:sp>
      <p:sp>
        <p:nvSpPr>
          <p:cNvPr id="320" name="Google Shape;320;p6"/>
          <p:cNvSpPr/>
          <p:nvPr/>
        </p:nvSpPr>
        <p:spPr>
          <a:xfrm>
            <a:off x="2289795" y="3258945"/>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(MACE MD)</a:t>
            </a:r>
            <a:endParaRPr sz="750" b="0" i="0" u="none" strike="noStrike" cap="none">
              <a:solidFill>
                <a:schemeClr val="dk1"/>
              </a:solidFill>
              <a:latin typeface="Calibri"/>
              <a:ea typeface="Calibri"/>
              <a:cs typeface="Calibri"/>
              <a:sym typeface="Calibri"/>
            </a:endParaRPr>
          </a:p>
        </p:txBody>
      </p:sp>
      <p:sp>
        <p:nvSpPr>
          <p:cNvPr id="321" name="Google Shape;321;p6"/>
          <p:cNvSpPr/>
          <p:nvPr/>
        </p:nvSpPr>
        <p:spPr>
          <a:xfrm>
            <a:off x="3967097" y="3258945"/>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TGA Weight</a:t>
            </a:r>
            <a:endParaRPr sz="750" b="0" i="0" u="none" strike="noStrike" cap="none">
              <a:solidFill>
                <a:schemeClr val="dk1"/>
              </a:solidFill>
              <a:latin typeface="Calibri"/>
              <a:ea typeface="Calibri"/>
              <a:cs typeface="Calibri"/>
              <a:sym typeface="Calibri"/>
            </a:endParaRPr>
          </a:p>
        </p:txBody>
      </p:sp>
      <p:sp>
        <p:nvSpPr>
          <p:cNvPr id="322" name="Google Shape;322;p6"/>
          <p:cNvSpPr/>
          <p:nvPr/>
        </p:nvSpPr>
        <p:spPr>
          <a:xfrm>
            <a:off x="5742012" y="3258945"/>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Mass Gain &lt; 10 mg/cm²</a:t>
            </a:r>
            <a:endParaRPr sz="750" b="0" i="0" u="none" strike="noStrike" cap="none">
              <a:solidFill>
                <a:schemeClr val="dk1"/>
              </a:solidFill>
              <a:latin typeface="Calibri"/>
              <a:ea typeface="Calibri"/>
              <a:cs typeface="Calibri"/>
              <a:sym typeface="Calibri"/>
            </a:endParaRPr>
          </a:p>
        </p:txBody>
      </p:sp>
      <p:sp>
        <p:nvSpPr>
          <p:cNvPr id="323" name="Google Shape;323;p6"/>
          <p:cNvSpPr/>
          <p:nvPr/>
        </p:nvSpPr>
        <p:spPr>
          <a:xfrm>
            <a:off x="7698973" y="3348250"/>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7913294" y="3376817"/>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25" name="Google Shape;325;p6"/>
          <p:cNvSpPr/>
          <p:nvPr/>
        </p:nvSpPr>
        <p:spPr>
          <a:xfrm>
            <a:off x="428625" y="3600059"/>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Interfacial Bond Safety</a:t>
            </a:r>
            <a:endParaRPr sz="750" b="0" i="0" u="none" strike="noStrike" cap="none">
              <a:solidFill>
                <a:schemeClr val="dk1"/>
              </a:solidFill>
              <a:latin typeface="Calibri"/>
              <a:ea typeface="Calibri"/>
              <a:cs typeface="Calibri"/>
              <a:sym typeface="Calibri"/>
            </a:endParaRPr>
          </a:p>
        </p:txBody>
      </p:sp>
      <p:sp>
        <p:nvSpPr>
          <p:cNvPr id="326" name="Google Shape;326;p6"/>
          <p:cNvSpPr/>
          <p:nvPr/>
        </p:nvSpPr>
        <p:spPr>
          <a:xfrm>
            <a:off x="2289795" y="3600059"/>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(1D/3D FEA)</a:t>
            </a:r>
            <a:endParaRPr sz="750" b="0" i="0" u="none" strike="noStrike" cap="none">
              <a:solidFill>
                <a:schemeClr val="dk1"/>
              </a:solidFill>
              <a:latin typeface="Calibri"/>
              <a:ea typeface="Calibri"/>
              <a:cs typeface="Calibri"/>
              <a:sym typeface="Calibri"/>
            </a:endParaRPr>
          </a:p>
        </p:txBody>
      </p:sp>
      <p:sp>
        <p:nvSpPr>
          <p:cNvPr id="327" name="Google Shape;327;p6"/>
          <p:cNvSpPr/>
          <p:nvPr/>
        </p:nvSpPr>
        <p:spPr>
          <a:xfrm>
            <a:off x="3967097" y="3600059"/>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Adhesion Test</a:t>
            </a:r>
            <a:endParaRPr sz="750" b="0" i="0" u="none" strike="noStrike" cap="none">
              <a:solidFill>
                <a:schemeClr val="dk1"/>
              </a:solidFill>
              <a:latin typeface="Calibri"/>
              <a:ea typeface="Calibri"/>
              <a:cs typeface="Calibri"/>
              <a:sym typeface="Calibri"/>
            </a:endParaRPr>
          </a:p>
        </p:txBody>
      </p:sp>
      <p:sp>
        <p:nvSpPr>
          <p:cNvPr id="328" name="Google Shape;328;p6"/>
          <p:cNvSpPr/>
          <p:nvPr/>
        </p:nvSpPr>
        <p:spPr>
          <a:xfrm>
            <a:off x="5742012" y="3600059"/>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Safety Factor ≥ 1.50</a:t>
            </a:r>
            <a:endParaRPr sz="750" b="0" i="0" u="none" strike="noStrike" cap="none">
              <a:solidFill>
                <a:schemeClr val="dk1"/>
              </a:solidFill>
              <a:latin typeface="Calibri"/>
              <a:ea typeface="Calibri"/>
              <a:cs typeface="Calibri"/>
              <a:sym typeface="Calibri"/>
            </a:endParaRPr>
          </a:p>
        </p:txBody>
      </p:sp>
      <p:sp>
        <p:nvSpPr>
          <p:cNvPr id="329" name="Google Shape;329;p6"/>
          <p:cNvSpPr/>
          <p:nvPr/>
        </p:nvSpPr>
        <p:spPr>
          <a:xfrm>
            <a:off x="7699026" y="368937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7913294" y="3717931"/>
            <a:ext cx="2874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 </a:t>
            </a:r>
            <a:endParaRPr sz="600" b="1" i="0" u="none" strike="noStrike" cap="none">
              <a:solidFill>
                <a:schemeClr val="dk1"/>
              </a:solidFill>
              <a:latin typeface="Calibri"/>
              <a:ea typeface="Calibri"/>
              <a:cs typeface="Calibri"/>
              <a:sym typeface="Calibri"/>
            </a:endParaRPr>
          </a:p>
        </p:txBody>
      </p:sp>
      <p:sp>
        <p:nvSpPr>
          <p:cNvPr id="331" name="Google Shape;331;p6"/>
          <p:cNvSpPr/>
          <p:nvPr/>
        </p:nvSpPr>
        <p:spPr>
          <a:xfrm>
            <a:off x="428625" y="3941173"/>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Transpiration Film Stability</a:t>
            </a:r>
            <a:endParaRPr sz="750" b="0" i="0" u="none" strike="noStrike" cap="none">
              <a:solidFill>
                <a:schemeClr val="dk1"/>
              </a:solidFill>
              <a:latin typeface="Calibri"/>
              <a:ea typeface="Calibri"/>
              <a:cs typeface="Calibri"/>
              <a:sym typeface="Calibri"/>
            </a:endParaRPr>
          </a:p>
        </p:txBody>
      </p:sp>
      <p:sp>
        <p:nvSpPr>
          <p:cNvPr id="332" name="Google Shape;332;p6"/>
          <p:cNvSpPr/>
          <p:nvPr/>
        </p:nvSpPr>
        <p:spPr>
          <a:xfrm>
            <a:off x="2289795" y="3941173"/>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Modeled (CFD Jet Lift)</a:t>
            </a:r>
            <a:endParaRPr sz="750" b="0" i="0" u="none" strike="noStrike" cap="none">
              <a:solidFill>
                <a:schemeClr val="dk1"/>
              </a:solidFill>
              <a:latin typeface="Calibri"/>
              <a:ea typeface="Calibri"/>
              <a:cs typeface="Calibri"/>
              <a:sym typeface="Calibri"/>
            </a:endParaRPr>
          </a:p>
        </p:txBody>
      </p:sp>
      <p:sp>
        <p:nvSpPr>
          <p:cNvPr id="333" name="Google Shape;333;p6"/>
          <p:cNvSpPr/>
          <p:nvPr/>
        </p:nvSpPr>
        <p:spPr>
          <a:xfrm>
            <a:off x="3967097" y="3941173"/>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Thermal Cycling Test</a:t>
            </a:r>
            <a:endParaRPr sz="750" b="0" i="0" u="none" strike="noStrike" cap="none">
              <a:solidFill>
                <a:schemeClr val="dk1"/>
              </a:solidFill>
              <a:latin typeface="Calibri"/>
              <a:ea typeface="Calibri"/>
              <a:cs typeface="Calibri"/>
              <a:sym typeface="Calibri"/>
            </a:endParaRPr>
          </a:p>
        </p:txBody>
      </p:sp>
      <p:sp>
        <p:nvSpPr>
          <p:cNvPr id="334" name="Google Shape;334;p6"/>
          <p:cNvSpPr/>
          <p:nvPr/>
        </p:nvSpPr>
        <p:spPr>
          <a:xfrm>
            <a:off x="5742012" y="3941173"/>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Zero Boundary Separation</a:t>
            </a:r>
            <a:endParaRPr sz="750" b="0" i="0" u="none" strike="noStrike" cap="none">
              <a:solidFill>
                <a:schemeClr val="dk1"/>
              </a:solidFill>
              <a:latin typeface="Calibri"/>
              <a:ea typeface="Calibri"/>
              <a:cs typeface="Calibri"/>
              <a:sym typeface="Calibri"/>
            </a:endParaRPr>
          </a:p>
        </p:txBody>
      </p:sp>
      <p:sp>
        <p:nvSpPr>
          <p:cNvPr id="335" name="Google Shape;335;p6"/>
          <p:cNvSpPr/>
          <p:nvPr/>
        </p:nvSpPr>
        <p:spPr>
          <a:xfrm>
            <a:off x="428625" y="4282287"/>
            <a:ext cx="186524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Physical Prototyping</a:t>
            </a:r>
            <a:endParaRPr sz="750" b="0" i="0" u="none" strike="noStrike" cap="none">
              <a:solidFill>
                <a:schemeClr val="dk1"/>
              </a:solidFill>
              <a:latin typeface="Calibri"/>
              <a:ea typeface="Calibri"/>
              <a:cs typeface="Calibri"/>
              <a:sym typeface="Calibri"/>
            </a:endParaRPr>
          </a:p>
        </p:txBody>
      </p:sp>
      <p:sp>
        <p:nvSpPr>
          <p:cNvPr id="336" name="Google Shape;336;p6"/>
          <p:cNvSpPr/>
          <p:nvPr/>
        </p:nvSpPr>
        <p:spPr>
          <a:xfrm>
            <a:off x="2293869" y="4282287"/>
            <a:ext cx="1680986"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Fully Formulated</a:t>
            </a:r>
            <a:endParaRPr sz="750" b="0" i="0" u="none" strike="noStrike" cap="none">
              <a:solidFill>
                <a:schemeClr val="dk1"/>
              </a:solidFill>
              <a:latin typeface="Calibri"/>
              <a:ea typeface="Calibri"/>
              <a:cs typeface="Calibri"/>
              <a:sym typeface="Calibri"/>
            </a:endParaRPr>
          </a:p>
        </p:txBody>
      </p:sp>
      <p:sp>
        <p:nvSpPr>
          <p:cNvPr id="337" name="Google Shape;337;p6"/>
          <p:cNvSpPr/>
          <p:nvPr/>
        </p:nvSpPr>
        <p:spPr>
          <a:xfrm>
            <a:off x="3974855" y="4282287"/>
            <a:ext cx="177879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Not Yet Tested</a:t>
            </a:r>
            <a:endParaRPr sz="750" b="0" i="0" u="none" strike="noStrike" cap="none">
              <a:solidFill>
                <a:schemeClr val="dk1"/>
              </a:solidFill>
              <a:latin typeface="Calibri"/>
              <a:ea typeface="Calibri"/>
              <a:cs typeface="Calibri"/>
              <a:sym typeface="Calibri"/>
            </a:endParaRPr>
          </a:p>
        </p:txBody>
      </p:sp>
      <p:sp>
        <p:nvSpPr>
          <p:cNvPr id="338" name="Google Shape;338;p6"/>
          <p:cNvSpPr/>
          <p:nvPr/>
        </p:nvSpPr>
        <p:spPr>
          <a:xfrm>
            <a:off x="5753649" y="4282287"/>
            <a:ext cx="1853859"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TRL 4 Coupon Assembly</a:t>
            </a:r>
            <a:endParaRPr sz="750" b="0" i="0" u="none" strike="noStrike" cap="none">
              <a:solidFill>
                <a:schemeClr val="dk1"/>
              </a:solidFill>
              <a:latin typeface="Calibri"/>
              <a:ea typeface="Calibri"/>
              <a:cs typeface="Calibri"/>
              <a:sym typeface="Calibri"/>
            </a:endParaRPr>
          </a:p>
        </p:txBody>
      </p:sp>
      <p:sp>
        <p:nvSpPr>
          <p:cNvPr id="339" name="Google Shape;339;p6"/>
          <p:cNvSpPr txBox="1"/>
          <p:nvPr/>
        </p:nvSpPr>
        <p:spPr>
          <a:xfrm>
            <a:off x="6294025" y="4877000"/>
            <a:ext cx="773100" cy="1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6"/>
          <p:cNvSpPr txBox="1"/>
          <p:nvPr/>
        </p:nvSpPr>
        <p:spPr>
          <a:xfrm>
            <a:off x="7870275" y="4120300"/>
            <a:ext cx="601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6"/>
          <p:cNvSpPr/>
          <p:nvPr/>
        </p:nvSpPr>
        <p:spPr>
          <a:xfrm>
            <a:off x="7682025" y="4023388"/>
            <a:ext cx="807000" cy="1821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rgbClr val="F1C232"/>
                </a:solidFill>
              </a:rPr>
              <a:t>YELLOW</a:t>
            </a:r>
            <a:endParaRPr sz="600" b="1">
              <a:solidFill>
                <a:srgbClr val="F1C232"/>
              </a:solidFill>
            </a:endParaRPr>
          </a:p>
        </p:txBody>
      </p:sp>
      <p:sp>
        <p:nvSpPr>
          <p:cNvPr id="342" name="Google Shape;342;p6"/>
          <p:cNvSpPr/>
          <p:nvPr/>
        </p:nvSpPr>
        <p:spPr>
          <a:xfrm>
            <a:off x="7682075" y="4362825"/>
            <a:ext cx="807000" cy="1767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chemeClr val="accent4"/>
                </a:solidFill>
              </a:rPr>
              <a:t>NEXT PHASE</a:t>
            </a:r>
            <a:endParaRPr sz="600" b="1">
              <a:solidFill>
                <a:schemeClr val="accent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7" descr="preencoded.png"/>
          <p:cNvPicPr preferRelativeResize="0"/>
          <p:nvPr/>
        </p:nvPicPr>
        <p:blipFill rotWithShape="1">
          <a:blip r:embed="rId3">
            <a:alphaModFix/>
          </a:blip>
          <a:srcRect/>
          <a:stretch/>
        </p:blipFill>
        <p:spPr>
          <a:xfrm>
            <a:off x="0" y="11990"/>
            <a:ext cx="9143999" cy="5143500"/>
          </a:xfrm>
          <a:prstGeom prst="rect">
            <a:avLst/>
          </a:prstGeom>
          <a:noFill/>
          <a:ln>
            <a:noFill/>
          </a:ln>
        </p:spPr>
      </p:pic>
      <p:sp>
        <p:nvSpPr>
          <p:cNvPr id="349" name="Google Shape;349;p7"/>
          <p:cNvSpPr/>
          <p:nvPr/>
        </p:nvSpPr>
        <p:spPr>
          <a:xfrm>
            <a:off x="428625" y="98925"/>
            <a:ext cx="8715300" cy="43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VALIDATION PLAN TO TRL 4+</a:t>
            </a:r>
            <a:endParaRPr sz="2450" b="0" i="0" u="none" strike="noStrike" cap="none">
              <a:solidFill>
                <a:schemeClr val="dk1"/>
              </a:solidFill>
              <a:latin typeface="Calibri"/>
              <a:ea typeface="Calibri"/>
              <a:cs typeface="Calibri"/>
              <a:sym typeface="Calibri"/>
            </a:endParaRPr>
          </a:p>
        </p:txBody>
      </p:sp>
      <p:sp>
        <p:nvSpPr>
          <p:cNvPr id="350" name="Google Shape;350;p7"/>
          <p:cNvSpPr/>
          <p:nvPr/>
        </p:nvSpPr>
        <p:spPr>
          <a:xfrm>
            <a:off x="428588" y="554642"/>
            <a:ext cx="8715300" cy="2178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050" b="1" dirty="0">
                <a:solidFill>
                  <a:srgbClr val="2BDEFD"/>
                </a:solidFill>
                <a:highlight>
                  <a:srgbClr val="FFFFFF"/>
                </a:highlight>
              </a:rPr>
              <a:t>Validation Plan to TRL 4+ - Incubation Milestone Framework</a:t>
            </a:r>
            <a:endParaRPr sz="1200" b="0" i="0" u="none" strike="noStrike" cap="none" dirty="0">
              <a:solidFill>
                <a:schemeClr val="dk1"/>
              </a:solidFill>
              <a:latin typeface="Calibri"/>
              <a:ea typeface="Calibri"/>
              <a:cs typeface="Calibri"/>
              <a:sym typeface="Calibri"/>
            </a:endParaRPr>
          </a:p>
        </p:txBody>
      </p:sp>
      <p:sp>
        <p:nvSpPr>
          <p:cNvPr id="351" name="Google Shape;351;p7"/>
          <p:cNvSpPr/>
          <p:nvPr/>
        </p:nvSpPr>
        <p:spPr>
          <a:xfrm>
            <a:off x="578644" y="1341239"/>
            <a:ext cx="589359"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78644" y="1341239"/>
            <a:ext cx="589359"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1</a:t>
            </a:r>
            <a:endParaRPr sz="700" b="0" i="0" u="none" strike="noStrike" cap="none">
              <a:solidFill>
                <a:schemeClr val="dk1"/>
              </a:solidFill>
              <a:latin typeface="Calibri"/>
              <a:ea typeface="Calibri"/>
              <a:cs typeface="Calibri"/>
              <a:sym typeface="Calibri"/>
            </a:endParaRPr>
          </a:p>
        </p:txBody>
      </p:sp>
      <p:sp>
        <p:nvSpPr>
          <p:cNvPr id="353" name="Google Shape;353;p7"/>
          <p:cNvSpPr/>
          <p:nvPr/>
        </p:nvSpPr>
        <p:spPr>
          <a:xfrm>
            <a:off x="578644"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Multi-Physics Structural Audits</a:t>
            </a:r>
            <a:endParaRPr sz="900" b="1" i="0" u="none" strike="noStrike" cap="none">
              <a:solidFill>
                <a:schemeClr val="dk1"/>
              </a:solidFill>
              <a:latin typeface="Calibri"/>
              <a:ea typeface="Calibri"/>
              <a:cs typeface="Calibri"/>
              <a:sym typeface="Calibri"/>
            </a:endParaRPr>
          </a:p>
        </p:txBody>
      </p:sp>
      <p:sp>
        <p:nvSpPr>
          <p:cNvPr id="354" name="Google Shape;354;p7"/>
          <p:cNvSpPr/>
          <p:nvPr/>
        </p:nvSpPr>
        <p:spPr>
          <a:xfrm>
            <a:off x="578650" y="2065250"/>
            <a:ext cx="2367000" cy="1553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a:solidFill>
                  <a:srgbClr val="111111"/>
                </a:solidFill>
                <a:latin typeface="Inter"/>
                <a:ea typeface="Inter"/>
                <a:cs typeface="Inter"/>
                <a:sym typeface="Inter"/>
              </a:rPr>
              <a:t>Final certification of ALREADY ACHIEVED structural aerospace Safety Factor of 1.71 via 3D FEniCS FEA and MACE Molecular Dynamics on High-end  cloud supercomputing. Extending validation to 20,000+ thermal cycles.</a:t>
            </a:r>
            <a:endParaRPr sz="1050" b="0" i="0" u="none" strike="noStrike" cap="none">
              <a:solidFill>
                <a:schemeClr val="dk1"/>
              </a:solidFill>
              <a:latin typeface="Calibri"/>
              <a:ea typeface="Calibri"/>
              <a:cs typeface="Calibri"/>
              <a:sym typeface="Calibri"/>
            </a:endParaRPr>
          </a:p>
        </p:txBody>
      </p:sp>
      <p:sp>
        <p:nvSpPr>
          <p:cNvPr id="355" name="Google Shape;355;p7"/>
          <p:cNvSpPr/>
          <p:nvPr/>
        </p:nvSpPr>
        <p:spPr>
          <a:xfrm>
            <a:off x="3388509" y="1341239"/>
            <a:ext cx="603647"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3388509" y="1341239"/>
            <a:ext cx="603647"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2</a:t>
            </a:r>
            <a:endParaRPr sz="700" b="0" i="0" u="none" strike="noStrike" cap="none">
              <a:solidFill>
                <a:schemeClr val="dk1"/>
              </a:solidFill>
              <a:latin typeface="Calibri"/>
              <a:ea typeface="Calibri"/>
              <a:cs typeface="Calibri"/>
              <a:sym typeface="Calibri"/>
            </a:endParaRPr>
          </a:p>
        </p:txBody>
      </p:sp>
      <p:sp>
        <p:nvSpPr>
          <p:cNvPr id="357" name="Google Shape;357;p7"/>
          <p:cNvSpPr/>
          <p:nvPr/>
        </p:nvSpPr>
        <p:spPr>
          <a:xfrm>
            <a:off x="3388509" y="1803797"/>
            <a:ext cx="2366953" cy="308577"/>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Additive Prototyping &amp; Porosity Programming</a:t>
            </a:r>
            <a:endParaRPr sz="900" b="1" i="0" u="none" strike="noStrike" cap="none">
              <a:solidFill>
                <a:schemeClr val="dk1"/>
              </a:solidFill>
              <a:latin typeface="Calibri"/>
              <a:ea typeface="Calibri"/>
              <a:cs typeface="Calibri"/>
              <a:sym typeface="Calibri"/>
            </a:endParaRPr>
          </a:p>
        </p:txBody>
      </p:sp>
      <p:sp>
        <p:nvSpPr>
          <p:cNvPr id="358" name="Google Shape;358;p7"/>
          <p:cNvSpPr/>
          <p:nvPr/>
        </p:nvSpPr>
        <p:spPr>
          <a:xfrm>
            <a:off x="3388500" y="2219519"/>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Feeding the universal reference matrix into a dual-line </a:t>
            </a:r>
            <a:r>
              <a:rPr lang="en-US" sz="1000" b="1" i="0" u="none" strike="noStrike" cap="none">
                <a:solidFill>
                  <a:srgbClr val="111111"/>
                </a:solidFill>
                <a:latin typeface="Inter"/>
                <a:ea typeface="Inter"/>
                <a:cs typeface="Inter"/>
                <a:sym typeface="Inter"/>
              </a:rPr>
              <a:t>multi-hopper LENS system</a:t>
            </a:r>
            <a:r>
              <a:rPr lang="en-US" sz="1050" b="0" i="0" u="none" strike="noStrike" cap="none">
                <a:solidFill>
                  <a:srgbClr val="111111"/>
                </a:solidFill>
                <a:latin typeface="Inter"/>
                <a:ea typeface="Inter"/>
                <a:cs typeface="Inter"/>
                <a:sym typeface="Inter"/>
              </a:rPr>
              <a:t>. Optimizing laser power and powder flow to program the integrated transpiration micro-pores.</a:t>
            </a:r>
            <a:endParaRPr sz="1050" b="0" i="0" u="none" strike="noStrike" cap="none">
              <a:solidFill>
                <a:schemeClr val="dk1"/>
              </a:solidFill>
              <a:latin typeface="Calibri"/>
              <a:ea typeface="Calibri"/>
              <a:cs typeface="Calibri"/>
              <a:sym typeface="Calibri"/>
            </a:endParaRPr>
          </a:p>
        </p:txBody>
      </p:sp>
      <p:sp>
        <p:nvSpPr>
          <p:cNvPr id="359" name="Google Shape;359;p7"/>
          <p:cNvSpPr/>
          <p:nvPr/>
        </p:nvSpPr>
        <p:spPr>
          <a:xfrm>
            <a:off x="6198375" y="1341239"/>
            <a:ext cx="605433"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6198375" y="1341239"/>
            <a:ext cx="605433"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3</a:t>
            </a:r>
            <a:endParaRPr sz="700" b="0" i="0" u="none" strike="noStrike" cap="none">
              <a:solidFill>
                <a:schemeClr val="dk1"/>
              </a:solidFill>
              <a:latin typeface="Calibri"/>
              <a:ea typeface="Calibri"/>
              <a:cs typeface="Calibri"/>
              <a:sym typeface="Calibri"/>
            </a:endParaRPr>
          </a:p>
        </p:txBody>
      </p:sp>
      <p:sp>
        <p:nvSpPr>
          <p:cNvPr id="361" name="Google Shape;361;p7"/>
          <p:cNvSpPr/>
          <p:nvPr/>
        </p:nvSpPr>
        <p:spPr>
          <a:xfrm>
            <a:off x="6198375"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High-Temperature Characterization</a:t>
            </a:r>
            <a:endParaRPr sz="900" b="1" i="0" u="none" strike="noStrike" cap="none">
              <a:solidFill>
                <a:schemeClr val="dk1"/>
              </a:solidFill>
              <a:latin typeface="Calibri"/>
              <a:ea typeface="Calibri"/>
              <a:cs typeface="Calibri"/>
              <a:sym typeface="Calibri"/>
            </a:endParaRPr>
          </a:p>
        </p:txBody>
      </p:sp>
      <p:sp>
        <p:nvSpPr>
          <p:cNvPr id="362" name="Google Shape;362;p7"/>
          <p:cNvSpPr/>
          <p:nvPr/>
        </p:nvSpPr>
        <p:spPr>
          <a:xfrm>
            <a:off x="6198375" y="2065262"/>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Exposure of fabricated coupons to 1,000 continuous thermal shock cycles inside an automated </a:t>
            </a:r>
            <a:r>
              <a:rPr lang="en-US" sz="1000" b="1" i="0" u="none" strike="noStrike" cap="none">
                <a:solidFill>
                  <a:srgbClr val="111111"/>
                </a:solidFill>
                <a:latin typeface="Inter"/>
                <a:ea typeface="Inter"/>
                <a:cs typeface="Inter"/>
                <a:sym typeface="Inter"/>
              </a:rPr>
              <a:t>Automated Thermal Cycling Rig</a:t>
            </a:r>
            <a:r>
              <a:rPr lang="en-US" sz="1050" b="0" i="0" u="none" strike="noStrike" cap="none">
                <a:solidFill>
                  <a:srgbClr val="111111"/>
                </a:solidFill>
                <a:latin typeface="Inter"/>
                <a:ea typeface="Inter"/>
                <a:cs typeface="Inter"/>
                <a:sym typeface="Inter"/>
              </a:rPr>
              <a:t> at a real gas temperature of 1400°C (1673 K).</a:t>
            </a:r>
            <a:endParaRPr sz="1050" b="0" i="0" u="none" strike="noStrike" cap="none">
              <a:solidFill>
                <a:schemeClr val="dk1"/>
              </a:solidFill>
              <a:latin typeface="Calibri"/>
              <a:ea typeface="Calibri"/>
              <a:cs typeface="Calibri"/>
              <a:sym typeface="Calibri"/>
            </a:endParaRPr>
          </a:p>
        </p:txBody>
      </p:sp>
      <p:sp>
        <p:nvSpPr>
          <p:cNvPr id="363" name="Google Shape;363;p7"/>
          <p:cNvSpPr/>
          <p:nvPr/>
        </p:nvSpPr>
        <p:spPr>
          <a:xfrm>
            <a:off x="428625" y="4013002"/>
            <a:ext cx="8286750" cy="553641"/>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428625" y="4013002"/>
            <a:ext cx="28575" cy="553641"/>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71500" y="4013002"/>
            <a:ext cx="8143875"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0" i="0" u="none" strike="noStrike" cap="none">
                <a:solidFill>
                  <a:srgbClr val="1A365D"/>
                </a:solidFill>
                <a:latin typeface="Space Grotesk SemiBold"/>
                <a:ea typeface="Space Grotesk SemiBold"/>
                <a:cs typeface="Space Grotesk SemiBold"/>
                <a:sym typeface="Space Grotesk SemiBold"/>
              </a:rPr>
              <a:t>Go/No-Go Gatekeeping Criteria</a:t>
            </a:r>
            <a:endParaRPr sz="1000" b="0" i="0" u="none" strike="noStrike" cap="none">
              <a:solidFill>
                <a:schemeClr val="dk1"/>
              </a:solidFill>
              <a:latin typeface="Calibri"/>
              <a:ea typeface="Calibri"/>
              <a:cs typeface="Calibri"/>
              <a:sym typeface="Calibri"/>
            </a:endParaRPr>
          </a:p>
        </p:txBody>
      </p:sp>
      <p:sp>
        <p:nvSpPr>
          <p:cNvPr id="366" name="Google Shape;366;p7"/>
          <p:cNvSpPr/>
          <p:nvPr/>
        </p:nvSpPr>
        <p:spPr>
          <a:xfrm>
            <a:off x="571500" y="4266605"/>
            <a:ext cx="8143875" cy="30003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Microstructural characterization via </a:t>
            </a:r>
            <a:r>
              <a:rPr lang="en-US" sz="750" b="1" i="0" u="none" strike="noStrike" cap="none">
                <a:solidFill>
                  <a:srgbClr val="111111"/>
                </a:solidFill>
                <a:latin typeface="Inter"/>
                <a:ea typeface="Inter"/>
                <a:cs typeface="Inter"/>
                <a:sym typeface="Inter"/>
              </a:rPr>
              <a:t>SEM/EDS</a:t>
            </a:r>
            <a:r>
              <a:rPr lang="en-US" sz="800" b="0" i="0" u="none" strike="noStrike" cap="none">
                <a:solidFill>
                  <a:srgbClr val="111111"/>
                </a:solidFill>
                <a:latin typeface="Inter"/>
                <a:ea typeface="Inter"/>
                <a:cs typeface="Inter"/>
                <a:sym typeface="Inter"/>
              </a:rPr>
              <a:t> must confirm clear layer-wise compositional layout and verify the complete absence of processing voids or macro-cracking before advancing to full turbine blade geometries.</a:t>
            </a:r>
            <a:endParaRPr sz="800" b="0" i="0" u="none" strike="noStrike" cap="none">
              <a:solidFill>
                <a:schemeClr val="dk1"/>
              </a:solidFill>
              <a:latin typeface="Calibri"/>
              <a:ea typeface="Calibri"/>
              <a:cs typeface="Calibri"/>
              <a:sym typeface="Calibri"/>
            </a:endParaRPr>
          </a:p>
        </p:txBody>
      </p:sp>
      <p:sp>
        <p:nvSpPr>
          <p:cNvPr id="367" name="Google Shape;367;p7"/>
          <p:cNvSpPr txBox="1"/>
          <p:nvPr/>
        </p:nvSpPr>
        <p:spPr>
          <a:xfrm>
            <a:off x="525898" y="954850"/>
            <a:ext cx="49326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Note: Timeline to be mutually agreed .</a:t>
            </a:r>
            <a:endParaRPr sz="1200">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74" name="Google Shape;374;p8"/>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TECHNOLOGY VALIDATION &amp; DEPLOYMENT ROADMAP</a:t>
            </a:r>
            <a:endParaRPr sz="2450" b="0" i="0" u="none" strike="noStrike" cap="none">
              <a:solidFill>
                <a:schemeClr val="dk1"/>
              </a:solidFill>
              <a:latin typeface="Calibri"/>
              <a:ea typeface="Calibri"/>
              <a:cs typeface="Calibri"/>
              <a:sym typeface="Calibri"/>
            </a:endParaRPr>
          </a:p>
        </p:txBody>
      </p:sp>
      <p:sp>
        <p:nvSpPr>
          <p:cNvPr id="375" name="Google Shape;375;p8"/>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From In Silico Design to Physical Validation &amp; Deployment</a:t>
            </a:r>
            <a:endParaRPr sz="1200" b="0" i="0" u="none" strike="noStrike" cap="none">
              <a:solidFill>
                <a:schemeClr val="dk1"/>
              </a:solidFill>
              <a:latin typeface="Calibri"/>
              <a:ea typeface="Calibri"/>
              <a:cs typeface="Calibri"/>
              <a:sym typeface="Calibri"/>
            </a:endParaRPr>
          </a:p>
        </p:txBody>
      </p:sp>
      <p:sp>
        <p:nvSpPr>
          <p:cNvPr id="376" name="Google Shape;376;p8"/>
          <p:cNvSpPr/>
          <p:nvPr/>
        </p:nvSpPr>
        <p:spPr>
          <a:xfrm>
            <a:off x="428625"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48283" y="1663601"/>
            <a:ext cx="1332309"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IN SILICO DESIGN SCREENING</a:t>
            </a:r>
            <a:endParaRPr sz="700" b="0" i="0" u="none" strike="noStrike" cap="none">
              <a:solidFill>
                <a:schemeClr val="dk1"/>
              </a:solidFill>
              <a:latin typeface="Calibri"/>
              <a:ea typeface="Calibri"/>
              <a:cs typeface="Calibri"/>
              <a:sym typeface="Calibri"/>
            </a:endParaRPr>
          </a:p>
        </p:txBody>
      </p:sp>
      <p:sp>
        <p:nvSpPr>
          <p:cNvPr id="378" name="Google Shape;378;p8"/>
          <p:cNvSpPr/>
          <p:nvPr/>
        </p:nvSpPr>
        <p:spPr>
          <a:xfrm>
            <a:off x="2107406"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2197596" y="1663601"/>
            <a:ext cx="1391245"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LENS FGM WITNESS COUPONS</a:t>
            </a:r>
            <a:endParaRPr sz="700" b="0" i="0" u="none" strike="noStrike" cap="none">
              <a:solidFill>
                <a:schemeClr val="dk1"/>
              </a:solidFill>
              <a:latin typeface="Calibri"/>
              <a:ea typeface="Calibri"/>
              <a:cs typeface="Calibri"/>
              <a:sym typeface="Calibri"/>
            </a:endParaRPr>
          </a:p>
        </p:txBody>
      </p:sp>
      <p:sp>
        <p:nvSpPr>
          <p:cNvPr id="380" name="Google Shape;380;p8"/>
          <p:cNvSpPr/>
          <p:nvPr/>
        </p:nvSpPr>
        <p:spPr>
          <a:xfrm>
            <a:off x="3786188"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3857625"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THERMAL CYCLING VALIDATION</a:t>
            </a:r>
            <a:endParaRPr sz="700" b="0" i="0" u="none" strike="noStrike" cap="none">
              <a:solidFill>
                <a:schemeClr val="dk1"/>
              </a:solidFill>
              <a:latin typeface="Calibri"/>
              <a:ea typeface="Calibri"/>
              <a:cs typeface="Calibri"/>
              <a:sym typeface="Calibri"/>
            </a:endParaRPr>
          </a:p>
        </p:txBody>
      </p:sp>
      <p:sp>
        <p:nvSpPr>
          <p:cNvPr id="382" name="Google Shape;382;p8"/>
          <p:cNvSpPr/>
          <p:nvPr/>
        </p:nvSpPr>
        <p:spPr>
          <a:xfrm>
            <a:off x="5464969"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536406"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SUBSCALE COMPONENT VALIDATION</a:t>
            </a:r>
            <a:endParaRPr sz="700" b="0" i="0" u="none" strike="noStrike" cap="none">
              <a:solidFill>
                <a:schemeClr val="dk1"/>
              </a:solidFill>
              <a:latin typeface="Calibri"/>
              <a:ea typeface="Calibri"/>
              <a:cs typeface="Calibri"/>
              <a:sym typeface="Calibri"/>
            </a:endParaRPr>
          </a:p>
        </p:txBody>
      </p:sp>
      <p:sp>
        <p:nvSpPr>
          <p:cNvPr id="384" name="Google Shape;384;p8"/>
          <p:cNvSpPr/>
          <p:nvPr/>
        </p:nvSpPr>
        <p:spPr>
          <a:xfrm>
            <a:off x="7143750" y="1441252"/>
            <a:ext cx="1571625" cy="571500"/>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143750" y="1441252"/>
            <a:ext cx="1571625" cy="571500"/>
          </a:xfrm>
          <a:prstGeom prst="rect">
            <a:avLst/>
          </a:prstGeom>
          <a:noFill/>
          <a:ln>
            <a:noFill/>
          </a:ln>
        </p:spPr>
        <p:txBody>
          <a:bodyPr spcFirstLastPara="1" wrap="square" lIns="85075" tIns="85075" rIns="85075" bIns="85075" anchor="ctr" anchorCtr="0">
            <a:spAutoFit/>
          </a:bodyPr>
          <a:lstStyle/>
          <a:p>
            <a:pPr marL="0" marR="0" lvl="0" indent="0" algn="ctr"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INDUSTRY DEPLOYMENT &amp; CERTIFICATION</a:t>
            </a:r>
            <a:endParaRPr sz="700" b="0" i="0" u="none" strike="noStrike" cap="none">
              <a:solidFill>
                <a:schemeClr val="dk1"/>
              </a:solidFill>
              <a:latin typeface="Calibri"/>
              <a:ea typeface="Calibri"/>
              <a:cs typeface="Calibri"/>
              <a:sym typeface="Calibri"/>
            </a:endParaRPr>
          </a:p>
        </p:txBody>
      </p:sp>
      <p:sp>
        <p:nvSpPr>
          <p:cNvPr id="386" name="Google Shape;386;p8"/>
          <p:cNvSpPr/>
          <p:nvPr/>
        </p:nvSpPr>
        <p:spPr>
          <a:xfrm>
            <a:off x="60007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Witness Coupon Baseline</a:t>
            </a:r>
            <a:endParaRPr sz="1000" b="0" i="0" u="none" strike="noStrike" cap="none">
              <a:solidFill>
                <a:schemeClr val="dk1"/>
              </a:solidFill>
              <a:latin typeface="Calibri"/>
              <a:ea typeface="Calibri"/>
              <a:cs typeface="Calibri"/>
              <a:sym typeface="Calibri"/>
            </a:endParaRPr>
          </a:p>
        </p:txBody>
      </p:sp>
      <p:sp>
        <p:nvSpPr>
          <p:cNvPr id="387" name="Google Shape;387;p8"/>
          <p:cNvSpPr/>
          <p:nvPr/>
        </p:nvSpPr>
        <p:spPr>
          <a:xfrm>
            <a:off x="60007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Fabricate flat, graded FGM witness coupons using our hardware-agnostic composition standard, providing a cost-effective platform for initial evaluation.</a:t>
            </a:r>
            <a:endParaRPr sz="850" b="0" i="0" u="none" strike="noStrike" cap="none">
              <a:solidFill>
                <a:schemeClr val="dk1"/>
              </a:solidFill>
              <a:latin typeface="Calibri"/>
              <a:ea typeface="Calibri"/>
              <a:cs typeface="Calibri"/>
              <a:sym typeface="Calibri"/>
            </a:endParaRPr>
          </a:p>
        </p:txBody>
      </p:sp>
      <p:sp>
        <p:nvSpPr>
          <p:cNvPr id="388" name="Google Shape;388;p8"/>
          <p:cNvSpPr/>
          <p:nvPr/>
        </p:nvSpPr>
        <p:spPr>
          <a:xfrm>
            <a:off x="488632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Comparative Performance</a:t>
            </a:r>
            <a:endParaRPr sz="1000" b="0" i="0" u="none" strike="noStrike" cap="none">
              <a:solidFill>
                <a:schemeClr val="dk1"/>
              </a:solidFill>
              <a:latin typeface="Calibri"/>
              <a:ea typeface="Calibri"/>
              <a:cs typeface="Calibri"/>
              <a:sym typeface="Calibri"/>
            </a:endParaRPr>
          </a:p>
        </p:txBody>
      </p:sp>
      <p:sp>
        <p:nvSpPr>
          <p:cNvPr id="389" name="Google Shape;389;p8"/>
          <p:cNvSpPr/>
          <p:nvPr/>
        </p:nvSpPr>
        <p:spPr>
          <a:xfrm>
            <a:off x="488632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Subject our transpiration-cooled HEA coupons to concurrent testing alongside current industry-standard single-crystal Nickel superalloys to measure structural gains.</a:t>
            </a:r>
            <a:endParaRPr sz="850" b="0" i="0" u="none" strike="noStrike" cap="none">
              <a:solidFill>
                <a:schemeClr val="dk1"/>
              </a:solidFill>
              <a:latin typeface="Calibri"/>
              <a:ea typeface="Calibri"/>
              <a:cs typeface="Calibri"/>
              <a:sym typeface="Calibri"/>
            </a:endParaRPr>
          </a:p>
        </p:txBody>
      </p:sp>
      <p:sp>
        <p:nvSpPr>
          <p:cNvPr id="390" name="Google Shape;390;p8"/>
          <p:cNvSpPr/>
          <p:nvPr/>
        </p:nvSpPr>
        <p:spPr>
          <a:xfrm>
            <a:off x="60007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Adaptive Learning Loops</a:t>
            </a:r>
            <a:endParaRPr sz="1000" b="0" i="0" u="none" strike="noStrike" cap="none">
              <a:solidFill>
                <a:schemeClr val="dk1"/>
              </a:solidFill>
              <a:latin typeface="Calibri"/>
              <a:ea typeface="Calibri"/>
              <a:cs typeface="Calibri"/>
              <a:sym typeface="Calibri"/>
            </a:endParaRPr>
          </a:p>
        </p:txBody>
      </p:sp>
      <p:sp>
        <p:nvSpPr>
          <p:cNvPr id="391" name="Google Shape;391;p8"/>
          <p:cNvSpPr/>
          <p:nvPr/>
        </p:nvSpPr>
        <p:spPr>
          <a:xfrm>
            <a:off x="60007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Real-world discrepancies provide data to retrain surrogate models, close the digital twin gap, and calibrate multi-hopper additive manufacturing parameters.</a:t>
            </a:r>
            <a:endParaRPr sz="850" b="0" i="0" u="none" strike="noStrike" cap="none">
              <a:solidFill>
                <a:schemeClr val="dk1"/>
              </a:solidFill>
              <a:latin typeface="Calibri"/>
              <a:ea typeface="Calibri"/>
              <a:cs typeface="Calibri"/>
              <a:sym typeface="Calibri"/>
            </a:endParaRPr>
          </a:p>
        </p:txBody>
      </p:sp>
      <p:sp>
        <p:nvSpPr>
          <p:cNvPr id="392" name="Google Shape;392;p8"/>
          <p:cNvSpPr/>
          <p:nvPr/>
        </p:nvSpPr>
        <p:spPr>
          <a:xfrm>
            <a:off x="488632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Flight-Readiness Funnel</a:t>
            </a:r>
            <a:endParaRPr sz="1000" b="0" i="0" u="none" strike="noStrike" cap="none">
              <a:solidFill>
                <a:schemeClr val="dk1"/>
              </a:solidFill>
              <a:latin typeface="Calibri"/>
              <a:ea typeface="Calibri"/>
              <a:cs typeface="Calibri"/>
              <a:sym typeface="Calibri"/>
            </a:endParaRPr>
          </a:p>
        </p:txBody>
      </p:sp>
      <p:sp>
        <p:nvSpPr>
          <p:cNvPr id="393" name="Google Shape;393;p8"/>
          <p:cNvSpPr/>
          <p:nvPr/>
        </p:nvSpPr>
        <p:spPr>
          <a:xfrm>
            <a:off x="488632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Upon successful TRL 4 validation, move to manufacturing subscale blade-feature coupons to establish a long-term, industry qualification and certification roadmap.</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8"/>
        <p:cNvGrpSpPr/>
        <p:nvPr/>
      </p:nvGrpSpPr>
      <p:grpSpPr>
        <a:xfrm>
          <a:off x="0" y="0"/>
          <a:ext cx="0" cy="0"/>
          <a:chOff x="0" y="0"/>
          <a:chExt cx="0" cy="0"/>
        </a:xfrm>
      </p:grpSpPr>
      <p:sp>
        <p:nvSpPr>
          <p:cNvPr id="399" name="Google Shape;399;p9"/>
          <p:cNvSpPr/>
          <p:nvPr/>
        </p:nvSpPr>
        <p:spPr>
          <a:xfrm>
            <a:off x="0" y="0"/>
            <a:ext cx="9144000" cy="1143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9"/>
          <p:cNvSpPr/>
          <p:nvPr/>
        </p:nvSpPr>
        <p:spPr>
          <a:xfrm>
            <a:off x="428625" y="381000"/>
            <a:ext cx="82869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ECONOMIC VALUE &amp; OPERATING SAVINGS LEDGER</a:t>
            </a:r>
            <a:endParaRPr sz="2400" b="1">
              <a:solidFill>
                <a:srgbClr val="1A365D"/>
              </a:solidFill>
              <a:latin typeface="Space Grotesk"/>
              <a:ea typeface="Space Grotesk"/>
              <a:cs typeface="Space Grotesk"/>
              <a:sym typeface="Space Grotesk"/>
            </a:endParaRPr>
          </a:p>
        </p:txBody>
      </p:sp>
      <p:sp>
        <p:nvSpPr>
          <p:cNvPr id="401" name="Google Shape;401;p9"/>
          <p:cNvSpPr/>
          <p:nvPr/>
        </p:nvSpPr>
        <p:spPr>
          <a:xfrm>
            <a:off x="428625" y="762000"/>
            <a:ext cx="8286900" cy="2382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Fleet Scalability and Direct Operating Cost Reductions (Aerospace Case Study - Platform Applicable to Precision Forging &amp; EV Thermal Management)</a:t>
            </a:r>
            <a:endParaRPr sz="1200" b="0">
              <a:solidFill>
                <a:srgbClr val="2BDEFD"/>
              </a:solidFill>
              <a:latin typeface="Space Grotesk SemiBold"/>
              <a:ea typeface="Space Grotesk SemiBold"/>
              <a:cs typeface="Space Grotesk SemiBold"/>
              <a:sym typeface="Space Grotesk SemiBold"/>
            </a:endParaRPr>
          </a:p>
        </p:txBody>
      </p:sp>
      <p:grpSp>
        <p:nvGrpSpPr>
          <p:cNvPr id="402" name="Google Shape;402;p9"/>
          <p:cNvGrpSpPr/>
          <p:nvPr/>
        </p:nvGrpSpPr>
        <p:grpSpPr>
          <a:xfrm>
            <a:off x="428625" y="1285875"/>
            <a:ext cx="8286825" cy="714300"/>
            <a:chOff x="428625" y="1285875"/>
            <a:chExt cx="8286825" cy="714300"/>
          </a:xfrm>
        </p:grpSpPr>
        <p:sp>
          <p:nvSpPr>
            <p:cNvPr id="403" name="Google Shape;403;p9"/>
            <p:cNvSpPr/>
            <p:nvPr/>
          </p:nvSpPr>
          <p:spPr>
            <a:xfrm>
              <a:off x="428625"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9"/>
            <p:cNvSpPr txBox="1"/>
            <p:nvPr/>
          </p:nvSpPr>
          <p:spPr>
            <a:xfrm>
              <a:off x="571500"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Parasitic Air Reductions</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11-layer insulation matrix drops substrate temperatures by 150K-200K, cutting reliance on compressor parasitic bleed air by </a:t>
              </a:r>
              <a:r>
                <a:rPr lang="en-US" sz="850" b="1">
                  <a:solidFill>
                    <a:srgbClr val="1A365D"/>
                  </a:solidFill>
                  <a:latin typeface="Inter"/>
                  <a:ea typeface="Inter"/>
                  <a:cs typeface="Inter"/>
                  <a:sym typeface="Inter"/>
                </a:rPr>
                <a:t>15%</a:t>
              </a:r>
              <a:r>
                <a:rPr lang="en-US" sz="850">
                  <a:solidFill>
                    <a:srgbClr val="475569"/>
                  </a:solidFill>
                  <a:latin typeface="Inter"/>
                  <a:ea typeface="Inter"/>
                  <a:cs typeface="Inter"/>
                  <a:sym typeface="Inter"/>
                </a:rPr>
                <a:t>.</a:t>
              </a:r>
              <a:endParaRPr sz="850">
                <a:solidFill>
                  <a:srgbClr val="475569"/>
                </a:solidFill>
                <a:latin typeface="Inter"/>
                <a:ea typeface="Inter"/>
                <a:cs typeface="Inter"/>
                <a:sym typeface="Inter"/>
              </a:endParaRPr>
            </a:p>
          </p:txBody>
        </p:sp>
        <p:sp>
          <p:nvSpPr>
            <p:cNvPr id="405" name="Google Shape;405;p9"/>
            <p:cNvSpPr/>
            <p:nvPr/>
          </p:nvSpPr>
          <p:spPr>
            <a:xfrm>
              <a:off x="4667250"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9"/>
            <p:cNvSpPr txBox="1"/>
            <p:nvPr/>
          </p:nvSpPr>
          <p:spPr>
            <a:xfrm>
              <a:off x="4810125"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Annual Volumetric Yield</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For a standard narrowbody (3,000 hr/yr), our platform saves </a:t>
              </a:r>
              <a:r>
                <a:rPr lang="en-US" sz="850" b="1">
                  <a:solidFill>
                    <a:srgbClr val="1A365D"/>
                  </a:solidFill>
                  <a:latin typeface="Inter"/>
                  <a:ea typeface="Inter"/>
                  <a:cs typeface="Inter"/>
                  <a:sym typeface="Inter"/>
                </a:rPr>
                <a:t>108 metric tons (135,000 liters)</a:t>
              </a:r>
              <a:r>
                <a:rPr lang="en-US" sz="850">
                  <a:solidFill>
                    <a:srgbClr val="475569"/>
                  </a:solidFill>
                  <a:latin typeface="Inter"/>
                  <a:ea typeface="Inter"/>
                  <a:cs typeface="Inter"/>
                  <a:sym typeface="Inter"/>
                </a:rPr>
                <a:t> of Jet A-1 fuel per aircraft annually.</a:t>
              </a:r>
              <a:endParaRPr sz="850">
                <a:solidFill>
                  <a:srgbClr val="475569"/>
                </a:solidFill>
                <a:latin typeface="Inter"/>
                <a:ea typeface="Inter"/>
                <a:cs typeface="Inter"/>
                <a:sym typeface="Inter"/>
              </a:endParaRPr>
            </a:p>
          </p:txBody>
        </p:sp>
      </p:grpSp>
      <p:sp>
        <p:nvSpPr>
          <p:cNvPr id="407" name="Google Shape;407;p9"/>
          <p:cNvSpPr/>
          <p:nvPr/>
        </p:nvSpPr>
        <p:spPr>
          <a:xfrm>
            <a:off x="428625" y="21431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9"/>
          <p:cNvSpPr/>
          <p:nvPr/>
        </p:nvSpPr>
        <p:spPr>
          <a:xfrm>
            <a:off x="428625" y="21431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Assessment Parameter</a:t>
            </a:r>
            <a:endParaRPr sz="800" b="0">
              <a:solidFill>
                <a:srgbClr val="FFFFFF"/>
              </a:solidFill>
              <a:latin typeface="Space Grotesk SemiBold"/>
              <a:ea typeface="Space Grotesk SemiBold"/>
              <a:cs typeface="Space Grotesk SemiBold"/>
              <a:sym typeface="Space Grotesk SemiBold"/>
            </a:endParaRPr>
          </a:p>
        </p:txBody>
      </p:sp>
      <p:sp>
        <p:nvSpPr>
          <p:cNvPr id="409" name="Google Shape;409;p9"/>
          <p:cNvSpPr/>
          <p:nvPr/>
        </p:nvSpPr>
        <p:spPr>
          <a:xfrm>
            <a:off x="2333625" y="21431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Governing Aerospace Formula</a:t>
            </a:r>
            <a:endParaRPr sz="800" b="0">
              <a:solidFill>
                <a:srgbClr val="FFFFFF"/>
              </a:solidFill>
              <a:latin typeface="Space Grotesk SemiBold"/>
              <a:ea typeface="Space Grotesk SemiBold"/>
              <a:cs typeface="Space Grotesk SemiBold"/>
              <a:sym typeface="Space Grotesk SemiBold"/>
            </a:endParaRPr>
          </a:p>
        </p:txBody>
      </p:sp>
      <p:sp>
        <p:nvSpPr>
          <p:cNvPr id="410" name="Google Shape;410;p9"/>
          <p:cNvSpPr/>
          <p:nvPr/>
        </p:nvSpPr>
        <p:spPr>
          <a:xfrm>
            <a:off x="5000625" y="21431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Baseline Input Variable</a:t>
            </a:r>
            <a:endParaRPr sz="800" b="0">
              <a:solidFill>
                <a:srgbClr val="FFFFFF"/>
              </a:solidFill>
              <a:latin typeface="Space Grotesk SemiBold"/>
              <a:ea typeface="Space Grotesk SemiBold"/>
              <a:cs typeface="Space Grotesk SemiBold"/>
              <a:sym typeface="Space Grotesk SemiBold"/>
            </a:endParaRPr>
          </a:p>
        </p:txBody>
      </p:sp>
      <p:sp>
        <p:nvSpPr>
          <p:cNvPr id="411" name="Google Shape;411;p9"/>
          <p:cNvSpPr/>
          <p:nvPr/>
        </p:nvSpPr>
        <p:spPr>
          <a:xfrm>
            <a:off x="6810375" y="21431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Net Annual Savings Yield</a:t>
            </a:r>
            <a:endParaRPr sz="800" b="0">
              <a:solidFill>
                <a:srgbClr val="FFFFFF"/>
              </a:solidFill>
              <a:latin typeface="Space Grotesk SemiBold"/>
              <a:ea typeface="Space Grotesk SemiBold"/>
              <a:cs typeface="Space Grotesk SemiBold"/>
              <a:sym typeface="Space Grotesk SemiBold"/>
            </a:endParaRPr>
          </a:p>
        </p:txBody>
      </p:sp>
      <p:sp>
        <p:nvSpPr>
          <p:cNvPr id="412" name="Google Shape;412;p9"/>
          <p:cNvSpPr/>
          <p:nvPr/>
        </p:nvSpPr>
        <p:spPr>
          <a:xfrm>
            <a:off x="428625" y="252412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Parasitic Bleed Air Cut</a:t>
            </a:r>
            <a:endParaRPr sz="850" b="0">
              <a:solidFill>
                <a:srgbClr val="1A365D"/>
              </a:solidFill>
              <a:latin typeface="Inter SemiBold"/>
              <a:ea typeface="Inter SemiBold"/>
              <a:cs typeface="Inter SemiBold"/>
              <a:sym typeface="Inter SemiBold"/>
            </a:endParaRPr>
          </a:p>
        </p:txBody>
      </p:sp>
      <p:sp>
        <p:nvSpPr>
          <p:cNvPr id="413" name="Google Shape;413;p9"/>
          <p:cNvSpPr/>
          <p:nvPr/>
        </p:nvSpPr>
        <p:spPr>
          <a:xfrm>
            <a:off x="2333625" y="252412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Δ m_bleed = m_baseline × 0.15</a:t>
            </a:r>
            <a:endParaRPr sz="850">
              <a:solidFill>
                <a:srgbClr val="475569"/>
              </a:solidFill>
              <a:latin typeface="Inter"/>
              <a:ea typeface="Inter"/>
              <a:cs typeface="Inter"/>
              <a:sym typeface="Inter"/>
            </a:endParaRPr>
          </a:p>
        </p:txBody>
      </p:sp>
      <p:sp>
        <p:nvSpPr>
          <p:cNvPr id="414" name="Google Shape;414;p9"/>
          <p:cNvSpPr/>
          <p:nvPr/>
        </p:nvSpPr>
        <p:spPr>
          <a:xfrm>
            <a:off x="5000625" y="252412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 Reduction</a:t>
            </a:r>
            <a:endParaRPr sz="850">
              <a:solidFill>
                <a:srgbClr val="475569"/>
              </a:solidFill>
              <a:latin typeface="Inter"/>
              <a:ea typeface="Inter"/>
              <a:cs typeface="Inter"/>
              <a:sym typeface="Inter"/>
            </a:endParaRPr>
          </a:p>
        </p:txBody>
      </p:sp>
      <p:sp>
        <p:nvSpPr>
          <p:cNvPr id="415" name="Google Shape;415;p9"/>
          <p:cNvSpPr/>
          <p:nvPr/>
        </p:nvSpPr>
        <p:spPr>
          <a:xfrm>
            <a:off x="6810375" y="252412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Frees Core Mass Flow</a:t>
            </a:r>
            <a:endParaRPr sz="850" b="1">
              <a:solidFill>
                <a:srgbClr val="059669"/>
              </a:solidFill>
              <a:latin typeface="Inter"/>
              <a:ea typeface="Inter"/>
              <a:cs typeface="Inter"/>
              <a:sym typeface="Inter"/>
            </a:endParaRPr>
          </a:p>
        </p:txBody>
      </p:sp>
      <p:sp>
        <p:nvSpPr>
          <p:cNvPr id="416" name="Google Shape;416;p9"/>
          <p:cNvSpPr/>
          <p:nvPr/>
        </p:nvSpPr>
        <p:spPr>
          <a:xfrm>
            <a:off x="428625" y="285750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9"/>
          <p:cNvSpPr/>
          <p:nvPr/>
        </p:nvSpPr>
        <p:spPr>
          <a:xfrm>
            <a:off x="428625" y="285750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Net SFC Efficiency Gain</a:t>
            </a:r>
            <a:endParaRPr sz="850" b="0">
              <a:solidFill>
                <a:srgbClr val="1A365D"/>
              </a:solidFill>
              <a:latin typeface="Inter SemiBold"/>
              <a:ea typeface="Inter SemiBold"/>
              <a:cs typeface="Inter SemiBold"/>
              <a:sym typeface="Inter SemiBold"/>
            </a:endParaRPr>
          </a:p>
        </p:txBody>
      </p:sp>
      <p:sp>
        <p:nvSpPr>
          <p:cNvPr id="418" name="Google Shape;418;p9"/>
          <p:cNvSpPr/>
          <p:nvPr/>
        </p:nvSpPr>
        <p:spPr>
          <a:xfrm>
            <a:off x="2333625" y="285750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η_cycle = Δ SFC × 1.0</a:t>
            </a:r>
            <a:endParaRPr sz="850">
              <a:solidFill>
                <a:srgbClr val="475569"/>
              </a:solidFill>
              <a:latin typeface="Inter"/>
              <a:ea typeface="Inter"/>
              <a:cs typeface="Inter"/>
              <a:sym typeface="Inter"/>
            </a:endParaRPr>
          </a:p>
        </p:txBody>
      </p:sp>
      <p:sp>
        <p:nvSpPr>
          <p:cNvPr id="419" name="Google Shape;419;p9"/>
          <p:cNvSpPr/>
          <p:nvPr/>
        </p:nvSpPr>
        <p:spPr>
          <a:xfrm>
            <a:off x="5000625" y="285750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 Net Reduction</a:t>
            </a:r>
            <a:endParaRPr sz="850">
              <a:solidFill>
                <a:srgbClr val="475569"/>
              </a:solidFill>
              <a:latin typeface="Inter"/>
              <a:ea typeface="Inter"/>
              <a:cs typeface="Inter"/>
              <a:sym typeface="Inter"/>
            </a:endParaRPr>
          </a:p>
        </p:txBody>
      </p:sp>
      <p:sp>
        <p:nvSpPr>
          <p:cNvPr id="420" name="Google Shape;420;p9"/>
          <p:cNvSpPr/>
          <p:nvPr/>
        </p:nvSpPr>
        <p:spPr>
          <a:xfrm>
            <a:off x="6810375" y="2857500"/>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Maximizes Core Thrust</a:t>
            </a:r>
            <a:endParaRPr sz="850" b="1">
              <a:solidFill>
                <a:srgbClr val="059669"/>
              </a:solidFill>
              <a:latin typeface="Inter"/>
              <a:ea typeface="Inter"/>
              <a:cs typeface="Inter"/>
              <a:sym typeface="Inter"/>
            </a:endParaRPr>
          </a:p>
        </p:txBody>
      </p:sp>
      <p:sp>
        <p:nvSpPr>
          <p:cNvPr id="421" name="Google Shape;421;p9"/>
          <p:cNvSpPr/>
          <p:nvPr/>
        </p:nvSpPr>
        <p:spPr>
          <a:xfrm>
            <a:off x="428625" y="319087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Volumetric Fuel Savings</a:t>
            </a:r>
            <a:endParaRPr sz="850" b="0">
              <a:solidFill>
                <a:srgbClr val="1A365D"/>
              </a:solidFill>
              <a:latin typeface="Inter SemiBold"/>
              <a:ea typeface="Inter SemiBold"/>
              <a:cs typeface="Inter SemiBold"/>
              <a:sym typeface="Inter SemiBold"/>
            </a:endParaRPr>
          </a:p>
        </p:txBody>
      </p:sp>
      <p:sp>
        <p:nvSpPr>
          <p:cNvPr id="422" name="Google Shape;422;p9"/>
          <p:cNvSpPr/>
          <p:nvPr/>
        </p:nvSpPr>
        <p:spPr>
          <a:xfrm>
            <a:off x="2333625" y="319087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V_saved = 3,000 hr × 2,400 kg/hr × 0.015</a:t>
            </a:r>
            <a:endParaRPr sz="850">
              <a:solidFill>
                <a:srgbClr val="475569"/>
              </a:solidFill>
              <a:latin typeface="Inter"/>
              <a:ea typeface="Inter"/>
              <a:cs typeface="Inter"/>
              <a:sym typeface="Inter"/>
            </a:endParaRPr>
          </a:p>
        </p:txBody>
      </p:sp>
      <p:sp>
        <p:nvSpPr>
          <p:cNvPr id="423" name="Google Shape;423;p9"/>
          <p:cNvSpPr/>
          <p:nvPr/>
        </p:nvSpPr>
        <p:spPr>
          <a:xfrm>
            <a:off x="5000625" y="319087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7,200 Metric Tons Baseline</a:t>
            </a:r>
            <a:endParaRPr sz="850">
              <a:solidFill>
                <a:srgbClr val="475569"/>
              </a:solidFill>
              <a:latin typeface="Inter"/>
              <a:ea typeface="Inter"/>
              <a:cs typeface="Inter"/>
              <a:sym typeface="Inter"/>
            </a:endParaRPr>
          </a:p>
        </p:txBody>
      </p:sp>
      <p:sp>
        <p:nvSpPr>
          <p:cNvPr id="424" name="Google Shape;424;p9"/>
          <p:cNvSpPr/>
          <p:nvPr/>
        </p:nvSpPr>
        <p:spPr>
          <a:xfrm>
            <a:off x="6810375" y="319087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135,000 Liters / Aircraft</a:t>
            </a:r>
            <a:endParaRPr sz="850" b="1">
              <a:solidFill>
                <a:srgbClr val="059669"/>
              </a:solidFill>
              <a:latin typeface="Inter"/>
              <a:ea typeface="Inter"/>
              <a:cs typeface="Inter"/>
              <a:sym typeface="Inter"/>
            </a:endParaRPr>
          </a:p>
        </p:txBody>
      </p:sp>
      <p:sp>
        <p:nvSpPr>
          <p:cNvPr id="425" name="Google Shape;425;p9"/>
          <p:cNvSpPr/>
          <p:nvPr/>
        </p:nvSpPr>
        <p:spPr>
          <a:xfrm>
            <a:off x="428625" y="352425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9"/>
          <p:cNvSpPr/>
          <p:nvPr/>
        </p:nvSpPr>
        <p:spPr>
          <a:xfrm>
            <a:off x="428625" y="352425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Direct Operating Cost Cut</a:t>
            </a:r>
            <a:endParaRPr sz="850" b="0">
              <a:solidFill>
                <a:srgbClr val="1A365D"/>
              </a:solidFill>
              <a:latin typeface="Inter SemiBold"/>
              <a:ea typeface="Inter SemiBold"/>
              <a:cs typeface="Inter SemiBold"/>
              <a:sym typeface="Inter SemiBold"/>
            </a:endParaRPr>
          </a:p>
        </p:txBody>
      </p:sp>
      <p:sp>
        <p:nvSpPr>
          <p:cNvPr id="427" name="Google Shape;427;p9"/>
          <p:cNvSpPr/>
          <p:nvPr/>
        </p:nvSpPr>
        <p:spPr>
          <a:xfrm>
            <a:off x="2333625" y="352425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Cash Savings = V_saved × $0.85 /L</a:t>
            </a:r>
            <a:endParaRPr sz="850">
              <a:solidFill>
                <a:srgbClr val="475569"/>
              </a:solidFill>
              <a:latin typeface="Inter"/>
              <a:ea typeface="Inter"/>
              <a:cs typeface="Inter"/>
              <a:sym typeface="Inter"/>
            </a:endParaRPr>
          </a:p>
        </p:txBody>
      </p:sp>
      <p:sp>
        <p:nvSpPr>
          <p:cNvPr id="428" name="Google Shape;428;p9"/>
          <p:cNvSpPr/>
          <p:nvPr/>
        </p:nvSpPr>
        <p:spPr>
          <a:xfrm>
            <a:off x="5000625" y="352425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$0.85/L Jet A-1 Price</a:t>
            </a:r>
            <a:endParaRPr sz="850">
              <a:solidFill>
                <a:srgbClr val="475569"/>
              </a:solidFill>
              <a:latin typeface="Inter"/>
              <a:ea typeface="Inter"/>
              <a:cs typeface="Inter"/>
              <a:sym typeface="Inter"/>
            </a:endParaRPr>
          </a:p>
        </p:txBody>
      </p:sp>
      <p:sp>
        <p:nvSpPr>
          <p:cNvPr id="429" name="Google Shape;429;p9"/>
          <p:cNvSpPr/>
          <p:nvPr/>
        </p:nvSpPr>
        <p:spPr>
          <a:xfrm>
            <a:off x="6992525" y="3524250"/>
            <a:ext cx="17229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$114,750 / Aircraft           </a:t>
            </a:r>
            <a:endParaRPr sz="1050">
              <a:solidFill>
                <a:srgbClr val="FD971F"/>
              </a:solidFill>
              <a:highlight>
                <a:srgbClr val="1E1E1E"/>
              </a:highlight>
              <a:latin typeface="Courier New"/>
              <a:ea typeface="Courier New"/>
              <a:cs typeface="Courier New"/>
              <a:sym typeface="Courier New"/>
            </a:endParaRPr>
          </a:p>
          <a:p>
            <a:pPr marL="0" lvl="0" indent="0" algn="r" rtl="0">
              <a:spcBef>
                <a:spcPts val="0"/>
              </a:spcBef>
              <a:spcAft>
                <a:spcPts val="0"/>
              </a:spcAft>
              <a:buNone/>
            </a:pPr>
            <a:endParaRPr sz="850" b="1">
              <a:solidFill>
                <a:srgbClr val="059669"/>
              </a:solidFill>
              <a:latin typeface="Inter"/>
              <a:ea typeface="Inter"/>
              <a:cs typeface="Inter"/>
              <a:sym typeface="Inter"/>
            </a:endParaRPr>
          </a:p>
        </p:txBody>
      </p:sp>
      <p:sp>
        <p:nvSpPr>
          <p:cNvPr id="430" name="Google Shape;430;p9"/>
          <p:cNvSpPr/>
          <p:nvPr/>
        </p:nvSpPr>
        <p:spPr>
          <a:xfrm>
            <a:off x="428625" y="38576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9"/>
          <p:cNvSpPr/>
          <p:nvPr/>
        </p:nvSpPr>
        <p:spPr>
          <a:xfrm>
            <a:off x="428625" y="38576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900" b="1">
                <a:solidFill>
                  <a:srgbClr val="2BDEFD"/>
                </a:solidFill>
                <a:latin typeface="Space Grotesk"/>
                <a:ea typeface="Space Grotesk"/>
                <a:cs typeface="Space Grotesk"/>
                <a:sym typeface="Space Grotesk"/>
              </a:rPr>
              <a:t>Fleet Scalability Revenue</a:t>
            </a:r>
            <a:endParaRPr sz="900" b="1">
              <a:solidFill>
                <a:srgbClr val="2BDEFD"/>
              </a:solidFill>
              <a:latin typeface="Space Grotesk"/>
              <a:ea typeface="Space Grotesk"/>
              <a:cs typeface="Space Grotesk"/>
              <a:sym typeface="Space Grotesk"/>
            </a:endParaRPr>
          </a:p>
        </p:txBody>
      </p:sp>
      <p:sp>
        <p:nvSpPr>
          <p:cNvPr id="432" name="Google Shape;432;p9"/>
          <p:cNvSpPr/>
          <p:nvPr/>
        </p:nvSpPr>
        <p:spPr>
          <a:xfrm>
            <a:off x="2333625" y="38576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Total Yield = Cash Savings × 100 Jets</a:t>
            </a:r>
            <a:endParaRPr sz="850">
              <a:solidFill>
                <a:srgbClr val="FFFFFF"/>
              </a:solidFill>
              <a:latin typeface="Inter"/>
              <a:ea typeface="Inter"/>
              <a:cs typeface="Inter"/>
              <a:sym typeface="Inter"/>
            </a:endParaRPr>
          </a:p>
        </p:txBody>
      </p:sp>
      <p:sp>
        <p:nvSpPr>
          <p:cNvPr id="433" name="Google Shape;433;p9"/>
          <p:cNvSpPr/>
          <p:nvPr/>
        </p:nvSpPr>
        <p:spPr>
          <a:xfrm>
            <a:off x="5000625" y="38576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100 Narrowbody Fleet</a:t>
            </a:r>
            <a:endParaRPr sz="850">
              <a:solidFill>
                <a:srgbClr val="FFFFFF"/>
              </a:solidFill>
              <a:latin typeface="Inter"/>
              <a:ea typeface="Inter"/>
              <a:cs typeface="Inter"/>
              <a:sym typeface="Inter"/>
            </a:endParaRPr>
          </a:p>
        </p:txBody>
      </p:sp>
      <p:sp>
        <p:nvSpPr>
          <p:cNvPr id="434" name="Google Shape;434;p9"/>
          <p:cNvSpPr/>
          <p:nvPr/>
        </p:nvSpPr>
        <p:spPr>
          <a:xfrm>
            <a:off x="6810375" y="38576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1100" b="1">
                <a:solidFill>
                  <a:srgbClr val="FFFFFF"/>
                </a:solidFill>
                <a:latin typeface="Space Grotesk"/>
                <a:ea typeface="Space Grotesk"/>
                <a:cs typeface="Space Grotesk"/>
                <a:sym typeface="Space Grotesk"/>
              </a:rPr>
              <a:t>$11,475,000 / Year</a:t>
            </a:r>
            <a:endParaRPr sz="1100" b="1">
              <a:solidFill>
                <a:srgbClr val="FFFFFF"/>
              </a:solidFill>
              <a:latin typeface="Space Grotesk"/>
              <a:ea typeface="Space Grotesk"/>
              <a:cs typeface="Space Grotesk"/>
              <a:sym typeface="Space Grotesk"/>
            </a:endParaRPr>
          </a:p>
        </p:txBody>
      </p:sp>
      <p:sp>
        <p:nvSpPr>
          <p:cNvPr id="435" name="Google Shape;435;p9"/>
          <p:cNvSpPr/>
          <p:nvPr/>
        </p:nvSpPr>
        <p:spPr>
          <a:xfrm>
            <a:off x="428625" y="4381500"/>
            <a:ext cx="8286900" cy="190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700" b="0">
                <a:solidFill>
                  <a:srgbClr val="94A3B8"/>
                </a:solidFill>
                <a:latin typeface="Inter"/>
                <a:ea typeface="Inter"/>
                <a:cs typeface="Inter"/>
                <a:sym typeface="Inter"/>
              </a:rPr>
              <a:t>*Calculations based on global average aviation fuel procurement costs and standard narrowbody operational profiles.</a:t>
            </a:r>
            <a:endParaRPr sz="700" b="0">
              <a:solidFill>
                <a:srgbClr val="94A3B8"/>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0"/>
        <p:cNvGrpSpPr/>
        <p:nvPr/>
      </p:nvGrpSpPr>
      <p:grpSpPr>
        <a:xfrm>
          <a:off x="0" y="0"/>
          <a:ext cx="0" cy="0"/>
          <a:chOff x="0" y="0"/>
          <a:chExt cx="0" cy="0"/>
        </a:xfrm>
      </p:grpSpPr>
      <p:grpSp>
        <p:nvGrpSpPr>
          <p:cNvPr id="441" name="Google Shape;441;p10"/>
          <p:cNvGrpSpPr/>
          <p:nvPr/>
        </p:nvGrpSpPr>
        <p:grpSpPr>
          <a:xfrm>
            <a:off x="428625" y="381000"/>
            <a:ext cx="8286900" cy="666825"/>
            <a:chOff x="428625" y="381000"/>
            <a:chExt cx="8286900" cy="666825"/>
          </a:xfrm>
        </p:grpSpPr>
        <p:sp>
          <p:nvSpPr>
            <p:cNvPr id="442" name="Google Shape;442;p10"/>
            <p:cNvSpPr txBox="1"/>
            <p:nvPr/>
          </p:nvSpPr>
          <p:spPr>
            <a:xfrm>
              <a:off x="428625" y="381000"/>
              <a:ext cx="82869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DEFENSIBILITY AND IP PERIMETER</a:t>
              </a:r>
              <a:endParaRPr sz="2400" b="1">
                <a:solidFill>
                  <a:srgbClr val="1A365D"/>
                </a:solidFill>
                <a:latin typeface="Space Grotesk"/>
                <a:ea typeface="Space Grotesk"/>
                <a:cs typeface="Space Grotesk"/>
                <a:sym typeface="Space Grotesk"/>
              </a:endParaRPr>
            </a:p>
          </p:txBody>
        </p:sp>
        <p:sp>
          <p:nvSpPr>
            <p:cNvPr id="443" name="Google Shape;443;p10"/>
            <p:cNvSpPr txBox="1"/>
            <p:nvPr/>
          </p:nvSpPr>
          <p:spPr>
            <a:xfrm>
              <a:off x="428625" y="809625"/>
              <a:ext cx="8286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Multi-Layered Protection Strategy</a:t>
              </a:r>
              <a:endParaRPr sz="1200" b="0">
                <a:solidFill>
                  <a:srgbClr val="2BDEFD"/>
                </a:solidFill>
                <a:latin typeface="Space Grotesk SemiBold"/>
                <a:ea typeface="Space Grotesk SemiBold"/>
                <a:cs typeface="Space Grotesk SemiBold"/>
                <a:sym typeface="Space Grotesk SemiBold"/>
              </a:endParaRPr>
            </a:p>
          </p:txBody>
        </p:sp>
      </p:grpSp>
      <p:grpSp>
        <p:nvGrpSpPr>
          <p:cNvPr id="444" name="Google Shape;444;p10"/>
          <p:cNvGrpSpPr/>
          <p:nvPr/>
        </p:nvGrpSpPr>
        <p:grpSpPr>
          <a:xfrm>
            <a:off x="428625" y="1333500"/>
            <a:ext cx="3905400" cy="3238500"/>
            <a:chOff x="428625" y="1333500"/>
            <a:chExt cx="3905400" cy="3238500"/>
          </a:xfrm>
        </p:grpSpPr>
        <p:sp>
          <p:nvSpPr>
            <p:cNvPr id="445" name="Google Shape;445;p10"/>
            <p:cNvSpPr/>
            <p:nvPr/>
          </p:nvSpPr>
          <p:spPr>
            <a:xfrm>
              <a:off x="428625" y="1333500"/>
              <a:ext cx="3905400" cy="3238500"/>
            </a:xfrm>
            <a:prstGeom prst="roundRect">
              <a:avLst>
                <a:gd name="adj" fmla="val 2352"/>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6" name="Google Shape;446;p10"/>
            <p:cNvGrpSpPr/>
            <p:nvPr/>
          </p:nvGrpSpPr>
          <p:grpSpPr>
            <a:xfrm>
              <a:off x="714375" y="1619250"/>
              <a:ext cx="3333900" cy="428700"/>
              <a:chOff x="714375" y="1619250"/>
              <a:chExt cx="3333900" cy="428700"/>
            </a:xfrm>
          </p:grpSpPr>
          <p:sp>
            <p:nvSpPr>
              <p:cNvPr id="447" name="Google Shape;447;p10"/>
              <p:cNvSpPr/>
              <p:nvPr/>
            </p:nvSpPr>
            <p:spPr>
              <a:xfrm>
                <a:off x="714375" y="161925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714375" y="161925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1: RHEA CHEMISTRY PATENTS</a:t>
                </a:r>
                <a:endParaRPr sz="900" b="1">
                  <a:solidFill>
                    <a:srgbClr val="1A365D"/>
                  </a:solidFill>
                  <a:latin typeface="Space Grotesk"/>
                  <a:ea typeface="Space Grotesk"/>
                  <a:cs typeface="Space Grotesk"/>
                  <a:sym typeface="Space Grotesk"/>
                </a:endParaRPr>
              </a:p>
            </p:txBody>
          </p:sp>
        </p:grpSp>
        <p:grpSp>
          <p:nvGrpSpPr>
            <p:cNvPr id="449" name="Google Shape;449;p10"/>
            <p:cNvGrpSpPr/>
            <p:nvPr/>
          </p:nvGrpSpPr>
          <p:grpSpPr>
            <a:xfrm>
              <a:off x="714375" y="2143125"/>
              <a:ext cx="3333900" cy="428700"/>
              <a:chOff x="714375" y="2143125"/>
              <a:chExt cx="3333900" cy="428700"/>
            </a:xfrm>
          </p:grpSpPr>
          <p:sp>
            <p:nvSpPr>
              <p:cNvPr id="450" name="Google Shape;450;p10"/>
              <p:cNvSpPr/>
              <p:nvPr/>
            </p:nvSpPr>
            <p:spPr>
              <a:xfrm>
                <a:off x="714375" y="2143125"/>
                <a:ext cx="3333900" cy="428700"/>
              </a:xfrm>
              <a:prstGeom prst="roundRect">
                <a:avLst>
                  <a:gd name="adj" fmla="val 8888"/>
                </a:avLst>
              </a:prstGeom>
              <a:solidFill>
                <a:srgbClr val="2BDEFD">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714375" y="2143125"/>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2: 11-LAYER SPATIAL FGM ARCHITECTURE</a:t>
                </a:r>
                <a:endParaRPr sz="900" b="1">
                  <a:solidFill>
                    <a:srgbClr val="1A365D"/>
                  </a:solidFill>
                  <a:latin typeface="Space Grotesk"/>
                  <a:ea typeface="Space Grotesk"/>
                  <a:cs typeface="Space Grotesk"/>
                  <a:sym typeface="Space Grotesk"/>
                </a:endParaRPr>
              </a:p>
            </p:txBody>
          </p:sp>
        </p:grpSp>
        <p:grpSp>
          <p:nvGrpSpPr>
            <p:cNvPr id="452" name="Google Shape;452;p10"/>
            <p:cNvGrpSpPr/>
            <p:nvPr/>
          </p:nvGrpSpPr>
          <p:grpSpPr>
            <a:xfrm>
              <a:off x="714375" y="2667000"/>
              <a:ext cx="3333900" cy="428700"/>
              <a:chOff x="714375" y="2667000"/>
              <a:chExt cx="3333900" cy="428700"/>
            </a:xfrm>
          </p:grpSpPr>
          <p:sp>
            <p:nvSpPr>
              <p:cNvPr id="453" name="Google Shape;453;p10"/>
              <p:cNvSpPr/>
              <p:nvPr/>
            </p:nvSpPr>
            <p:spPr>
              <a:xfrm>
                <a:off x="714375" y="266700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714375" y="266700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3: SINTERED TRANSPIRATION PROCESS</a:t>
                </a:r>
                <a:endParaRPr sz="900" b="1">
                  <a:solidFill>
                    <a:srgbClr val="1A365D"/>
                  </a:solidFill>
                  <a:latin typeface="Space Grotesk"/>
                  <a:ea typeface="Space Grotesk"/>
                  <a:cs typeface="Space Grotesk"/>
                  <a:sym typeface="Space Grotesk"/>
                </a:endParaRPr>
              </a:p>
            </p:txBody>
          </p:sp>
        </p:grpSp>
        <p:grpSp>
          <p:nvGrpSpPr>
            <p:cNvPr id="455" name="Google Shape;455;p10"/>
            <p:cNvGrpSpPr/>
            <p:nvPr/>
          </p:nvGrpSpPr>
          <p:grpSpPr>
            <a:xfrm>
              <a:off x="714375" y="3190875"/>
              <a:ext cx="3333900" cy="1095300"/>
              <a:chOff x="714375" y="3190875"/>
              <a:chExt cx="3333900" cy="1095300"/>
            </a:xfrm>
          </p:grpSpPr>
          <p:sp>
            <p:nvSpPr>
              <p:cNvPr id="456" name="Google Shape;456;p10"/>
              <p:cNvSpPr/>
              <p:nvPr/>
            </p:nvSpPr>
            <p:spPr>
              <a:xfrm>
                <a:off x="714375" y="3190875"/>
                <a:ext cx="3333900" cy="1095300"/>
              </a:xfrm>
              <a:prstGeom prst="roundRect">
                <a:avLst>
                  <a:gd name="adj" fmla="val 3478"/>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10"/>
              <p:cNvSpPr txBox="1"/>
              <p:nvPr/>
            </p:nvSpPr>
            <p:spPr>
              <a:xfrm>
                <a:off x="714375" y="3190875"/>
                <a:ext cx="3333900" cy="10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LAYER 4:</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IN-MEMORY MATERIALS</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INFORMATICS DATA MOAT</a:t>
                </a:r>
                <a:endParaRPr sz="1100" b="1">
                  <a:solidFill>
                    <a:srgbClr val="FFFFFF"/>
                  </a:solidFill>
                  <a:latin typeface="Space Grotesk"/>
                  <a:ea typeface="Space Grotesk"/>
                  <a:cs typeface="Space Grotesk"/>
                  <a:sym typeface="Space Grotesk"/>
                </a:endParaRPr>
              </a:p>
            </p:txBody>
          </p:sp>
        </p:grpSp>
      </p:grpSp>
      <p:grpSp>
        <p:nvGrpSpPr>
          <p:cNvPr id="458" name="Google Shape;458;p10"/>
          <p:cNvGrpSpPr/>
          <p:nvPr/>
        </p:nvGrpSpPr>
        <p:grpSpPr>
          <a:xfrm>
            <a:off x="4714875" y="1333500"/>
            <a:ext cx="4000500" cy="3143175"/>
            <a:chOff x="4714875" y="1333500"/>
            <a:chExt cx="4000500" cy="3143175"/>
          </a:xfrm>
        </p:grpSpPr>
        <p:grpSp>
          <p:nvGrpSpPr>
            <p:cNvPr id="459" name="Google Shape;459;p10"/>
            <p:cNvGrpSpPr/>
            <p:nvPr/>
          </p:nvGrpSpPr>
          <p:grpSpPr>
            <a:xfrm>
              <a:off x="4714875" y="1333500"/>
              <a:ext cx="4000500" cy="714300"/>
              <a:chOff x="4714875" y="1333500"/>
              <a:chExt cx="4000500" cy="714300"/>
            </a:xfrm>
          </p:grpSpPr>
          <p:sp>
            <p:nvSpPr>
              <p:cNvPr id="460" name="Google Shape;460;p10"/>
              <p:cNvSpPr/>
              <p:nvPr/>
            </p:nvSpPr>
            <p:spPr>
              <a:xfrm>
                <a:off x="4714875" y="133350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10"/>
              <p:cNvSpPr txBox="1"/>
              <p:nvPr/>
            </p:nvSpPr>
            <p:spPr>
              <a:xfrm>
                <a:off x="4714875" y="133350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Compositional Windows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Protecting the exact chemical boundaries of our optimized quinary and senary refractory HEA spaces via </a:t>
                </a:r>
                <a:r>
                  <a:rPr lang="en-US" sz="900" b="0">
                    <a:solidFill>
                      <a:srgbClr val="1A365D"/>
                    </a:solidFill>
                    <a:latin typeface="Inter SemiBold"/>
                    <a:ea typeface="Inter SemiBold"/>
                    <a:cs typeface="Inter SemiBold"/>
                    <a:sym typeface="Inter SemiBold"/>
                  </a:rPr>
                  <a:t>composition patent filings</a:t>
                </a:r>
                <a:r>
                  <a:rPr lang="en-US" sz="900" b="0">
                    <a:solidFill>
                      <a:srgbClr val="111111"/>
                    </a:solidFill>
                    <a:latin typeface="Inter"/>
                    <a:ea typeface="Inter"/>
                    <a:cs typeface="Inter"/>
                    <a:sym typeface="Inter"/>
                  </a:rPr>
                  <a:t>.</a:t>
                </a:r>
                <a:endParaRPr sz="900" b="0">
                  <a:solidFill>
                    <a:srgbClr val="111111"/>
                  </a:solidFill>
                  <a:latin typeface="Inter"/>
                  <a:ea typeface="Inter"/>
                  <a:cs typeface="Inter"/>
                  <a:sym typeface="Inter"/>
                </a:endParaRPr>
              </a:p>
            </p:txBody>
          </p:sp>
        </p:grpSp>
        <p:grpSp>
          <p:nvGrpSpPr>
            <p:cNvPr id="462" name="Google Shape;462;p10"/>
            <p:cNvGrpSpPr/>
            <p:nvPr/>
          </p:nvGrpSpPr>
          <p:grpSpPr>
            <a:xfrm>
              <a:off x="4714875" y="2143125"/>
              <a:ext cx="4000500" cy="714300"/>
              <a:chOff x="4714875" y="2143125"/>
              <a:chExt cx="4000500" cy="714300"/>
            </a:xfrm>
          </p:grpSpPr>
          <p:sp>
            <p:nvSpPr>
              <p:cNvPr id="463" name="Google Shape;463;p10"/>
              <p:cNvSpPr/>
              <p:nvPr/>
            </p:nvSpPr>
            <p:spPr>
              <a:xfrm>
                <a:off x="4714875" y="214312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10"/>
              <p:cNvSpPr txBox="1"/>
              <p:nvPr/>
            </p:nvSpPr>
            <p:spPr>
              <a:xfrm>
                <a:off x="4714875" y="214312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Gradient Architecture Claims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Patenting the 11-layer power-law distribution profile (</a:t>
                </a:r>
                <a:r>
                  <a:rPr lang="en-US" sz="900" b="0">
                    <a:solidFill>
                      <a:srgbClr val="1A365D"/>
                    </a:solidFill>
                    <a:latin typeface="Inter SemiBold"/>
                    <a:ea typeface="Inter SemiBold"/>
                    <a:cs typeface="Inter SemiBold"/>
                    <a:sym typeface="Inter SemiBold"/>
                  </a:rPr>
                  <a:t>n=1.1</a:t>
                </a:r>
                <a:r>
                  <a:rPr lang="en-US" sz="900" b="0">
                    <a:solidFill>
                      <a:srgbClr val="111111"/>
                    </a:solidFill>
                    <a:latin typeface="Inter"/>
                    <a:ea typeface="Inter"/>
                    <a:cs typeface="Inter"/>
                    <a:sym typeface="Inter"/>
                  </a:rPr>
                  <a:t>) and the specific spatial arrangement of the co-deposited metal-ceramic transition zone.</a:t>
                </a:r>
                <a:endParaRPr sz="900" b="0">
                  <a:solidFill>
                    <a:srgbClr val="111111"/>
                  </a:solidFill>
                  <a:latin typeface="Inter"/>
                  <a:ea typeface="Inter"/>
                  <a:cs typeface="Inter"/>
                  <a:sym typeface="Inter"/>
                </a:endParaRPr>
              </a:p>
            </p:txBody>
          </p:sp>
        </p:grpSp>
        <p:grpSp>
          <p:nvGrpSpPr>
            <p:cNvPr id="465" name="Google Shape;465;p10"/>
            <p:cNvGrpSpPr/>
            <p:nvPr/>
          </p:nvGrpSpPr>
          <p:grpSpPr>
            <a:xfrm>
              <a:off x="4714875" y="2952750"/>
              <a:ext cx="4000500" cy="714300"/>
              <a:chOff x="4714875" y="2952750"/>
              <a:chExt cx="4000500" cy="714300"/>
            </a:xfrm>
          </p:grpSpPr>
          <p:sp>
            <p:nvSpPr>
              <p:cNvPr id="466" name="Google Shape;466;p10"/>
              <p:cNvSpPr/>
              <p:nvPr/>
            </p:nvSpPr>
            <p:spPr>
              <a:xfrm>
                <a:off x="4714875" y="295275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10"/>
              <p:cNvSpPr txBox="1"/>
              <p:nvPr/>
            </p:nvSpPr>
            <p:spPr>
              <a:xfrm>
                <a:off x="4714875" y="295275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Process Recipe Protections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Filing defensive patents covering the multi-hopper powder feeding conditions, operational pressure fields, and geometric turbine casing constraints.</a:t>
                </a:r>
                <a:endParaRPr sz="900" b="0">
                  <a:solidFill>
                    <a:srgbClr val="111111"/>
                  </a:solidFill>
                  <a:latin typeface="Inter"/>
                  <a:ea typeface="Inter"/>
                  <a:cs typeface="Inter"/>
                  <a:sym typeface="Inter"/>
                </a:endParaRPr>
              </a:p>
            </p:txBody>
          </p:sp>
        </p:grpSp>
        <p:grpSp>
          <p:nvGrpSpPr>
            <p:cNvPr id="468" name="Google Shape;468;p10"/>
            <p:cNvGrpSpPr/>
            <p:nvPr/>
          </p:nvGrpSpPr>
          <p:grpSpPr>
            <a:xfrm>
              <a:off x="4714875" y="3762375"/>
              <a:ext cx="4000500" cy="714300"/>
              <a:chOff x="4714875" y="3762375"/>
              <a:chExt cx="4000500" cy="714300"/>
            </a:xfrm>
          </p:grpSpPr>
          <p:sp>
            <p:nvSpPr>
              <p:cNvPr id="469" name="Google Shape;469;p10"/>
              <p:cNvSpPr/>
              <p:nvPr/>
            </p:nvSpPr>
            <p:spPr>
              <a:xfrm>
                <a:off x="4714875" y="376237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10"/>
              <p:cNvSpPr txBox="1"/>
              <p:nvPr/>
            </p:nvSpPr>
            <p:spPr>
              <a:xfrm>
                <a:off x="4714875" y="376237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Data Moat &amp; Trade Secrets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Securing the proprietary </a:t>
                </a:r>
                <a:r>
                  <a:rPr lang="en-US" sz="900" b="0">
                    <a:solidFill>
                      <a:srgbClr val="1A365D"/>
                    </a:solidFill>
                    <a:latin typeface="Inter SemiBold"/>
                    <a:ea typeface="Inter SemiBold"/>
                    <a:cs typeface="Inter SemiBold"/>
                    <a:sym typeface="Inter SemiBold"/>
                  </a:rPr>
                  <a:t>surrogate model weights</a:t>
                </a:r>
                <a:r>
                  <a:rPr lang="en-US" sz="900" b="0">
                    <a:solidFill>
                      <a:srgbClr val="111111"/>
                    </a:solidFill>
                    <a:latin typeface="Inter"/>
                    <a:ea typeface="Inter"/>
                    <a:cs typeface="Inter"/>
                    <a:sym typeface="Inter"/>
                  </a:rPr>
                  <a:t> and the unreduced multi-physics training datasets that anchor our optimization runs.</a:t>
                </a:r>
                <a:endParaRPr sz="900" b="0">
                  <a:solidFill>
                    <a:srgbClr val="111111"/>
                  </a:solidFill>
                  <a:latin typeface="Inter"/>
                  <a:ea typeface="Inter"/>
                  <a:cs typeface="Inter"/>
                  <a:sym typeface="Inte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grpSp>
        <p:nvGrpSpPr>
          <p:cNvPr id="476" name="Google Shape;476;p11"/>
          <p:cNvGrpSpPr/>
          <p:nvPr/>
        </p:nvGrpSpPr>
        <p:grpSpPr>
          <a:xfrm>
            <a:off x="428625" y="428625"/>
            <a:ext cx="8286900" cy="4286250"/>
            <a:chOff x="428625" y="428625"/>
            <a:chExt cx="8286900" cy="4286250"/>
          </a:xfrm>
        </p:grpSpPr>
        <p:sp>
          <p:nvSpPr>
            <p:cNvPr id="477" name="Google Shape;477;p11"/>
            <p:cNvSpPr/>
            <p:nvPr/>
          </p:nvSpPr>
          <p:spPr>
            <a:xfrm>
              <a:off x="428625" y="1190625"/>
              <a:ext cx="82869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8" name="Google Shape;478;p11"/>
            <p:cNvGrpSpPr/>
            <p:nvPr/>
          </p:nvGrpSpPr>
          <p:grpSpPr>
            <a:xfrm>
              <a:off x="428625" y="428625"/>
              <a:ext cx="8286900" cy="714450"/>
              <a:chOff x="428625" y="428625"/>
              <a:chExt cx="8286900" cy="714450"/>
            </a:xfrm>
          </p:grpSpPr>
          <p:sp>
            <p:nvSpPr>
              <p:cNvPr id="479" name="Google Shape;479;p11"/>
              <p:cNvSpPr txBox="1"/>
              <p:nvPr/>
            </p:nvSpPr>
            <p:spPr>
              <a:xfrm>
                <a:off x="428625" y="4286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1A365D"/>
                    </a:solidFill>
                    <a:latin typeface="Space Grotesk"/>
                    <a:ea typeface="Space Grotesk"/>
                    <a:cs typeface="Space Grotesk"/>
                    <a:sym typeface="Space Grotesk"/>
                  </a:rPr>
                  <a:t>BUSINESS MODEL AND ASK</a:t>
                </a:r>
                <a:endParaRPr sz="2800" b="1">
                  <a:solidFill>
                    <a:srgbClr val="1A365D"/>
                  </a:solidFill>
                  <a:latin typeface="Space Grotesk"/>
                  <a:ea typeface="Space Grotesk"/>
                  <a:cs typeface="Space Grotesk"/>
                  <a:sym typeface="Space Grotesk"/>
                </a:endParaRPr>
              </a:p>
            </p:txBody>
          </p:sp>
          <p:sp>
            <p:nvSpPr>
              <p:cNvPr id="480" name="Google Shape;480;p11"/>
              <p:cNvSpPr txBox="1"/>
              <p:nvPr/>
            </p:nvSpPr>
            <p:spPr>
              <a:xfrm>
                <a:off x="428625" y="904875"/>
                <a:ext cx="8286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What We Bring and What We Need from SCIDIP</a:t>
                </a:r>
                <a:endParaRPr sz="1200" b="0">
                  <a:solidFill>
                    <a:srgbClr val="2BDEFD"/>
                  </a:solidFill>
                  <a:latin typeface="Space Grotesk SemiBold"/>
                  <a:ea typeface="Space Grotesk SemiBold"/>
                  <a:cs typeface="Space Grotesk SemiBold"/>
                  <a:sym typeface="Space Grotesk SemiBold"/>
                </a:endParaRPr>
              </a:p>
            </p:txBody>
          </p:sp>
        </p:grpSp>
        <p:grpSp>
          <p:nvGrpSpPr>
            <p:cNvPr id="481" name="Google Shape;481;p11"/>
            <p:cNvGrpSpPr/>
            <p:nvPr/>
          </p:nvGrpSpPr>
          <p:grpSpPr>
            <a:xfrm>
              <a:off x="619125" y="1333500"/>
              <a:ext cx="3619500" cy="809625"/>
              <a:chOff x="619125" y="1333500"/>
              <a:chExt cx="3619500" cy="809625"/>
            </a:xfrm>
          </p:grpSpPr>
          <p:sp>
            <p:nvSpPr>
              <p:cNvPr id="482" name="Google Shape;482;p11"/>
              <p:cNvSpPr txBox="1"/>
              <p:nvPr/>
            </p:nvSpPr>
            <p:spPr>
              <a:xfrm>
                <a:off x="61912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Project Structure</a:t>
                </a:r>
                <a:endParaRPr sz="1000" b="1">
                  <a:solidFill>
                    <a:srgbClr val="1A365D"/>
                  </a:solidFill>
                  <a:latin typeface="Space Grotesk"/>
                  <a:ea typeface="Space Grotesk"/>
                  <a:cs typeface="Space Grotesk"/>
                  <a:sym typeface="Space Grotesk"/>
                </a:endParaRPr>
              </a:p>
            </p:txBody>
          </p:sp>
          <p:sp>
            <p:nvSpPr>
              <p:cNvPr id="483" name="Google Shape;483;p11"/>
              <p:cNvSpPr txBox="1"/>
              <p:nvPr/>
            </p:nvSpPr>
            <p:spPr>
              <a:xfrm>
                <a:off x="61912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Incubation ask: Access to IIT Delhi's advanced characterization labs and Sona Comstar's industry mentorship.</a:t>
                </a:r>
                <a:endParaRPr sz="900" b="0">
                  <a:solidFill>
                    <a:srgbClr val="475569"/>
                  </a:solidFill>
                  <a:latin typeface="Inter"/>
                  <a:ea typeface="Inter"/>
                  <a:cs typeface="Inter"/>
                  <a:sym typeface="Inter"/>
                </a:endParaRPr>
              </a:p>
            </p:txBody>
          </p:sp>
        </p:grpSp>
        <p:grpSp>
          <p:nvGrpSpPr>
            <p:cNvPr id="484" name="Google Shape;484;p11"/>
            <p:cNvGrpSpPr/>
            <p:nvPr/>
          </p:nvGrpSpPr>
          <p:grpSpPr>
            <a:xfrm>
              <a:off x="4905375" y="1333500"/>
              <a:ext cx="3619500" cy="809625"/>
              <a:chOff x="4905375" y="1333500"/>
              <a:chExt cx="3619500" cy="809625"/>
            </a:xfrm>
          </p:grpSpPr>
          <p:sp>
            <p:nvSpPr>
              <p:cNvPr id="485" name="Google Shape;485;p11"/>
              <p:cNvSpPr txBox="1"/>
              <p:nvPr/>
            </p:nvSpPr>
            <p:spPr>
              <a:xfrm>
                <a:off x="490537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Success Criteria</a:t>
                </a:r>
                <a:endParaRPr sz="1000" b="1">
                  <a:solidFill>
                    <a:srgbClr val="1A365D"/>
                  </a:solidFill>
                  <a:latin typeface="Space Grotesk"/>
                  <a:ea typeface="Space Grotesk"/>
                  <a:cs typeface="Space Grotesk"/>
                  <a:sym typeface="Space Grotesk"/>
                </a:endParaRPr>
              </a:p>
            </p:txBody>
          </p:sp>
          <p:sp>
            <p:nvSpPr>
              <p:cNvPr id="486" name="Google Shape;486;p11"/>
              <p:cNvSpPr txBox="1"/>
              <p:nvPr/>
            </p:nvSpPr>
            <p:spPr>
              <a:xfrm>
                <a:off x="490537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Zero interface delamination under burner rig testing and verification of a physical </a:t>
                </a:r>
                <a:r>
                  <a:rPr lang="en-US" sz="900" b="1">
                    <a:solidFill>
                      <a:srgbClr val="1A365D"/>
                    </a:solidFill>
                    <a:latin typeface="Inter"/>
                    <a:ea typeface="Inter"/>
                    <a:cs typeface="Inter"/>
                    <a:sym typeface="Inter"/>
                  </a:rPr>
                  <a:t>Safety Factor ≥ 1.50</a:t>
                </a:r>
                <a:r>
                  <a:rPr lang="en-US" sz="900" b="0">
                    <a:solidFill>
                      <a:srgbClr val="475569"/>
                    </a:solidFill>
                    <a:latin typeface="Inter"/>
                    <a:ea typeface="Inter"/>
                    <a:cs typeface="Inter"/>
                    <a:sym typeface="Inter"/>
                  </a:rPr>
                  <a:t>.</a:t>
                </a:r>
                <a:endParaRPr sz="900" b="0">
                  <a:solidFill>
                    <a:srgbClr val="475569"/>
                  </a:solidFill>
                  <a:latin typeface="Inter"/>
                  <a:ea typeface="Inter"/>
                  <a:cs typeface="Inter"/>
                  <a:sym typeface="Inter"/>
                </a:endParaRPr>
              </a:p>
            </p:txBody>
          </p:sp>
        </p:grpSp>
        <p:grpSp>
          <p:nvGrpSpPr>
            <p:cNvPr id="487" name="Google Shape;487;p11"/>
            <p:cNvGrpSpPr/>
            <p:nvPr/>
          </p:nvGrpSpPr>
          <p:grpSpPr>
            <a:xfrm>
              <a:off x="428625" y="2381250"/>
              <a:ext cx="8286900" cy="2000250"/>
              <a:chOff x="428625" y="2381250"/>
              <a:chExt cx="8286900" cy="2000250"/>
            </a:xfrm>
          </p:grpSpPr>
          <p:sp>
            <p:nvSpPr>
              <p:cNvPr id="488" name="Google Shape;488;p11"/>
              <p:cNvSpPr/>
              <p:nvPr/>
            </p:nvSpPr>
            <p:spPr>
              <a:xfrm>
                <a:off x="428625" y="2381250"/>
                <a:ext cx="8286900" cy="381000"/>
              </a:xfrm>
              <a:prstGeom prst="roundRect">
                <a:avLst>
                  <a:gd name="adj" fmla="val 1000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428625" y="2381250"/>
                <a:ext cx="19050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Collaborative Phase</a:t>
                </a:r>
                <a:endParaRPr sz="900" b="1">
                  <a:solidFill>
                    <a:srgbClr val="FFFFFF"/>
                  </a:solidFill>
                  <a:latin typeface="Space Grotesk"/>
                  <a:ea typeface="Space Grotesk"/>
                  <a:cs typeface="Space Grotesk"/>
                  <a:sym typeface="Space Grotesk"/>
                </a:endParaRPr>
              </a:p>
            </p:txBody>
          </p:sp>
          <p:sp>
            <p:nvSpPr>
              <p:cNvPr id="490" name="Google Shape;490;p11"/>
              <p:cNvSpPr txBox="1"/>
              <p:nvPr/>
            </p:nvSpPr>
            <p:spPr>
              <a:xfrm>
                <a:off x="2333625"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Crystal Paradigm Delivers</a:t>
                </a:r>
                <a:endParaRPr sz="900" b="1">
                  <a:solidFill>
                    <a:srgbClr val="FFFFFF"/>
                  </a:solidFill>
                  <a:latin typeface="Space Grotesk"/>
                  <a:ea typeface="Space Grotesk"/>
                  <a:cs typeface="Space Grotesk"/>
                  <a:sym typeface="Space Grotesk"/>
                </a:endParaRPr>
              </a:p>
            </p:txBody>
          </p:sp>
          <p:sp>
            <p:nvSpPr>
              <p:cNvPr id="491" name="Google Shape;491;p11"/>
              <p:cNvSpPr txBox="1"/>
              <p:nvPr/>
            </p:nvSpPr>
            <p:spPr>
              <a:xfrm>
                <a:off x="5524500"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What We Need from SCIDIP</a:t>
                </a:r>
                <a:endParaRPr sz="900" b="1">
                  <a:solidFill>
                    <a:srgbClr val="FFFFFF"/>
                  </a:solidFill>
                  <a:latin typeface="Space Grotesk"/>
                  <a:ea typeface="Space Grotesk"/>
                  <a:cs typeface="Space Grotesk"/>
                  <a:sym typeface="Space Grotesk"/>
                </a:endParaRPr>
              </a:p>
            </p:txBody>
          </p:sp>
          <p:grpSp>
            <p:nvGrpSpPr>
              <p:cNvPr id="492" name="Google Shape;492;p11"/>
              <p:cNvGrpSpPr/>
              <p:nvPr/>
            </p:nvGrpSpPr>
            <p:grpSpPr>
              <a:xfrm>
                <a:off x="428625" y="2809875"/>
                <a:ext cx="8286900" cy="762000"/>
                <a:chOff x="428625" y="2809875"/>
                <a:chExt cx="8286900" cy="762000"/>
              </a:xfrm>
            </p:grpSpPr>
            <p:sp>
              <p:nvSpPr>
                <p:cNvPr id="493" name="Google Shape;493;p11"/>
                <p:cNvSpPr/>
                <p:nvPr/>
              </p:nvSpPr>
              <p:spPr>
                <a:xfrm>
                  <a:off x="428625" y="2809875"/>
                  <a:ext cx="8286900" cy="762000"/>
                </a:xfrm>
                <a:prstGeom prst="roundRect">
                  <a:avLst>
                    <a:gd name="adj" fmla="val 5000"/>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11"/>
                <p:cNvSpPr txBox="1"/>
                <p:nvPr/>
              </p:nvSpPr>
              <p:spPr>
                <a:xfrm>
                  <a:off x="428625" y="2809875"/>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1:</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Shared POC Sprint</a:t>
                  </a:r>
                  <a:endParaRPr sz="900">
                    <a:solidFill>
                      <a:srgbClr val="1A365D"/>
                    </a:solidFill>
                    <a:latin typeface="Inter"/>
                    <a:ea typeface="Inter"/>
                    <a:cs typeface="Inter"/>
                    <a:sym typeface="Inter"/>
                  </a:endParaRPr>
                </a:p>
              </p:txBody>
            </p:sp>
            <p:sp>
              <p:nvSpPr>
                <p:cNvPr id="495" name="Google Shape;495;p11"/>
                <p:cNvSpPr txBox="1"/>
                <p:nvPr/>
              </p:nvSpPr>
              <p:spPr>
                <a:xfrm>
                  <a:off x="2333625"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Deliver production-ready AI models, complete multi-physics validation, and provide all digital twin data.</a:t>
                  </a:r>
                  <a:endParaRPr sz="850">
                    <a:solidFill>
                      <a:srgbClr val="475569"/>
                    </a:solidFill>
                    <a:latin typeface="Inter"/>
                    <a:ea typeface="Inter"/>
                    <a:cs typeface="Inter"/>
                    <a:sym typeface="Inter"/>
                  </a:endParaRPr>
                </a:p>
              </p:txBody>
            </p:sp>
            <p:sp>
              <p:nvSpPr>
                <p:cNvPr id="496" name="Google Shape;496;p11"/>
                <p:cNvSpPr txBox="1"/>
                <p:nvPr/>
              </p:nvSpPr>
              <p:spPr>
                <a:xfrm>
                  <a:off x="5524500"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IIT Delhi HPC resources and faculty mentorship on materials characterization methodology.</a:t>
                  </a:r>
                  <a:endParaRPr sz="850">
                    <a:solidFill>
                      <a:srgbClr val="475569"/>
                    </a:solidFill>
                    <a:latin typeface="Inter"/>
                    <a:ea typeface="Inter"/>
                    <a:cs typeface="Inter"/>
                    <a:sym typeface="Inter"/>
                  </a:endParaRPr>
                </a:p>
              </p:txBody>
            </p:sp>
          </p:grpSp>
          <p:grpSp>
            <p:nvGrpSpPr>
              <p:cNvPr id="497" name="Google Shape;497;p11"/>
              <p:cNvGrpSpPr/>
              <p:nvPr/>
            </p:nvGrpSpPr>
            <p:grpSpPr>
              <a:xfrm>
                <a:off x="428625" y="3619500"/>
                <a:ext cx="8286900" cy="762000"/>
                <a:chOff x="428625" y="3619500"/>
                <a:chExt cx="8286900" cy="762000"/>
              </a:xfrm>
            </p:grpSpPr>
            <p:sp>
              <p:nvSpPr>
                <p:cNvPr id="498" name="Google Shape;498;p11"/>
                <p:cNvSpPr/>
                <p:nvPr/>
              </p:nvSpPr>
              <p:spPr>
                <a:xfrm>
                  <a:off x="428625" y="3619500"/>
                  <a:ext cx="8286900" cy="762000"/>
                </a:xfrm>
                <a:prstGeom prst="roundRect">
                  <a:avLst>
                    <a:gd name="adj" fmla="val 5000"/>
                  </a:avLst>
                </a:prstGeom>
                <a:solidFill>
                  <a:srgbClr val="FFFFFF"/>
                </a:solidFill>
                <a:ln w="9525"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428625" y="3619500"/>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2:</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Scale-Out JDA</a:t>
                  </a:r>
                  <a:endParaRPr sz="900">
                    <a:solidFill>
                      <a:srgbClr val="1A365D"/>
                    </a:solidFill>
                    <a:latin typeface="Inter"/>
                    <a:ea typeface="Inter"/>
                    <a:cs typeface="Inter"/>
                    <a:sym typeface="Inter"/>
                  </a:endParaRPr>
                </a:p>
              </p:txBody>
            </p:sp>
            <p:sp>
              <p:nvSpPr>
                <p:cNvPr id="500" name="Google Shape;500;p11"/>
                <p:cNvSpPr txBox="1"/>
                <p:nvPr/>
              </p:nvSpPr>
              <p:spPr>
                <a:xfrm>
                  <a:off x="2333625"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Provide 11-layer FGM manufacturing recipes and oversee coupon fabrication &amp; validation.</a:t>
                  </a:r>
                  <a:endParaRPr sz="850">
                    <a:solidFill>
                      <a:srgbClr val="475569"/>
                    </a:solidFill>
                    <a:latin typeface="Inter"/>
                    <a:ea typeface="Inter"/>
                    <a:cs typeface="Inter"/>
                    <a:sym typeface="Inter"/>
                  </a:endParaRPr>
                </a:p>
              </p:txBody>
            </p:sp>
            <p:sp>
              <p:nvSpPr>
                <p:cNvPr id="501" name="Google Shape;501;p11"/>
                <p:cNvSpPr txBox="1"/>
                <p:nvPr/>
              </p:nvSpPr>
              <p:spPr>
                <a:xfrm>
                  <a:off x="5524500"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high-temperature burner rigs, LENS/DED labs, SEM/EDS/XRD equipment, and TGA facilities.</a:t>
                  </a:r>
                  <a:endParaRPr sz="850">
                    <a:solidFill>
                      <a:srgbClr val="475569"/>
                    </a:solidFill>
                    <a:latin typeface="Inter"/>
                    <a:ea typeface="Inter"/>
                    <a:cs typeface="Inter"/>
                    <a:sym typeface="Inter"/>
                  </a:endParaRPr>
                </a:p>
              </p:txBody>
            </p:sp>
          </p:grpSp>
        </p:grpSp>
        <p:sp>
          <p:nvSpPr>
            <p:cNvPr id="502" name="Google Shape;502;p11"/>
            <p:cNvSpPr txBox="1"/>
            <p:nvPr/>
          </p:nvSpPr>
          <p:spPr>
            <a:xfrm>
              <a:off x="428625" y="4524375"/>
              <a:ext cx="8286900" cy="190500"/>
            </a:xfrm>
            <a:prstGeom prst="rect">
              <a:avLst/>
            </a:prstGeom>
            <a:noFill/>
            <a:ln>
              <a:noFill/>
            </a:ln>
          </p:spPr>
          <p:txBody>
            <a:bodyPr spcFirstLastPara="1" wrap="square" lIns="190500" tIns="0" rIns="0" bIns="0" anchor="t" anchorCtr="0">
              <a:noAutofit/>
            </a:bodyPr>
            <a:lstStyle/>
            <a:p>
              <a:pPr marL="0" lvl="0" indent="0" algn="l" rtl="0">
                <a:spcBef>
                  <a:spcPts val="0"/>
                </a:spcBef>
                <a:spcAft>
                  <a:spcPts val="0"/>
                </a:spcAft>
                <a:buNone/>
              </a:pPr>
              <a:r>
                <a:rPr lang="en-US" sz="750" b="0">
                  <a:solidFill>
                    <a:srgbClr val="94A3B8"/>
                  </a:solidFill>
                  <a:latin typeface="Inter"/>
                  <a:ea typeface="Inter"/>
                  <a:cs typeface="Inter"/>
                  <a:sym typeface="Inter"/>
                </a:rPr>
                <a:t>*Transitioning to a structured technology licensing model upon POC validation. Platform Application: Precision Forging, EV Thermal Management, and Railway Systems.</a:t>
              </a:r>
              <a:endParaRPr sz="750" b="0">
                <a:solidFill>
                  <a:srgbClr val="94A3B8"/>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2" descr="preencoded.png"/>
          <p:cNvPicPr preferRelativeResize="0"/>
          <p:nvPr/>
        </p:nvPicPr>
        <p:blipFill rotWithShape="1">
          <a:blip r:embed="rId3">
            <a:alphaModFix/>
          </a:blip>
          <a:srcRect/>
          <a:stretch/>
        </p:blipFill>
        <p:spPr>
          <a:xfrm>
            <a:off x="-52775" y="0"/>
            <a:ext cx="9144000" cy="5413483"/>
          </a:xfrm>
          <a:prstGeom prst="rect">
            <a:avLst/>
          </a:prstGeom>
          <a:noFill/>
          <a:ln>
            <a:noFill/>
          </a:ln>
        </p:spPr>
      </p:pic>
      <p:sp>
        <p:nvSpPr>
          <p:cNvPr id="509" name="Google Shape;509;p12"/>
          <p:cNvSpPr/>
          <p:nvPr/>
        </p:nvSpPr>
        <p:spPr>
          <a:xfrm>
            <a:off x="518725" y="180432"/>
            <a:ext cx="8001000"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dirty="0">
                <a:solidFill>
                  <a:srgbClr val="1A365D"/>
                </a:solidFill>
                <a:latin typeface="Space Grotesk SemiBold"/>
                <a:ea typeface="Space Grotesk SemiBold"/>
                <a:cs typeface="Space Grotesk SemiBold"/>
                <a:sym typeface="Space Grotesk SemiBold"/>
              </a:rPr>
              <a:t>CLOSING &amp; </a:t>
            </a:r>
            <a:r>
              <a:rPr lang="en-US" sz="2450" b="1" dirty="0">
                <a:solidFill>
                  <a:srgbClr val="1A365D"/>
                </a:solidFill>
                <a:latin typeface="Space Grotesk SemiBold"/>
                <a:ea typeface="Space Grotesk SemiBold"/>
                <a:cs typeface="Space Grotesk SemiBold"/>
                <a:sym typeface="Space Grotesk SemiBold"/>
              </a:rPr>
              <a:t>COLLABORATION ROADMAP</a:t>
            </a:r>
            <a:endParaRPr sz="2450" b="0" i="0" u="none" strike="noStrike" cap="none" dirty="0">
              <a:solidFill>
                <a:schemeClr val="dk1"/>
              </a:solidFill>
              <a:latin typeface="Calibri"/>
              <a:ea typeface="Calibri"/>
              <a:cs typeface="Calibri"/>
              <a:sym typeface="Calibri"/>
            </a:endParaRPr>
          </a:p>
        </p:txBody>
      </p:sp>
      <p:sp>
        <p:nvSpPr>
          <p:cNvPr id="510" name="Google Shape;510;p12"/>
          <p:cNvSpPr/>
          <p:nvPr/>
        </p:nvSpPr>
        <p:spPr>
          <a:xfrm>
            <a:off x="650625"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Why Us, Why Now</a:t>
            </a:r>
            <a:endParaRPr b="0" i="0" u="none" strike="noStrike" cap="none" dirty="0">
              <a:solidFill>
                <a:schemeClr val="dk1"/>
              </a:solidFill>
              <a:latin typeface="Calibri"/>
              <a:ea typeface="Calibri"/>
              <a:cs typeface="Calibri"/>
              <a:sym typeface="Calibri"/>
            </a:endParaRPr>
          </a:p>
        </p:txBody>
      </p:sp>
      <p:sp>
        <p:nvSpPr>
          <p:cNvPr id="511" name="Google Shape;511;p12"/>
          <p:cNvSpPr/>
          <p:nvPr/>
        </p:nvSpPr>
        <p:spPr>
          <a:xfrm>
            <a:off x="650625" y="1108868"/>
            <a:ext cx="3686100" cy="618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1000">
                <a:highlight>
                  <a:srgbClr val="FFFFFF"/>
                </a:highlight>
              </a:rPr>
              <a:t>We have successfully engineered a constrained 9-element RHEA+FGM system achieving a 3D-validated aerospace Safety Factor of 1.71 and an oxidation mass gain of just 7.5 mg/cm² - computationally clearing the 1.50 airworthiness threshold while reducing Hafnium exposure by &gt;75%. We are ready to transition from digital twin to physical test.</a:t>
            </a:r>
            <a:r>
              <a:rPr lang="en-US" sz="1100">
                <a:solidFill>
                  <a:schemeClr val="dk1"/>
                </a:solidFill>
              </a:rPr>
              <a:t> </a:t>
            </a:r>
            <a:endParaRPr sz="850" b="0" i="0" u="none" strike="noStrike" cap="none">
              <a:highlight>
                <a:srgbClr val="000000"/>
              </a:highlight>
              <a:latin typeface="Calibri"/>
              <a:ea typeface="Calibri"/>
              <a:cs typeface="Calibri"/>
              <a:sym typeface="Calibri"/>
            </a:endParaRPr>
          </a:p>
        </p:txBody>
      </p:sp>
      <p:sp>
        <p:nvSpPr>
          <p:cNvPr id="512" name="Google Shape;512;p12"/>
          <p:cNvSpPr/>
          <p:nvPr/>
        </p:nvSpPr>
        <p:spPr>
          <a:xfrm>
            <a:off x="4818150"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The Crystal Paradigm Team</a:t>
            </a:r>
            <a:endParaRPr b="0" i="0" u="none" strike="noStrike" cap="none" dirty="0">
              <a:solidFill>
                <a:schemeClr val="dk1"/>
              </a:solidFill>
              <a:latin typeface="Calibri"/>
              <a:ea typeface="Calibri"/>
              <a:cs typeface="Calibri"/>
              <a:sym typeface="Calibri"/>
            </a:endParaRPr>
          </a:p>
        </p:txBody>
      </p:sp>
      <p:sp>
        <p:nvSpPr>
          <p:cNvPr id="513" name="Google Shape;513;p12"/>
          <p:cNvSpPr/>
          <p:nvPr/>
        </p:nvSpPr>
        <p:spPr>
          <a:xfrm>
            <a:off x="4870925" y="955653"/>
            <a:ext cx="4058100" cy="1944378"/>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000" b="1" dirty="0">
                <a:highlight>
                  <a:srgbClr val="FFFFFF"/>
                </a:highlight>
              </a:rPr>
              <a:t>Our scientific foundation is anchored by top-tier mentors, including Dr. Shilpa Choudhary (Stanford Top 2% Scientist, 16+ yrs AI) and Dr. </a:t>
            </a:r>
            <a:r>
              <a:rPr lang="en-US" sz="1000" b="1" dirty="0" err="1">
                <a:highlight>
                  <a:srgbClr val="FFFFFF"/>
                </a:highlight>
              </a:rPr>
              <a:t>Kasarapu</a:t>
            </a:r>
            <a:r>
              <a:rPr lang="en-US" sz="1000" b="1" dirty="0">
                <a:highlight>
                  <a:srgbClr val="FFFFFF"/>
                </a:highlight>
              </a:rPr>
              <a:t> Venkataramana (CSIR-IICT, 12+ yrs materials science). </a:t>
            </a:r>
            <a:r>
              <a:rPr lang="en-US" sz="1000" dirty="0">
                <a:highlight>
                  <a:srgbClr val="FFFFFF"/>
                </a:highlight>
              </a:rPr>
              <a:t>The rapid technical execution and day-to-day innovation are driven by our core team of undergraduate AI Research Interns and applied engineering specialists. Together, we build high-throughput data pipelines, multi-physics simulations, and ML/AutoML workflows under structured, expert oversight.</a:t>
            </a:r>
            <a:r>
              <a:rPr lang="en-US" sz="1100" dirty="0">
                <a:highlight>
                  <a:srgbClr val="FFFFFF"/>
                </a:highlight>
              </a:rPr>
              <a:t> </a:t>
            </a:r>
            <a:endParaRPr sz="1100" dirty="0">
              <a:highlight>
                <a:srgbClr val="FFFFFF"/>
              </a:highlight>
            </a:endParaRPr>
          </a:p>
          <a:p>
            <a:pPr marL="0" marR="0" lvl="0" indent="0" algn="l" rtl="0">
              <a:lnSpc>
                <a:spcPct val="120000"/>
              </a:lnSpc>
              <a:spcBef>
                <a:spcPts val="1200"/>
              </a:spcBef>
              <a:spcAft>
                <a:spcPts val="0"/>
              </a:spcAft>
              <a:buClr>
                <a:srgbClr val="111111"/>
              </a:buClr>
              <a:buSzPts val="850"/>
              <a:buFont typeface="Inter"/>
              <a:buNone/>
            </a:pPr>
            <a:endParaRPr sz="1100" dirty="0">
              <a:solidFill>
                <a:srgbClr val="1F1F1F"/>
              </a:solidFill>
            </a:endParaRPr>
          </a:p>
        </p:txBody>
      </p:sp>
      <p:sp>
        <p:nvSpPr>
          <p:cNvPr id="514" name="Google Shape;514;p12"/>
          <p:cNvSpPr/>
          <p:nvPr/>
        </p:nvSpPr>
        <p:spPr>
          <a:xfrm>
            <a:off x="491450" y="2482086"/>
            <a:ext cx="8001000" cy="21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b="1" dirty="0">
                <a:solidFill>
                  <a:srgbClr val="2BDEFD"/>
                </a:solidFill>
                <a:highlight>
                  <a:srgbClr val="FFFFFF"/>
                </a:highlight>
                <a:latin typeface="Courier New"/>
                <a:ea typeface="Courier New"/>
                <a:cs typeface="Courier New"/>
                <a:sym typeface="Courier New"/>
              </a:rPr>
              <a:t>SCIDIP Collaboration Ask:</a:t>
            </a:r>
            <a:r>
              <a:rPr lang="en-US" sz="1200" dirty="0">
                <a:solidFill>
                  <a:srgbClr val="4A86E8"/>
                </a:solidFill>
                <a:highlight>
                  <a:srgbClr val="F0FDF4"/>
                </a:highlight>
              </a:rPr>
              <a:t> </a:t>
            </a:r>
            <a:endParaRPr sz="1200" b="0" i="0" u="none" strike="noStrike" cap="none" dirty="0">
              <a:solidFill>
                <a:srgbClr val="4A86E8"/>
              </a:solidFill>
              <a:highlight>
                <a:srgbClr val="F0FDF4"/>
              </a:highlight>
              <a:latin typeface="Calibri"/>
              <a:ea typeface="Calibri"/>
              <a:cs typeface="Calibri"/>
              <a:sym typeface="Calibri"/>
            </a:endParaRPr>
          </a:p>
        </p:txBody>
      </p:sp>
      <p:sp>
        <p:nvSpPr>
          <p:cNvPr id="515" name="Google Shape;515;p12"/>
          <p:cNvSpPr/>
          <p:nvPr/>
        </p:nvSpPr>
        <p:spPr>
          <a:xfrm>
            <a:off x="571500" y="2807494"/>
            <a:ext cx="8001000" cy="14288"/>
          </a:xfrm>
          <a:prstGeom prst="rect">
            <a:avLst/>
          </a:prstGeom>
          <a:solidFill>
            <a:srgbClr val="E2E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2"/>
          <p:cNvSpPr/>
          <p:nvPr/>
        </p:nvSpPr>
        <p:spPr>
          <a:xfrm>
            <a:off x="571500"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1. IIT Delhi CRF Access</a:t>
            </a:r>
            <a:endParaRPr sz="900" b="0" i="0" u="none" strike="noStrike" cap="none">
              <a:solidFill>
                <a:schemeClr val="dk1"/>
              </a:solidFill>
              <a:latin typeface="Calibri"/>
              <a:ea typeface="Calibri"/>
              <a:cs typeface="Calibri"/>
              <a:sym typeface="Calibri"/>
            </a:endParaRPr>
          </a:p>
        </p:txBody>
      </p:sp>
      <p:sp>
        <p:nvSpPr>
          <p:cNvPr id="517" name="Google Shape;517;p12"/>
          <p:cNvSpPr/>
          <p:nvPr/>
        </p:nvSpPr>
        <p:spPr>
          <a:xfrm>
            <a:off x="571500" y="3186113"/>
            <a:ext cx="2667000" cy="420000"/>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750">
                <a:highlight>
                  <a:srgbClr val="FFFFFF"/>
                </a:highlight>
              </a:rPr>
              <a:t>Specifically STA (1500°C), Tube Furnaces, XRD, and SEM/EDS for physical validation.</a:t>
            </a:r>
            <a:endParaRPr sz="750" i="0" u="none" strike="noStrike" cap="none">
              <a:highlight>
                <a:srgbClr val="FFFFFF"/>
              </a:highlight>
            </a:endParaRPr>
          </a:p>
        </p:txBody>
      </p:sp>
      <p:sp>
        <p:nvSpPr>
          <p:cNvPr id="518" name="Google Shape;518;p12"/>
          <p:cNvSpPr/>
          <p:nvPr/>
        </p:nvSpPr>
        <p:spPr>
          <a:xfrm>
            <a:off x="323849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2. Sona Comstar Technology Mentorship &amp; Market Connect</a:t>
            </a:r>
            <a:endParaRPr sz="900" b="0" i="0" u="none" strike="noStrike" cap="none">
              <a:solidFill>
                <a:schemeClr val="dk1"/>
              </a:solidFill>
              <a:latin typeface="Calibri"/>
              <a:ea typeface="Calibri"/>
              <a:cs typeface="Calibri"/>
              <a:sym typeface="Calibri"/>
            </a:endParaRPr>
          </a:p>
        </p:txBody>
      </p:sp>
      <p:sp>
        <p:nvSpPr>
          <p:cNvPr id="519" name="Google Shape;519;p12"/>
          <p:cNvSpPr/>
          <p:nvPr/>
        </p:nvSpPr>
        <p:spPr>
          <a:xfrm>
            <a:off x="3238491" y="3186113"/>
            <a:ext cx="2666991" cy="42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Industry mentorship and access to corporate market connect for downstream application mapping in precision forging, EV thermal management, and railway systems.</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0" name="Google Shape;520;p12"/>
          <p:cNvSpPr/>
          <p:nvPr/>
        </p:nvSpPr>
        <p:spPr>
          <a:xfrm>
            <a:off x="590548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a:solidFill>
                  <a:srgbClr val="1A365D"/>
                </a:solidFill>
                <a:latin typeface="Space Grotesk SemiBold"/>
                <a:ea typeface="Space Grotesk SemiBold"/>
                <a:cs typeface="Space Grotesk SemiBold"/>
                <a:sym typeface="Space Grotesk SemiBold"/>
              </a:rPr>
              <a:t>3. SCIDIP Grant Support</a:t>
            </a:r>
            <a:endParaRPr sz="900" b="0" i="0" u="none" strike="noStrike" cap="none">
              <a:solidFill>
                <a:schemeClr val="dk1"/>
              </a:solidFill>
              <a:latin typeface="Calibri"/>
              <a:ea typeface="Calibri"/>
              <a:cs typeface="Calibri"/>
              <a:sym typeface="Calibri"/>
            </a:endParaRPr>
          </a:p>
        </p:txBody>
      </p:sp>
      <p:sp>
        <p:nvSpPr>
          <p:cNvPr id="521" name="Google Shape;521;p12"/>
          <p:cNvSpPr/>
          <p:nvPr/>
        </p:nvSpPr>
        <p:spPr>
          <a:xfrm>
            <a:off x="5905481" y="3186113"/>
            <a:ext cx="2666991" cy="28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To fabricate initial FGM witness coupons and execute TRL 4 validation.</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2" name="Google Shape;522;p12"/>
          <p:cNvSpPr/>
          <p:nvPr/>
        </p:nvSpPr>
        <p:spPr>
          <a:xfrm>
            <a:off x="0" y="4034740"/>
            <a:ext cx="9144000" cy="1378744"/>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2"/>
          <p:cNvSpPr/>
          <p:nvPr/>
        </p:nvSpPr>
        <p:spPr>
          <a:xfrm>
            <a:off x="-52775" y="4236400"/>
            <a:ext cx="8693700" cy="420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1250"/>
              <a:buFont typeface="Space Grotesk SemiBold"/>
              <a:buNone/>
            </a:pPr>
            <a:r>
              <a:rPr lang="en-US" sz="1250" b="0" i="0" u="none" strike="noStrike" cap="none">
                <a:solidFill>
                  <a:srgbClr val="FFFFFF"/>
                </a:solidFill>
                <a:latin typeface="Space Grotesk SemiBold"/>
                <a:ea typeface="Space Grotesk SemiBold"/>
                <a:cs typeface="Space Grotesk SemiBold"/>
                <a:sym typeface="Space Grotesk SemiBold"/>
              </a:rPr>
              <a:t>From computational design to physical validation — in advanced mobility and aerospace.</a:t>
            </a:r>
            <a:endParaRPr sz="1250" b="0" i="0" u="none" strike="noStrike" cap="none">
              <a:solidFill>
                <a:schemeClr val="dk1"/>
              </a:solidFill>
              <a:latin typeface="Calibri"/>
              <a:ea typeface="Calibri"/>
              <a:cs typeface="Calibri"/>
              <a:sym typeface="Calibri"/>
            </a:endParaRPr>
          </a:p>
        </p:txBody>
      </p:sp>
      <p:sp>
        <p:nvSpPr>
          <p:cNvPr id="524" name="Google Shape;524;p12"/>
          <p:cNvSpPr/>
          <p:nvPr/>
        </p:nvSpPr>
        <p:spPr>
          <a:xfrm>
            <a:off x="571500" y="4763100"/>
            <a:ext cx="8175000" cy="29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600"/>
              <a:buFont typeface="Space Grotesk SemiBold"/>
              <a:buNone/>
            </a:pPr>
            <a:r>
              <a:rPr lang="en-US" sz="1600" b="0" i="0" u="sng" strike="noStrike" cap="none">
                <a:solidFill>
                  <a:srgbClr val="2BDEFD"/>
                </a:solidFill>
                <a:latin typeface="Space Grotesk SemiBold"/>
                <a:ea typeface="Space Grotesk SemiBold"/>
                <a:cs typeface="Space Grotesk SemiBold"/>
                <a:sym typeface="Space Grotesk SemiBold"/>
                <a:hlinkClick r:id="rId4">
                  <a:extLst>
                    <a:ext uri="{A12FA001-AC4F-418D-AE19-62706E023703}">
                      <ahyp:hlinkClr xmlns:ahyp="http://schemas.microsoft.com/office/drawing/2018/hyperlinkcolor" val="tx"/>
                    </a:ext>
                  </a:extLst>
                </a:hlinkClick>
              </a:rPr>
              <a:t>crystalparadigm.in</a:t>
            </a:r>
            <a:r>
              <a:rPr lang="en-US" sz="1600">
                <a:solidFill>
                  <a:srgbClr val="2BDEFD"/>
                </a:solidFill>
                <a:latin typeface="Calibri"/>
                <a:ea typeface="Calibri"/>
                <a:cs typeface="Calibri"/>
                <a:sym typeface="Calibri"/>
              </a:rPr>
              <a:t>                                                                       khub.crystalparadigm@gmail.com</a:t>
            </a:r>
            <a:endParaRPr sz="1600" b="0" i="0" u="none" strike="noStrike" cap="none">
              <a:solidFill>
                <a:srgbClr val="2BDEFD"/>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SCIDIP DEPLOYMENT: TWO HIGH-VALUE TARGET PATHWAYS</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From Aerospace Physics to Sona Comstar's Manufacturing and Electric Mobility Bottlenecks</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61872"/>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3840480" cy="164592"/>
          </a:xfrm>
          <a:prstGeom prst="rect">
            <a:avLst/>
          </a:prstGeom>
          <a:noFill/>
        </p:spPr>
        <p:txBody>
          <a:bodyPr wrap="square" lIns="0" rIns="0" tIns="25400" bIns="25400">
            <a:spAutoFit/>
          </a:bodyPr>
          <a:lstStyle/>
          <a:p>
            <a:pPr algn="l"/>
            <a:r>
              <a:rPr sz="800" b="1" i="0">
                <a:solidFill>
                  <a:srgbClr val="00B4D8"/>
                </a:solidFill>
              </a:rPr>
              <a:t>DEPLOYMENT PATHWAY 1  ·  DRIVELINE SYSTEMS</a:t>
            </a:r>
          </a:p>
        </p:txBody>
      </p:sp>
      <p:sp>
        <p:nvSpPr>
          <p:cNvPr id="9" name="TextBox 8"/>
          <p:cNvSpPr txBox="1"/>
          <p:nvPr/>
        </p:nvSpPr>
        <p:spPr>
          <a:xfrm>
            <a:off x="402336" y="1572768"/>
            <a:ext cx="3840480" cy="274320"/>
          </a:xfrm>
          <a:prstGeom prst="rect">
            <a:avLst/>
          </a:prstGeom>
          <a:noFill/>
        </p:spPr>
        <p:txBody>
          <a:bodyPr wrap="square" lIns="0" rIns="0" tIns="25400" bIns="25400">
            <a:spAutoFit/>
          </a:bodyPr>
          <a:lstStyle/>
          <a:p>
            <a:pPr algn="l"/>
            <a:r>
              <a:rPr sz="1300" b="1" i="0">
                <a:solidFill>
                  <a:srgbClr val="1A365D"/>
                </a:solidFill>
              </a:rPr>
              <a:t>Next-Gen Precision Forging Dies</a:t>
            </a:r>
          </a:p>
        </p:txBody>
      </p:sp>
      <p:sp>
        <p:nvSpPr>
          <p:cNvPr id="10" name="Rectangle 9"/>
          <p:cNvSpPr/>
          <p:nvPr/>
        </p:nvSpPr>
        <p:spPr>
          <a:xfrm>
            <a:off x="402336"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195681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20240"/>
            <a:ext cx="3474720" cy="164592"/>
          </a:xfrm>
          <a:prstGeom prst="rect">
            <a:avLst/>
          </a:prstGeom>
          <a:noFill/>
        </p:spPr>
        <p:txBody>
          <a:bodyPr wrap="square" lIns="0" rIns="0" tIns="25400" bIns="25400">
            <a:spAutoFit/>
          </a:bodyPr>
          <a:lstStyle/>
          <a:p>
            <a:pPr algn="l"/>
            <a:r>
              <a:rPr sz="800" b="1" i="0">
                <a:solidFill>
                  <a:srgbClr val="DC2626"/>
                </a:solidFill>
              </a:rPr>
              <a:t>LEGACY H13 STEEL FAILURE MODE</a:t>
            </a:r>
          </a:p>
        </p:txBody>
      </p:sp>
      <p:sp>
        <p:nvSpPr>
          <p:cNvPr id="13" name="TextBox 12"/>
          <p:cNvSpPr txBox="1"/>
          <p:nvPr/>
        </p:nvSpPr>
        <p:spPr>
          <a:xfrm>
            <a:off x="548640" y="2103120"/>
            <a:ext cx="3474720" cy="566928"/>
          </a:xfrm>
          <a:prstGeom prst="rect">
            <a:avLst/>
          </a:prstGeom>
          <a:noFill/>
        </p:spPr>
        <p:txBody>
          <a:bodyPr wrap="square" lIns="0" rIns="0" tIns="25400" bIns="25400">
            <a:spAutoFit/>
          </a:bodyPr>
          <a:lstStyle/>
          <a:p>
            <a:pPr algn="l"/>
            <a:r>
              <a:rPr sz="800" b="0" i="0">
                <a:solidFill>
                  <a:srgbClr val="111111"/>
                </a:solidFill>
              </a:rPr>
              <a:t>Yield strength collapses from 1,800 MPa at room temp to ~420 MPa at 1,200°C — a 77% mechanical failure. Rapid thermal fatigue causes micro-cracking after 200-400 forging cycles, creating unplanned downtime in Sona Comstar's differential bevel gear production lines.</a:t>
            </a:r>
          </a:p>
        </p:txBody>
      </p:sp>
      <p:sp>
        <p:nvSpPr>
          <p:cNvPr id="14" name="Rectangle 13"/>
          <p:cNvSpPr/>
          <p:nvPr/>
        </p:nvSpPr>
        <p:spPr>
          <a:xfrm>
            <a:off x="402336" y="2706624"/>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336" y="278892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52344"/>
            <a:ext cx="3474720" cy="164592"/>
          </a:xfrm>
          <a:prstGeom prst="rect">
            <a:avLst/>
          </a:prstGeom>
          <a:noFill/>
        </p:spPr>
        <p:txBody>
          <a:bodyPr wrap="square" lIns="0" rIns="0" tIns="25400" bIns="25400">
            <a:spAutoFit/>
          </a:bodyPr>
          <a:lstStyle/>
          <a:p>
            <a:pPr algn="l"/>
            <a:r>
              <a:rPr sz="800" b="1" i="0">
                <a:solidFill>
                  <a:srgbClr val="059669"/>
                </a:solidFill>
              </a:rPr>
              <a:t>CANDIDATE C UPGRADE ARCHITECTURE</a:t>
            </a:r>
          </a:p>
        </p:txBody>
      </p:sp>
      <p:sp>
        <p:nvSpPr>
          <p:cNvPr id="17" name="Rectangle 16"/>
          <p:cNvSpPr/>
          <p:nvPr/>
        </p:nvSpPr>
        <p:spPr>
          <a:xfrm>
            <a:off x="402336" y="2971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44368"/>
            <a:ext cx="1828800" cy="137160"/>
          </a:xfrm>
          <a:prstGeom prst="rect">
            <a:avLst/>
          </a:prstGeom>
          <a:noFill/>
        </p:spPr>
        <p:txBody>
          <a:bodyPr wrap="square" lIns="0" rIns="0" tIns="25400" bIns="25400">
            <a:spAutoFit/>
          </a:bodyPr>
          <a:lstStyle/>
          <a:p>
            <a:pPr algn="l"/>
            <a:r>
              <a:rPr sz="750" b="1" i="0">
                <a:solidFill>
                  <a:srgbClr val="1A365D"/>
                </a:solidFill>
              </a:rPr>
              <a:t>The Core (Alloy)</a:t>
            </a:r>
          </a:p>
        </p:txBody>
      </p:sp>
      <p:sp>
        <p:nvSpPr>
          <p:cNvPr id="19" name="TextBox 18"/>
          <p:cNvSpPr txBox="1"/>
          <p:nvPr/>
        </p:nvSpPr>
        <p:spPr>
          <a:xfrm>
            <a:off x="548640" y="3090672"/>
            <a:ext cx="3474720" cy="402336"/>
          </a:xfrm>
          <a:prstGeom prst="rect">
            <a:avLst/>
          </a:prstGeom>
          <a:noFill/>
        </p:spPr>
        <p:txBody>
          <a:bodyPr wrap="square" lIns="0" rIns="0" tIns="25400" bIns="25400">
            <a:spAutoFit/>
          </a:bodyPr>
          <a:lstStyle/>
          <a:p>
            <a:pPr algn="l"/>
            <a:r>
              <a:rPr sz="700" b="0" i="0">
                <a:solidFill>
                  <a:srgbClr val="111111"/>
                </a:solidFill>
              </a:rPr>
              <a:t>&gt;917.7 MPa yield at 1,200°C — 2.2× better than H13. Ta-W-Cr-V-Ti-Zr-Hf + 2.8% Al; BCC phase lock confirmed via CALPHAD.</a:t>
            </a:r>
          </a:p>
        </p:txBody>
      </p:sp>
      <p:sp>
        <p:nvSpPr>
          <p:cNvPr id="20" name="Rectangle 19"/>
          <p:cNvSpPr/>
          <p:nvPr/>
        </p:nvSpPr>
        <p:spPr>
          <a:xfrm>
            <a:off x="402336" y="35387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511296"/>
            <a:ext cx="1828800" cy="137160"/>
          </a:xfrm>
          <a:prstGeom prst="rect">
            <a:avLst/>
          </a:prstGeom>
          <a:noFill/>
        </p:spPr>
        <p:txBody>
          <a:bodyPr wrap="square" lIns="0" rIns="0" tIns="25400" bIns="25400">
            <a:spAutoFit/>
          </a:bodyPr>
          <a:lstStyle/>
          <a:p>
            <a:pPr algn="l"/>
            <a:r>
              <a:rPr sz="750" b="1" i="0">
                <a:solidFill>
                  <a:srgbClr val="1A365D"/>
                </a:solidFill>
              </a:rPr>
              <a:t>The Surface (LZO Ceramic)</a:t>
            </a:r>
          </a:p>
        </p:txBody>
      </p:sp>
      <p:sp>
        <p:nvSpPr>
          <p:cNvPr id="22" name="TextBox 21"/>
          <p:cNvSpPr txBox="1"/>
          <p:nvPr/>
        </p:nvSpPr>
        <p:spPr>
          <a:xfrm>
            <a:off x="548640" y="3657600"/>
            <a:ext cx="3474720" cy="402336"/>
          </a:xfrm>
          <a:prstGeom prst="rect">
            <a:avLst/>
          </a:prstGeom>
          <a:noFill/>
        </p:spPr>
        <p:txBody>
          <a:bodyPr wrap="square" lIns="0" rIns="0" tIns="25400" bIns="25400">
            <a:spAutoFit/>
          </a:bodyPr>
          <a:lstStyle/>
          <a:p>
            <a:pPr algn="l"/>
            <a:r>
              <a:rPr sz="700" b="0" i="0">
                <a:solidFill>
                  <a:srgbClr val="111111"/>
                </a:solidFill>
              </a:rPr>
              <a:t>Lanthanum Zirconate outer layer acts as supreme thermal barrier. Prevents heat transfer into die infrastructure.</a:t>
            </a:r>
          </a:p>
        </p:txBody>
      </p:sp>
      <p:sp>
        <p:nvSpPr>
          <p:cNvPr id="23" name="Rectangle 22"/>
          <p:cNvSpPr/>
          <p:nvPr/>
        </p:nvSpPr>
        <p:spPr>
          <a:xfrm>
            <a:off x="402336" y="41056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78224"/>
            <a:ext cx="1828800" cy="137160"/>
          </a:xfrm>
          <a:prstGeom prst="rect">
            <a:avLst/>
          </a:prstGeom>
          <a:noFill/>
        </p:spPr>
        <p:txBody>
          <a:bodyPr wrap="square" lIns="0" rIns="0" tIns="25400" bIns="25400">
            <a:spAutoFit/>
          </a:bodyPr>
          <a:lstStyle/>
          <a:p>
            <a:pPr algn="l"/>
            <a:r>
              <a:rPr sz="750" b="1" i="0">
                <a:solidFill>
                  <a:srgbClr val="1A365D"/>
                </a:solidFill>
              </a:rPr>
              <a:t>The Manufacturing Recipe</a:t>
            </a:r>
          </a:p>
        </p:txBody>
      </p:sp>
      <p:sp>
        <p:nvSpPr>
          <p:cNvPr id="25" name="TextBox 24"/>
          <p:cNvSpPr txBox="1"/>
          <p:nvPr/>
        </p:nvSpPr>
        <p:spPr>
          <a:xfrm>
            <a:off x="548640" y="4224528"/>
            <a:ext cx="3474720" cy="402336"/>
          </a:xfrm>
          <a:prstGeom prst="rect">
            <a:avLst/>
          </a:prstGeom>
          <a:noFill/>
        </p:spPr>
        <p:txBody>
          <a:bodyPr wrap="square" lIns="0" rIns="0" tIns="25400" bIns="25400">
            <a:spAutoFit/>
          </a:bodyPr>
          <a:lstStyle/>
          <a:p>
            <a:pPr algn="l"/>
            <a:r>
              <a:rPr sz="700" b="0" i="0">
                <a:solidFill>
                  <a:srgbClr val="111111"/>
                </a:solidFill>
              </a:rPr>
              <a:t>11-layer manufacturing_recipe.csv export — ready for Multi-Hopper Directed Energy Deposition (DED) 3D printing.</a:t>
            </a:r>
          </a:p>
        </p:txBody>
      </p:sp>
      <p:sp>
        <p:nvSpPr>
          <p:cNvPr id="26" name="Rectangle 25"/>
          <p:cNvSpPr/>
          <p:nvPr/>
        </p:nvSpPr>
        <p:spPr>
          <a:xfrm>
            <a:off x="402336" y="467258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645152"/>
            <a:ext cx="1828800" cy="137160"/>
          </a:xfrm>
          <a:prstGeom prst="rect">
            <a:avLst/>
          </a:prstGeom>
          <a:noFill/>
        </p:spPr>
        <p:txBody>
          <a:bodyPr wrap="square" lIns="0" rIns="0" tIns="25400" bIns="25400">
            <a:spAutoFit/>
          </a:bodyPr>
          <a:lstStyle/>
          <a:p>
            <a:pPr algn="l"/>
            <a:r>
              <a:rPr sz="750" b="1" i="0">
                <a:solidFill>
                  <a:srgbClr val="1A365D"/>
                </a:solidFill>
              </a:rPr>
              <a:t>Commercial Result</a:t>
            </a:r>
          </a:p>
        </p:txBody>
      </p:sp>
      <p:sp>
        <p:nvSpPr>
          <p:cNvPr id="28" name="TextBox 27"/>
          <p:cNvSpPr txBox="1"/>
          <p:nvPr/>
        </p:nvSpPr>
        <p:spPr>
          <a:xfrm>
            <a:off x="548640" y="4791456"/>
            <a:ext cx="3474720" cy="402336"/>
          </a:xfrm>
          <a:prstGeom prst="rect">
            <a:avLst/>
          </a:prstGeom>
          <a:noFill/>
        </p:spPr>
        <p:txBody>
          <a:bodyPr wrap="square" lIns="0" rIns="0" tIns="25400" bIns="25400">
            <a:spAutoFit/>
          </a:bodyPr>
          <a:lstStyle/>
          <a:p>
            <a:pPr algn="l"/>
            <a:r>
              <a:rPr sz="700" b="0" i="0">
                <a:solidFill>
                  <a:srgbClr val="111111"/>
                </a:solidFill>
              </a:rPr>
              <a:t>15–20% raw material cost reduction vs. incumbent. Drastically extended die life → higher manufacturing throughput.</a:t>
            </a:r>
          </a:p>
        </p:txBody>
      </p:sp>
      <p:sp>
        <p:nvSpPr>
          <p:cNvPr id="29" name="Rectangle 28"/>
          <p:cNvSpPr/>
          <p:nvPr/>
        </p:nvSpPr>
        <p:spPr>
          <a:xfrm>
            <a:off x="4700016"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0016" y="1261872"/>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1389888"/>
            <a:ext cx="3840480" cy="164592"/>
          </a:xfrm>
          <a:prstGeom prst="rect">
            <a:avLst/>
          </a:prstGeom>
          <a:noFill/>
        </p:spPr>
        <p:txBody>
          <a:bodyPr wrap="square" lIns="0" rIns="0" tIns="25400" bIns="25400">
            <a:spAutoFit/>
          </a:bodyPr>
          <a:lstStyle/>
          <a:p>
            <a:pPr algn="l"/>
            <a:r>
              <a:rPr sz="800" b="1" i="0">
                <a:solidFill>
                  <a:srgbClr val="00B4D8"/>
                </a:solidFill>
              </a:rPr>
              <a:t>DEPLOYMENT PATHWAY 2  ·  ELECTRIC MOBILITY</a:t>
            </a:r>
          </a:p>
        </p:txBody>
      </p:sp>
      <p:sp>
        <p:nvSpPr>
          <p:cNvPr id="32" name="TextBox 31"/>
          <p:cNvSpPr txBox="1"/>
          <p:nvPr/>
        </p:nvSpPr>
        <p:spPr>
          <a:xfrm>
            <a:off x="4846320" y="1572768"/>
            <a:ext cx="3840480" cy="274320"/>
          </a:xfrm>
          <a:prstGeom prst="rect">
            <a:avLst/>
          </a:prstGeom>
          <a:noFill/>
        </p:spPr>
        <p:txBody>
          <a:bodyPr wrap="square" lIns="0" rIns="0" tIns="25400" bIns="25400">
            <a:spAutoFit/>
          </a:bodyPr>
          <a:lstStyle/>
          <a:p>
            <a:pPr algn="l"/>
            <a:r>
              <a:rPr sz="1300" b="1" i="0">
                <a:solidFill>
                  <a:srgbClr val="1A365D"/>
                </a:solidFill>
              </a:rPr>
              <a:t>Rare-Earth-Free EV Traction Motors</a:t>
            </a:r>
          </a:p>
        </p:txBody>
      </p:sp>
      <p:sp>
        <p:nvSpPr>
          <p:cNvPr id="33" name="Rectangle 32"/>
          <p:cNvSpPr/>
          <p:nvPr/>
        </p:nvSpPr>
        <p:spPr>
          <a:xfrm>
            <a:off x="4846320"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846320" y="195681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92624" y="1920240"/>
            <a:ext cx="3474720" cy="164592"/>
          </a:xfrm>
          <a:prstGeom prst="rect">
            <a:avLst/>
          </a:prstGeom>
          <a:noFill/>
        </p:spPr>
        <p:txBody>
          <a:bodyPr wrap="square" lIns="0" rIns="0" tIns="25400" bIns="25400">
            <a:spAutoFit/>
          </a:bodyPr>
          <a:lstStyle/>
          <a:p>
            <a:pPr algn="l"/>
            <a:r>
              <a:rPr sz="800" b="1" i="0">
                <a:solidFill>
                  <a:srgbClr val="DC2626"/>
                </a:solidFill>
              </a:rPr>
              <a:t>THE SRM THERMAL BOTTLENECK</a:t>
            </a:r>
          </a:p>
        </p:txBody>
      </p:sp>
      <p:sp>
        <p:nvSpPr>
          <p:cNvPr id="36" name="TextBox 35"/>
          <p:cNvSpPr txBox="1"/>
          <p:nvPr/>
        </p:nvSpPr>
        <p:spPr>
          <a:xfrm>
            <a:off x="4992624" y="2103120"/>
            <a:ext cx="3474720" cy="512064"/>
          </a:xfrm>
          <a:prstGeom prst="rect">
            <a:avLst/>
          </a:prstGeom>
          <a:noFill/>
        </p:spPr>
        <p:txBody>
          <a:bodyPr wrap="square" lIns="0" rIns="0" tIns="25400" bIns="25400">
            <a:spAutoFit/>
          </a:bodyPr>
          <a:lstStyle/>
          <a:p>
            <a:pPr algn="l"/>
            <a:r>
              <a:rPr sz="800" b="0" i="0">
                <a:solidFill>
                  <a:srgbClr val="111111"/>
                </a:solidFill>
              </a:rPr>
              <a:t>Switched Reluctance Motors (SRMs) eliminate Neodymium but generate extreme localized thermal hotspots at stator teeth under peak torque. Traditional silicon-steel laminations degrade → limits motor power density and reliability.</a:t>
            </a:r>
          </a:p>
        </p:txBody>
      </p:sp>
      <p:sp>
        <p:nvSpPr>
          <p:cNvPr id="37" name="Rectangle 36"/>
          <p:cNvSpPr/>
          <p:nvPr/>
        </p:nvSpPr>
        <p:spPr>
          <a:xfrm>
            <a:off x="4846320" y="2651760"/>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46320" y="27340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92624" y="2697480"/>
            <a:ext cx="3474720" cy="164592"/>
          </a:xfrm>
          <a:prstGeom prst="rect">
            <a:avLst/>
          </a:prstGeom>
          <a:noFill/>
        </p:spPr>
        <p:txBody>
          <a:bodyPr wrap="square" lIns="0" rIns="0" tIns="25400" bIns="25400">
            <a:spAutoFit/>
          </a:bodyPr>
          <a:lstStyle/>
          <a:p>
            <a:pPr algn="l"/>
            <a:r>
              <a:rPr sz="800" b="1" i="0">
                <a:solidFill>
                  <a:srgbClr val="059669"/>
                </a:solidFill>
              </a:rPr>
              <a:t>THE CRYSTAL PARADIGM SRM UPGRADE</a:t>
            </a:r>
          </a:p>
        </p:txBody>
      </p:sp>
      <p:sp>
        <p:nvSpPr>
          <p:cNvPr id="40" name="Rectangle 39"/>
          <p:cNvSpPr/>
          <p:nvPr/>
        </p:nvSpPr>
        <p:spPr>
          <a:xfrm>
            <a:off x="4846320" y="290779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92624" y="2880360"/>
            <a:ext cx="1828800" cy="137160"/>
          </a:xfrm>
          <a:prstGeom prst="rect">
            <a:avLst/>
          </a:prstGeom>
          <a:noFill/>
        </p:spPr>
        <p:txBody>
          <a:bodyPr wrap="square" lIns="0" rIns="0" tIns="25400" bIns="25400">
            <a:spAutoFit/>
          </a:bodyPr>
          <a:lstStyle/>
          <a:p>
            <a:pPr algn="l"/>
            <a:r>
              <a:rPr sz="750" b="1" i="0">
                <a:solidFill>
                  <a:srgbClr val="1A365D"/>
                </a:solidFill>
              </a:rPr>
              <a:t>Thermal Shielding</a:t>
            </a:r>
          </a:p>
        </p:txBody>
      </p:sp>
      <p:sp>
        <p:nvSpPr>
          <p:cNvPr id="42" name="TextBox 41"/>
          <p:cNvSpPr txBox="1"/>
          <p:nvPr/>
        </p:nvSpPr>
        <p:spPr>
          <a:xfrm>
            <a:off x="4992624" y="3026664"/>
            <a:ext cx="3474720" cy="402336"/>
          </a:xfrm>
          <a:prstGeom prst="rect">
            <a:avLst/>
          </a:prstGeom>
          <a:noFill/>
        </p:spPr>
        <p:txBody>
          <a:bodyPr wrap="square" lIns="0" rIns="0" tIns="25400" bIns="25400">
            <a:spAutoFit/>
          </a:bodyPr>
          <a:lstStyle/>
          <a:p>
            <a:pPr algn="l"/>
            <a:r>
              <a:rPr sz="700" b="0" i="0">
                <a:solidFill>
                  <a:srgbClr val="111111"/>
                </a:solidFill>
              </a:rPr>
              <a:t>FGM architecture handles rapid thermal cycling — 15.95 MPa interface shear stress (zero delamination under extreme torque cycling).</a:t>
            </a:r>
          </a:p>
        </p:txBody>
      </p:sp>
      <p:sp>
        <p:nvSpPr>
          <p:cNvPr id="43" name="Rectangle 42"/>
          <p:cNvSpPr/>
          <p:nvPr/>
        </p:nvSpPr>
        <p:spPr>
          <a:xfrm>
            <a:off x="4846320" y="347472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92624" y="3447288"/>
            <a:ext cx="1828800" cy="137160"/>
          </a:xfrm>
          <a:prstGeom prst="rect">
            <a:avLst/>
          </a:prstGeom>
          <a:noFill/>
        </p:spPr>
        <p:txBody>
          <a:bodyPr wrap="square" lIns="0" rIns="0" tIns="25400" bIns="25400">
            <a:spAutoFit/>
          </a:bodyPr>
          <a:lstStyle/>
          <a:p>
            <a:pPr algn="l"/>
            <a:r>
              <a:rPr sz="750" b="1" i="0">
                <a:solidFill>
                  <a:srgbClr val="1A365D"/>
                </a:solidFill>
              </a:rPr>
              <a:t>Rare-Earth Independence</a:t>
            </a:r>
          </a:p>
        </p:txBody>
      </p:sp>
      <p:sp>
        <p:nvSpPr>
          <p:cNvPr id="45" name="TextBox 44"/>
          <p:cNvSpPr txBox="1"/>
          <p:nvPr/>
        </p:nvSpPr>
        <p:spPr>
          <a:xfrm>
            <a:off x="4992624" y="3593592"/>
            <a:ext cx="3474720" cy="402336"/>
          </a:xfrm>
          <a:prstGeom prst="rect">
            <a:avLst/>
          </a:prstGeom>
          <a:noFill/>
        </p:spPr>
        <p:txBody>
          <a:bodyPr wrap="square" lIns="0" rIns="0" tIns="25400" bIns="25400">
            <a:spAutoFit/>
          </a:bodyPr>
          <a:lstStyle/>
          <a:p>
            <a:pPr algn="l"/>
            <a:r>
              <a:rPr sz="700" b="0" i="0">
                <a:solidFill>
                  <a:srgbClr val="111111"/>
                </a:solidFill>
              </a:rPr>
              <a:t>Ti-Zr-Hf matrix eliminates Neodymium and reduces dependence on Chinese-controlled minerals — directly enabling Sona Comstar's Enedym SRM + Equipmake inverter supply chain.</a:t>
            </a:r>
          </a:p>
        </p:txBody>
      </p:sp>
      <p:sp>
        <p:nvSpPr>
          <p:cNvPr id="46" name="Rectangle 45"/>
          <p:cNvSpPr/>
          <p:nvPr/>
        </p:nvSpPr>
        <p:spPr>
          <a:xfrm>
            <a:off x="4846320" y="404164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92624" y="4014215"/>
            <a:ext cx="1828800" cy="137160"/>
          </a:xfrm>
          <a:prstGeom prst="rect">
            <a:avLst/>
          </a:prstGeom>
          <a:noFill/>
        </p:spPr>
        <p:txBody>
          <a:bodyPr wrap="square" lIns="0" rIns="0" tIns="25400" bIns="25400">
            <a:spAutoFit/>
          </a:bodyPr>
          <a:lstStyle/>
          <a:p>
            <a:pPr algn="l"/>
            <a:r>
              <a:rPr sz="750" b="1" i="0">
                <a:solidFill>
                  <a:srgbClr val="1A365D"/>
                </a:solidFill>
              </a:rPr>
              <a:t>ESG &amp; Make-in-India</a:t>
            </a:r>
          </a:p>
        </p:txBody>
      </p:sp>
      <p:sp>
        <p:nvSpPr>
          <p:cNvPr id="48" name="TextBox 47"/>
          <p:cNvSpPr txBox="1"/>
          <p:nvPr/>
        </p:nvSpPr>
        <p:spPr>
          <a:xfrm>
            <a:off x="4992624" y="4160520"/>
            <a:ext cx="3474720" cy="402336"/>
          </a:xfrm>
          <a:prstGeom prst="rect">
            <a:avLst/>
          </a:prstGeom>
          <a:noFill/>
        </p:spPr>
        <p:txBody>
          <a:bodyPr wrap="square" lIns="0" rIns="0" tIns="25400" bIns="25400">
            <a:spAutoFit/>
          </a:bodyPr>
          <a:lstStyle/>
          <a:p>
            <a:pPr algn="l"/>
            <a:r>
              <a:rPr sz="700" b="0" i="0">
                <a:solidFill>
                  <a:srgbClr val="111111"/>
                </a:solidFill>
              </a:rPr>
              <a:t>Alloy cost ~$170/kg. Embodied Energy: 1,680 MJ/kg. Qualifies for Sona Comstar's 75% Supplier ESG Score (12 ESG metrics).</a:t>
            </a:r>
          </a:p>
        </p:txBody>
      </p:sp>
      <p:sp>
        <p:nvSpPr>
          <p:cNvPr id="49" name="Rectangle 48"/>
          <p:cNvSpPr/>
          <p:nvPr/>
        </p:nvSpPr>
        <p:spPr>
          <a:xfrm>
            <a:off x="4846320" y="460857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92624" y="4581144"/>
            <a:ext cx="1828800" cy="137160"/>
          </a:xfrm>
          <a:prstGeom prst="rect">
            <a:avLst/>
          </a:prstGeom>
          <a:noFill/>
        </p:spPr>
        <p:txBody>
          <a:bodyPr wrap="square" lIns="0" rIns="0" tIns="25400" bIns="25400">
            <a:spAutoFit/>
          </a:bodyPr>
          <a:lstStyle/>
          <a:p>
            <a:pPr algn="l"/>
            <a:r>
              <a:rPr sz="750" b="1" i="0">
                <a:solidFill>
                  <a:srgbClr val="1A365D"/>
                </a:solidFill>
              </a:rPr>
              <a:t>IP Pathway</a:t>
            </a:r>
          </a:p>
        </p:txBody>
      </p:sp>
      <p:sp>
        <p:nvSpPr>
          <p:cNvPr id="51" name="TextBox 50"/>
          <p:cNvSpPr txBox="1"/>
          <p:nvPr/>
        </p:nvSpPr>
        <p:spPr>
          <a:xfrm>
            <a:off x="4992624" y="4727448"/>
            <a:ext cx="3474720" cy="402336"/>
          </a:xfrm>
          <a:prstGeom prst="rect">
            <a:avLst/>
          </a:prstGeom>
          <a:noFill/>
        </p:spPr>
        <p:txBody>
          <a:bodyPr wrap="square" lIns="0" rIns="0" tIns="25400" bIns="25400">
            <a:spAutoFit/>
          </a:bodyPr>
          <a:lstStyle/>
          <a:p>
            <a:pPr algn="l"/>
            <a:r>
              <a:rPr sz="700" b="0" i="0">
                <a:solidFill>
                  <a:srgbClr val="111111"/>
                </a:solidFill>
              </a:rPr>
              <a:t>Crystal Paradigm can generate bespoke SRM stator materials computationally for any torque/speed profile Sona Comstar specifies.</a:t>
            </a:r>
          </a:p>
        </p:txBody>
      </p:sp>
      <p:sp>
        <p:nvSpPr>
          <p:cNvPr id="52" name="TextBox 51"/>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INTELLECTUAL PROPERTY &amp; SUPPLY CHAIN DE-RISKING</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True Aatmanirbharta — Indigenous Deep-Tech IP for the Indian Mobility Sector</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3566160" cy="804672"/>
          </a:xfrm>
          <a:prstGeom prst="roundRect">
            <a:avLst>
              <a:gd name="adj" fmla="val 8000"/>
            </a:avLst>
          </a:prstGeom>
          <a:solidFill>
            <a:srgbClr val="FFF1F0"/>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16736"/>
            <a:ext cx="3291840" cy="164592"/>
          </a:xfrm>
          <a:prstGeom prst="rect">
            <a:avLst/>
          </a:prstGeom>
          <a:noFill/>
        </p:spPr>
        <p:txBody>
          <a:bodyPr wrap="square" lIns="0" rIns="0" tIns="25400" bIns="25400">
            <a:spAutoFit/>
          </a:bodyPr>
          <a:lstStyle/>
          <a:p>
            <a:pPr algn="l"/>
            <a:r>
              <a:rPr sz="750" b="1" i="0">
                <a:solidFill>
                  <a:srgbClr val="DC2626"/>
                </a:solidFill>
              </a:rPr>
              <a:t>CURRENT GLOBAL DEPENDENCY</a:t>
            </a:r>
          </a:p>
        </p:txBody>
      </p:sp>
      <p:sp>
        <p:nvSpPr>
          <p:cNvPr id="8" name="TextBox 7"/>
          <p:cNvSpPr txBox="1"/>
          <p:nvPr/>
        </p:nvSpPr>
        <p:spPr>
          <a:xfrm>
            <a:off x="384048" y="1499616"/>
            <a:ext cx="3291840" cy="512064"/>
          </a:xfrm>
          <a:prstGeom prst="rect">
            <a:avLst/>
          </a:prstGeom>
          <a:noFill/>
        </p:spPr>
        <p:txBody>
          <a:bodyPr wrap="square" lIns="0" rIns="0" tIns="25400" bIns="25400">
            <a:spAutoFit/>
          </a:bodyPr>
          <a:lstStyle/>
          <a:p>
            <a:pPr algn="l"/>
            <a:r>
              <a:rPr sz="750" b="0" i="0">
                <a:solidFill>
                  <a:srgbClr val="111111"/>
                </a:solidFill>
              </a:rPr>
              <a:t>80%+ Neodymium &amp; Hafnium controlled by China
Any trade disruption collapses Indian EV supply chains
Sona Comstar: 17-metric ESG supplier audit exposure</a:t>
            </a:r>
          </a:p>
        </p:txBody>
      </p:sp>
      <p:sp>
        <p:nvSpPr>
          <p:cNvPr id="9" name="TextBox 8"/>
          <p:cNvSpPr txBox="1"/>
          <p:nvPr/>
        </p:nvSpPr>
        <p:spPr>
          <a:xfrm>
            <a:off x="3913632" y="1417320"/>
            <a:ext cx="502920" cy="457200"/>
          </a:xfrm>
          <a:prstGeom prst="rect">
            <a:avLst/>
          </a:prstGeom>
          <a:noFill/>
        </p:spPr>
        <p:txBody>
          <a:bodyPr wrap="square" lIns="0" rIns="0" tIns="25400" bIns="25400">
            <a:spAutoFit/>
          </a:bodyPr>
          <a:lstStyle/>
          <a:p>
            <a:pPr algn="ctr"/>
            <a:r>
              <a:rPr sz="2200" b="1" i="0">
                <a:solidFill>
                  <a:srgbClr val="00B4D8"/>
                </a:solidFill>
              </a:rPr>
              <a:t>⟶</a:t>
            </a:r>
          </a:p>
        </p:txBody>
      </p:sp>
      <p:sp>
        <p:nvSpPr>
          <p:cNvPr id="10" name="Rectangle 9"/>
          <p:cNvSpPr/>
          <p:nvPr/>
        </p:nvSpPr>
        <p:spPr>
          <a:xfrm>
            <a:off x="4480560" y="1261872"/>
            <a:ext cx="4389120" cy="804672"/>
          </a:xfrm>
          <a:prstGeom prst="roundRect">
            <a:avLst>
              <a:gd name="adj" fmla="val 8000"/>
            </a:avLst>
          </a:prstGeom>
          <a:solidFill>
            <a:srgbClr val="ECFDF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316736"/>
            <a:ext cx="4114800" cy="164592"/>
          </a:xfrm>
          <a:prstGeom prst="rect">
            <a:avLst/>
          </a:prstGeom>
          <a:noFill/>
        </p:spPr>
        <p:txBody>
          <a:bodyPr wrap="square" lIns="0" rIns="0" tIns="25400" bIns="25400">
            <a:spAutoFit/>
          </a:bodyPr>
          <a:lstStyle/>
          <a:p>
            <a:pPr algn="l"/>
            <a:r>
              <a:rPr sz="750" b="1" i="0">
                <a:solidFill>
                  <a:srgbClr val="059669"/>
                </a:solidFill>
              </a:rPr>
              <a:t>CRYSTAL PARADIGM INDIGENOUS SOLUTION</a:t>
            </a:r>
          </a:p>
        </p:txBody>
      </p:sp>
      <p:sp>
        <p:nvSpPr>
          <p:cNvPr id="12" name="TextBox 11"/>
          <p:cNvSpPr txBox="1"/>
          <p:nvPr/>
        </p:nvSpPr>
        <p:spPr>
          <a:xfrm>
            <a:off x="4608576" y="1499616"/>
            <a:ext cx="4114800" cy="512064"/>
          </a:xfrm>
          <a:prstGeom prst="rect">
            <a:avLst/>
          </a:prstGeom>
          <a:noFill/>
        </p:spPr>
        <p:txBody>
          <a:bodyPr wrap="square" lIns="0" rIns="0" tIns="25400" bIns="25400">
            <a:spAutoFit/>
          </a:bodyPr>
          <a:lstStyle/>
          <a:p>
            <a:pPr algn="l"/>
            <a:r>
              <a:rPr sz="750" b="0" i="0">
                <a:solidFill>
                  <a:srgbClr val="111111"/>
                </a:solidFill>
              </a:rPr>
              <a:t>Titanium + Chromium (globally abundant) | ~$170/kg commercial cost
9-element multi-principal matrix — no single-mineral dependency
Crystal Paradigm + IIT Delhi CRF = 100% Indian IP generation</a:t>
            </a:r>
          </a:p>
        </p:txBody>
      </p:sp>
      <p:sp>
        <p:nvSpPr>
          <p:cNvPr id="13" name="Rectangle 12"/>
          <p:cNvSpPr/>
          <p:nvPr/>
        </p:nvSpPr>
        <p:spPr>
          <a:xfrm>
            <a:off x="256032" y="2139696"/>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212848"/>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 y="2267712"/>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2249424"/>
            <a:ext cx="365760" cy="365760"/>
          </a:xfrm>
          <a:prstGeom prst="rect">
            <a:avLst/>
          </a:prstGeom>
          <a:noFill/>
        </p:spPr>
        <p:txBody>
          <a:bodyPr wrap="square" lIns="0" rIns="0" tIns="25400" bIns="25400">
            <a:spAutoFit/>
          </a:bodyPr>
          <a:lstStyle/>
          <a:p>
            <a:pPr algn="ctr"/>
            <a:r>
              <a:rPr sz="1000" b="1" i="0">
                <a:solidFill>
                  <a:srgbClr val="FFFFFF"/>
                </a:solidFill>
              </a:rPr>
              <a:t>1</a:t>
            </a:r>
          </a:p>
        </p:txBody>
      </p:sp>
      <p:sp>
        <p:nvSpPr>
          <p:cNvPr id="18" name="TextBox 17"/>
          <p:cNvSpPr txBox="1"/>
          <p:nvPr/>
        </p:nvSpPr>
        <p:spPr>
          <a:xfrm>
            <a:off x="365760" y="2706624"/>
            <a:ext cx="2633472" cy="201168"/>
          </a:xfrm>
          <a:prstGeom prst="rect">
            <a:avLst/>
          </a:prstGeom>
          <a:noFill/>
        </p:spPr>
        <p:txBody>
          <a:bodyPr wrap="square" lIns="0" rIns="0" tIns="25400" bIns="25400">
            <a:spAutoFit/>
          </a:bodyPr>
          <a:lstStyle/>
          <a:p>
            <a:pPr algn="ctr"/>
            <a:r>
              <a:rPr sz="900" b="1" i="0">
                <a:solidFill>
                  <a:srgbClr val="1A365D"/>
                </a:solidFill>
              </a:rPr>
              <a:t>The Computational IP Moat</a:t>
            </a:r>
          </a:p>
        </p:txBody>
      </p:sp>
      <p:sp>
        <p:nvSpPr>
          <p:cNvPr id="19" name="Rectangle 18"/>
          <p:cNvSpPr/>
          <p:nvPr/>
        </p:nvSpPr>
        <p:spPr>
          <a:xfrm>
            <a:off x="420624"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999232"/>
            <a:ext cx="2633472" cy="1389888"/>
          </a:xfrm>
          <a:prstGeom prst="rect">
            <a:avLst/>
          </a:prstGeom>
          <a:noFill/>
        </p:spPr>
        <p:txBody>
          <a:bodyPr wrap="square" lIns="0" rIns="0" tIns="25400" bIns="25400">
            <a:spAutoFit/>
          </a:bodyPr>
          <a:lstStyle/>
          <a:p>
            <a:pPr algn="l"/>
            <a:r>
              <a:rPr sz="750" b="0" i="0">
                <a:solidFill>
                  <a:srgbClr val="111111"/>
                </a:solidFill>
              </a:rPr>
              <a:t>Our proprietary 11-phase AI pipeline is a continuous IP generation engine. Candidate C is our first output. We can computationally generate bespoke materials for every thermal bottleneck across Sona Comstar's 4 EPIC verticals (Driveline, Motors, Railway, ADAS) on demand.
1 Patent Accepted · 4 Research Papers Under Review</a:t>
            </a:r>
          </a:p>
        </p:txBody>
      </p:sp>
      <p:sp>
        <p:nvSpPr>
          <p:cNvPr id="21" name="Rectangle 20"/>
          <p:cNvSpPr/>
          <p:nvPr/>
        </p:nvSpPr>
        <p:spPr>
          <a:xfrm>
            <a:off x="3246120"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6120" y="2212848"/>
            <a:ext cx="2834640"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2267712"/>
            <a:ext cx="365760" cy="365760"/>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9272" y="2249424"/>
            <a:ext cx="365760" cy="365760"/>
          </a:xfrm>
          <a:prstGeom prst="rect">
            <a:avLst/>
          </a:prstGeom>
          <a:noFill/>
        </p:spPr>
        <p:txBody>
          <a:bodyPr wrap="square" lIns="0" rIns="0" tIns="25400" bIns="25400">
            <a:spAutoFit/>
          </a:bodyPr>
          <a:lstStyle/>
          <a:p>
            <a:pPr algn="ctr"/>
            <a:r>
              <a:rPr sz="1000" b="1" i="0">
                <a:solidFill>
                  <a:srgbClr val="FFFFFF"/>
                </a:solidFill>
              </a:rPr>
              <a:t>2</a:t>
            </a:r>
          </a:p>
        </p:txBody>
      </p:sp>
      <p:sp>
        <p:nvSpPr>
          <p:cNvPr id="25" name="TextBox 24"/>
          <p:cNvSpPr txBox="1"/>
          <p:nvPr/>
        </p:nvSpPr>
        <p:spPr>
          <a:xfrm>
            <a:off x="3355848" y="2706624"/>
            <a:ext cx="2633472" cy="201168"/>
          </a:xfrm>
          <a:prstGeom prst="rect">
            <a:avLst/>
          </a:prstGeom>
          <a:noFill/>
        </p:spPr>
        <p:txBody>
          <a:bodyPr wrap="square" lIns="0" rIns="0" tIns="25400" bIns="25400">
            <a:spAutoFit/>
          </a:bodyPr>
          <a:lstStyle/>
          <a:p>
            <a:pPr algn="ctr"/>
            <a:r>
              <a:rPr sz="900" b="1" i="0">
                <a:solidFill>
                  <a:srgbClr val="1A365D"/>
                </a:solidFill>
              </a:rPr>
              <a:t>FITT IIT Delhi IP Framework</a:t>
            </a:r>
          </a:p>
        </p:txBody>
      </p:sp>
      <p:sp>
        <p:nvSpPr>
          <p:cNvPr id="26" name="Rectangle 25"/>
          <p:cNvSpPr/>
          <p:nvPr/>
        </p:nvSpPr>
        <p:spPr>
          <a:xfrm>
            <a:off x="3410712"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5848" y="2999232"/>
            <a:ext cx="2633472" cy="1389888"/>
          </a:xfrm>
          <a:prstGeom prst="rect">
            <a:avLst/>
          </a:prstGeom>
          <a:noFill/>
        </p:spPr>
        <p:txBody>
          <a:bodyPr wrap="square" lIns="0" rIns="0" tIns="25400" bIns="25400">
            <a:spAutoFit/>
          </a:bodyPr>
          <a:lstStyle/>
          <a:p>
            <a:pPr algn="l"/>
            <a:r>
              <a:rPr sz="750" b="0" i="0">
                <a:solidFill>
                  <a:srgbClr val="111111"/>
                </a:solidFill>
              </a:rPr>
              <a:t>We are fully prepared to navigate FITT's IP commercialization model. Physical material formulations developed within IIT Delhi's CRF will be jointly patented under FITT management and licensed back to Crystal Paradigm for commercial deployment — creating a legally bulletproof IP structure.
IIT Delhi Alumni Network → Series A Pipeline</a:t>
            </a:r>
          </a:p>
        </p:txBody>
      </p:sp>
      <p:sp>
        <p:nvSpPr>
          <p:cNvPr id="28" name="Rectangle 27"/>
          <p:cNvSpPr/>
          <p:nvPr/>
        </p:nvSpPr>
        <p:spPr>
          <a:xfrm>
            <a:off x="6236208"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6208" y="2212848"/>
            <a:ext cx="283464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2267712"/>
            <a:ext cx="365760" cy="365760"/>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249424"/>
            <a:ext cx="365760" cy="365760"/>
          </a:xfrm>
          <a:prstGeom prst="rect">
            <a:avLst/>
          </a:prstGeom>
          <a:noFill/>
        </p:spPr>
        <p:txBody>
          <a:bodyPr wrap="square" lIns="0" rIns="0" tIns="25400" bIns="25400">
            <a:spAutoFit/>
          </a:bodyPr>
          <a:lstStyle/>
          <a:p>
            <a:pPr algn="ctr"/>
            <a:r>
              <a:rPr sz="1000" b="1" i="0">
                <a:solidFill>
                  <a:srgbClr val="FFFFFF"/>
                </a:solidFill>
              </a:rPr>
              <a:t>3</a:t>
            </a:r>
          </a:p>
        </p:txBody>
      </p:sp>
      <p:sp>
        <p:nvSpPr>
          <p:cNvPr id="32" name="TextBox 31"/>
          <p:cNvSpPr txBox="1"/>
          <p:nvPr/>
        </p:nvSpPr>
        <p:spPr>
          <a:xfrm>
            <a:off x="6345936" y="2706624"/>
            <a:ext cx="2633472" cy="201168"/>
          </a:xfrm>
          <a:prstGeom prst="rect">
            <a:avLst/>
          </a:prstGeom>
          <a:noFill/>
        </p:spPr>
        <p:txBody>
          <a:bodyPr wrap="square" lIns="0" rIns="0" tIns="25400" bIns="25400">
            <a:spAutoFit/>
          </a:bodyPr>
          <a:lstStyle/>
          <a:p>
            <a:pPr algn="ctr"/>
            <a:r>
              <a:rPr sz="900" b="1" i="0">
                <a:solidFill>
                  <a:srgbClr val="1A365D"/>
                </a:solidFill>
              </a:rPr>
              <a:t>Sona Comstar Strategic Integration</a:t>
            </a:r>
          </a:p>
        </p:txBody>
      </p:sp>
      <p:sp>
        <p:nvSpPr>
          <p:cNvPr id="33" name="Rectangle 32"/>
          <p:cNvSpPr/>
          <p:nvPr/>
        </p:nvSpPr>
        <p:spPr>
          <a:xfrm>
            <a:off x="6400800"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2999232"/>
            <a:ext cx="2633472" cy="1389888"/>
          </a:xfrm>
          <a:prstGeom prst="rect">
            <a:avLst/>
          </a:prstGeom>
          <a:noFill/>
        </p:spPr>
        <p:txBody>
          <a:bodyPr wrap="square" lIns="0" rIns="0" tIns="25400" bIns="25400">
            <a:spAutoFit/>
          </a:bodyPr>
          <a:lstStyle/>
          <a:p>
            <a:pPr algn="l"/>
            <a:r>
              <a:rPr sz="750" b="0" i="0">
                <a:solidFill>
                  <a:srgbClr val="111111"/>
                </a:solidFill>
              </a:rPr>
              <a:t>Sona Comstar's 'buy &amp; build' acquisition playbook (DENSO JV 2026, NOVELIC 2023, Escorts Kubota 2025) proves they want to internalize technology partners. Crystal Paradigm's IP architecture is specifically designed for this JV/acquisition pathway — our material generation engine fills their EPIC technology gap.
Drive TLV ↔ Crystal Paradigm analogous pathway</a:t>
            </a:r>
          </a:p>
        </p:txBody>
      </p:sp>
      <p:sp>
        <p:nvSpPr>
          <p:cNvPr id="35" name="TextBox 34"/>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CORPORATE ASK</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Bridging TRL 3+ Computational Validation to TRL 6 Factory-Floor Commercialization at Sona Comstar</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182880"/>
          </a:xfrm>
          <a:prstGeom prst="rect">
            <a:avLst/>
          </a:prstGeom>
          <a:noFill/>
        </p:spPr>
        <p:txBody>
          <a:bodyPr wrap="square" lIns="0" rIns="0" tIns="25400" bIns="25400">
            <a:spAutoFit/>
          </a:bodyPr>
          <a:lstStyle/>
          <a:p>
            <a:pPr algn="l"/>
            <a:r>
              <a:rPr sz="800" b="1" i="0">
                <a:solidFill>
                  <a:srgbClr val="1A365D"/>
                </a:solidFill>
              </a:rPr>
              <a:t>CURRENT POSITION ON THE TECHNOLOGY READINESS SCALE</a:t>
            </a:r>
          </a:p>
        </p:txBody>
      </p:sp>
      <p:sp>
        <p:nvSpPr>
          <p:cNvPr id="7" name="Rectangle 6"/>
          <p:cNvSpPr/>
          <p:nvPr/>
        </p:nvSpPr>
        <p:spPr>
          <a:xfrm>
            <a:off x="292608" y="1508760"/>
            <a:ext cx="1653235" cy="594360"/>
          </a:xfrm>
          <a:prstGeom prst="roundRect">
            <a:avLst>
              <a:gd name="adj" fmla="val 6000"/>
            </a:avLst>
          </a:prstGeom>
          <a:solidFill>
            <a:srgbClr val="5580A0"/>
          </a:solidFill>
          <a:ln w="15240">
            <a:solidFill>
              <a:srgbClr val="558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 y="1508760"/>
            <a:ext cx="1653235" cy="594360"/>
          </a:xfrm>
          <a:prstGeom prst="rect">
            <a:avLst/>
          </a:prstGeom>
          <a:noFill/>
        </p:spPr>
        <p:txBody>
          <a:bodyPr wrap="square" lIns="0" rIns="0" tIns="25400" bIns="25400">
            <a:spAutoFit/>
          </a:bodyPr>
          <a:lstStyle/>
          <a:p>
            <a:pPr algn="ctr"/>
            <a:r>
              <a:rPr sz="700" b="1" i="0">
                <a:solidFill>
                  <a:srgbClr val="FFFFFF"/>
                </a:solidFill>
              </a:rPr>
              <a:t>TRL 1–2
Physics
Concept</a:t>
            </a:r>
          </a:p>
        </p:txBody>
      </p:sp>
      <p:sp>
        <p:nvSpPr>
          <p:cNvPr id="9" name="Rectangle 8"/>
          <p:cNvSpPr/>
          <p:nvPr/>
        </p:nvSpPr>
        <p:spPr>
          <a:xfrm>
            <a:off x="2018995" y="1508760"/>
            <a:ext cx="1653235" cy="594360"/>
          </a:xfrm>
          <a:prstGeom prst="roundRect">
            <a:avLst>
              <a:gd name="adj" fmla="val 6000"/>
            </a:avLst>
          </a:prstGeom>
          <a:solidFill>
            <a:srgbClr val="059669"/>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8995" y="1508760"/>
            <a:ext cx="1653235" cy="594360"/>
          </a:xfrm>
          <a:prstGeom prst="rect">
            <a:avLst/>
          </a:prstGeom>
          <a:noFill/>
        </p:spPr>
        <p:txBody>
          <a:bodyPr wrap="square" lIns="0" rIns="0" tIns="25400" bIns="25400">
            <a:spAutoFit/>
          </a:bodyPr>
          <a:lstStyle/>
          <a:p>
            <a:pPr algn="ctr"/>
            <a:r>
              <a:rPr sz="700" b="1" i="0">
                <a:solidFill>
                  <a:srgbClr val="FFFFFF"/>
                </a:solidFill>
              </a:rPr>
              <a:t>TRL 3+
✓ NOW
In Silico Valid.</a:t>
            </a:r>
          </a:p>
        </p:txBody>
      </p:sp>
      <p:sp>
        <p:nvSpPr>
          <p:cNvPr id="11" name="Rectangle 10"/>
          <p:cNvSpPr/>
          <p:nvPr/>
        </p:nvSpPr>
        <p:spPr>
          <a:xfrm>
            <a:off x="3745382" y="1508760"/>
            <a:ext cx="1653235" cy="594360"/>
          </a:xfrm>
          <a:prstGeom prst="roundRect">
            <a:avLst>
              <a:gd name="adj" fmla="val 6000"/>
            </a:avLst>
          </a:prstGeom>
          <a:no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5382" y="1508760"/>
            <a:ext cx="1653235" cy="594360"/>
          </a:xfrm>
          <a:prstGeom prst="rect">
            <a:avLst/>
          </a:prstGeom>
          <a:noFill/>
        </p:spPr>
        <p:txBody>
          <a:bodyPr wrap="square" lIns="0" rIns="0" tIns="25400" bIns="25400">
            <a:spAutoFit/>
          </a:bodyPr>
          <a:lstStyle/>
          <a:p>
            <a:pPr algn="ctr"/>
            <a:r>
              <a:rPr sz="700" b="0" i="0">
                <a:solidFill>
                  <a:srgbClr val="00B4D8"/>
                </a:solidFill>
              </a:rPr>
              <a:t>TRL 4
SCIDIP
Physical PoC</a:t>
            </a:r>
          </a:p>
        </p:txBody>
      </p:sp>
      <p:sp>
        <p:nvSpPr>
          <p:cNvPr id="13" name="Rectangle 12"/>
          <p:cNvSpPr/>
          <p:nvPr/>
        </p:nvSpPr>
        <p:spPr>
          <a:xfrm>
            <a:off x="5471769" y="1508760"/>
            <a:ext cx="1653235" cy="594360"/>
          </a:xfrm>
          <a:prstGeom prst="roundRect">
            <a:avLst>
              <a:gd name="adj" fmla="val 6000"/>
            </a:avLst>
          </a:prstGeom>
          <a:no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71769" y="1508760"/>
            <a:ext cx="1653235" cy="594360"/>
          </a:xfrm>
          <a:prstGeom prst="rect">
            <a:avLst/>
          </a:prstGeom>
          <a:noFill/>
        </p:spPr>
        <p:txBody>
          <a:bodyPr wrap="square" lIns="0" rIns="0" tIns="25400" bIns="25400">
            <a:spAutoFit/>
          </a:bodyPr>
          <a:lstStyle/>
          <a:p>
            <a:pPr algn="ctr"/>
            <a:r>
              <a:rPr sz="700" b="0" i="0">
                <a:solidFill>
                  <a:srgbClr val="F59E0B"/>
                </a:solidFill>
              </a:rPr>
              <a:t>TRL 5
Prototype
Integration</a:t>
            </a:r>
          </a:p>
        </p:txBody>
      </p:sp>
      <p:sp>
        <p:nvSpPr>
          <p:cNvPr id="15" name="Rectangle 14"/>
          <p:cNvSpPr/>
          <p:nvPr/>
        </p:nvSpPr>
        <p:spPr>
          <a:xfrm>
            <a:off x="7198156" y="1508760"/>
            <a:ext cx="1653235" cy="594360"/>
          </a:xfrm>
          <a:prstGeom prst="roundRect">
            <a:avLst>
              <a:gd name="adj" fmla="val 6000"/>
            </a:avLst>
          </a:prstGeom>
          <a:no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98156" y="1508760"/>
            <a:ext cx="1653235" cy="594360"/>
          </a:xfrm>
          <a:prstGeom prst="rect">
            <a:avLst/>
          </a:prstGeom>
          <a:noFill/>
        </p:spPr>
        <p:txBody>
          <a:bodyPr wrap="square" lIns="0" rIns="0" tIns="25400" bIns="25400">
            <a:spAutoFit/>
          </a:bodyPr>
          <a:lstStyle/>
          <a:p>
            <a:pPr algn="ctr"/>
            <a:r>
              <a:rPr sz="700" b="0" i="0">
                <a:solidFill>
                  <a:srgbClr val="1A365D"/>
                </a:solidFill>
              </a:rPr>
              <a:t>TRL 6
Sona Comstar
Commercial</a:t>
            </a:r>
          </a:p>
        </p:txBody>
      </p:sp>
      <p:sp>
        <p:nvSpPr>
          <p:cNvPr id="17" name="TextBox 16"/>
          <p:cNvSpPr txBox="1"/>
          <p:nvPr/>
        </p:nvSpPr>
        <p:spPr>
          <a:xfrm>
            <a:off x="256032" y="2148840"/>
            <a:ext cx="8631936" cy="182880"/>
          </a:xfrm>
          <a:prstGeom prst="rect">
            <a:avLst/>
          </a:prstGeom>
          <a:noFill/>
        </p:spPr>
        <p:txBody>
          <a:bodyPr wrap="square" lIns="0" rIns="0" tIns="25400" bIns="25400">
            <a:spAutoFit/>
          </a:bodyPr>
          <a:lstStyle/>
          <a:p>
            <a:pPr algn="l"/>
            <a:r>
              <a:rPr sz="800" b="0" i="0">
                <a:solidFill>
                  <a:srgbClr val="00B4D8"/>
                </a:solidFill>
              </a:rPr>
              <a:t>▶ SCIDIP enables the jump from TRL 3+ to TRL 6 in 24 months</a:t>
            </a:r>
          </a:p>
        </p:txBody>
      </p:sp>
      <p:sp>
        <p:nvSpPr>
          <p:cNvPr id="18" name="Rectangle 17"/>
          <p:cNvSpPr/>
          <p:nvPr/>
        </p:nvSpPr>
        <p:spPr>
          <a:xfrm>
            <a:off x="256032" y="2377440"/>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 y="2487168"/>
            <a:ext cx="2084831"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578608"/>
            <a:ext cx="1883663" cy="146304"/>
          </a:xfrm>
          <a:prstGeom prst="rect">
            <a:avLst/>
          </a:prstGeom>
          <a:noFill/>
        </p:spPr>
        <p:txBody>
          <a:bodyPr wrap="square" lIns="0" rIns="0" tIns="25400" bIns="25400">
            <a:spAutoFit/>
          </a:bodyPr>
          <a:lstStyle/>
          <a:p>
            <a:pPr algn="l"/>
            <a:r>
              <a:rPr sz="700" b="1" i="0">
                <a:solidFill>
                  <a:srgbClr val="00B4D8"/>
                </a:solidFill>
              </a:rPr>
              <a:t>PILLAR 1</a:t>
            </a:r>
          </a:p>
        </p:txBody>
      </p:sp>
      <p:sp>
        <p:nvSpPr>
          <p:cNvPr id="22" name="TextBox 21"/>
          <p:cNvSpPr txBox="1"/>
          <p:nvPr/>
        </p:nvSpPr>
        <p:spPr>
          <a:xfrm>
            <a:off x="365760" y="2724912"/>
            <a:ext cx="1883663" cy="320040"/>
          </a:xfrm>
          <a:prstGeom prst="rect">
            <a:avLst/>
          </a:prstGeom>
          <a:noFill/>
        </p:spPr>
        <p:txBody>
          <a:bodyPr wrap="square" lIns="0" rIns="0" tIns="25400" bIns="25400">
            <a:spAutoFit/>
          </a:bodyPr>
          <a:lstStyle/>
          <a:p>
            <a:pPr algn="ctr"/>
            <a:r>
              <a:rPr sz="1000" b="1" i="0">
                <a:solidFill>
                  <a:srgbClr val="1A365D"/>
                </a:solidFill>
              </a:rPr>
              <a:t>Technology &amp;
Lab Support</a:t>
            </a:r>
          </a:p>
        </p:txBody>
      </p:sp>
      <p:sp>
        <p:nvSpPr>
          <p:cNvPr id="23" name="TextBox 22"/>
          <p:cNvSpPr txBox="1"/>
          <p:nvPr/>
        </p:nvSpPr>
        <p:spPr>
          <a:xfrm>
            <a:off x="365760" y="3063240"/>
            <a:ext cx="1883663" cy="164592"/>
          </a:xfrm>
          <a:prstGeom prst="rect">
            <a:avLst/>
          </a:prstGeom>
          <a:noFill/>
        </p:spPr>
        <p:txBody>
          <a:bodyPr wrap="square" lIns="0" rIns="0" tIns="25400" bIns="25400">
            <a:spAutoFit/>
          </a:bodyPr>
          <a:lstStyle/>
          <a:p>
            <a:pPr algn="ctr"/>
            <a:r>
              <a:rPr sz="750" b="0" i="0">
                <a:solidFill>
                  <a:srgbClr val="00B4D8"/>
                </a:solidFill>
              </a:rPr>
              <a:t>IIT Delhi CRF</a:t>
            </a:r>
          </a:p>
        </p:txBody>
      </p:sp>
      <p:sp>
        <p:nvSpPr>
          <p:cNvPr id="24" name="Rectangle 23"/>
          <p:cNvSpPr/>
          <p:nvPr/>
        </p:nvSpPr>
        <p:spPr>
          <a:xfrm>
            <a:off x="40233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3310128"/>
            <a:ext cx="1920239" cy="1097280"/>
          </a:xfrm>
          <a:prstGeom prst="rect">
            <a:avLst/>
          </a:prstGeom>
          <a:noFill/>
        </p:spPr>
        <p:txBody>
          <a:bodyPr wrap="square" lIns="0" rIns="0" tIns="25400" bIns="25400">
            <a:spAutoFit/>
          </a:bodyPr>
          <a:lstStyle/>
          <a:p>
            <a:pPr algn="l"/>
            <a:r>
              <a:rPr sz="700" b="0" i="0">
                <a:solidFill>
                  <a:srgbClr val="111111"/>
                </a:solidFill>
              </a:rPr>
              <a:t>• High-Temperature XRD at IIT Delhi CRF to confirm BCC phase stability
• Simultaneous Thermal Analysis (STA) for oxidation kinetics validation
• SEM/EDS characterization of coupon microstructure
• NIDHI-CoE tensile testing to confirm 917.7 MPa yield strength
• Altair simulation software access for structural FEA</a:t>
            </a:r>
          </a:p>
        </p:txBody>
      </p:sp>
      <p:sp>
        <p:nvSpPr>
          <p:cNvPr id="26" name="Rectangle 25"/>
          <p:cNvSpPr/>
          <p:nvPr/>
        </p:nvSpPr>
        <p:spPr>
          <a:xfrm>
            <a:off x="2450591"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450591" y="2487168"/>
            <a:ext cx="2084831"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0" y="2578608"/>
            <a:ext cx="1883663" cy="146304"/>
          </a:xfrm>
          <a:prstGeom prst="rect">
            <a:avLst/>
          </a:prstGeom>
          <a:noFill/>
        </p:spPr>
        <p:txBody>
          <a:bodyPr wrap="square" lIns="0" rIns="0" tIns="25400" bIns="25400">
            <a:spAutoFit/>
          </a:bodyPr>
          <a:lstStyle/>
          <a:p>
            <a:pPr algn="l"/>
            <a:r>
              <a:rPr sz="700" b="1" i="0">
                <a:solidFill>
                  <a:srgbClr val="1A365D"/>
                </a:solidFill>
              </a:rPr>
              <a:t>PILLAR 2</a:t>
            </a:r>
          </a:p>
        </p:txBody>
      </p:sp>
      <p:sp>
        <p:nvSpPr>
          <p:cNvPr id="29" name="TextBox 28"/>
          <p:cNvSpPr txBox="1"/>
          <p:nvPr/>
        </p:nvSpPr>
        <p:spPr>
          <a:xfrm>
            <a:off x="2560320" y="2724912"/>
            <a:ext cx="1883663" cy="320040"/>
          </a:xfrm>
          <a:prstGeom prst="rect">
            <a:avLst/>
          </a:prstGeom>
          <a:noFill/>
        </p:spPr>
        <p:txBody>
          <a:bodyPr wrap="square" lIns="0" rIns="0" tIns="25400" bIns="25400">
            <a:spAutoFit/>
          </a:bodyPr>
          <a:lstStyle/>
          <a:p>
            <a:pPr algn="ctr"/>
            <a:r>
              <a:rPr sz="1000" b="1" i="0">
                <a:solidFill>
                  <a:srgbClr val="1A365D"/>
                </a:solidFill>
              </a:rPr>
              <a:t>Sona Comstar
Mentorship</a:t>
            </a:r>
          </a:p>
        </p:txBody>
      </p:sp>
      <p:sp>
        <p:nvSpPr>
          <p:cNvPr id="30" name="TextBox 29"/>
          <p:cNvSpPr txBox="1"/>
          <p:nvPr/>
        </p:nvSpPr>
        <p:spPr>
          <a:xfrm>
            <a:off x="2560320" y="3063240"/>
            <a:ext cx="1883663" cy="164592"/>
          </a:xfrm>
          <a:prstGeom prst="rect">
            <a:avLst/>
          </a:prstGeom>
          <a:noFill/>
        </p:spPr>
        <p:txBody>
          <a:bodyPr wrap="square" lIns="0" rIns="0" tIns="25400" bIns="25400">
            <a:spAutoFit/>
          </a:bodyPr>
          <a:lstStyle/>
          <a:p>
            <a:pPr algn="ctr"/>
            <a:r>
              <a:rPr sz="750" b="0" i="0">
                <a:solidFill>
                  <a:srgbClr val="1A365D"/>
                </a:solidFill>
              </a:rPr>
              <a:t>Engineering Alignment</a:t>
            </a:r>
          </a:p>
        </p:txBody>
      </p:sp>
      <p:sp>
        <p:nvSpPr>
          <p:cNvPr id="31" name="Rectangle 30"/>
          <p:cNvSpPr/>
          <p:nvPr/>
        </p:nvSpPr>
        <p:spPr>
          <a:xfrm>
            <a:off x="259689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42032" y="3310128"/>
            <a:ext cx="1920239" cy="1097280"/>
          </a:xfrm>
          <a:prstGeom prst="rect">
            <a:avLst/>
          </a:prstGeom>
          <a:noFill/>
        </p:spPr>
        <p:txBody>
          <a:bodyPr wrap="square" lIns="0" rIns="0" tIns="25400" bIns="25400">
            <a:spAutoFit/>
          </a:bodyPr>
          <a:lstStyle/>
          <a:p>
            <a:pPr algn="l"/>
            <a:r>
              <a:rPr sz="700" b="0" i="0">
                <a:solidFill>
                  <a:srgbClr val="111111"/>
                </a:solidFill>
              </a:rPr>
              <a:t>• Direct access to Sona Comstar precision forging division engineers
• Calibrate 11-layer DED print parameters to factory-floor tolerances
• Joint Failure Mode &amp; Effect Analysis (FMEA) on die integration
• Access Sona Comstar's 9-facility manufacturing ecosystem
• Align with DENSO JV technical teams for e-Axle material specs</a:t>
            </a:r>
          </a:p>
        </p:txBody>
      </p:sp>
      <p:sp>
        <p:nvSpPr>
          <p:cNvPr id="33" name="Rectangle 32"/>
          <p:cNvSpPr/>
          <p:nvPr/>
        </p:nvSpPr>
        <p:spPr>
          <a:xfrm>
            <a:off x="464515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45152" y="2487168"/>
            <a:ext cx="2084831"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2578608"/>
            <a:ext cx="1883663" cy="146304"/>
          </a:xfrm>
          <a:prstGeom prst="rect">
            <a:avLst/>
          </a:prstGeom>
          <a:noFill/>
        </p:spPr>
        <p:txBody>
          <a:bodyPr wrap="square" lIns="0" rIns="0" tIns="25400" bIns="25400">
            <a:spAutoFit/>
          </a:bodyPr>
          <a:lstStyle/>
          <a:p>
            <a:pPr algn="l"/>
            <a:r>
              <a:rPr sz="700" b="1" i="0">
                <a:solidFill>
                  <a:srgbClr val="059669"/>
                </a:solidFill>
              </a:rPr>
              <a:t>PILLAR 3</a:t>
            </a:r>
          </a:p>
        </p:txBody>
      </p:sp>
      <p:sp>
        <p:nvSpPr>
          <p:cNvPr id="36" name="TextBox 35"/>
          <p:cNvSpPr txBox="1"/>
          <p:nvPr/>
        </p:nvSpPr>
        <p:spPr>
          <a:xfrm>
            <a:off x="4754880" y="2724912"/>
            <a:ext cx="1883663" cy="320040"/>
          </a:xfrm>
          <a:prstGeom prst="rect">
            <a:avLst/>
          </a:prstGeom>
          <a:noFill/>
        </p:spPr>
        <p:txBody>
          <a:bodyPr wrap="square" lIns="0" rIns="0" tIns="25400" bIns="25400">
            <a:spAutoFit/>
          </a:bodyPr>
          <a:lstStyle/>
          <a:p>
            <a:pPr algn="ctr"/>
            <a:r>
              <a:rPr sz="1000" b="1" i="0">
                <a:solidFill>
                  <a:srgbClr val="1A365D"/>
                </a:solidFill>
              </a:rPr>
              <a:t>₹80L Grant
Seed Ecosystem</a:t>
            </a:r>
          </a:p>
        </p:txBody>
      </p:sp>
      <p:sp>
        <p:nvSpPr>
          <p:cNvPr id="37" name="TextBox 36"/>
          <p:cNvSpPr txBox="1"/>
          <p:nvPr/>
        </p:nvSpPr>
        <p:spPr>
          <a:xfrm>
            <a:off x="4754880" y="3063240"/>
            <a:ext cx="1883663" cy="164592"/>
          </a:xfrm>
          <a:prstGeom prst="rect">
            <a:avLst/>
          </a:prstGeom>
          <a:noFill/>
        </p:spPr>
        <p:txBody>
          <a:bodyPr wrap="square" lIns="0" rIns="0" tIns="25400" bIns="25400">
            <a:spAutoFit/>
          </a:bodyPr>
          <a:lstStyle/>
          <a:p>
            <a:pPr algn="ctr"/>
            <a:r>
              <a:rPr sz="750" b="0" i="0">
                <a:solidFill>
                  <a:srgbClr val="059669"/>
                </a:solidFill>
              </a:rPr>
              <a:t>Equity-Free Funding</a:t>
            </a:r>
          </a:p>
        </p:txBody>
      </p:sp>
      <p:sp>
        <p:nvSpPr>
          <p:cNvPr id="38" name="Rectangle 37"/>
          <p:cNvSpPr/>
          <p:nvPr/>
        </p:nvSpPr>
        <p:spPr>
          <a:xfrm>
            <a:off x="479145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36592" y="3310128"/>
            <a:ext cx="1920239" cy="1097280"/>
          </a:xfrm>
          <a:prstGeom prst="rect">
            <a:avLst/>
          </a:prstGeom>
          <a:noFill/>
        </p:spPr>
        <p:txBody>
          <a:bodyPr wrap="square" lIns="0" rIns="0" tIns="25400" bIns="25400">
            <a:spAutoFit/>
          </a:bodyPr>
          <a:lstStyle/>
          <a:p>
            <a:pPr algn="l"/>
            <a:r>
              <a:rPr sz="700" b="0" i="0">
                <a:solidFill>
                  <a:srgbClr val="111111"/>
                </a:solidFill>
              </a:rPr>
              <a:t>• Milestone-tranche funding for raw powder procurement
  (Ta, W, Cr, V, Ti, Zr, Hf, Al — atomization grade)
• Finance multi-hopper DED 3D printer time for coupon production
• 24-month AIC IIT Delhi incubation infrastructure
• Access to ₹1.6 CR total SCIDIP grant pool</a:t>
            </a:r>
          </a:p>
        </p:txBody>
      </p:sp>
      <p:sp>
        <p:nvSpPr>
          <p:cNvPr id="40" name="Rectangle 39"/>
          <p:cNvSpPr/>
          <p:nvPr/>
        </p:nvSpPr>
        <p:spPr>
          <a:xfrm>
            <a:off x="683971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39712" y="2487168"/>
            <a:ext cx="2084831"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0" y="2578608"/>
            <a:ext cx="1883663" cy="146304"/>
          </a:xfrm>
          <a:prstGeom prst="rect">
            <a:avLst/>
          </a:prstGeom>
          <a:noFill/>
        </p:spPr>
        <p:txBody>
          <a:bodyPr wrap="square" lIns="0" rIns="0" tIns="25400" bIns="25400">
            <a:spAutoFit/>
          </a:bodyPr>
          <a:lstStyle/>
          <a:p>
            <a:pPr algn="l"/>
            <a:r>
              <a:rPr sz="700" b="1" i="0">
                <a:solidFill>
                  <a:srgbClr val="F59E0B"/>
                </a:solidFill>
              </a:rPr>
              <a:t>PILLAR 4</a:t>
            </a:r>
          </a:p>
        </p:txBody>
      </p:sp>
      <p:sp>
        <p:nvSpPr>
          <p:cNvPr id="43" name="TextBox 42"/>
          <p:cNvSpPr txBox="1"/>
          <p:nvPr/>
        </p:nvSpPr>
        <p:spPr>
          <a:xfrm>
            <a:off x="6949440" y="2724912"/>
            <a:ext cx="1883663" cy="320040"/>
          </a:xfrm>
          <a:prstGeom prst="rect">
            <a:avLst/>
          </a:prstGeom>
          <a:noFill/>
        </p:spPr>
        <p:txBody>
          <a:bodyPr wrap="square" lIns="0" rIns="0" tIns="25400" bIns="25400">
            <a:spAutoFit/>
          </a:bodyPr>
          <a:lstStyle/>
          <a:p>
            <a:pPr algn="ctr"/>
            <a:r>
              <a:rPr sz="1000" b="1" i="0">
                <a:solidFill>
                  <a:srgbClr val="1A365D"/>
                </a:solidFill>
              </a:rPr>
              <a:t>Corporate
Market Connect</a:t>
            </a:r>
          </a:p>
        </p:txBody>
      </p:sp>
      <p:sp>
        <p:nvSpPr>
          <p:cNvPr id="44" name="TextBox 43"/>
          <p:cNvSpPr txBox="1"/>
          <p:nvPr/>
        </p:nvSpPr>
        <p:spPr>
          <a:xfrm>
            <a:off x="6949440" y="3063240"/>
            <a:ext cx="1883663" cy="164592"/>
          </a:xfrm>
          <a:prstGeom prst="rect">
            <a:avLst/>
          </a:prstGeom>
          <a:noFill/>
        </p:spPr>
        <p:txBody>
          <a:bodyPr wrap="square" lIns="0" rIns="0" tIns="25400" bIns="25400">
            <a:spAutoFit/>
          </a:bodyPr>
          <a:lstStyle/>
          <a:p>
            <a:pPr algn="ctr"/>
            <a:r>
              <a:rPr sz="750" b="0" i="0">
                <a:solidFill>
                  <a:srgbClr val="F59E0B"/>
                </a:solidFill>
              </a:rPr>
              <a:t>Supply Chain Access</a:t>
            </a:r>
          </a:p>
        </p:txBody>
      </p:sp>
      <p:sp>
        <p:nvSpPr>
          <p:cNvPr id="45" name="Rectangle 44"/>
          <p:cNvSpPr/>
          <p:nvPr/>
        </p:nvSpPr>
        <p:spPr>
          <a:xfrm>
            <a:off x="698601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31152" y="3310128"/>
            <a:ext cx="1920239" cy="1097280"/>
          </a:xfrm>
          <a:prstGeom prst="rect">
            <a:avLst/>
          </a:prstGeom>
          <a:noFill/>
        </p:spPr>
        <p:txBody>
          <a:bodyPr wrap="square" lIns="0" rIns="0" tIns="25400" bIns="25400">
            <a:spAutoFit/>
          </a:bodyPr>
          <a:lstStyle/>
          <a:p>
            <a:pPr algn="l"/>
            <a:r>
              <a:rPr sz="700" b="0" i="0">
                <a:solidFill>
                  <a:srgbClr val="111111"/>
                </a:solidFill>
              </a:rPr>
              <a:t>• Integration into Sona Comstar downstream EV supply chain
• Access to Sona Comstar's OEM client network (Tier-1 EV manufacturers)
• Pathway to Drive TLV (Israel mobility startup hub) partnerships
• IIT Delhi Alumni VC pipeline for Series A raise
• FITT government partner access: iDEX, MeitY, DST</a:t>
            </a:r>
          </a:p>
        </p:txBody>
      </p:sp>
      <p:sp>
        <p:nvSpPr>
          <p:cNvPr id="47" name="TextBox 46"/>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24-MONTH INCUBATION ROADMAP</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From Computational Validation to Sona Comstar Factory Integration · Atal Incubation Centre, IIT Delhi</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201168"/>
          </a:xfrm>
          <a:prstGeom prst="rect">
            <a:avLst/>
          </a:prstGeom>
          <a:noFill/>
        </p:spPr>
        <p:txBody>
          <a:bodyPr wrap="square" lIns="0" rIns="0" tIns="25400" bIns="25400">
            <a:spAutoFit/>
          </a:bodyPr>
          <a:lstStyle/>
          <a:p>
            <a:pPr algn="l"/>
            <a:r>
              <a:rPr sz="850" b="0" i="0">
                <a:solidFill>
                  <a:srgbClr val="5580A0"/>
                </a:solidFill>
              </a:rPr>
              <a:t>Execution mapped to SCIDIP 24-month incubation cycle. Milestone-tranche funding releases at M1→M2→M3→M4 gates.</a:t>
            </a:r>
          </a:p>
        </p:txBody>
      </p:sp>
      <p:sp>
        <p:nvSpPr>
          <p:cNvPr id="7" name="Rectangle 6"/>
          <p:cNvSpPr/>
          <p:nvPr/>
        </p:nvSpPr>
        <p:spPr>
          <a:xfrm>
            <a:off x="457200" y="1627632"/>
            <a:ext cx="8229600" cy="36576"/>
          </a:xfrm>
          <a:prstGeom prst="rect">
            <a:avLst/>
          </a:prstGeom>
          <a:solidFill>
            <a:srgbClr val="D6E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35024" y="1536192"/>
            <a:ext cx="256032" cy="25603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1545336"/>
            <a:ext cx="256032" cy="228600"/>
          </a:xfrm>
          <a:prstGeom prst="rect">
            <a:avLst/>
          </a:prstGeom>
          <a:noFill/>
        </p:spPr>
        <p:txBody>
          <a:bodyPr wrap="square" lIns="0" rIns="0" tIns="25400" bIns="25400">
            <a:spAutoFit/>
          </a:bodyPr>
          <a:lstStyle/>
          <a:p>
            <a:pPr algn="ctr"/>
            <a:r>
              <a:rPr sz="800" b="1" i="0">
                <a:solidFill>
                  <a:srgbClr val="FFFFFF"/>
                </a:solidFill>
              </a:rPr>
              <a:t>M1</a:t>
            </a:r>
          </a:p>
        </p:txBody>
      </p:sp>
      <p:sp>
        <p:nvSpPr>
          <p:cNvPr id="10" name="Rectangle 9"/>
          <p:cNvSpPr/>
          <p:nvPr/>
        </p:nvSpPr>
        <p:spPr>
          <a:xfrm>
            <a:off x="45720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20116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83664"/>
            <a:ext cx="1847088" cy="146304"/>
          </a:xfrm>
          <a:prstGeom prst="rect">
            <a:avLst/>
          </a:prstGeom>
          <a:noFill/>
        </p:spPr>
        <p:txBody>
          <a:bodyPr wrap="square" lIns="0" rIns="0" tIns="25400" bIns="25400">
            <a:spAutoFit/>
          </a:bodyPr>
          <a:lstStyle/>
          <a:p>
            <a:pPr algn="l"/>
            <a:r>
              <a:rPr sz="700" b="1" i="0">
                <a:solidFill>
                  <a:srgbClr val="00B4D8"/>
                </a:solidFill>
              </a:rPr>
              <a:t>MONTHS 1–6</a:t>
            </a:r>
          </a:p>
        </p:txBody>
      </p:sp>
      <p:sp>
        <p:nvSpPr>
          <p:cNvPr id="13" name="TextBox 12"/>
          <p:cNvSpPr txBox="1"/>
          <p:nvPr/>
        </p:nvSpPr>
        <p:spPr>
          <a:xfrm>
            <a:off x="548640" y="2048256"/>
            <a:ext cx="1847088" cy="320040"/>
          </a:xfrm>
          <a:prstGeom prst="rect">
            <a:avLst/>
          </a:prstGeom>
          <a:noFill/>
        </p:spPr>
        <p:txBody>
          <a:bodyPr wrap="square" lIns="0" rIns="0" tIns="25400" bIns="25400">
            <a:spAutoFit/>
          </a:bodyPr>
          <a:lstStyle/>
          <a:p>
            <a:pPr algn="l"/>
            <a:r>
              <a:rPr sz="900" b="1" i="0">
                <a:solidFill>
                  <a:srgbClr val="1A365D"/>
                </a:solidFill>
              </a:rPr>
              <a:t>Powder Synthesis &amp;
Composition Verification</a:t>
            </a:r>
          </a:p>
        </p:txBody>
      </p:sp>
      <p:sp>
        <p:nvSpPr>
          <p:cNvPr id="14" name="Rectangle 13"/>
          <p:cNvSpPr/>
          <p:nvPr/>
        </p:nvSpPr>
        <p:spPr>
          <a:xfrm>
            <a:off x="54864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468880"/>
            <a:ext cx="1700784" cy="365760"/>
          </a:xfrm>
          <a:prstGeom prst="rect">
            <a:avLst/>
          </a:prstGeom>
          <a:noFill/>
        </p:spPr>
        <p:txBody>
          <a:bodyPr wrap="square" lIns="0" rIns="0" tIns="25400" bIns="25400">
            <a:spAutoFit/>
          </a:bodyPr>
          <a:lstStyle/>
          <a:p>
            <a:pPr algn="l"/>
            <a:r>
              <a:rPr sz="680" b="0" i="0">
                <a:solidFill>
                  <a:srgbClr val="111111"/>
                </a:solidFill>
              </a:rPr>
              <a:t>Procure raw metal powders: Ta, W, Cr, V, Ti, Zr, Hf, Al (atomization grade)</a:t>
            </a:r>
          </a:p>
        </p:txBody>
      </p:sp>
      <p:sp>
        <p:nvSpPr>
          <p:cNvPr id="17" name="Rectangle 16"/>
          <p:cNvSpPr/>
          <p:nvPr/>
        </p:nvSpPr>
        <p:spPr>
          <a:xfrm>
            <a:off x="54864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2871216"/>
            <a:ext cx="1700784" cy="365760"/>
          </a:xfrm>
          <a:prstGeom prst="rect">
            <a:avLst/>
          </a:prstGeom>
          <a:noFill/>
        </p:spPr>
        <p:txBody>
          <a:bodyPr wrap="square" lIns="0" rIns="0" tIns="25400" bIns="25400">
            <a:spAutoFit/>
          </a:bodyPr>
          <a:lstStyle/>
          <a:p>
            <a:pPr algn="l"/>
            <a:r>
              <a:rPr sz="680" b="0" i="0">
                <a:solidFill>
                  <a:srgbClr val="111111"/>
                </a:solidFill>
              </a:rPr>
              <a:t>IIT Delhi CRF: XRD baseline scan to verify powder phase purity</a:t>
            </a:r>
          </a:p>
        </p:txBody>
      </p:sp>
      <p:sp>
        <p:nvSpPr>
          <p:cNvPr id="19" name="Rectangle 18"/>
          <p:cNvSpPr/>
          <p:nvPr/>
        </p:nvSpPr>
        <p:spPr>
          <a:xfrm>
            <a:off x="54864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273552"/>
            <a:ext cx="1700784" cy="365760"/>
          </a:xfrm>
          <a:prstGeom prst="rect">
            <a:avLst/>
          </a:prstGeom>
          <a:noFill/>
        </p:spPr>
        <p:txBody>
          <a:bodyPr wrap="square" lIns="0" rIns="0" tIns="25400" bIns="25400">
            <a:spAutoFit/>
          </a:bodyPr>
          <a:lstStyle/>
          <a:p>
            <a:pPr algn="l"/>
            <a:r>
              <a:rPr sz="680" b="0" i="0">
                <a:solidFill>
                  <a:srgbClr val="111111"/>
                </a:solidFill>
              </a:rPr>
              <a:t>NIDHI-CoE: Establish tensile test protocol and specimen geometry</a:t>
            </a:r>
          </a:p>
        </p:txBody>
      </p:sp>
      <p:sp>
        <p:nvSpPr>
          <p:cNvPr id="21" name="Rectangle 20"/>
          <p:cNvSpPr/>
          <p:nvPr/>
        </p:nvSpPr>
        <p:spPr>
          <a:xfrm>
            <a:off x="54864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3675888"/>
            <a:ext cx="1700784" cy="365760"/>
          </a:xfrm>
          <a:prstGeom prst="rect">
            <a:avLst/>
          </a:prstGeom>
          <a:noFill/>
        </p:spPr>
        <p:txBody>
          <a:bodyPr wrap="square" lIns="0" rIns="0" tIns="25400" bIns="25400">
            <a:spAutoFit/>
          </a:bodyPr>
          <a:lstStyle/>
          <a:p>
            <a:pPr algn="l"/>
            <a:r>
              <a:rPr sz="680" b="0" i="0">
                <a:solidFill>
                  <a:srgbClr val="111111"/>
                </a:solidFill>
              </a:rPr>
              <a:t>Sona Comstar: Receive forging die dimensional specs for coupon sizing</a:t>
            </a:r>
          </a:p>
        </p:txBody>
      </p:sp>
      <p:sp>
        <p:nvSpPr>
          <p:cNvPr id="23" name="Rectangle 22"/>
          <p:cNvSpPr/>
          <p:nvPr/>
        </p:nvSpPr>
        <p:spPr>
          <a:xfrm>
            <a:off x="54864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4078224"/>
            <a:ext cx="1700784" cy="365760"/>
          </a:xfrm>
          <a:prstGeom prst="rect">
            <a:avLst/>
          </a:prstGeom>
          <a:noFill/>
        </p:spPr>
        <p:txBody>
          <a:bodyPr wrap="square" lIns="0" rIns="0" tIns="25400" bIns="25400">
            <a:spAutoFit/>
          </a:bodyPr>
          <a:lstStyle/>
          <a:p>
            <a:pPr algn="l"/>
            <a:r>
              <a:rPr sz="680" b="0" i="0">
                <a:solidFill>
                  <a:srgbClr val="111111"/>
                </a:solidFill>
              </a:rPr>
              <a:t>Funding Gate: M1 tranche release upon powder procurement verification</a:t>
            </a:r>
          </a:p>
        </p:txBody>
      </p:sp>
      <p:sp>
        <p:nvSpPr>
          <p:cNvPr id="25" name="Rectangle 24"/>
          <p:cNvSpPr/>
          <p:nvPr/>
        </p:nvSpPr>
        <p:spPr>
          <a:xfrm>
            <a:off x="3529584" y="1536192"/>
            <a:ext cx="256032" cy="256032"/>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9584" y="1545336"/>
            <a:ext cx="256032" cy="228600"/>
          </a:xfrm>
          <a:prstGeom prst="rect">
            <a:avLst/>
          </a:prstGeom>
          <a:noFill/>
        </p:spPr>
        <p:txBody>
          <a:bodyPr wrap="square" lIns="0" rIns="0" tIns="25400" bIns="25400">
            <a:spAutoFit/>
          </a:bodyPr>
          <a:lstStyle/>
          <a:p>
            <a:pPr algn="ctr"/>
            <a:r>
              <a:rPr sz="800" b="1" i="0">
                <a:solidFill>
                  <a:srgbClr val="FFFFFF"/>
                </a:solidFill>
              </a:rPr>
              <a:t>M2</a:t>
            </a:r>
          </a:p>
        </p:txBody>
      </p:sp>
      <p:sp>
        <p:nvSpPr>
          <p:cNvPr id="27" name="Rectangle 26"/>
          <p:cNvSpPr/>
          <p:nvPr/>
        </p:nvSpPr>
        <p:spPr>
          <a:xfrm>
            <a:off x="265176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651760" y="1783080"/>
            <a:ext cx="2011680"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0" y="1883664"/>
            <a:ext cx="1847088" cy="146304"/>
          </a:xfrm>
          <a:prstGeom prst="rect">
            <a:avLst/>
          </a:prstGeom>
          <a:noFill/>
        </p:spPr>
        <p:txBody>
          <a:bodyPr wrap="square" lIns="0" rIns="0" tIns="25400" bIns="25400">
            <a:spAutoFit/>
          </a:bodyPr>
          <a:lstStyle/>
          <a:p>
            <a:pPr algn="l"/>
            <a:r>
              <a:rPr sz="700" b="1" i="0">
                <a:solidFill>
                  <a:srgbClr val="1A365D"/>
                </a:solidFill>
              </a:rPr>
              <a:t>MONTHS 6–12</a:t>
            </a:r>
          </a:p>
        </p:txBody>
      </p:sp>
      <p:sp>
        <p:nvSpPr>
          <p:cNvPr id="30" name="TextBox 29"/>
          <p:cNvSpPr txBox="1"/>
          <p:nvPr/>
        </p:nvSpPr>
        <p:spPr>
          <a:xfrm>
            <a:off x="2743200" y="2048256"/>
            <a:ext cx="1847088" cy="320040"/>
          </a:xfrm>
          <a:prstGeom prst="rect">
            <a:avLst/>
          </a:prstGeom>
          <a:noFill/>
        </p:spPr>
        <p:txBody>
          <a:bodyPr wrap="square" lIns="0" rIns="0" tIns="25400" bIns="25400">
            <a:spAutoFit/>
          </a:bodyPr>
          <a:lstStyle/>
          <a:p>
            <a:pPr algn="l"/>
            <a:r>
              <a:rPr sz="900" b="1" i="0">
                <a:solidFill>
                  <a:srgbClr val="1A365D"/>
                </a:solidFill>
              </a:rPr>
              <a:t>Additive Manufacturing
Witness Coupons</a:t>
            </a:r>
          </a:p>
        </p:txBody>
      </p:sp>
      <p:sp>
        <p:nvSpPr>
          <p:cNvPr id="31" name="Rectangle 30"/>
          <p:cNvSpPr/>
          <p:nvPr/>
        </p:nvSpPr>
        <p:spPr>
          <a:xfrm>
            <a:off x="274320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9504" y="2468880"/>
            <a:ext cx="1700784" cy="365760"/>
          </a:xfrm>
          <a:prstGeom prst="rect">
            <a:avLst/>
          </a:prstGeom>
          <a:noFill/>
        </p:spPr>
        <p:txBody>
          <a:bodyPr wrap="square" lIns="0" rIns="0" tIns="25400" bIns="25400">
            <a:spAutoFit/>
          </a:bodyPr>
          <a:lstStyle/>
          <a:p>
            <a:pPr algn="l"/>
            <a:r>
              <a:rPr sz="680" b="0" i="0">
                <a:solidFill>
                  <a:srgbClr val="111111"/>
                </a:solidFill>
              </a:rPr>
              <a:t>Execute 11-layer manufacturing_recipe.csv via DED 3D printer</a:t>
            </a:r>
          </a:p>
        </p:txBody>
      </p:sp>
      <p:sp>
        <p:nvSpPr>
          <p:cNvPr id="34" name="Rectangle 33"/>
          <p:cNvSpPr/>
          <p:nvPr/>
        </p:nvSpPr>
        <p:spPr>
          <a:xfrm>
            <a:off x="274320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9504" y="2871216"/>
            <a:ext cx="1700784" cy="365760"/>
          </a:xfrm>
          <a:prstGeom prst="rect">
            <a:avLst/>
          </a:prstGeom>
          <a:noFill/>
        </p:spPr>
        <p:txBody>
          <a:bodyPr wrap="square" lIns="0" rIns="0" tIns="25400" bIns="25400">
            <a:spAutoFit/>
          </a:bodyPr>
          <a:lstStyle/>
          <a:p>
            <a:pPr algn="l"/>
            <a:r>
              <a:rPr sz="680" b="0" i="0">
                <a:solidFill>
                  <a:srgbClr val="111111"/>
                </a:solidFill>
              </a:rPr>
              <a:t>Multi-hopper DED: Layer 1 (100% Alloy) → Layer 11 (100% LZO Ceramic)</a:t>
            </a:r>
          </a:p>
        </p:txBody>
      </p:sp>
      <p:sp>
        <p:nvSpPr>
          <p:cNvPr id="36" name="Rectangle 35"/>
          <p:cNvSpPr/>
          <p:nvPr/>
        </p:nvSpPr>
        <p:spPr>
          <a:xfrm>
            <a:off x="274320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89504" y="3273552"/>
            <a:ext cx="1700784" cy="365760"/>
          </a:xfrm>
          <a:prstGeom prst="rect">
            <a:avLst/>
          </a:prstGeom>
          <a:noFill/>
        </p:spPr>
        <p:txBody>
          <a:bodyPr wrap="square" lIns="0" rIns="0" tIns="25400" bIns="25400">
            <a:spAutoFit/>
          </a:bodyPr>
          <a:lstStyle/>
          <a:p>
            <a:pPr algn="l"/>
            <a:r>
              <a:rPr sz="680" b="0" i="0">
                <a:solidFill>
                  <a:srgbClr val="111111"/>
                </a:solidFill>
              </a:rPr>
              <a:t>NIDHI-CoE Mechanical Lab: Tensile coupon machining and preparation</a:t>
            </a:r>
          </a:p>
        </p:txBody>
      </p:sp>
      <p:sp>
        <p:nvSpPr>
          <p:cNvPr id="38" name="Rectangle 37"/>
          <p:cNvSpPr/>
          <p:nvPr/>
        </p:nvSpPr>
        <p:spPr>
          <a:xfrm>
            <a:off x="274320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89504" y="3675888"/>
            <a:ext cx="1700784" cy="365760"/>
          </a:xfrm>
          <a:prstGeom prst="rect">
            <a:avLst/>
          </a:prstGeom>
          <a:noFill/>
        </p:spPr>
        <p:txBody>
          <a:bodyPr wrap="square" lIns="0" rIns="0" tIns="25400" bIns="25400">
            <a:spAutoFit/>
          </a:bodyPr>
          <a:lstStyle/>
          <a:p>
            <a:pPr algn="l"/>
            <a:r>
              <a:rPr sz="680" b="0" i="0">
                <a:solidFill>
                  <a:srgbClr val="111111"/>
                </a:solidFill>
              </a:rPr>
              <a:t>SEM/EDS scan: Verify chemical composition layer-by-layer</a:t>
            </a:r>
          </a:p>
        </p:txBody>
      </p:sp>
      <p:sp>
        <p:nvSpPr>
          <p:cNvPr id="40" name="Rectangle 39"/>
          <p:cNvSpPr/>
          <p:nvPr/>
        </p:nvSpPr>
        <p:spPr>
          <a:xfrm>
            <a:off x="274320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89504" y="4078224"/>
            <a:ext cx="1700784" cy="365760"/>
          </a:xfrm>
          <a:prstGeom prst="rect">
            <a:avLst/>
          </a:prstGeom>
          <a:noFill/>
        </p:spPr>
        <p:txBody>
          <a:bodyPr wrap="square" lIns="0" rIns="0" tIns="25400" bIns="25400">
            <a:spAutoFit/>
          </a:bodyPr>
          <a:lstStyle/>
          <a:p>
            <a:pPr algn="l"/>
            <a:r>
              <a:rPr sz="680" b="0" i="0">
                <a:solidFill>
                  <a:srgbClr val="111111"/>
                </a:solidFill>
              </a:rPr>
              <a:t>Funding Gate: M2 tranche upon coupon dimensional inspection pass</a:t>
            </a:r>
          </a:p>
        </p:txBody>
      </p:sp>
      <p:sp>
        <p:nvSpPr>
          <p:cNvPr id="42" name="Rectangle 41"/>
          <p:cNvSpPr/>
          <p:nvPr/>
        </p:nvSpPr>
        <p:spPr>
          <a:xfrm>
            <a:off x="5724144" y="1536192"/>
            <a:ext cx="256032" cy="25603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24144" y="1545336"/>
            <a:ext cx="256032" cy="228600"/>
          </a:xfrm>
          <a:prstGeom prst="rect">
            <a:avLst/>
          </a:prstGeom>
          <a:noFill/>
        </p:spPr>
        <p:txBody>
          <a:bodyPr wrap="square" lIns="0" rIns="0" tIns="25400" bIns="25400">
            <a:spAutoFit/>
          </a:bodyPr>
          <a:lstStyle/>
          <a:p>
            <a:pPr algn="ctr"/>
            <a:r>
              <a:rPr sz="800" b="1" i="0">
                <a:solidFill>
                  <a:srgbClr val="FFFFFF"/>
                </a:solidFill>
              </a:rPr>
              <a:t>M3</a:t>
            </a:r>
          </a:p>
        </p:txBody>
      </p:sp>
      <p:sp>
        <p:nvSpPr>
          <p:cNvPr id="44" name="Rectangle 43"/>
          <p:cNvSpPr/>
          <p:nvPr/>
        </p:nvSpPr>
        <p:spPr>
          <a:xfrm>
            <a:off x="484632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846320" y="1783080"/>
            <a:ext cx="201168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1883664"/>
            <a:ext cx="1847088" cy="146304"/>
          </a:xfrm>
          <a:prstGeom prst="rect">
            <a:avLst/>
          </a:prstGeom>
          <a:noFill/>
        </p:spPr>
        <p:txBody>
          <a:bodyPr wrap="square" lIns="0" rIns="0" tIns="25400" bIns="25400">
            <a:spAutoFit/>
          </a:bodyPr>
          <a:lstStyle/>
          <a:p>
            <a:pPr algn="l"/>
            <a:r>
              <a:rPr sz="700" b="1" i="0">
                <a:solidFill>
                  <a:srgbClr val="059669"/>
                </a:solidFill>
              </a:rPr>
              <a:t>MONTHS 12–18</a:t>
            </a:r>
          </a:p>
        </p:txBody>
      </p:sp>
      <p:sp>
        <p:nvSpPr>
          <p:cNvPr id="47" name="TextBox 46"/>
          <p:cNvSpPr txBox="1"/>
          <p:nvPr/>
        </p:nvSpPr>
        <p:spPr>
          <a:xfrm>
            <a:off x="4937760" y="2048256"/>
            <a:ext cx="1847088" cy="320040"/>
          </a:xfrm>
          <a:prstGeom prst="rect">
            <a:avLst/>
          </a:prstGeom>
          <a:noFill/>
        </p:spPr>
        <p:txBody>
          <a:bodyPr wrap="square" lIns="0" rIns="0" tIns="25400" bIns="25400">
            <a:spAutoFit/>
          </a:bodyPr>
          <a:lstStyle/>
          <a:p>
            <a:pPr algn="l"/>
            <a:r>
              <a:rPr sz="900" b="1" i="0">
                <a:solidFill>
                  <a:srgbClr val="1A365D"/>
                </a:solidFill>
              </a:rPr>
              <a:t>IIT Delhi CRF &amp;
NIDHI-CoE Validation</a:t>
            </a:r>
          </a:p>
        </p:txBody>
      </p:sp>
      <p:sp>
        <p:nvSpPr>
          <p:cNvPr id="48" name="Rectangle 47"/>
          <p:cNvSpPr/>
          <p:nvPr/>
        </p:nvSpPr>
        <p:spPr>
          <a:xfrm>
            <a:off x="493776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93776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84064" y="2468880"/>
            <a:ext cx="1700784" cy="365760"/>
          </a:xfrm>
          <a:prstGeom prst="rect">
            <a:avLst/>
          </a:prstGeom>
          <a:noFill/>
        </p:spPr>
        <p:txBody>
          <a:bodyPr wrap="square" lIns="0" rIns="0" tIns="25400" bIns="25400">
            <a:spAutoFit/>
          </a:bodyPr>
          <a:lstStyle/>
          <a:p>
            <a:pPr algn="l"/>
            <a:r>
              <a:rPr sz="680" b="0" i="0">
                <a:solidFill>
                  <a:srgbClr val="111111"/>
                </a:solidFill>
              </a:rPr>
              <a:t>High-Temp XRD: Confirm 0% brittle sigma phase at 1,200°C</a:t>
            </a:r>
          </a:p>
        </p:txBody>
      </p:sp>
      <p:sp>
        <p:nvSpPr>
          <p:cNvPr id="51" name="Rectangle 50"/>
          <p:cNvSpPr/>
          <p:nvPr/>
        </p:nvSpPr>
        <p:spPr>
          <a:xfrm>
            <a:off x="493776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84064" y="2871216"/>
            <a:ext cx="1700784" cy="365760"/>
          </a:xfrm>
          <a:prstGeom prst="rect">
            <a:avLst/>
          </a:prstGeom>
          <a:noFill/>
        </p:spPr>
        <p:txBody>
          <a:bodyPr wrap="square" lIns="0" rIns="0" tIns="25400" bIns="25400">
            <a:spAutoFit/>
          </a:bodyPr>
          <a:lstStyle/>
          <a:p>
            <a:pPr algn="l"/>
            <a:r>
              <a:rPr sz="680" b="0" i="0">
                <a:solidFill>
                  <a:srgbClr val="111111"/>
                </a:solidFill>
              </a:rPr>
              <a:t>STA/TGA: Mass gain oxidation kinetics — target &lt;10 mg/cm²</a:t>
            </a:r>
          </a:p>
        </p:txBody>
      </p:sp>
      <p:sp>
        <p:nvSpPr>
          <p:cNvPr id="53" name="Rectangle 52"/>
          <p:cNvSpPr/>
          <p:nvPr/>
        </p:nvSpPr>
        <p:spPr>
          <a:xfrm>
            <a:off x="493776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84064" y="3273552"/>
            <a:ext cx="1700784" cy="365760"/>
          </a:xfrm>
          <a:prstGeom prst="rect">
            <a:avLst/>
          </a:prstGeom>
          <a:noFill/>
        </p:spPr>
        <p:txBody>
          <a:bodyPr wrap="square" lIns="0" rIns="0" tIns="25400" bIns="25400">
            <a:spAutoFit/>
          </a:bodyPr>
          <a:lstStyle/>
          <a:p>
            <a:pPr algn="l"/>
            <a:r>
              <a:rPr sz="680" b="0" i="0">
                <a:solidFill>
                  <a:srgbClr val="111111"/>
                </a:solidFill>
              </a:rPr>
              <a:t>Burner rig adhesion test: Validate interfacial bond Safety Factor ≥1.50</a:t>
            </a:r>
          </a:p>
        </p:txBody>
      </p:sp>
      <p:sp>
        <p:nvSpPr>
          <p:cNvPr id="55" name="Rectangle 54"/>
          <p:cNvSpPr/>
          <p:nvPr/>
        </p:nvSpPr>
        <p:spPr>
          <a:xfrm>
            <a:off x="493776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84064" y="3675888"/>
            <a:ext cx="1700784" cy="365760"/>
          </a:xfrm>
          <a:prstGeom prst="rect">
            <a:avLst/>
          </a:prstGeom>
          <a:noFill/>
        </p:spPr>
        <p:txBody>
          <a:bodyPr wrap="square" lIns="0" rIns="0" tIns="25400" bIns="25400">
            <a:spAutoFit/>
          </a:bodyPr>
          <a:lstStyle/>
          <a:p>
            <a:pPr algn="l"/>
            <a:r>
              <a:rPr sz="680" b="0" i="0">
                <a:solidFill>
                  <a:srgbClr val="111111"/>
                </a:solidFill>
              </a:rPr>
              <a:t>NIDHI-CoE tensile: Confirm &gt;917.7 MPa yield strength retention</a:t>
            </a:r>
          </a:p>
        </p:txBody>
      </p:sp>
      <p:sp>
        <p:nvSpPr>
          <p:cNvPr id="57" name="Rectangle 56"/>
          <p:cNvSpPr/>
          <p:nvPr/>
        </p:nvSpPr>
        <p:spPr>
          <a:xfrm>
            <a:off x="493776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84064" y="4078224"/>
            <a:ext cx="1700784" cy="365760"/>
          </a:xfrm>
          <a:prstGeom prst="rect">
            <a:avLst/>
          </a:prstGeom>
          <a:noFill/>
        </p:spPr>
        <p:txBody>
          <a:bodyPr wrap="square" lIns="0" rIns="0" tIns="25400" bIns="25400">
            <a:spAutoFit/>
          </a:bodyPr>
          <a:lstStyle/>
          <a:p>
            <a:pPr algn="l"/>
            <a:r>
              <a:rPr sz="680" b="0" i="0">
                <a:solidFill>
                  <a:srgbClr val="111111"/>
                </a:solidFill>
              </a:rPr>
              <a:t>Funding Gate: M3 upon full TRL 4 physical validation report</a:t>
            </a:r>
          </a:p>
        </p:txBody>
      </p:sp>
      <p:sp>
        <p:nvSpPr>
          <p:cNvPr id="59" name="Rectangle 58"/>
          <p:cNvSpPr/>
          <p:nvPr/>
        </p:nvSpPr>
        <p:spPr>
          <a:xfrm>
            <a:off x="7918704" y="1536192"/>
            <a:ext cx="256032" cy="256032"/>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18704" y="1545336"/>
            <a:ext cx="256032" cy="228600"/>
          </a:xfrm>
          <a:prstGeom prst="rect">
            <a:avLst/>
          </a:prstGeom>
          <a:noFill/>
        </p:spPr>
        <p:txBody>
          <a:bodyPr wrap="square" lIns="0" rIns="0" tIns="25400" bIns="25400">
            <a:spAutoFit/>
          </a:bodyPr>
          <a:lstStyle/>
          <a:p>
            <a:pPr algn="ctr"/>
            <a:r>
              <a:rPr sz="800" b="1" i="0">
                <a:solidFill>
                  <a:srgbClr val="FFFFFF"/>
                </a:solidFill>
              </a:rPr>
              <a:t>M4</a:t>
            </a:r>
          </a:p>
        </p:txBody>
      </p:sp>
      <p:sp>
        <p:nvSpPr>
          <p:cNvPr id="61" name="Rectangle 60"/>
          <p:cNvSpPr/>
          <p:nvPr/>
        </p:nvSpPr>
        <p:spPr>
          <a:xfrm>
            <a:off x="704088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040880" y="1783080"/>
            <a:ext cx="201168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32320" y="1883664"/>
            <a:ext cx="1847088" cy="146304"/>
          </a:xfrm>
          <a:prstGeom prst="rect">
            <a:avLst/>
          </a:prstGeom>
          <a:noFill/>
        </p:spPr>
        <p:txBody>
          <a:bodyPr wrap="square" lIns="0" rIns="0" tIns="25400" bIns="25400">
            <a:spAutoFit/>
          </a:bodyPr>
          <a:lstStyle/>
          <a:p>
            <a:pPr algn="l"/>
            <a:r>
              <a:rPr sz="700" b="1" i="0">
                <a:solidFill>
                  <a:srgbClr val="F59E0B"/>
                </a:solidFill>
              </a:rPr>
              <a:t>MONTHS 18–24</a:t>
            </a:r>
          </a:p>
        </p:txBody>
      </p:sp>
      <p:sp>
        <p:nvSpPr>
          <p:cNvPr id="64" name="TextBox 63"/>
          <p:cNvSpPr txBox="1"/>
          <p:nvPr/>
        </p:nvSpPr>
        <p:spPr>
          <a:xfrm>
            <a:off x="7132320" y="2048256"/>
            <a:ext cx="1847088" cy="320040"/>
          </a:xfrm>
          <a:prstGeom prst="rect">
            <a:avLst/>
          </a:prstGeom>
          <a:noFill/>
        </p:spPr>
        <p:txBody>
          <a:bodyPr wrap="square" lIns="0" rIns="0" tIns="25400" bIns="25400">
            <a:spAutoFit/>
          </a:bodyPr>
          <a:lstStyle/>
          <a:p>
            <a:pPr algn="l"/>
            <a:r>
              <a:rPr sz="900" b="1" i="0">
                <a:solidFill>
                  <a:srgbClr val="1A365D"/>
                </a:solidFill>
              </a:rPr>
              <a:t>Corporate Handover
TRL 5/6 Integration</a:t>
            </a:r>
          </a:p>
        </p:txBody>
      </p:sp>
      <p:sp>
        <p:nvSpPr>
          <p:cNvPr id="65" name="Rectangle 64"/>
          <p:cNvSpPr/>
          <p:nvPr/>
        </p:nvSpPr>
        <p:spPr>
          <a:xfrm>
            <a:off x="713232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13232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78624" y="2468880"/>
            <a:ext cx="1700784" cy="365760"/>
          </a:xfrm>
          <a:prstGeom prst="rect">
            <a:avLst/>
          </a:prstGeom>
          <a:noFill/>
        </p:spPr>
        <p:txBody>
          <a:bodyPr wrap="square" lIns="0" rIns="0" tIns="25400" bIns="25400">
            <a:spAutoFit/>
          </a:bodyPr>
          <a:lstStyle/>
          <a:p>
            <a:pPr algn="l"/>
            <a:r>
              <a:rPr sz="680" b="0" i="0">
                <a:solidFill>
                  <a:srgbClr val="111111"/>
                </a:solidFill>
              </a:rPr>
              <a:t>Present validated TRL 5 hardware to Sona Comstar forging division</a:t>
            </a:r>
          </a:p>
        </p:txBody>
      </p:sp>
      <p:sp>
        <p:nvSpPr>
          <p:cNvPr id="68" name="Rectangle 67"/>
          <p:cNvSpPr/>
          <p:nvPr/>
        </p:nvSpPr>
        <p:spPr>
          <a:xfrm>
            <a:off x="713232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78624" y="2871216"/>
            <a:ext cx="1700784" cy="365760"/>
          </a:xfrm>
          <a:prstGeom prst="rect">
            <a:avLst/>
          </a:prstGeom>
          <a:noFill/>
        </p:spPr>
        <p:txBody>
          <a:bodyPr wrap="square" lIns="0" rIns="0" tIns="25400" bIns="25400">
            <a:spAutoFit/>
          </a:bodyPr>
          <a:lstStyle/>
          <a:p>
            <a:pPr algn="l"/>
            <a:r>
              <a:rPr sz="680" b="0" i="0">
                <a:solidFill>
                  <a:srgbClr val="111111"/>
                </a:solidFill>
              </a:rPr>
              <a:t>Begin integration trial: Candidate C die vs. legacy H13 comparative run</a:t>
            </a:r>
          </a:p>
        </p:txBody>
      </p:sp>
      <p:sp>
        <p:nvSpPr>
          <p:cNvPr id="70" name="Rectangle 69"/>
          <p:cNvSpPr/>
          <p:nvPr/>
        </p:nvSpPr>
        <p:spPr>
          <a:xfrm>
            <a:off x="713232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78624" y="3273552"/>
            <a:ext cx="1700784" cy="365760"/>
          </a:xfrm>
          <a:prstGeom prst="rect">
            <a:avLst/>
          </a:prstGeom>
          <a:noFill/>
        </p:spPr>
        <p:txBody>
          <a:bodyPr wrap="square" lIns="0" rIns="0" tIns="25400" bIns="25400">
            <a:spAutoFit/>
          </a:bodyPr>
          <a:lstStyle/>
          <a:p>
            <a:pPr algn="l"/>
            <a:r>
              <a:rPr sz="680" b="0" i="0">
                <a:solidFill>
                  <a:srgbClr val="111111"/>
                </a:solidFill>
              </a:rPr>
              <a:t>SRM stator prototype assembly — thermal shock cycling test</a:t>
            </a:r>
          </a:p>
        </p:txBody>
      </p:sp>
      <p:sp>
        <p:nvSpPr>
          <p:cNvPr id="72" name="Rectangle 71"/>
          <p:cNvSpPr/>
          <p:nvPr/>
        </p:nvSpPr>
        <p:spPr>
          <a:xfrm>
            <a:off x="713232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278624" y="3675888"/>
            <a:ext cx="1700784" cy="365760"/>
          </a:xfrm>
          <a:prstGeom prst="rect">
            <a:avLst/>
          </a:prstGeom>
          <a:noFill/>
        </p:spPr>
        <p:txBody>
          <a:bodyPr wrap="square" lIns="0" rIns="0" tIns="25400" bIns="25400">
            <a:spAutoFit/>
          </a:bodyPr>
          <a:lstStyle/>
          <a:p>
            <a:pPr algn="l"/>
            <a:r>
              <a:rPr sz="680" b="0" i="0">
                <a:solidFill>
                  <a:srgbClr val="111111"/>
                </a:solidFill>
              </a:rPr>
              <a:t>File joint patents via FITT IIT Delhi for commercialized formulations</a:t>
            </a:r>
          </a:p>
        </p:txBody>
      </p:sp>
      <p:sp>
        <p:nvSpPr>
          <p:cNvPr id="74" name="Rectangle 73"/>
          <p:cNvSpPr/>
          <p:nvPr/>
        </p:nvSpPr>
        <p:spPr>
          <a:xfrm>
            <a:off x="713232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278624" y="4078224"/>
            <a:ext cx="1700784" cy="365760"/>
          </a:xfrm>
          <a:prstGeom prst="rect">
            <a:avLst/>
          </a:prstGeom>
          <a:noFill/>
        </p:spPr>
        <p:txBody>
          <a:bodyPr wrap="square" lIns="0" rIns="0" tIns="25400" bIns="25400">
            <a:spAutoFit/>
          </a:bodyPr>
          <a:lstStyle/>
          <a:p>
            <a:pPr algn="l"/>
            <a:r>
              <a:rPr sz="680" b="0" i="0">
                <a:solidFill>
                  <a:srgbClr val="111111"/>
                </a:solidFill>
              </a:rPr>
              <a:t>Funding Gate: M4 — Series A readiness pitch to IIT Delhi Alumni VCs</a:t>
            </a:r>
          </a:p>
        </p:txBody>
      </p:sp>
      <p:sp>
        <p:nvSpPr>
          <p:cNvPr id="76" name="TextBox 75"/>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TEAM</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Elite Academic Leadership · Prodigious AI Engineering · 18-Strong Research Execution Engine</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53949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164592"/>
          </a:xfrm>
          <a:prstGeom prst="rect">
            <a:avLst/>
          </a:prstGeom>
          <a:noFill/>
        </p:spPr>
        <p:txBody>
          <a:bodyPr wrap="square" lIns="0" rIns="0" tIns="25400" bIns="25400">
            <a:spAutoFit/>
          </a:bodyPr>
          <a:lstStyle/>
          <a:p>
            <a:pPr algn="l"/>
            <a:r>
              <a:rPr sz="800" b="1" i="0">
                <a:solidFill>
                  <a:srgbClr val="00B4D8"/>
                </a:solidFill>
              </a:rPr>
              <a:t>RESEARCH LEADS — SCIENTIFIC OVERSIGHT &amp; VALIDATION</a:t>
            </a:r>
          </a:p>
        </p:txBody>
      </p:sp>
      <p:sp>
        <p:nvSpPr>
          <p:cNvPr id="7" name="Rectangle 6"/>
          <p:cNvSpPr/>
          <p:nvPr/>
        </p:nvSpPr>
        <p:spPr>
          <a:xfrm>
            <a:off x="256032" y="1444752"/>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508760"/>
            <a:ext cx="4187952" cy="148132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1508760"/>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 y="1627632"/>
            <a:ext cx="530352" cy="530352"/>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664208"/>
            <a:ext cx="530352" cy="438912"/>
          </a:xfrm>
          <a:prstGeom prst="rect">
            <a:avLst/>
          </a:prstGeom>
          <a:noFill/>
        </p:spPr>
        <p:txBody>
          <a:bodyPr wrap="square" lIns="0" rIns="0" tIns="25400" bIns="25400">
            <a:spAutoFit/>
          </a:bodyPr>
          <a:lstStyle/>
          <a:p>
            <a:pPr algn="ctr"/>
            <a:r>
              <a:rPr sz="1300" b="1" i="0">
                <a:solidFill>
                  <a:srgbClr val="2BDEFD"/>
                </a:solidFill>
              </a:rPr>
              <a:t>SC</a:t>
            </a:r>
          </a:p>
        </p:txBody>
      </p:sp>
      <p:sp>
        <p:nvSpPr>
          <p:cNvPr id="12" name="TextBox 11"/>
          <p:cNvSpPr txBox="1"/>
          <p:nvPr/>
        </p:nvSpPr>
        <p:spPr>
          <a:xfrm>
            <a:off x="950976" y="1572768"/>
            <a:ext cx="3310128" cy="201168"/>
          </a:xfrm>
          <a:prstGeom prst="rect">
            <a:avLst/>
          </a:prstGeom>
          <a:noFill/>
        </p:spPr>
        <p:txBody>
          <a:bodyPr wrap="square" lIns="0" rIns="0" tIns="25400" bIns="25400">
            <a:spAutoFit/>
          </a:bodyPr>
          <a:lstStyle/>
          <a:p>
            <a:pPr algn="l"/>
            <a:r>
              <a:rPr sz="1000" b="1" i="0">
                <a:solidFill>
                  <a:srgbClr val="1A365D"/>
                </a:solidFill>
              </a:rPr>
              <a:t>Dr. Shilpa Choudhary</a:t>
            </a:r>
          </a:p>
        </p:txBody>
      </p:sp>
      <p:sp>
        <p:nvSpPr>
          <p:cNvPr id="13" name="TextBox 12"/>
          <p:cNvSpPr txBox="1"/>
          <p:nvPr/>
        </p:nvSpPr>
        <p:spPr>
          <a:xfrm>
            <a:off x="950976" y="1773936"/>
            <a:ext cx="3310128" cy="164592"/>
          </a:xfrm>
          <a:prstGeom prst="rect">
            <a:avLst/>
          </a:prstGeom>
          <a:noFill/>
        </p:spPr>
        <p:txBody>
          <a:bodyPr wrap="square" lIns="0" rIns="0" tIns="25400" bIns="25400">
            <a:spAutoFit/>
          </a:bodyPr>
          <a:lstStyle/>
          <a:p>
            <a:pPr algn="l"/>
            <a:r>
              <a:rPr sz="750" b="0" i="0">
                <a:solidFill>
                  <a:srgbClr val="00B4D8"/>
                </a:solidFill>
              </a:rPr>
              <a:t>AI / ML Lead  ·  Top 2% Scientists Worldwide — Stanford University (2024)</a:t>
            </a:r>
          </a:p>
        </p:txBody>
      </p:sp>
      <p:sp>
        <p:nvSpPr>
          <p:cNvPr id="14" name="Rectangle 13"/>
          <p:cNvSpPr/>
          <p:nvPr/>
        </p:nvSpPr>
        <p:spPr>
          <a:xfrm>
            <a:off x="950976" y="1956816"/>
            <a:ext cx="331012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2011680"/>
            <a:ext cx="3310128" cy="914400"/>
          </a:xfrm>
          <a:prstGeom prst="rect">
            <a:avLst/>
          </a:prstGeom>
          <a:noFill/>
        </p:spPr>
        <p:txBody>
          <a:bodyPr wrap="square" lIns="0" rIns="0" tIns="25400" bIns="25400">
            <a:spAutoFit/>
          </a:bodyPr>
          <a:lstStyle/>
          <a:p>
            <a:pPr algn="l"/>
            <a:r>
              <a:rPr sz="700" b="0" i="0">
                <a:solidFill>
                  <a:srgbClr val="111111"/>
                </a:solidFill>
              </a:rPr>
              <a:t>Dr. Choudhary brings over 16 years of research expertise in Artificial Intelligence, Deep Learning, and AI-driven scientific applications. She holds postdoctoral research experience at the Singapore Institute of Technology and the National Kaohsiung University of Science and Technology (Taiwan). She has authored over 100 research papers (1,763 citations, H-index 22), 12 academic books, and holds multiple patents. At Crystal Paradigm, she leads AI architecture, constrained optimization, and surrogate model design.</a:t>
            </a:r>
          </a:p>
        </p:txBody>
      </p:sp>
      <p:sp>
        <p:nvSpPr>
          <p:cNvPr id="16" name="Rectangle 15"/>
          <p:cNvSpPr/>
          <p:nvPr/>
        </p:nvSpPr>
        <p:spPr>
          <a:xfrm>
            <a:off x="4700016" y="1508760"/>
            <a:ext cx="4187952" cy="148132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00016" y="1508760"/>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1627632"/>
            <a:ext cx="530352" cy="530352"/>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6" y="1664208"/>
            <a:ext cx="530352" cy="438912"/>
          </a:xfrm>
          <a:prstGeom prst="rect">
            <a:avLst/>
          </a:prstGeom>
          <a:noFill/>
        </p:spPr>
        <p:txBody>
          <a:bodyPr wrap="square" lIns="0" rIns="0" tIns="25400" bIns="25400">
            <a:spAutoFit/>
          </a:bodyPr>
          <a:lstStyle/>
          <a:p>
            <a:pPr algn="ctr"/>
            <a:r>
              <a:rPr sz="1300" b="1" i="0">
                <a:solidFill>
                  <a:srgbClr val="2BDEFD"/>
                </a:solidFill>
              </a:rPr>
              <a:t>KV</a:t>
            </a:r>
          </a:p>
        </p:txBody>
      </p:sp>
      <p:sp>
        <p:nvSpPr>
          <p:cNvPr id="20" name="TextBox 19"/>
          <p:cNvSpPr txBox="1"/>
          <p:nvPr/>
        </p:nvSpPr>
        <p:spPr>
          <a:xfrm>
            <a:off x="5394960" y="1572768"/>
            <a:ext cx="3310128" cy="201168"/>
          </a:xfrm>
          <a:prstGeom prst="rect">
            <a:avLst/>
          </a:prstGeom>
          <a:noFill/>
        </p:spPr>
        <p:txBody>
          <a:bodyPr wrap="square" lIns="0" rIns="0" tIns="25400" bIns="25400">
            <a:spAutoFit/>
          </a:bodyPr>
          <a:lstStyle/>
          <a:p>
            <a:pPr algn="l"/>
            <a:r>
              <a:rPr sz="1000" b="1" i="0">
                <a:solidFill>
                  <a:srgbClr val="1A365D"/>
                </a:solidFill>
              </a:rPr>
              <a:t>Dr. Kasarapu Venkataramana</a:t>
            </a:r>
          </a:p>
        </p:txBody>
      </p:sp>
      <p:sp>
        <p:nvSpPr>
          <p:cNvPr id="21" name="TextBox 20"/>
          <p:cNvSpPr txBox="1"/>
          <p:nvPr/>
        </p:nvSpPr>
        <p:spPr>
          <a:xfrm>
            <a:off x="5394960" y="1773936"/>
            <a:ext cx="3310128" cy="164592"/>
          </a:xfrm>
          <a:prstGeom prst="rect">
            <a:avLst/>
          </a:prstGeom>
          <a:noFill/>
        </p:spPr>
        <p:txBody>
          <a:bodyPr wrap="square" lIns="0" rIns="0" tIns="25400" bIns="25400">
            <a:spAutoFit/>
          </a:bodyPr>
          <a:lstStyle/>
          <a:p>
            <a:pPr algn="l"/>
            <a:r>
              <a:rPr sz="750" b="0" i="0">
                <a:solidFill>
                  <a:srgbClr val="00B4D8"/>
                </a:solidFill>
              </a:rPr>
              <a:t>Materials Science &amp; Experimental Validation Lead  ·  CSIR-IICT / DRDO</a:t>
            </a:r>
          </a:p>
        </p:txBody>
      </p:sp>
      <p:sp>
        <p:nvSpPr>
          <p:cNvPr id="22" name="Rectangle 21"/>
          <p:cNvSpPr/>
          <p:nvPr/>
        </p:nvSpPr>
        <p:spPr>
          <a:xfrm>
            <a:off x="5394960" y="1956816"/>
            <a:ext cx="331012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2011680"/>
            <a:ext cx="3310128" cy="914400"/>
          </a:xfrm>
          <a:prstGeom prst="rect">
            <a:avLst/>
          </a:prstGeom>
          <a:noFill/>
        </p:spPr>
        <p:txBody>
          <a:bodyPr wrap="square" lIns="0" rIns="0" tIns="25400" bIns="25400">
            <a:spAutoFit/>
          </a:bodyPr>
          <a:lstStyle/>
          <a:p>
            <a:pPr algn="l"/>
            <a:r>
              <a:rPr sz="700" b="0" i="0">
                <a:solidFill>
                  <a:srgbClr val="111111"/>
                </a:solidFill>
              </a:rPr>
              <a:t>Research Associate at CSIR-IICT (DRDO-sponsored pyrotechnic nanomaterial project). Associate Fellow, Telangana Academy of Sciences (2024). 12 years of research + 5 years academic teaching. 38 research publications (610+ citations, H-index 14), 2 book chapters. Peer reviewer for Elsevier, Springer, and Taylor &amp; Francis. Specializes in High Entropy Oxides and advanced materials characterization (XRD, SEM, EDS). Provides critical domain oversight on computational chemistry, thermodynamics, and physical experimental validation for Crystal Paradigm.</a:t>
            </a:r>
          </a:p>
        </p:txBody>
      </p:sp>
      <p:sp>
        <p:nvSpPr>
          <p:cNvPr id="24" name="TextBox 23"/>
          <p:cNvSpPr txBox="1"/>
          <p:nvPr/>
        </p:nvSpPr>
        <p:spPr>
          <a:xfrm>
            <a:off x="256032" y="3063240"/>
            <a:ext cx="8631936" cy="164592"/>
          </a:xfrm>
          <a:prstGeom prst="rect">
            <a:avLst/>
          </a:prstGeom>
          <a:noFill/>
        </p:spPr>
        <p:txBody>
          <a:bodyPr wrap="square" lIns="0" rIns="0" tIns="25400" bIns="25400">
            <a:spAutoFit/>
          </a:bodyPr>
          <a:lstStyle/>
          <a:p>
            <a:pPr algn="l"/>
            <a:r>
              <a:rPr sz="800" b="1" i="0">
                <a:solidFill>
                  <a:srgbClr val="00B4D8"/>
                </a:solidFill>
              </a:rPr>
              <a:t>CORE AI ARCHITECTS — DAY-TO-DAY INNOVATION ENGINE</a:t>
            </a:r>
          </a:p>
        </p:txBody>
      </p:sp>
      <p:sp>
        <p:nvSpPr>
          <p:cNvPr id="25" name="Rectangle 24"/>
          <p:cNvSpPr/>
          <p:nvPr/>
        </p:nvSpPr>
        <p:spPr>
          <a:xfrm>
            <a:off x="256032" y="3246120"/>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6032" y="3310128"/>
            <a:ext cx="4187952" cy="129844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3310128"/>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3401568"/>
            <a:ext cx="475488" cy="475488"/>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3456432"/>
            <a:ext cx="475488" cy="347472"/>
          </a:xfrm>
          <a:prstGeom prst="rect">
            <a:avLst/>
          </a:prstGeom>
          <a:noFill/>
        </p:spPr>
        <p:txBody>
          <a:bodyPr wrap="square" lIns="0" rIns="0" tIns="25400" bIns="25400">
            <a:spAutoFit/>
          </a:bodyPr>
          <a:lstStyle/>
          <a:p>
            <a:pPr algn="ctr"/>
            <a:r>
              <a:rPr sz="800" b="1" i="0">
                <a:solidFill>
                  <a:srgbClr val="2BDEFD"/>
                </a:solidFill>
              </a:rPr>
              <a:t>MAR</a:t>
            </a:r>
          </a:p>
        </p:txBody>
      </p:sp>
      <p:sp>
        <p:nvSpPr>
          <p:cNvPr id="30" name="TextBox 29"/>
          <p:cNvSpPr txBox="1"/>
          <p:nvPr/>
        </p:nvSpPr>
        <p:spPr>
          <a:xfrm>
            <a:off x="896112" y="3364992"/>
            <a:ext cx="3364992" cy="182880"/>
          </a:xfrm>
          <a:prstGeom prst="rect">
            <a:avLst/>
          </a:prstGeom>
          <a:noFill/>
        </p:spPr>
        <p:txBody>
          <a:bodyPr wrap="square" lIns="0" rIns="0" tIns="25400" bIns="25400">
            <a:spAutoFit/>
          </a:bodyPr>
          <a:lstStyle/>
          <a:p>
            <a:pPr algn="l"/>
            <a:r>
              <a:rPr sz="950" b="1" i="0">
                <a:solidFill>
                  <a:srgbClr val="1A365D"/>
                </a:solidFill>
              </a:rPr>
              <a:t>Mohammed Ahmed Raza</a:t>
            </a:r>
          </a:p>
        </p:txBody>
      </p:sp>
      <p:sp>
        <p:nvSpPr>
          <p:cNvPr id="31" name="TextBox 30"/>
          <p:cNvSpPr txBox="1"/>
          <p:nvPr/>
        </p:nvSpPr>
        <p:spPr>
          <a:xfrm>
            <a:off x="896112" y="3547872"/>
            <a:ext cx="3364992" cy="164592"/>
          </a:xfrm>
          <a:prstGeom prst="rect">
            <a:avLst/>
          </a:prstGeom>
          <a:noFill/>
        </p:spPr>
        <p:txBody>
          <a:bodyPr wrap="square" lIns="0" rIns="0" tIns="25400" bIns="25400">
            <a:spAutoFit/>
          </a:bodyPr>
          <a:lstStyle/>
          <a:p>
            <a:pPr algn="l"/>
            <a:r>
              <a:rPr sz="700" b="0" i="0">
                <a:solidFill>
                  <a:srgbClr val="00B4D8"/>
                </a:solidFill>
              </a:rPr>
              <a:t>AI Research Intern  ·  Crystal Paradigm  ·  Certified AI/ML — iHub-Data, IIIT Hyderabad</a:t>
            </a:r>
          </a:p>
        </p:txBody>
      </p:sp>
      <p:sp>
        <p:nvSpPr>
          <p:cNvPr id="32" name="Rectangle 31"/>
          <p:cNvSpPr/>
          <p:nvPr/>
        </p:nvSpPr>
        <p:spPr>
          <a:xfrm>
            <a:off x="896112" y="3730752"/>
            <a:ext cx="336499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3785615"/>
            <a:ext cx="3364992" cy="768096"/>
          </a:xfrm>
          <a:prstGeom prst="rect">
            <a:avLst/>
          </a:prstGeom>
          <a:noFill/>
        </p:spPr>
        <p:txBody>
          <a:bodyPr wrap="square" lIns="0" rIns="0" tIns="25400" bIns="25400">
            <a:spAutoFit/>
          </a:bodyPr>
          <a:lstStyle/>
          <a:p>
            <a:pPr algn="l"/>
            <a:r>
              <a:rPr sz="700" b="0" i="0">
                <a:solidFill>
                  <a:srgbClr val="111111"/>
                </a:solidFill>
              </a:rPr>
              <a:t>CSE student at Neil Gogte Institute of Technology (NGIT). Previously served as Winter Research Intern at IIIT Hyderabad — engineered advanced computer vision systems for UAV spatial awareness and obstacle detection. At Crystal Paradigm, he develops inverse design frameworks for the HE-MCGA superalloy pipeline and co-authored breakthrough research introducing the Attention Graph Siamese Transformer (DPT-GNN) that drastically optimizes lithium-ion battery capacity predictions through transition-aware graph learning.</a:t>
            </a:r>
          </a:p>
        </p:txBody>
      </p:sp>
      <p:sp>
        <p:nvSpPr>
          <p:cNvPr id="34" name="Rectangle 33"/>
          <p:cNvSpPr/>
          <p:nvPr/>
        </p:nvSpPr>
        <p:spPr>
          <a:xfrm>
            <a:off x="4700016" y="3310128"/>
            <a:ext cx="4187952" cy="129844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00016" y="3310128"/>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91456" y="3401568"/>
            <a:ext cx="475488" cy="475488"/>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91456" y="3456432"/>
            <a:ext cx="475488" cy="347472"/>
          </a:xfrm>
          <a:prstGeom prst="rect">
            <a:avLst/>
          </a:prstGeom>
          <a:noFill/>
        </p:spPr>
        <p:txBody>
          <a:bodyPr wrap="square" lIns="0" rIns="0" tIns="25400" bIns="25400">
            <a:spAutoFit/>
          </a:bodyPr>
          <a:lstStyle/>
          <a:p>
            <a:pPr algn="ctr"/>
            <a:r>
              <a:rPr sz="800" b="1" i="0">
                <a:solidFill>
                  <a:srgbClr val="2BDEFD"/>
                </a:solidFill>
              </a:rPr>
              <a:t>KIR</a:t>
            </a:r>
          </a:p>
        </p:txBody>
      </p:sp>
      <p:sp>
        <p:nvSpPr>
          <p:cNvPr id="38" name="TextBox 37"/>
          <p:cNvSpPr txBox="1"/>
          <p:nvPr/>
        </p:nvSpPr>
        <p:spPr>
          <a:xfrm>
            <a:off x="5340096" y="3364992"/>
            <a:ext cx="3364992" cy="182880"/>
          </a:xfrm>
          <a:prstGeom prst="rect">
            <a:avLst/>
          </a:prstGeom>
          <a:noFill/>
        </p:spPr>
        <p:txBody>
          <a:bodyPr wrap="square" lIns="0" rIns="0" tIns="25400" bIns="25400">
            <a:spAutoFit/>
          </a:bodyPr>
          <a:lstStyle/>
          <a:p>
            <a:pPr algn="l"/>
            <a:r>
              <a:rPr sz="950" b="1" i="0">
                <a:solidFill>
                  <a:srgbClr val="1A365D"/>
                </a:solidFill>
              </a:rPr>
              <a:t>K. Indrasena Reddy (Indra)</a:t>
            </a:r>
          </a:p>
        </p:txBody>
      </p:sp>
      <p:sp>
        <p:nvSpPr>
          <p:cNvPr id="39" name="TextBox 38"/>
          <p:cNvSpPr txBox="1"/>
          <p:nvPr/>
        </p:nvSpPr>
        <p:spPr>
          <a:xfrm>
            <a:off x="5340096" y="3547872"/>
            <a:ext cx="3364992" cy="164592"/>
          </a:xfrm>
          <a:prstGeom prst="rect">
            <a:avLst/>
          </a:prstGeom>
          <a:noFill/>
        </p:spPr>
        <p:txBody>
          <a:bodyPr wrap="square" lIns="0" rIns="0" tIns="25400" bIns="25400">
            <a:spAutoFit/>
          </a:bodyPr>
          <a:lstStyle/>
          <a:p>
            <a:pPr algn="l"/>
            <a:r>
              <a:rPr sz="700" b="0" i="0">
                <a:solidFill>
                  <a:srgbClr val="00B4D8"/>
                </a:solidFill>
              </a:rPr>
              <a:t>AI Research Intern  ·  Crystal Paradigm  ·  Ex-AI Developer, Viswam.AI</a:t>
            </a:r>
          </a:p>
        </p:txBody>
      </p:sp>
      <p:sp>
        <p:nvSpPr>
          <p:cNvPr id="40" name="Rectangle 39"/>
          <p:cNvSpPr/>
          <p:nvPr/>
        </p:nvSpPr>
        <p:spPr>
          <a:xfrm>
            <a:off x="5340096" y="3730752"/>
            <a:ext cx="336499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0096" y="3785615"/>
            <a:ext cx="3364992" cy="768096"/>
          </a:xfrm>
          <a:prstGeom prst="rect">
            <a:avLst/>
          </a:prstGeom>
          <a:noFill/>
        </p:spPr>
        <p:txBody>
          <a:bodyPr wrap="square" lIns="0" rIns="0" tIns="25400" bIns="25400">
            <a:spAutoFit/>
          </a:bodyPr>
          <a:lstStyle/>
          <a:p>
            <a:pPr algn="l"/>
            <a:r>
              <a:rPr sz="700" b="0" i="0">
                <a:solidFill>
                  <a:srgbClr val="111111"/>
                </a:solidFill>
              </a:rPr>
              <a:t>CSE student at Neil Gogte Institute of Technology (NGIT). Previously served as AI Developer Intern at Viswam.AI — built NLP applications and contributed to experimental language model research. At Crystal Paradigm, he advances materials informatics and graph neural network modeling for large-scale property prediction. Specializes in GNN architectures for multi-principal element alloy systems, enabling high-throughput computational screening of novel refractory alloy compositions across the 9-element search space.</a:t>
            </a:r>
          </a:p>
        </p:txBody>
      </p:sp>
      <p:sp>
        <p:nvSpPr>
          <p:cNvPr id="42" name="Rectangle 41"/>
          <p:cNvSpPr/>
          <p:nvPr/>
        </p:nvSpPr>
        <p:spPr>
          <a:xfrm>
            <a:off x="256032" y="4645152"/>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6032" y="4553712"/>
            <a:ext cx="8631936" cy="9144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0" y="4690872"/>
            <a:ext cx="7132320" cy="347472"/>
          </a:xfrm>
          <a:prstGeom prst="rect">
            <a:avLst/>
          </a:prstGeom>
          <a:noFill/>
        </p:spPr>
        <p:txBody>
          <a:bodyPr wrap="square" lIns="0" rIns="0" tIns="25400" bIns="25400">
            <a:spAutoFit/>
          </a:bodyPr>
          <a:lstStyle/>
          <a:p>
            <a:pPr algn="l"/>
            <a:r>
              <a:rPr sz="1100" b="0" i="0">
                <a:solidFill>
                  <a:srgbClr val="D0E8F5"/>
                </a:solidFill>
              </a:rPr>
              <a:t>Extended Team: 18 specialized AI Research Interns · Massive parallel execution bandwidth for multi-physics simulations &amp; AI training pipelines · Crystal Paradigm</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2382</Words>
  <Application>Microsoft Office PowerPoint</Application>
  <PresentationFormat>On-screen Show (16:9)</PresentationFormat>
  <Paragraphs>311</Paragraphs>
  <Slides>14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Inter</vt:lpstr>
      <vt:lpstr>Arial</vt:lpstr>
      <vt:lpstr>Inter SemiBold</vt:lpstr>
      <vt:lpstr>Space Grotesk SemiBold</vt:lpstr>
      <vt:lpstr>Space Grotesk</vt:lpstr>
      <vt:lpstr>Courier New</vt:lpstr>
      <vt:lpstr>Inter Medium</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MOHAMMED AHMED RAZA</cp:lastModifiedBy>
  <cp:revision>7</cp:revision>
  <dcterms:created xsi:type="dcterms:W3CDTF">2026-06-04T12:08:38Z</dcterms:created>
  <dcterms:modified xsi:type="dcterms:W3CDTF">2026-07-29T18:31:52Z</dcterms:modified>
</cp:coreProperties>
</file>