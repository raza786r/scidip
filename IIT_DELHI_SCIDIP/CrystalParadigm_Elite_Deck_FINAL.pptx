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Accelerating Innovation at the Intersection of AI and Material Science</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CRYSTAL PARADIGM | IIT DELHI SCIDIP APPLICATION</a:t>
            </a:r>
          </a:p>
        </p:txBody>
      </p:sp>
      <p:sp>
        <p:nvSpPr>
          <p:cNvPr id="5" name="Rounded Rectangle 4"/>
          <p:cNvSpPr/>
          <p:nvPr/>
        </p:nvSpPr>
        <p:spPr>
          <a:xfrm>
            <a:off x="457200" y="1645920"/>
            <a:ext cx="5486400" cy="11887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Crystal Paradigm is an elite Deep-Tech Discovery Platform. We leverage artificial intelligence and high-performance computing to accelerate material discovery from 5 years to 4 weeks.</a:t>
            </a:r>
          </a:p>
        </p:txBody>
      </p:sp>
      <p:sp>
        <p:nvSpPr>
          <p:cNvPr id="6" name="Rounded Rectangle 5"/>
          <p:cNvSpPr/>
          <p:nvPr/>
        </p:nvSpPr>
        <p:spPr>
          <a:xfrm>
            <a:off x="457200" y="3017520"/>
            <a:ext cx="5486400" cy="21031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Our Expanding Pipeline:</a:t>
            </a:r>
          </a:p>
          <a:p>
            <a:pPr>
              <a:spcAft>
                <a:spcPts val="400"/>
              </a:spcAft>
              <a:defRPr sz="1300">
                <a:solidFill>
                  <a:srgbClr val="FFFFFF"/>
                </a:solidFill>
              </a:defRPr>
            </a:pPr>
            <a:r>
              <a:t>Our AI architecture is highly scalable. We are actively advancing research across:</a:t>
            </a:r>
          </a:p>
          <a:p>
            <a:pPr>
              <a:spcAft>
                <a:spcPts val="400"/>
              </a:spcAft>
              <a:defRPr sz="1300">
                <a:solidFill>
                  <a:srgbClr val="FFFFFF"/>
                </a:solidFill>
              </a:defRPr>
            </a:pPr>
            <a:r>
              <a:t>• Supercapacitors &amp; Solid-State Battery Electrolytes (Li-ion &amp; Na-ion)</a:t>
            </a:r>
          </a:p>
          <a:p>
            <a:pPr>
              <a:spcAft>
                <a:spcPts val="400"/>
              </a:spcAft>
              <a:defRPr sz="1300">
                <a:solidFill>
                  <a:srgbClr val="FFFFFF"/>
                </a:solidFill>
              </a:defRPr>
            </a:pPr>
            <a:r>
              <a:t>• Next-Generation Solar Materials &amp; Advanced Sensor Matrices</a:t>
            </a:r>
          </a:p>
          <a:p>
            <a:pPr>
              <a:spcAft>
                <a:spcPts val="400"/>
              </a:spcAft>
              <a:defRPr sz="1300">
                <a:solidFill>
                  <a:srgbClr val="FFFFFF"/>
                </a:solidFill>
              </a:defRPr>
            </a:pPr>
            <a:r>
              <a:t>• Current Traction: 1 Patent Accepted, 4 Research Papers Under Review, and active collaborations.</a:t>
            </a:r>
          </a:p>
        </p:txBody>
      </p:sp>
      <p:sp>
        <p:nvSpPr>
          <p:cNvPr id="7" name="Rounded Rectangle 6"/>
          <p:cNvSpPr/>
          <p:nvPr/>
        </p:nvSpPr>
        <p:spPr>
          <a:xfrm>
            <a:off x="457200" y="5303520"/>
            <a:ext cx="11274552" cy="1097280"/>
          </a:xfrm>
          <a:prstGeom prst="roundRect">
            <a:avLst>
              <a:gd name="adj" fmla="val 5000"/>
            </a:avLst>
          </a:prstGeom>
          <a:solidFill>
            <a:srgbClr val="0055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B132B"/>
                </a:solidFill>
              </a:defRPr>
            </a:pPr>
            <a:r>
              <a:t>The SCIDIP Spearhead:</a:t>
            </a:r>
          </a:p>
          <a:p>
            <a:pPr>
              <a:spcAft>
                <a:spcPts val="400"/>
              </a:spcAft>
              <a:defRPr sz="1300">
                <a:solidFill>
                  <a:srgbClr val="FFFFFF"/>
                </a:solidFill>
              </a:defRPr>
            </a:pPr>
            <a:r>
              <a:t>For this application, we are deploying our most extreme, fully-validated Proof of Concept: An AI-generated, aerospace-grade Refractory High-Entropy Alloy (RHEA) engineered to solve Sona Comstar's terrestrial thermal bottlenecks.</a:t>
            </a:r>
          </a:p>
        </p:txBody>
      </p:sp>
      <p:sp>
        <p:nvSpPr>
          <p:cNvPr id="8" name="Rounded Rectangle 7"/>
          <p:cNvSpPr/>
          <p:nvPr/>
        </p:nvSpPr>
        <p:spPr>
          <a:xfrm>
            <a:off x="6217920" y="1645920"/>
            <a:ext cx="5486400" cy="34747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sleek composite graphic showing glowing atomic structures spanning across different domains (batteries, sensors, aerospace).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PROVING THE PHYSICS: THE AEROSPACE THERMAL BOTTLENECK</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Solving the 1400°C Turbine Entry Temperature Problem</a:t>
            </a:r>
          </a:p>
        </p:txBody>
      </p:sp>
      <p:sp>
        <p:nvSpPr>
          <p:cNvPr id="5" name="Rounded Rectangle 4"/>
          <p:cNvSpPr/>
          <p:nvPr/>
        </p:nvSpPr>
        <p:spPr>
          <a:xfrm>
            <a:off x="457200" y="164592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Aerothermal Fire Limit:</a:t>
            </a:r>
          </a:p>
          <a:p>
            <a:pPr>
              <a:spcAft>
                <a:spcPts val="400"/>
              </a:spcAft>
              <a:defRPr sz="1300">
                <a:solidFill>
                  <a:srgbClr val="FFFFFF"/>
                </a:solidFill>
              </a:defRPr>
            </a:pPr>
            <a:r>
              <a:t>Traditional nickel-based superalloys have hit a physical ceiling. When shielded with ceramics, the massive Coefficient of Thermal Expansion (CTE) mismatch causes the protective armor to violently spall off under rapid thermal cycling.</a:t>
            </a:r>
          </a:p>
        </p:txBody>
      </p:sp>
      <p:sp>
        <p:nvSpPr>
          <p:cNvPr id="6" name="Rounded Rectangle 5"/>
          <p:cNvSpPr/>
          <p:nvPr/>
        </p:nvSpPr>
        <p:spPr>
          <a:xfrm>
            <a:off x="6217920" y="164592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AI Solution (Top Breakthrough: Candidate C):</a:t>
            </a:r>
          </a:p>
          <a:p>
            <a:pPr>
              <a:spcAft>
                <a:spcPts val="400"/>
              </a:spcAft>
              <a:defRPr sz="1300">
                <a:solidFill>
                  <a:srgbClr val="FFFFFF"/>
                </a:solidFill>
              </a:defRPr>
            </a:pPr>
            <a:r>
              <a:t>Instead of laboratory trial-and-error, our proprietary 11-phase AI pipeline screened thousands of combinatorial matrices to isolate top-tier RHEAs. Our champion candidate (Ta-W-Cr-V-Ti-Zr-Hf + 2.8% Al) proves the math:</a:t>
            </a:r>
          </a:p>
          <a:p>
            <a:pPr>
              <a:spcAft>
                <a:spcPts val="400"/>
              </a:spcAft>
              <a:defRPr sz="1300">
                <a:solidFill>
                  <a:srgbClr val="FFFFFF"/>
                </a:solidFill>
              </a:defRPr>
            </a:pPr>
            <a:r>
              <a:t>• The Physics: By forcing a Titanium-dominant solid solution, we mathematically closed the CTE gap.</a:t>
            </a:r>
          </a:p>
          <a:p>
            <a:pPr>
              <a:spcAft>
                <a:spcPts val="400"/>
              </a:spcAft>
              <a:defRPr sz="1300">
                <a:solidFill>
                  <a:srgbClr val="FFFFFF"/>
                </a:solidFill>
              </a:defRPr>
            </a:pPr>
            <a:r>
              <a:t>• The Manufacturing: We deployed an 11-layer Functionally Graded Material (FGM) matrix using an exact n=1.1 power-law gradient.</a:t>
            </a:r>
          </a:p>
          <a:p>
            <a:pPr>
              <a:spcAft>
                <a:spcPts val="400"/>
              </a:spcAft>
              <a:defRPr sz="1300">
                <a:solidFill>
                  <a:srgbClr val="FFFFFF"/>
                </a:solidFill>
              </a:defRPr>
            </a:pPr>
            <a:r>
              <a:t>• The Result: Interface shear stress was dropped to an ultra-low 15.95 MPa.</a:t>
            </a:r>
          </a:p>
        </p:txBody>
      </p:sp>
      <p:sp>
        <p:nvSpPr>
          <p:cNvPr id="7" name="Rounded Rectangle 6"/>
          <p:cNvSpPr/>
          <p:nvPr/>
        </p:nvSpPr>
        <p:spPr>
          <a:xfrm>
            <a:off x="457200" y="3840480"/>
            <a:ext cx="11274552" cy="25603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side-by-side comparison. Left: A traditional cracked coating on a superalloy. Right: Our 11-layer Functionally Graded Material (FGM) transition, showing a smooth power-law gradient from metallic HEA to LZO ceramic.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SCIDIP CROSSOVER: FROM AEROSPACE TO EPIC MOBILITY</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Bridging 1400°C Turbine Tech to Sona Comstar</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If our AI architecture can prevent a jet turbine from melting at 1400°C, it can revolutionize the thermal limits of terrestrial mobility.</a:t>
            </a:r>
          </a:p>
          <a:p>
            <a:pPr>
              <a:spcAft>
                <a:spcPts val="400"/>
              </a:spcAft>
              <a:defRPr sz="1300">
                <a:solidFill>
                  <a:srgbClr val="FFFFFF"/>
                </a:solidFill>
              </a:defRPr>
            </a:pPr>
            <a:r>
              <a:t>We are entering the IIT Delhi SCIDIP program under the Advanced Materials category because Sona Comstar’s EPIC (Electric, Personalized, Intelligent, Connected) roadmap is directly bottlenecked by thermodynamics. The exact thermal ceilings capping aerospace are capping Sona Comstar:</a:t>
            </a:r>
          </a:p>
        </p:txBody>
      </p:sp>
      <p:sp>
        <p:nvSpPr>
          <p:cNvPr id="6" name="Rounded Rectangle 5"/>
          <p:cNvSpPr/>
          <p:nvPr/>
        </p:nvSpPr>
        <p:spPr>
          <a:xfrm>
            <a:off x="457200" y="2926080"/>
            <a:ext cx="5486400" cy="16459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1. Precision Forging Dies (Driveline):</a:t>
            </a:r>
          </a:p>
          <a:p>
            <a:pPr>
              <a:spcAft>
                <a:spcPts val="400"/>
              </a:spcAft>
              <a:defRPr sz="1300">
                <a:solidFill>
                  <a:srgbClr val="FFFFFF"/>
                </a:solidFill>
              </a:defRPr>
            </a:pPr>
            <a:r>
              <a:t>Sona Comstar's legacy H13 tool steel dies suffer from rapid thermal fatigue and yield strength collapse at 1200°C during high-speed gear forging. Our HEA architectures retain over 917.7 MPa yield strength at these exact temperatures.</a:t>
            </a:r>
          </a:p>
        </p:txBody>
      </p:sp>
      <p:sp>
        <p:nvSpPr>
          <p:cNvPr id="7" name="Rounded Rectangle 6"/>
          <p:cNvSpPr/>
          <p:nvPr/>
        </p:nvSpPr>
        <p:spPr>
          <a:xfrm>
            <a:off x="6217920" y="2926080"/>
            <a:ext cx="5486400" cy="16459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2. Next-Generation Traction Motors (Electric):</a:t>
            </a:r>
          </a:p>
          <a:p>
            <a:pPr>
              <a:spcAft>
                <a:spcPts val="400"/>
              </a:spcAft>
              <a:defRPr sz="1300">
                <a:solidFill>
                  <a:srgbClr val="FFFFFF"/>
                </a:solidFill>
              </a:defRPr>
            </a:pPr>
            <a:r>
              <a:t>As Sona Comstar scales magnet-less Switched Reluctance Motors (SRMs), traditional metals degrade under the severe localized thermal loads generated by extreme torque densities.</a:t>
            </a:r>
          </a:p>
        </p:txBody>
      </p:sp>
      <p:sp>
        <p:nvSpPr>
          <p:cNvPr id="8" name="Rounded Rectangle 7"/>
          <p:cNvSpPr/>
          <p:nvPr/>
        </p:nvSpPr>
        <p:spPr>
          <a:xfrm>
            <a:off x="457200" y="4754880"/>
            <a:ext cx="11274552" cy="16459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sleek arrow connecting 'AEROSPACE EXTREMES (1400°C Turbine)' on the left, pointing to 'TERRESTRIAL MOBILITY (H13 Forging Dies &amp; EV SRMs)' on the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DEPLOYING AEROSPACE GRADE MATERIALS AT COMMERCIAL SCALE</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Optimized for the Supply Chain</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Our AI engine does not just optimize for physics; it optimizes for the supply chain.</a:t>
            </a:r>
          </a:p>
        </p:txBody>
      </p:sp>
      <p:sp>
        <p:nvSpPr>
          <p:cNvPr id="6" name="Rounded Rectangle 5"/>
          <p:cNvSpPr/>
          <p:nvPr/>
        </p:nvSpPr>
        <p:spPr>
          <a:xfrm>
            <a:off x="45720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1. Raw Material Cost Reduction</a:t>
            </a:r>
          </a:p>
          <a:p>
            <a:pPr>
              <a:spcAft>
                <a:spcPts val="400"/>
              </a:spcAft>
              <a:defRPr sz="1300">
                <a:solidFill>
                  <a:srgbClr val="FFFFFF"/>
                </a:solidFill>
              </a:defRPr>
            </a:pPr>
            <a:r>
              <a:t>By programmatically identifying that we could substitute highly expensive, supply-constrained Hafnium with optimized Titanium, our AI dropped the raw material cost of the alloy by 15-20% (achieving ~$170/kg), making aerospace-grade materials viable for commercial automotive forging.</a:t>
            </a:r>
          </a:p>
        </p:txBody>
      </p:sp>
      <p:sp>
        <p:nvSpPr>
          <p:cNvPr id="7" name="Rounded Rectangle 6"/>
          <p:cNvSpPr/>
          <p:nvPr/>
        </p:nvSpPr>
        <p:spPr>
          <a:xfrm>
            <a:off x="4206240" y="2560320"/>
            <a:ext cx="3749039"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2. ESG &amp; Sustainability</a:t>
            </a:r>
          </a:p>
          <a:p>
            <a:pPr>
              <a:spcAft>
                <a:spcPts val="400"/>
              </a:spcAft>
              <a:defRPr sz="1300">
                <a:solidFill>
                  <a:srgbClr val="FFFFFF"/>
                </a:solidFill>
              </a:defRPr>
            </a:pPr>
            <a:r>
              <a:t>Crystal Paradigm’s Candidate C is fully quantified for environmental impact, capping Embodied Energy at a highly sustainable 1680 MJ/kg—directly supporting zero-emissions manufacturing goals.</a:t>
            </a:r>
          </a:p>
        </p:txBody>
      </p:sp>
      <p:sp>
        <p:nvSpPr>
          <p:cNvPr id="8" name="Rounded Rectangle 7"/>
          <p:cNvSpPr/>
          <p:nvPr/>
        </p:nvSpPr>
        <p:spPr>
          <a:xfrm>
            <a:off x="813816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3. Supply Chain Resilience</a:t>
            </a:r>
          </a:p>
          <a:p>
            <a:pPr>
              <a:spcAft>
                <a:spcPts val="400"/>
              </a:spcAft>
              <a:defRPr sz="1300">
                <a:solidFill>
                  <a:srgbClr val="FFFFFF"/>
                </a:solidFill>
              </a:defRPr>
            </a:pPr>
            <a:r>
              <a:t>By utilizing a 9-element multi-principal matrix, we drastically reduce reliance on single critical minerals (like Neodymium) controlled by volatile foreign supply chains. Our pipeline ensures true indigenous, self-reliant IP generation for the Indian mobility sector ('Make in India').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CRYSTAL PARADIGM AI ENGINE: STEP 1</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Secure Ingestion &amp; Empirical Thermodynamic Gating</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Before a single machine learning model is trained, our pipeline strictly enforces the laws of physics and commercial viability. We ingest massive combinatorial spaces (Materials Project, AFLOW), but ruthlessly filter out unstable or toxic formulations using Miedema’s Empirical Rules to ensure day-one compliance with Sona Comstar's 75% Supplier ESG mandate.</a:t>
            </a:r>
          </a:p>
        </p:txBody>
      </p:sp>
      <p:sp>
        <p:nvSpPr>
          <p:cNvPr id="6" name="Rounded Rectangle 5"/>
          <p:cNvSpPr/>
          <p:nvPr/>
        </p:nvSpPr>
        <p:spPr>
          <a:xfrm>
            <a:off x="457200" y="2926080"/>
            <a:ext cx="5486400" cy="32004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Thermodynamic Gating Protocol:</a:t>
            </a:r>
          </a:p>
          <a:p>
            <a:pPr>
              <a:spcAft>
                <a:spcPts val="400"/>
              </a:spcAft>
              <a:defRPr sz="1300">
                <a:solidFill>
                  <a:srgbClr val="FFFFFF"/>
                </a:solidFill>
              </a:defRPr>
            </a:pPr>
            <a:r>
              <a:t>• Atomic Size Mismatch (δ): Strictly capped at ≤ 6.6% to prevent lattice distortion under high torque.</a:t>
            </a:r>
          </a:p>
          <a:p>
            <a:pPr>
              <a:spcAft>
                <a:spcPts val="400"/>
              </a:spcAft>
              <a:defRPr sz="1300">
                <a:solidFill>
                  <a:srgbClr val="FFFFFF"/>
                </a:solidFill>
              </a:defRPr>
            </a:pPr>
            <a:r>
              <a:t>• Enthalpy of Mixing (ΔH_mix): Bounded between -15 and +5 kJ/mol.</a:t>
            </a:r>
          </a:p>
          <a:p>
            <a:pPr>
              <a:spcAft>
                <a:spcPts val="400"/>
              </a:spcAft>
              <a:defRPr sz="1300">
                <a:solidFill>
                  <a:srgbClr val="FFFFFF"/>
                </a:solidFill>
              </a:defRPr>
            </a:pPr>
            <a:r>
              <a:t>• Valence Electron Concentration (VEC): Bounded between 4.0 and 6.8. This is critical: A VEC &lt; 6.8 mathematically guarantees a stable Body-Centered Cubic (BCC) matrix and explicitly eliminates the risk of brittle Sigma phase formation.</a:t>
            </a:r>
          </a:p>
          <a:p>
            <a:pPr>
              <a:spcAft>
                <a:spcPts val="400"/>
              </a:spcAft>
              <a:defRPr sz="1300">
                <a:solidFill>
                  <a:srgbClr val="FFFFFF"/>
                </a:solidFill>
              </a:defRPr>
            </a:pPr>
            <a:r>
              <a:t>• Omega Parameter (Ω): Must be ≥ 1.1 to guarantee dominant solid solution stability.</a:t>
            </a:r>
          </a:p>
        </p:txBody>
      </p:sp>
      <p:sp>
        <p:nvSpPr>
          <p:cNvPr id="7" name="Rounded Rectangle 6"/>
          <p:cNvSpPr/>
          <p:nvPr/>
        </p:nvSpPr>
        <p:spPr>
          <a:xfrm>
            <a:off x="6217920" y="2926080"/>
            <a:ext cx="5486400" cy="320040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Process Flowchart (Left to Right) with a 'Sona Comstar 75% Supplier Rule' compliance stamp. Show raw database inputs passing through a rigid 'Thermodynamic Filter'.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CRYSTAL PARADIGM AI ENGINE: STEP 2</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Dual-Stream Machine Learning Surrogates</a:t>
            </a:r>
          </a:p>
        </p:txBody>
      </p:sp>
      <p:sp>
        <p:nvSpPr>
          <p:cNvPr id="5" name="Rounded Rectangle 4"/>
          <p:cNvSpPr/>
          <p:nvPr/>
        </p:nvSpPr>
        <p:spPr>
          <a:xfrm>
            <a:off x="457200" y="1645920"/>
            <a:ext cx="11274552" cy="9144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To predict material behavior for Sona Comstar's extreme-environment SRMs and H13 forging dies, we engineered a dual-stream surrogate architecture mapping both theoretical physics and real-world variance.</a:t>
            </a:r>
          </a:p>
        </p:txBody>
      </p:sp>
      <p:sp>
        <p:nvSpPr>
          <p:cNvPr id="6" name="Rounded Rectangle 5"/>
          <p:cNvSpPr/>
          <p:nvPr/>
        </p:nvSpPr>
        <p:spPr>
          <a:xfrm>
            <a:off x="457200" y="274320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Model 1: Theoretical Bulk Modulus (Random Forest)</a:t>
            </a:r>
          </a:p>
          <a:p>
            <a:pPr>
              <a:spcAft>
                <a:spcPts val="400"/>
              </a:spcAft>
              <a:defRPr sz="1300">
                <a:solidFill>
                  <a:srgbClr val="FFFFFF"/>
                </a:solidFill>
              </a:defRPr>
            </a:pPr>
            <a:r>
              <a:t>• Architecture &amp; Features: 100 Estimators predicting across atomic radius (r), electronegativity (X), VEC, melting temp (Tm), and mass standard deviations.</a:t>
            </a:r>
          </a:p>
          <a:p>
            <a:pPr>
              <a:spcAft>
                <a:spcPts val="400"/>
              </a:spcAft>
              <a:defRPr sz="1300">
                <a:solidFill>
                  <a:srgbClr val="FFFFFF"/>
                </a:solidFill>
              </a:defRPr>
            </a:pPr>
            <a:r>
              <a:t>• Performance: Audited Test R² of 0.977 and a Mean Absolute Error (MAE) of just 8.11 GPa.</a:t>
            </a:r>
          </a:p>
        </p:txBody>
      </p:sp>
      <p:sp>
        <p:nvSpPr>
          <p:cNvPr id="7" name="Rounded Rectangle 6"/>
          <p:cNvSpPr/>
          <p:nvPr/>
        </p:nvSpPr>
        <p:spPr>
          <a:xfrm>
            <a:off x="6217920" y="274320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Model 2: Experimental Yield Strength (Gradient Boosting)</a:t>
            </a:r>
          </a:p>
          <a:p>
            <a:pPr>
              <a:spcAft>
                <a:spcPts val="400"/>
              </a:spcAft>
              <a:defRPr sz="1300">
                <a:solidFill>
                  <a:srgbClr val="FFFFFF"/>
                </a:solidFill>
              </a:defRPr>
            </a:pPr>
            <a:r>
              <a:t>• Transfer Learning Logic: Trained on an experimental MPEA dataset. We heavily weighted exact 5-element target alloys (Weight=10) while leveraging broader refractory alloys (Weight=1).</a:t>
            </a:r>
          </a:p>
          <a:p>
            <a:pPr>
              <a:spcAft>
                <a:spcPts val="400"/>
              </a:spcAft>
              <a:defRPr sz="1300">
                <a:solidFill>
                  <a:srgbClr val="FFFFFF"/>
                </a:solidFill>
              </a:defRPr>
            </a:pPr>
            <a:r>
              <a:t>• The Thermal Knockdown Penalty: Because forging dies operate near 1200°C, we enforce a severe homologous temperature knockdown factor (0.45).</a:t>
            </a:r>
          </a:p>
        </p:txBody>
      </p:sp>
      <p:sp>
        <p:nvSpPr>
          <p:cNvPr id="8" name="Rounded Rectangle 7"/>
          <p:cNvSpPr/>
          <p:nvPr/>
        </p:nvSpPr>
        <p:spPr>
          <a:xfrm>
            <a:off x="457200" y="4937760"/>
            <a:ext cx="11274552" cy="16459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Left Column: Neural network graphic labeled 'Random Forest'. Right Column: Neural network graphic labeled 'Gradient Boosting: Transfer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CRYSTAL PARADIGM AI ENGINE: STEP 3</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Constrained Differential Evolution (DE)</a:t>
            </a:r>
          </a:p>
        </p:txBody>
      </p:sp>
      <p:sp>
        <p:nvSpPr>
          <p:cNvPr id="5" name="Rounded Rectangle 4"/>
          <p:cNvSpPr/>
          <p:nvPr/>
        </p:nvSpPr>
        <p:spPr>
          <a:xfrm>
            <a:off x="457200" y="1645920"/>
            <a:ext cx="11274552" cy="9144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To discover completely novel alloys, our AI sweeps a continuous 9-element space using a Softmax activation function to generate perfect sum-to-one fractional matrices. The objective function maximizes the thermomechanical Safety Factor, heavily penalized by strict terrestrial/aerospace limits:</a:t>
            </a:r>
          </a:p>
        </p:txBody>
      </p:sp>
      <p:sp>
        <p:nvSpPr>
          <p:cNvPr id="6" name="Rounded Rectangle 5"/>
          <p:cNvSpPr/>
          <p:nvPr/>
        </p:nvSpPr>
        <p:spPr>
          <a:xfrm>
            <a:off x="457200" y="274320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Commercial Penalties:</a:t>
            </a:r>
          </a:p>
          <a:p>
            <a:pPr>
              <a:spcAft>
                <a:spcPts val="400"/>
              </a:spcAft>
              <a:defRPr sz="1300">
                <a:solidFill>
                  <a:srgbClr val="FFFFFF"/>
                </a:solidFill>
              </a:defRPr>
            </a:pPr>
            <a:r>
              <a:t>1. Sigma Phase Mitigation: Massive penalty (5.0) if 'Sigma Formers' (W + Cr + Mo) exceed 50%.</a:t>
            </a:r>
          </a:p>
          <a:p>
            <a:pPr>
              <a:spcAft>
                <a:spcPts val="400"/>
              </a:spcAft>
              <a:defRPr sz="1300">
                <a:solidFill>
                  <a:srgbClr val="FFFFFF"/>
                </a:solidFill>
              </a:defRPr>
            </a:pPr>
            <a:r>
              <a:t>2. Vanadium Volatility: Penalized if V &gt; 20%, preventing toxic outgassing.</a:t>
            </a:r>
          </a:p>
          <a:p>
            <a:pPr>
              <a:spcAft>
                <a:spcPts val="400"/>
              </a:spcAft>
              <a:defRPr sz="1300">
                <a:solidFill>
                  <a:srgbClr val="FFFFFF"/>
                </a:solidFill>
              </a:defRPr>
            </a:pPr>
            <a:r>
              <a:t>3. ESG Weight Budget: Hard penalty if alloy density exceeds 11.0 g/cm³.</a:t>
            </a:r>
          </a:p>
          <a:p>
            <a:pPr>
              <a:spcAft>
                <a:spcPts val="400"/>
              </a:spcAft>
              <a:defRPr sz="1300">
                <a:solidFill>
                  <a:srgbClr val="FFFFFF"/>
                </a:solidFill>
              </a:defRPr>
            </a:pPr>
            <a:r>
              <a:t>4. Oxidation Barrier: Demands a minimum of 15% Chromium.</a:t>
            </a:r>
          </a:p>
        </p:txBody>
      </p:sp>
      <p:sp>
        <p:nvSpPr>
          <p:cNvPr id="7" name="Rounded Rectangle 6"/>
          <p:cNvSpPr/>
          <p:nvPr/>
        </p:nvSpPr>
        <p:spPr>
          <a:xfrm>
            <a:off x="6217920" y="2743200"/>
            <a:ext cx="5486400" cy="2011680"/>
          </a:xfrm>
          <a:prstGeom prst="roundRect">
            <a:avLst>
              <a:gd name="adj" fmla="val 5000"/>
            </a:avLst>
          </a:prstGeom>
          <a:solidFill>
            <a:srgbClr val="0055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B132B"/>
                </a:solidFill>
              </a:defRPr>
            </a:pPr>
            <a:r>
              <a:t>Result (Candidate C):</a:t>
            </a:r>
          </a:p>
          <a:p>
            <a:pPr>
              <a:spcAft>
                <a:spcPts val="400"/>
              </a:spcAft>
              <a:defRPr sz="1300">
                <a:solidFill>
                  <a:srgbClr val="FFFFFF"/>
                </a:solidFill>
              </a:defRPr>
            </a:pPr>
            <a:r>
              <a:t>The DE optimizer achieved a maximum fitness score of 1.5981 (Safety Factor), finding a globally optimal solution (Titanium 21.7%) that cleared every penalty and dropped the CTE mismatch to an unprecedented 2.66 μm/mK.</a:t>
            </a:r>
          </a:p>
        </p:txBody>
      </p:sp>
      <p:sp>
        <p:nvSpPr>
          <p:cNvPr id="8" name="Rounded Rectangle 7"/>
          <p:cNvSpPr/>
          <p:nvPr/>
        </p:nvSpPr>
        <p:spPr>
          <a:xfrm>
            <a:off x="457200" y="4937760"/>
            <a:ext cx="11274552" cy="16459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3D topographical optimization surface with a glowing 'Global Optimum' point calling out Sona Comstar commercial limits.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WHAT IS PROVEN TODAY AND WHAT IS NOT</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High-Fidelity Verification Metrics and TRL Maturity Status</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Our platform is currently at TRL 3+. All computational physics and validations are fully confirmed in-silico via PyCalphad, 1D/3D FEA, and MACE MD. We are applying to SCIDIP to execute physical TRL 4 lab validation utilizing IIT Delhi’s Central Research Facility (CRF) and NIDHI-CoE.</a:t>
            </a:r>
          </a:p>
        </p:txBody>
      </p:sp>
      <p:sp>
        <p:nvSpPr>
          <p:cNvPr id="6" name="Rounded Rectangle 5"/>
          <p:cNvSpPr/>
          <p:nvPr/>
        </p:nvSpPr>
        <p:spPr>
          <a:xfrm>
            <a:off x="457200" y="2926080"/>
            <a:ext cx="11274552" cy="34747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TRL Validation Matrix:</a:t>
            </a:r>
          </a:p>
          <a:p>
            <a:pPr>
              <a:spcAft>
                <a:spcPts val="400"/>
              </a:spcAft>
              <a:defRPr sz="1300">
                <a:solidFill>
                  <a:srgbClr val="FFFFFF"/>
                </a:solidFill>
              </a:defRPr>
            </a:pPr>
            <a:r>
              <a:t>• BCC Phase Security: Verified (CALPHAD) -&gt; Pending High-Temp XRD (IIT Delhi CRF) -&gt; Target: 0% Brittle Sigma Phase [STATUS: GREEN]</a:t>
            </a:r>
          </a:p>
          <a:p>
            <a:pPr>
              <a:spcAft>
                <a:spcPts val="400"/>
              </a:spcAft>
              <a:defRPr sz="1300">
                <a:solidFill>
                  <a:srgbClr val="FFFFFF"/>
                </a:solidFill>
              </a:defRPr>
            </a:pPr>
            <a:r>
              <a:t>• Elastic Modulus Surface: Audited (Test R²=0.977) -&gt; Pending NIDHI-CoE Tensile -&gt; Target: MAE ≤ 8.11 GPa [STATUS: GREEN]</a:t>
            </a:r>
          </a:p>
          <a:p>
            <a:pPr>
              <a:spcAft>
                <a:spcPts val="400"/>
              </a:spcAft>
              <a:defRPr sz="1300">
                <a:solidFill>
                  <a:srgbClr val="FFFFFF"/>
                </a:solidFill>
              </a:defRPr>
            </a:pPr>
            <a:r>
              <a:t>• Oxidation Scale Kinetics: Verified (2.8% Al Pivot) -&gt; Pending STA/TGA Weight (IIT Delhi) -&gt; Target: Mass Gain &lt; 10 mg/cm² [STATUS: GREEN]</a:t>
            </a:r>
          </a:p>
          <a:p>
            <a:pPr>
              <a:spcAft>
                <a:spcPts val="400"/>
              </a:spcAft>
              <a:defRPr sz="1300">
                <a:solidFill>
                  <a:srgbClr val="FFFFFF"/>
                </a:solidFill>
              </a:defRPr>
            </a:pPr>
            <a:r>
              <a:t>• Interfacial Bond Safety: Verified (1D/3D FEA) -&gt; Pending CRF Thermal Shock Test -&gt; Target: Safety Factor ≥ 1.50 [STATUS: GREEN]</a:t>
            </a:r>
          </a:p>
          <a:p>
            <a:pPr>
              <a:spcAft>
                <a:spcPts val="400"/>
              </a:spcAft>
              <a:defRPr sz="1300">
                <a:solidFill>
                  <a:srgbClr val="FFFFFF"/>
                </a:solidFill>
              </a:defRPr>
            </a:pPr>
            <a:r>
              <a:t>• Physical Prototyping: Fully Formulated -&gt; Not Yet Tested -&gt; Target: TRL 4 Coupon Assembly [STATUS: PENDING]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FINAL ARCHITECTURE (CANDIDATE C)</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From In-Silico Chemistry to Print-Ready Manufacturing</a:t>
            </a:r>
          </a:p>
        </p:txBody>
      </p:sp>
      <p:sp>
        <p:nvSpPr>
          <p:cNvPr id="5" name="Rounded Rectangle 4"/>
          <p:cNvSpPr/>
          <p:nvPr/>
        </p:nvSpPr>
        <p:spPr>
          <a:xfrm>
            <a:off x="457200" y="1645920"/>
            <a:ext cx="5486400" cy="29260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Crystal Paradigm Breakthrough:</a:t>
            </a:r>
          </a:p>
          <a:p>
            <a:pPr>
              <a:spcAft>
                <a:spcPts val="400"/>
              </a:spcAft>
              <a:defRPr sz="1300">
                <a:solidFill>
                  <a:srgbClr val="FFFFFF"/>
                </a:solidFill>
              </a:defRPr>
            </a:pPr>
            <a:r>
              <a:t>Through 11 phases of autonomous generation, our AI produced Candidate C, a hyper-optimized RHEA designed specifically for extreme thermal shock.</a:t>
            </a:r>
          </a:p>
          <a:p>
            <a:pPr>
              <a:spcAft>
                <a:spcPts val="400"/>
              </a:spcAft>
              <a:defRPr sz="1300">
                <a:solidFill>
                  <a:srgbClr val="FFFFFF"/>
                </a:solidFill>
              </a:defRPr>
            </a:pPr>
            <a:r>
              <a:t>1. The Titanium Pivot: Our AI substituted heavy Hafnium for Titanium (21.7%). It aggressively closed the CTE mismatch with the ceramic coating, dropping the gap to just 2.66 μm/mK.</a:t>
            </a:r>
          </a:p>
          <a:p>
            <a:pPr>
              <a:spcAft>
                <a:spcPts val="400"/>
              </a:spcAft>
              <a:defRPr sz="1300">
                <a:solidFill>
                  <a:srgbClr val="FFFFFF"/>
                </a:solidFill>
              </a:defRPr>
            </a:pPr>
            <a:r>
              <a:t>2. The Aluminum Armor: The AI executed a micro-addition of 2.8 at% Aluminum to force the formation of a highly stable α-Al₂O₃ protective armor scale.</a:t>
            </a:r>
          </a:p>
        </p:txBody>
      </p:sp>
      <p:sp>
        <p:nvSpPr>
          <p:cNvPr id="6" name="Rounded Rectangle 5"/>
          <p:cNvSpPr/>
          <p:nvPr/>
        </p:nvSpPr>
        <p:spPr>
          <a:xfrm>
            <a:off x="457200" y="4754880"/>
            <a:ext cx="5486400" cy="16459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3. The Manufacturing Recipe:</a:t>
            </a:r>
          </a:p>
          <a:p>
            <a:pPr>
              <a:spcAft>
                <a:spcPts val="400"/>
              </a:spcAft>
              <a:defRPr sz="1300">
                <a:solidFill>
                  <a:srgbClr val="FFFFFF"/>
                </a:solidFill>
              </a:defRPr>
            </a:pPr>
            <a:r>
              <a:t>We have directly exported the continuous FGM physics curves into a discrete, print-ready 11-layer `manufacturing_recipe.csv` (ranging from 0.0mm 100% alloy to 5.0mm 100% LZO ceramic). Ready for DED 3D printing.</a:t>
            </a:r>
          </a:p>
        </p:txBody>
      </p:sp>
      <p:sp>
        <p:nvSpPr>
          <p:cNvPr id="7" name="Rounded Rectangle 6"/>
          <p:cNvSpPr/>
          <p:nvPr/>
        </p:nvSpPr>
        <p:spPr>
          <a:xfrm>
            <a:off x="6217920" y="1645920"/>
            <a:ext cx="5486400" cy="475488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Split Screen showing chemistry and manufacturing. Left: 3D render of an SRM or forging die. Right: Cross-section of the 11-layer print matrix.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COMMERCIAL IMPACT FOR SONA COMSTAR</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Fleet Scalability and Direct Operating Cost Reductions</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By bridging aerospace materials into Sona Comstar's EPIC mobility framework, we generate massive downstream financial returns.</a:t>
            </a:r>
          </a:p>
        </p:txBody>
      </p:sp>
      <p:sp>
        <p:nvSpPr>
          <p:cNvPr id="6" name="Rounded Rectangle 5"/>
          <p:cNvSpPr/>
          <p:nvPr/>
        </p:nvSpPr>
        <p:spPr>
          <a:xfrm>
            <a:off x="45720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Raw Material Procurement</a:t>
            </a:r>
          </a:p>
          <a:p>
            <a:pPr>
              <a:spcAft>
                <a:spcPts val="400"/>
              </a:spcAft>
              <a:defRPr sz="1300">
                <a:solidFill>
                  <a:srgbClr val="FFFFFF"/>
                </a:solidFill>
              </a:defRPr>
            </a:pPr>
            <a:r>
              <a:t>The Physics Trigger: 75% reduction in Hafnium, substituted with Titanium.</a:t>
            </a:r>
          </a:p>
          <a:p>
            <a:pPr>
              <a:spcAft>
                <a:spcPts val="400"/>
              </a:spcAft>
              <a:defRPr sz="1300">
                <a:solidFill>
                  <a:srgbClr val="FFFFFF"/>
                </a:solidFill>
              </a:defRPr>
            </a:pPr>
          </a:p>
          <a:p>
            <a:pPr>
              <a:spcAft>
                <a:spcPts val="400"/>
              </a:spcAft>
              <a:defRPr sz="1300">
                <a:solidFill>
                  <a:srgbClr val="FFFFFF"/>
                </a:solidFill>
              </a:defRPr>
            </a:pPr>
            <a:r>
              <a:t>The Commercial Result: 15-20% Drop in Alloy Cost. Achieves ~$170/kg, enabling high-volume EV commercialization.</a:t>
            </a:r>
          </a:p>
        </p:txBody>
      </p:sp>
      <p:sp>
        <p:nvSpPr>
          <p:cNvPr id="7" name="Rounded Rectangle 6"/>
          <p:cNvSpPr/>
          <p:nvPr/>
        </p:nvSpPr>
        <p:spPr>
          <a:xfrm>
            <a:off x="4206240" y="2560320"/>
            <a:ext cx="3749039"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Tooling &amp; Forging Uptime</a:t>
            </a:r>
          </a:p>
          <a:p>
            <a:pPr>
              <a:spcAft>
                <a:spcPts val="400"/>
              </a:spcAft>
              <a:defRPr sz="1300">
                <a:solidFill>
                  <a:srgbClr val="FFFFFF"/>
                </a:solidFill>
              </a:defRPr>
            </a:pPr>
            <a:r>
              <a:t>The Physics Trigger: H13 Dies retain 917.7 MPa yield strength at 1200°C.</a:t>
            </a:r>
          </a:p>
          <a:p>
            <a:pPr>
              <a:spcAft>
                <a:spcPts val="400"/>
              </a:spcAft>
              <a:defRPr sz="1300">
                <a:solidFill>
                  <a:srgbClr val="FFFFFF"/>
                </a:solidFill>
              </a:defRPr>
            </a:pPr>
          </a:p>
          <a:p>
            <a:pPr>
              <a:spcAft>
                <a:spcPts val="400"/>
              </a:spcAft>
              <a:defRPr sz="1300">
                <a:solidFill>
                  <a:srgbClr val="FFFFFF"/>
                </a:solidFill>
              </a:defRPr>
            </a:pPr>
            <a:r>
              <a:t>The Commercial Result: Drastic MRO Reduction. Eliminates thermal fatigue cracking, vastly extending tooling life and manufacturing throughput.</a:t>
            </a:r>
          </a:p>
        </p:txBody>
      </p:sp>
      <p:sp>
        <p:nvSpPr>
          <p:cNvPr id="8" name="Rounded Rectangle 7"/>
          <p:cNvSpPr/>
          <p:nvPr/>
        </p:nvSpPr>
        <p:spPr>
          <a:xfrm>
            <a:off x="813816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Next-Gen EV Motors</a:t>
            </a:r>
          </a:p>
          <a:p>
            <a:pPr>
              <a:spcAft>
                <a:spcPts val="400"/>
              </a:spcAft>
              <a:defRPr sz="1300">
                <a:solidFill>
                  <a:srgbClr val="FFFFFF"/>
                </a:solidFill>
              </a:defRPr>
            </a:pPr>
            <a:r>
              <a:t>The Physics Trigger: Elimination of localized thermal hotspots in SRMs.</a:t>
            </a:r>
          </a:p>
          <a:p>
            <a:pPr>
              <a:spcAft>
                <a:spcPts val="400"/>
              </a:spcAft>
              <a:defRPr sz="1300">
                <a:solidFill>
                  <a:srgbClr val="FFFFFF"/>
                </a:solidFill>
              </a:defRPr>
            </a:pPr>
          </a:p>
          <a:p>
            <a:pPr>
              <a:spcAft>
                <a:spcPts val="400"/>
              </a:spcAft>
              <a:defRPr sz="1300">
                <a:solidFill>
                  <a:srgbClr val="FFFFFF"/>
                </a:solidFill>
              </a:defRPr>
            </a:pPr>
            <a:r>
              <a:t>The Commercial Result: Rare-Earth Independence. Enables high-power magnet-less motors without thermal degradation.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SCIDIP DEPLOYMENT 1: NEXT-GEN FORGING DIES</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Solving Sona Comstar's Differential Gear Bottleneck</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Sona Comstar’s core competitive advantage lies in precision forging of differential bevel gears. However, legacy H13 tool steel dies suffer massive yield strength collapse and thermal fatigue when operating near 1200°C, causing costly manufacturing downtime.</a:t>
            </a:r>
          </a:p>
        </p:txBody>
      </p:sp>
      <p:sp>
        <p:nvSpPr>
          <p:cNvPr id="6" name="Rounded Rectangle 5"/>
          <p:cNvSpPr/>
          <p:nvPr/>
        </p:nvSpPr>
        <p:spPr>
          <a:xfrm>
            <a:off x="457200" y="2926080"/>
            <a:ext cx="5486400" cy="34747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Crystal Paradigm Upgrade:</a:t>
            </a:r>
          </a:p>
          <a:p>
            <a:pPr>
              <a:spcAft>
                <a:spcPts val="400"/>
              </a:spcAft>
              <a:defRPr sz="1300">
                <a:solidFill>
                  <a:srgbClr val="FFFFFF"/>
                </a:solidFill>
              </a:defRPr>
            </a:pPr>
            <a:r>
              <a:t>Our 11-layer FGM architecture replaces the traditional monolithic die.</a:t>
            </a:r>
          </a:p>
          <a:p>
            <a:pPr>
              <a:spcAft>
                <a:spcPts val="400"/>
              </a:spcAft>
              <a:defRPr sz="1300">
                <a:solidFill>
                  <a:srgbClr val="FFFFFF"/>
                </a:solidFill>
              </a:defRPr>
            </a:pPr>
            <a:r>
              <a:t>• The Core: The Ta-W-Cr-V-Ti-Zr-Hf alloy retains &gt;917.7 MPa yield strength at 1200°C, preventing mechanical deformation.</a:t>
            </a:r>
          </a:p>
          <a:p>
            <a:pPr>
              <a:spcAft>
                <a:spcPts val="400"/>
              </a:spcAft>
              <a:defRPr sz="1300">
                <a:solidFill>
                  <a:srgbClr val="FFFFFF"/>
                </a:solidFill>
              </a:defRPr>
            </a:pPr>
            <a:r>
              <a:t>• The Surface: The LZO (Lanthanum Zirconate) ceramic outer layer acts as a supreme thermal barrier, preventing heat transfer from the hot-forged blank into the die.</a:t>
            </a:r>
          </a:p>
          <a:p>
            <a:pPr>
              <a:spcAft>
                <a:spcPts val="400"/>
              </a:spcAft>
              <a:defRPr sz="1300">
                <a:solidFill>
                  <a:srgbClr val="FFFFFF"/>
                </a:solidFill>
              </a:defRPr>
            </a:pPr>
            <a:r>
              <a:t>• The Result: Elimination of rapid thermal fatigue cracking, vastly extending tooling life.</a:t>
            </a:r>
          </a:p>
        </p:txBody>
      </p:sp>
      <p:sp>
        <p:nvSpPr>
          <p:cNvPr id="7" name="Rounded Rectangle 6"/>
          <p:cNvSpPr/>
          <p:nvPr/>
        </p:nvSpPr>
        <p:spPr>
          <a:xfrm>
            <a:off x="6217920" y="2926080"/>
            <a:ext cx="5486400" cy="34747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Show a traditional H13 tool steel die cracking under thermal fatigue vs. our Candidate C FGM die operating smoothly at 1200°C.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SCIDIP DEPLOYMENT 2: MAGNET-LESS EV MOTORS</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Enabling Rare-Earth Independence in Traction Motors</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As part of the 'EPIC' roadmap, Sona Comstar is heavily investing in Switched Reluctance Motors (SRMs) to eliminate reliance on imported Neodymium magnets. The engineering bottleneck? SRMs generate extreme, localized thermal hotspots that degrade traditional stator/rotor metals.</a:t>
            </a:r>
          </a:p>
        </p:txBody>
      </p:sp>
      <p:sp>
        <p:nvSpPr>
          <p:cNvPr id="6" name="Rounded Rectangle 5"/>
          <p:cNvSpPr/>
          <p:nvPr/>
        </p:nvSpPr>
        <p:spPr>
          <a:xfrm>
            <a:off x="457200" y="2926080"/>
            <a:ext cx="5486400" cy="34747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Crystal Paradigm Upgrade:</a:t>
            </a:r>
          </a:p>
          <a:p>
            <a:pPr>
              <a:spcAft>
                <a:spcPts val="400"/>
              </a:spcAft>
              <a:defRPr sz="1300">
                <a:solidFill>
                  <a:srgbClr val="FFFFFF"/>
                </a:solidFill>
              </a:defRPr>
            </a:pPr>
            <a:r>
              <a:t>By deploying our aerospace-derived Candidate C, we provide Sona Comstar with a structural material capable of surviving localized high-temperature spikes.</a:t>
            </a:r>
          </a:p>
          <a:p>
            <a:pPr>
              <a:spcAft>
                <a:spcPts val="400"/>
              </a:spcAft>
              <a:defRPr sz="1300">
                <a:solidFill>
                  <a:srgbClr val="FFFFFF"/>
                </a:solidFill>
              </a:defRPr>
            </a:pPr>
            <a:r>
              <a:t>• Thermal Shielding: The FGM gradient handles rapid thermal cycling without delamination (15.95 MPa interface shear stress), acting as a physical shield for sensitive copper windings.</a:t>
            </a:r>
          </a:p>
          <a:p>
            <a:pPr>
              <a:spcAft>
                <a:spcPts val="400"/>
              </a:spcAft>
              <a:defRPr sz="1300">
                <a:solidFill>
                  <a:srgbClr val="FFFFFF"/>
                </a:solidFill>
              </a:defRPr>
            </a:pPr>
            <a:r>
              <a:t>• Make-In-India Supply Chain: By substituting Hafnium for Titanium, we drastically drop the alloy cost to ~$170/kg.</a:t>
            </a:r>
          </a:p>
        </p:txBody>
      </p:sp>
      <p:sp>
        <p:nvSpPr>
          <p:cNvPr id="7" name="Rounded Rectangle 6"/>
          <p:cNvSpPr/>
          <p:nvPr/>
        </p:nvSpPr>
        <p:spPr>
          <a:xfrm>
            <a:off x="6217920" y="2926080"/>
            <a:ext cx="5486400" cy="34747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CAD-style blueprint of a Switched Reluctance Motor (SRM) with thermal heat-map hotspots.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INTELLECTUAL PROPERTY &amp; DE-RISKING THE SUPPLY CHAIN</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True Aatmanirbharta for the Indian Mobility Sector</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Sona Comstar’s strategic reliance on rare-earth elements for EV motors is a massive supply chain vulnerability. Crystal Paradigm offers a computational pathway to complete import substitution.</a:t>
            </a:r>
          </a:p>
        </p:txBody>
      </p:sp>
      <p:sp>
        <p:nvSpPr>
          <p:cNvPr id="6" name="Rounded Rectangle 5"/>
          <p:cNvSpPr/>
          <p:nvPr/>
        </p:nvSpPr>
        <p:spPr>
          <a:xfrm>
            <a:off x="457200" y="2560320"/>
            <a:ext cx="5486400" cy="38404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The IP Framework:</a:t>
            </a:r>
          </a:p>
          <a:p>
            <a:pPr>
              <a:spcAft>
                <a:spcPts val="400"/>
              </a:spcAft>
              <a:defRPr sz="1300">
                <a:solidFill>
                  <a:srgbClr val="FFFFFF"/>
                </a:solidFill>
              </a:defRPr>
            </a:pPr>
            <a:r>
              <a:t>1. The IP Moat: Our proprietary 11-phase AI architecture is a continuous IP generation engine. Candidate C is merely our first output.</a:t>
            </a:r>
          </a:p>
          <a:p>
            <a:pPr>
              <a:spcAft>
                <a:spcPts val="400"/>
              </a:spcAft>
              <a:defRPr sz="1300">
                <a:solidFill>
                  <a:srgbClr val="FFFFFF"/>
                </a:solidFill>
              </a:defRPr>
            </a:pPr>
            <a:r>
              <a:t>2. Make-in-India Reality: By engineering out exotic, foreign-controlled minerals and optimizing around globally abundant Titanium and Chromium, we guarantee a secure, indigenous supply chain.</a:t>
            </a:r>
          </a:p>
          <a:p>
            <a:pPr>
              <a:spcAft>
                <a:spcPts val="400"/>
              </a:spcAft>
              <a:defRPr sz="1300">
                <a:solidFill>
                  <a:srgbClr val="FFFFFF"/>
                </a:solidFill>
              </a:defRPr>
            </a:pPr>
            <a:r>
              <a:t>3. The IIT Delhi IP Framework: We are prepared to navigate the FITT incubation framework to jointly patent physical material formulations developed within the Central Research Facility (CRF).</a:t>
            </a:r>
          </a:p>
        </p:txBody>
      </p:sp>
      <p:sp>
        <p:nvSpPr>
          <p:cNvPr id="7" name="Rounded Rectangle 6"/>
          <p:cNvSpPr/>
          <p:nvPr/>
        </p:nvSpPr>
        <p:spPr>
          <a:xfrm>
            <a:off x="6217920" y="2560320"/>
            <a:ext cx="5486400" cy="384048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World map graphic showing supply chain vectors. Current reliance on Chinese Neodymium being replaced by an 'Indigenous Indian Innovation' node powered by Crystal Paradigm.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CRYSTAL PARADIGM CORPORATE ASK</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Bridging the Gap Between Informatics and the Factory Floor</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Crystal Paradigm is completely computationally validated (TRL 3+). We are applying to the Advanced Materials track of the SCIDIP program to access the precise ecosystem required to cross the 'valley of death'.</a:t>
            </a:r>
          </a:p>
        </p:txBody>
      </p:sp>
      <p:sp>
        <p:nvSpPr>
          <p:cNvPr id="6" name="Rounded Rectangle 5"/>
          <p:cNvSpPr/>
          <p:nvPr/>
        </p:nvSpPr>
        <p:spPr>
          <a:xfrm>
            <a:off x="457200" y="2560320"/>
            <a:ext cx="5303520" cy="18288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1. Technology &amp; Lab Support (IIT Delhi CRF):</a:t>
            </a:r>
          </a:p>
          <a:p>
            <a:pPr>
              <a:spcAft>
                <a:spcPts val="400"/>
              </a:spcAft>
              <a:defRPr sz="1300">
                <a:solidFill>
                  <a:srgbClr val="FFFFFF"/>
                </a:solidFill>
              </a:defRPr>
            </a:pPr>
            <a:r>
              <a:t>Immediate access to the NIDHI-CoE and CRF to execute High-Temperature XRD, SEM, and Simultaneous Thermal Analysis (STA) on physical witness coupons.</a:t>
            </a:r>
          </a:p>
        </p:txBody>
      </p:sp>
      <p:sp>
        <p:nvSpPr>
          <p:cNvPr id="7" name="Rounded Rectangle 6"/>
          <p:cNvSpPr/>
          <p:nvPr/>
        </p:nvSpPr>
        <p:spPr>
          <a:xfrm>
            <a:off x="5943600" y="2560320"/>
            <a:ext cx="5303520" cy="18288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2. Sona Comstar Mentorship:</a:t>
            </a:r>
          </a:p>
          <a:p>
            <a:pPr>
              <a:spcAft>
                <a:spcPts val="400"/>
              </a:spcAft>
              <a:defRPr sz="1300">
                <a:solidFill>
                  <a:srgbClr val="FFFFFF"/>
                </a:solidFill>
              </a:defRPr>
            </a:pPr>
            <a:r>
              <a:t>Direct engineering alignment with Sona Comstar’s precision forging division to ensure our 11-layer print matrices match factory-floor DED manufacturing tolerances.</a:t>
            </a:r>
          </a:p>
        </p:txBody>
      </p:sp>
      <p:sp>
        <p:nvSpPr>
          <p:cNvPr id="8" name="Rounded Rectangle 7"/>
          <p:cNvSpPr/>
          <p:nvPr/>
        </p:nvSpPr>
        <p:spPr>
          <a:xfrm>
            <a:off x="457200" y="4572000"/>
            <a:ext cx="5303520" cy="18288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3. SCIDIP Seed Ecosystem:</a:t>
            </a:r>
          </a:p>
          <a:p>
            <a:pPr>
              <a:spcAft>
                <a:spcPts val="400"/>
              </a:spcAft>
              <a:defRPr sz="1300">
                <a:solidFill>
                  <a:srgbClr val="FFFFFF"/>
                </a:solidFill>
              </a:defRPr>
            </a:pPr>
            <a:r>
              <a:t>Integration into the SCIDIP funding and incubation framework to finance raw material atomization and multi-hopper 3D printing of the physical prototypes.</a:t>
            </a:r>
          </a:p>
        </p:txBody>
      </p:sp>
      <p:sp>
        <p:nvSpPr>
          <p:cNvPr id="9" name="Rounded Rectangle 8"/>
          <p:cNvSpPr/>
          <p:nvPr/>
        </p:nvSpPr>
        <p:spPr>
          <a:xfrm>
            <a:off x="5943600" y="4572000"/>
            <a:ext cx="5303520" cy="18288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4. Corporate Market Connect:</a:t>
            </a:r>
          </a:p>
          <a:p>
            <a:pPr>
              <a:spcAft>
                <a:spcPts val="400"/>
              </a:spcAft>
              <a:defRPr sz="1300">
                <a:solidFill>
                  <a:srgbClr val="FFFFFF"/>
                </a:solidFill>
              </a:defRPr>
            </a:pPr>
            <a:r>
              <a:t>Joint integration of the physical prototypes into Sona Comstar's downstream EV supply 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24-MONTH INCUBATION ROADMAP</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From Computational Validation to Sona Comstar Integration</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a:solidFill>
                  <a:srgbClr val="FFFFFF"/>
                </a:solidFill>
              </a:defRPr>
            </a:pPr>
            <a:r>
              <a:t>Our execution strategy is strictly mapped to the 24-month SCIDIP incubation cycle at Atal Incubation Centre (AIC).</a:t>
            </a:r>
          </a:p>
        </p:txBody>
      </p:sp>
      <p:sp>
        <p:nvSpPr>
          <p:cNvPr id="6" name="Rounded Rectangle 5"/>
          <p:cNvSpPr/>
          <p:nvPr/>
        </p:nvSpPr>
        <p:spPr>
          <a:xfrm>
            <a:off x="457200" y="2560320"/>
            <a:ext cx="11274552" cy="18288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Milestones:</a:t>
            </a:r>
          </a:p>
          <a:p>
            <a:pPr>
              <a:spcAft>
                <a:spcPts val="400"/>
              </a:spcAft>
              <a:defRPr sz="1300">
                <a:solidFill>
                  <a:srgbClr val="FFFFFF"/>
                </a:solidFill>
              </a:defRPr>
            </a:pPr>
            <a:r>
              <a:t>• Months 1-6 (M1: Powder Synthesis): Procure raw metal powders and utilize IIT Delhi labs to verify composition purity.</a:t>
            </a:r>
          </a:p>
          <a:p>
            <a:pPr>
              <a:spcAft>
                <a:spcPts val="400"/>
              </a:spcAft>
              <a:defRPr sz="1300">
                <a:solidFill>
                  <a:srgbClr val="FFFFFF"/>
                </a:solidFill>
              </a:defRPr>
            </a:pPr>
            <a:r>
              <a:t>• Months 6-12 (M2: Additive Manufacturing): Execute the 11-layer manufacturing_recipe.csv via DED to print physical witness coupons.</a:t>
            </a:r>
          </a:p>
          <a:p>
            <a:pPr>
              <a:spcAft>
                <a:spcPts val="400"/>
              </a:spcAft>
              <a:defRPr sz="1300">
                <a:solidFill>
                  <a:srgbClr val="FFFFFF"/>
                </a:solidFill>
              </a:defRPr>
            </a:pPr>
            <a:r>
              <a:t>• Months 12-18 (M3: NIDHI-CoE &amp; CRF Testing): Conduct physical yield strength testing and execute High-Temp XRD / STA thermal shock validation.</a:t>
            </a:r>
          </a:p>
          <a:p>
            <a:pPr>
              <a:spcAft>
                <a:spcPts val="400"/>
              </a:spcAft>
              <a:defRPr sz="1300">
                <a:solidFill>
                  <a:srgbClr val="FFFFFF"/>
                </a:solidFill>
              </a:defRPr>
            </a:pPr>
            <a:r>
              <a:t>• Months 18-24 (M4: Corporate Handover): Present fully validated TRL 5/6 hardware to Sona Comstar.</a:t>
            </a:r>
          </a:p>
        </p:txBody>
      </p:sp>
      <p:sp>
        <p:nvSpPr>
          <p:cNvPr id="7" name="Rounded Rectangle 6"/>
          <p:cNvSpPr/>
          <p:nvPr/>
        </p:nvSpPr>
        <p:spPr>
          <a:xfrm>
            <a:off x="457200" y="4572000"/>
            <a:ext cx="11274552" cy="182880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Gantt-style timeline graphic covering 24 months. A sleek arrow moving left to right, punctuated by major milestone nodes (M1 to M4).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RESEARCH LEADS</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Guided by Elite Academic and Scientific Expertise</a:t>
            </a:r>
          </a:p>
        </p:txBody>
      </p:sp>
      <p:sp>
        <p:nvSpPr>
          <p:cNvPr id="5" name="Rounded Rectangle 4"/>
          <p:cNvSpPr/>
          <p:nvPr/>
        </p:nvSpPr>
        <p:spPr>
          <a:xfrm>
            <a:off x="457200" y="1645920"/>
            <a:ext cx="5486400" cy="47548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Dr. Shilpa Choudhary (AI/ML Lead)</a:t>
            </a:r>
          </a:p>
          <a:p>
            <a:pPr>
              <a:spcAft>
                <a:spcPts val="400"/>
              </a:spcAft>
              <a:defRPr sz="1200">
                <a:solidFill>
                  <a:srgbClr val="FFFFFF"/>
                </a:solidFill>
              </a:defRPr>
            </a:pPr>
            <a:r>
              <a:t>Recognized among the Top 2% Scientists Worldwide by Stanford University (2024), brings over 16 years of research expertise in Artificial Intelligence, Deep Learning, and AI-driven scientific applications.</a:t>
            </a:r>
          </a:p>
          <a:p>
            <a:pPr>
              <a:spcAft>
                <a:spcPts val="400"/>
              </a:spcAft>
              <a:defRPr sz="1200">
                <a:solidFill>
                  <a:srgbClr val="FFFFFF"/>
                </a:solidFill>
              </a:defRPr>
            </a:pPr>
            <a:r>
              <a:t>With postdoctoral research experience at the Singapore Institute of Technology and the National Kaohsiung University of Science and Technology (Taiwan), she has authored over 100 research papers, 12 academic books, and holds multiple patents.</a:t>
            </a:r>
          </a:p>
          <a:p>
            <a:pPr>
              <a:spcAft>
                <a:spcPts val="400"/>
              </a:spcAft>
              <a:defRPr sz="1200">
                <a:solidFill>
                  <a:srgbClr val="FFFFFF"/>
                </a:solidFill>
              </a:defRPr>
            </a:pPr>
            <a:r>
              <a:t>At Crystal Paradigm, she leads AI innovation, ML Architecture, Constrained Optimization, and Surrogate Model Design.</a:t>
            </a:r>
          </a:p>
        </p:txBody>
      </p:sp>
      <p:sp>
        <p:nvSpPr>
          <p:cNvPr id="6" name="Rounded Rectangle 5"/>
          <p:cNvSpPr/>
          <p:nvPr/>
        </p:nvSpPr>
        <p:spPr>
          <a:xfrm>
            <a:off x="6217920" y="1645920"/>
            <a:ext cx="5486400" cy="47548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Dr. Kasarapu Venkataramana (Materials Science Lead)</a:t>
            </a:r>
          </a:p>
          <a:p>
            <a:pPr>
              <a:spcAft>
                <a:spcPts val="400"/>
              </a:spcAft>
              <a:defRPr sz="1200">
                <a:solidFill>
                  <a:srgbClr val="FFFFFF"/>
                </a:solidFill>
              </a:defRPr>
            </a:pPr>
            <a:r>
              <a:t>Currently a Research Associate at CSIR-IICT working on a DRDO sponsored project. Associate Fellow of the Telangana Academy of Sciences (2024) and brings 12 years of research experience.</a:t>
            </a:r>
          </a:p>
          <a:p>
            <a:pPr>
              <a:spcAft>
                <a:spcPts val="400"/>
              </a:spcAft>
              <a:defRPr sz="1200">
                <a:solidFill>
                  <a:srgbClr val="FFFFFF"/>
                </a:solidFill>
              </a:defRPr>
            </a:pPr>
            <a:r>
              <a:t>Authored 38 research publications (610+ citations) and serves as a recognized reviewer for Elsevier, Springer, and Taylor &amp; Francis.</a:t>
            </a:r>
          </a:p>
          <a:p>
            <a:pPr>
              <a:spcAft>
                <a:spcPts val="400"/>
              </a:spcAft>
              <a:defRPr sz="1200">
                <a:solidFill>
                  <a:srgbClr val="FFFFFF"/>
                </a:solidFill>
              </a:defRPr>
            </a:pPr>
            <a:r>
              <a:t>He provides critical domain oversight on computational chemistry, thermodynamics, and physical experimental validation. Specializes in High Entropy Oxides and advanced materials characterization.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CORE AI ARCHITECTS</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The Engine Driving the Day-to-Day AI Innovation</a:t>
            </a:r>
          </a:p>
        </p:txBody>
      </p:sp>
      <p:sp>
        <p:nvSpPr>
          <p:cNvPr id="5" name="Rounded Rectangle 4"/>
          <p:cNvSpPr/>
          <p:nvPr/>
        </p:nvSpPr>
        <p:spPr>
          <a:xfrm>
            <a:off x="457200" y="1645920"/>
            <a:ext cx="548640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Mohammed Ahmed Raza (AI Research Intern)</a:t>
            </a:r>
          </a:p>
          <a:p>
            <a:pPr>
              <a:spcAft>
                <a:spcPts val="400"/>
              </a:spcAft>
              <a:defRPr sz="1200">
                <a:solidFill>
                  <a:srgbClr val="FFFFFF"/>
                </a:solidFill>
              </a:defRPr>
            </a:pPr>
            <a:r>
              <a:t>CSE student at NGIT and Certified AI/ML Professional from iHub-Data, IIIT Hyderabad.</a:t>
            </a:r>
          </a:p>
          <a:p>
            <a:pPr>
              <a:spcAft>
                <a:spcPts val="400"/>
              </a:spcAft>
              <a:defRPr sz="1200">
                <a:solidFill>
                  <a:srgbClr val="FFFFFF"/>
                </a:solidFill>
              </a:defRPr>
            </a:pPr>
            <a:r>
              <a:t>Previously served as a Winter Research Intern at IIIT Hyderabad, engineering advanced computer vision systems.</a:t>
            </a:r>
          </a:p>
          <a:p>
            <a:pPr>
              <a:spcAft>
                <a:spcPts val="400"/>
              </a:spcAft>
              <a:defRPr sz="1200">
                <a:solidFill>
                  <a:srgbClr val="FFFFFF"/>
                </a:solidFill>
              </a:defRPr>
            </a:pPr>
            <a:r>
              <a:t>Advances materials science and deep learning innovations as an AI Research Intern at Crystal Paradigm, developing inverse design frameworks to computationally engineer next-generation superalloys.</a:t>
            </a:r>
          </a:p>
          <a:p>
            <a:pPr>
              <a:spcAft>
                <a:spcPts val="400"/>
              </a:spcAft>
              <a:defRPr sz="1200">
                <a:solidFill>
                  <a:srgbClr val="FFFFFF"/>
                </a:solidFill>
              </a:defRPr>
            </a:pPr>
            <a:r>
              <a:t>Co-authored research introducing a breakthrough Attention Graph Siamese Transformer (DPT-GNN) that drastically optimizes lithium-ion battery capacity predictions.</a:t>
            </a:r>
          </a:p>
        </p:txBody>
      </p:sp>
      <p:sp>
        <p:nvSpPr>
          <p:cNvPr id="6" name="Rounded Rectangle 5"/>
          <p:cNvSpPr/>
          <p:nvPr/>
        </p:nvSpPr>
        <p:spPr>
          <a:xfrm>
            <a:off x="6217920" y="1645920"/>
            <a:ext cx="548640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055FF"/>
                </a:solidFill>
              </a:defRPr>
            </a:pPr>
            <a:r>
              <a:t>K. Indrasena Reddy [Indra] (AI Research Intern)</a:t>
            </a:r>
          </a:p>
          <a:p>
            <a:pPr>
              <a:spcAft>
                <a:spcPts val="400"/>
              </a:spcAft>
              <a:defRPr sz="1200">
                <a:solidFill>
                  <a:srgbClr val="FFFFFF"/>
                </a:solidFill>
              </a:defRPr>
            </a:pPr>
            <a:r>
              <a:t>CSE student at NGIT. Previously served as an AI Developer Intern at Viswam.AI, building natural language processing applications and contributing to experimental language model research.</a:t>
            </a:r>
          </a:p>
          <a:p>
            <a:pPr>
              <a:spcAft>
                <a:spcPts val="400"/>
              </a:spcAft>
              <a:defRPr sz="1200">
                <a:solidFill>
                  <a:srgbClr val="FFFFFF"/>
                </a:solidFill>
              </a:defRPr>
            </a:pPr>
            <a:r>
              <a:t>Currently advances materials informatics and graph neural network modeling for large-scale property prediction as an AI Research Intern at Crystal Paradigm.</a:t>
            </a:r>
          </a:p>
        </p:txBody>
      </p:sp>
      <p:sp>
        <p:nvSpPr>
          <p:cNvPr id="7" name="Rounded Rectangle 6"/>
          <p:cNvSpPr/>
          <p:nvPr/>
        </p:nvSpPr>
        <p:spPr>
          <a:xfrm>
            <a:off x="457200" y="5486400"/>
            <a:ext cx="11274552" cy="914400"/>
          </a:xfrm>
          <a:prstGeom prst="roundRect">
            <a:avLst>
              <a:gd name="adj" fmla="val 5000"/>
            </a:avLst>
          </a:prstGeom>
          <a:solidFill>
            <a:srgbClr val="0055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B132B"/>
                </a:solidFill>
              </a:defRPr>
            </a:pPr>
            <a:r>
              <a:t>Strategic Scale Capability</a:t>
            </a:r>
          </a:p>
          <a:p>
            <a:pPr>
              <a:spcAft>
                <a:spcPts val="400"/>
              </a:spcAft>
              <a:defRPr sz="1300">
                <a:solidFill>
                  <a:srgbClr val="FFFFFF"/>
                </a:solidFill>
              </a:defRPr>
            </a:pPr>
            <a:r>
              <a:t>The Extended Crystal Paradigm Engineering Team: The core architecture is rapidly scaled and supported by a dedicated extended team of 18 specialized AI Research Interns, ensuring massive parallel execution bandwidth for complex multi-physics simulations.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CRYSTAL PARADIGM</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Accelerating Deep-Tech Materials from 5 Years to 4 Weeks.</a:t>
            </a:r>
          </a:p>
        </p:txBody>
      </p:sp>
      <p:sp>
        <p:nvSpPr>
          <p:cNvPr id="5" name="Rounded Rectangle 4"/>
          <p:cNvSpPr/>
          <p:nvPr/>
        </p:nvSpPr>
        <p:spPr>
          <a:xfrm>
            <a:off x="1828800" y="1828800"/>
            <a:ext cx="8531352" cy="22860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a:solidFill>
                  <a:srgbClr val="FFFFFF"/>
                </a:solidFill>
              </a:defRPr>
            </a:pPr>
            <a:r>
              <a:t>We have completely solved the computational bottleneck.</a:t>
            </a:r>
          </a:p>
          <a:p>
            <a:pPr>
              <a:spcAft>
                <a:spcPts val="400"/>
              </a:spcAft>
              <a:defRPr sz="1800">
                <a:solidFill>
                  <a:srgbClr val="FFFFFF"/>
                </a:solidFill>
              </a:defRPr>
            </a:pPr>
            <a:r>
              <a:t>We are ready to build the physical reality.</a:t>
            </a:r>
          </a:p>
          <a:p>
            <a:pPr>
              <a:spcAft>
                <a:spcPts val="400"/>
              </a:spcAft>
              <a:defRPr sz="1800">
                <a:solidFill>
                  <a:srgbClr val="FFFFFF"/>
                </a:solidFill>
              </a:defRPr>
            </a:pPr>
          </a:p>
          <a:p>
            <a:pPr>
              <a:spcAft>
                <a:spcPts val="400"/>
              </a:spcAft>
              <a:defRPr sz="1800">
                <a:solidFill>
                  <a:srgbClr val="FFFFFF"/>
                </a:solidFill>
              </a:defRPr>
            </a:pPr>
            <a:r>
              <a:t>Join us at the SCIDIP Advanced Materials Track.</a:t>
            </a:r>
          </a:p>
        </p:txBody>
      </p:sp>
      <p:sp>
        <p:nvSpPr>
          <p:cNvPr id="6" name="Rounded Rectangle 5"/>
          <p:cNvSpPr/>
          <p:nvPr/>
        </p:nvSpPr>
        <p:spPr>
          <a:xfrm>
            <a:off x="1828800" y="4389120"/>
            <a:ext cx="8531352" cy="914400"/>
          </a:xfrm>
          <a:prstGeom prst="roundRect">
            <a:avLst>
              <a:gd name="adj" fmla="val 5000"/>
            </a:avLst>
          </a:prstGeom>
          <a:solidFill>
            <a:srgbClr val="0055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600">
                <a:solidFill>
                  <a:srgbClr val="0B132B"/>
                </a:solidFill>
              </a:defRPr>
            </a:pPr>
            <a:r>
              <a:t>crystalparadigm.in | khub.crystalparadigm@gmail.com</a:t>
            </a:r>
          </a:p>
          <a:p>
            <a:pPr>
              <a:spcAft>
                <a:spcPts val="400"/>
              </a:spcAft>
              <a:defRPr sz="1300">
                <a:solidFill>
                  <a:srgbClr val="FFFFFF"/>
                </a:solidFill>
              </a:defRPr>
            </a:pPr>
            <a:r>
              <a:t>Scan QR Code to access the 50+ Page Technical Appendix</a:t>
            </a:r>
          </a:p>
        </p:txBody>
      </p:sp>
      <p:sp>
        <p:nvSpPr>
          <p:cNvPr id="7" name="Rounded Rectangle 6"/>
          <p:cNvSpPr/>
          <p:nvPr/>
        </p:nvSpPr>
        <p:spPr>
          <a:xfrm>
            <a:off x="5175504" y="5394960"/>
            <a:ext cx="1828800" cy="137160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QR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