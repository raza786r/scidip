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Accelerating Innovation at the Intersection of AI and Material Science</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CRYSTAL PARADIGM | IIT DELHI SCIDIP APPLICATION</a:t>
            </a:r>
          </a:p>
        </p:txBody>
      </p:sp>
      <p:sp>
        <p:nvSpPr>
          <p:cNvPr id="5" name="Rounded Rectangle 4"/>
          <p:cNvSpPr/>
          <p:nvPr/>
        </p:nvSpPr>
        <p:spPr>
          <a:xfrm>
            <a:off x="457200" y="1645920"/>
            <a:ext cx="5486400" cy="13716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300">
                <a:solidFill>
                  <a:srgbClr val="FFFFFF"/>
                </a:solidFill>
              </a:defRPr>
            </a:pPr>
            <a:r>
              <a:t>Crystal Paradigm is an elite Deep-Tech Discovery Platform. We leverage artificial intelligence and high-performance computing to accelerate material discovery from 5 years to 4 weeks.</a:t>
            </a:r>
          </a:p>
        </p:txBody>
      </p:sp>
      <p:sp>
        <p:nvSpPr>
          <p:cNvPr id="6" name="Rounded Rectangle 5"/>
          <p:cNvSpPr/>
          <p:nvPr/>
        </p:nvSpPr>
        <p:spPr>
          <a:xfrm>
            <a:off x="457200" y="3200400"/>
            <a:ext cx="5486400" cy="201168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b="1" sz="1800">
                <a:solidFill>
                  <a:srgbClr val="0055FF"/>
                </a:solidFill>
              </a:defRPr>
            </a:pPr>
            <a:r>
              <a:t>Our Expanding Pipeline:</a:t>
            </a:r>
          </a:p>
          <a:p>
            <a:pPr>
              <a:spcAft>
                <a:spcPts val="600"/>
              </a:spcAft>
              <a:defRPr sz="1300">
                <a:solidFill>
                  <a:srgbClr val="FFFFFF"/>
                </a:solidFill>
              </a:defRPr>
            </a:pPr>
            <a:r>
              <a:t>Our AI architecture is highly scalable. We are actively advancing research across:</a:t>
            </a:r>
          </a:p>
          <a:p>
            <a:pPr>
              <a:spcAft>
                <a:spcPts val="600"/>
              </a:spcAft>
              <a:defRPr sz="1300">
                <a:solidFill>
                  <a:srgbClr val="FFFFFF"/>
                </a:solidFill>
              </a:defRPr>
            </a:pPr>
            <a:r>
              <a:t>• Supercapacitors &amp; Solid-State Battery Electrolytes (Li-ion &amp; Na-ion)</a:t>
            </a:r>
          </a:p>
          <a:p>
            <a:pPr>
              <a:spcAft>
                <a:spcPts val="600"/>
              </a:spcAft>
              <a:defRPr sz="1300">
                <a:solidFill>
                  <a:srgbClr val="FFFFFF"/>
                </a:solidFill>
              </a:defRPr>
            </a:pPr>
            <a:r>
              <a:t>• Next-Generation Solar Materials &amp; Advanced Sensor Matrices</a:t>
            </a:r>
          </a:p>
          <a:p>
            <a:pPr>
              <a:spcAft>
                <a:spcPts val="600"/>
              </a:spcAft>
              <a:defRPr sz="1300">
                <a:solidFill>
                  <a:srgbClr val="FFFFFF"/>
                </a:solidFill>
              </a:defRPr>
            </a:pPr>
            <a:r>
              <a:t>• Current Traction: 1 Patent Accepted, 4 Research Papers Under Review, and active industry collaborations.</a:t>
            </a:r>
          </a:p>
        </p:txBody>
      </p:sp>
      <p:sp>
        <p:nvSpPr>
          <p:cNvPr id="7" name="Rounded Rectangle 6"/>
          <p:cNvSpPr/>
          <p:nvPr/>
        </p:nvSpPr>
        <p:spPr>
          <a:xfrm>
            <a:off x="457200" y="5394960"/>
            <a:ext cx="11274552" cy="1097280"/>
          </a:xfrm>
          <a:prstGeom prst="roundRect">
            <a:avLst>
              <a:gd name="adj" fmla="val 5000"/>
            </a:avLst>
          </a:prstGeom>
          <a:solidFill>
            <a:srgbClr val="0055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b="1" sz="1800">
                <a:solidFill>
                  <a:srgbClr val="0B132B"/>
                </a:solidFill>
              </a:defRPr>
            </a:pPr>
            <a:r>
              <a:t>The SCIDIP Spearhead:</a:t>
            </a:r>
          </a:p>
          <a:p>
            <a:pPr>
              <a:spcAft>
                <a:spcPts val="600"/>
              </a:spcAft>
              <a:defRPr sz="1300">
                <a:solidFill>
                  <a:srgbClr val="FFFFFF"/>
                </a:solidFill>
              </a:defRPr>
            </a:pPr>
            <a:r>
              <a:t>For this application, we are deploying our most extreme, fully-validated Proof of Concept: An AI-generated, aerospace-grade Refractory High-Entropy Alloy (RHEA) engineered to solve Sona Comstar's terrestrial thermal bottlenecks.</a:t>
            </a:r>
          </a:p>
        </p:txBody>
      </p:sp>
      <p:sp>
        <p:nvSpPr>
          <p:cNvPr id="8" name="Rounded Rectangle 7"/>
          <p:cNvSpPr/>
          <p:nvPr/>
        </p:nvSpPr>
        <p:spPr>
          <a:xfrm>
            <a:off x="6217920" y="1645920"/>
            <a:ext cx="5486400" cy="3566160"/>
          </a:xfrm>
          <a:prstGeom prst="roundRect">
            <a:avLst>
              <a:gd name="adj" fmla="val 5000"/>
            </a:avLst>
          </a:prstGeom>
          <a:solidFill>
            <a:srgbClr val="E6EBF0"/>
          </a:solidFill>
          <a:ln w="25400">
            <a:solidFill>
              <a:srgbClr val="0055FF"/>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B132B"/>
                </a:solidFill>
              </a:defRPr>
            </a:pPr>
            <a:r>
              <a:t>INSERT VISUALIZATION:</a:t>
            </a:r>
            <a:br/>
            <a:r>
              <a:t>A sleek composite graphic showing glowing atomic structures spanning across different domains (batteries, sensors, aerospace).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PROVING THE PHYSICS: THE AEROSPACE THERMAL BOTTLENECK</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Solving the 1400°C Turbine Entry Temperature Problem</a:t>
            </a:r>
          </a:p>
        </p:txBody>
      </p:sp>
      <p:sp>
        <p:nvSpPr>
          <p:cNvPr id="5" name="Rounded Rectangle 4"/>
          <p:cNvSpPr/>
          <p:nvPr/>
        </p:nvSpPr>
        <p:spPr>
          <a:xfrm>
            <a:off x="457200" y="1645920"/>
            <a:ext cx="5486400" cy="22860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b="1" sz="1800">
                <a:solidFill>
                  <a:srgbClr val="0055FF"/>
                </a:solidFill>
              </a:defRPr>
            </a:pPr>
            <a:r>
              <a:t>The Aerothermal Fire Limit:</a:t>
            </a:r>
          </a:p>
          <a:p>
            <a:pPr>
              <a:spcAft>
                <a:spcPts val="600"/>
              </a:spcAft>
              <a:defRPr sz="1300">
                <a:solidFill>
                  <a:srgbClr val="FFFFFF"/>
                </a:solidFill>
              </a:defRPr>
            </a:pPr>
            <a:r>
              <a:t>Traditional nickel-based superalloys have hit a physical ceiling. When shielded with ceramics, the massive Coefficient of Thermal Expansion (CTE) mismatch causes the protective armor to violently spall off under rapid thermal cycling.</a:t>
            </a:r>
          </a:p>
        </p:txBody>
      </p:sp>
      <p:sp>
        <p:nvSpPr>
          <p:cNvPr id="6" name="Rounded Rectangle 5"/>
          <p:cNvSpPr/>
          <p:nvPr/>
        </p:nvSpPr>
        <p:spPr>
          <a:xfrm>
            <a:off x="6217920" y="1645920"/>
            <a:ext cx="5486400" cy="22860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b="1" sz="1800">
                <a:solidFill>
                  <a:srgbClr val="0055FF"/>
                </a:solidFill>
              </a:defRPr>
            </a:pPr>
            <a:r>
              <a:t>The Crystal Paradigm AI Solution (Top Breakthrough: Candidate C):</a:t>
            </a:r>
          </a:p>
          <a:p>
            <a:pPr>
              <a:spcAft>
                <a:spcPts val="600"/>
              </a:spcAft>
              <a:defRPr sz="1300">
                <a:solidFill>
                  <a:srgbClr val="FFFFFF"/>
                </a:solidFill>
              </a:defRPr>
            </a:pPr>
            <a:r>
              <a:t>Instead of laboratory trial-and-error, our proprietary 11-phase AI pipeline screened thousands of combinatorial matrices to isolate top-tier Refractory High-Entropy Alloys. Our champion candidate (Ta-W-Cr-V-Ti-Zr-Hf + 2.8% Al) proves the math:</a:t>
            </a:r>
          </a:p>
          <a:p>
            <a:pPr>
              <a:spcAft>
                <a:spcPts val="600"/>
              </a:spcAft>
              <a:defRPr sz="1300">
                <a:solidFill>
                  <a:srgbClr val="FFFFFF"/>
                </a:solidFill>
              </a:defRPr>
            </a:pPr>
            <a:r>
              <a:t>• The Physics: By forcing a Titanium-dominant solid solution, we mathematically closed the CTE gap.</a:t>
            </a:r>
          </a:p>
          <a:p>
            <a:pPr>
              <a:spcAft>
                <a:spcPts val="600"/>
              </a:spcAft>
              <a:defRPr sz="1300">
                <a:solidFill>
                  <a:srgbClr val="FFFFFF"/>
                </a:solidFill>
              </a:defRPr>
            </a:pPr>
            <a:r>
              <a:t>• The Manufacturing: We deployed an 11-layer Functionally Graded Material (FGM) matrix using an exact n=1.1 power-law gradient.</a:t>
            </a:r>
          </a:p>
          <a:p>
            <a:pPr>
              <a:spcAft>
                <a:spcPts val="600"/>
              </a:spcAft>
              <a:defRPr sz="1300">
                <a:solidFill>
                  <a:srgbClr val="FFFFFF"/>
                </a:solidFill>
              </a:defRPr>
            </a:pPr>
            <a:r>
              <a:t>• The Result: Interface shear stress was dropped to an ultra-low 15.95 MPa, completely eliminating delamination.</a:t>
            </a:r>
          </a:p>
        </p:txBody>
      </p:sp>
      <p:sp>
        <p:nvSpPr>
          <p:cNvPr id="7" name="Rounded Rectangle 6"/>
          <p:cNvSpPr/>
          <p:nvPr/>
        </p:nvSpPr>
        <p:spPr>
          <a:xfrm>
            <a:off x="457200" y="4114800"/>
            <a:ext cx="11274552" cy="2286000"/>
          </a:xfrm>
          <a:prstGeom prst="roundRect">
            <a:avLst>
              <a:gd name="adj" fmla="val 5000"/>
            </a:avLst>
          </a:prstGeom>
          <a:solidFill>
            <a:srgbClr val="E6EBF0"/>
          </a:solidFill>
          <a:ln w="25400">
            <a:solidFill>
              <a:srgbClr val="0055FF"/>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B132B"/>
                </a:solidFill>
              </a:defRPr>
            </a:pPr>
            <a:r>
              <a:t>INSERT VISUALIZATION:</a:t>
            </a:r>
            <a:br/>
            <a:r>
              <a:t>A side-by-side comparison. Left: A traditional cracked coating on a superalloy. Right: Our 11-layer Functionally Graded Material (FGM) transition, showing a smooth power-law gradient from metallic HEA to LZO ceramic.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THE SCIDIP CROSSOVER: FROM AEROSPACE TO EPIC MOBILITY</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Bridging 1400°C Turbine Tech to Sona Comstar</a:t>
            </a:r>
          </a:p>
        </p:txBody>
      </p:sp>
      <p:sp>
        <p:nvSpPr>
          <p:cNvPr id="5" name="Rounded Rectangle 4"/>
          <p:cNvSpPr/>
          <p:nvPr/>
        </p:nvSpPr>
        <p:spPr>
          <a:xfrm>
            <a:off x="457200" y="1645920"/>
            <a:ext cx="11274552" cy="109728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300">
                <a:solidFill>
                  <a:srgbClr val="FFFFFF"/>
                </a:solidFill>
              </a:defRPr>
            </a:pPr>
            <a:r>
              <a:t>If our AI architecture can prevent a jet turbine from melting at 1400°C, it can revolutionize the thermal limits of terrestrial mobility.</a:t>
            </a:r>
          </a:p>
          <a:p>
            <a:pPr>
              <a:spcAft>
                <a:spcPts val="600"/>
              </a:spcAft>
              <a:defRPr sz="1300">
                <a:solidFill>
                  <a:srgbClr val="FFFFFF"/>
                </a:solidFill>
              </a:defRPr>
            </a:pPr>
            <a:r>
              <a:t>We are entering the IIT Delhi SCIDIP program under the Advanced Materials category because Sona Comstar’s EPIC (Electric, Personalized, Intelligent, Connected) roadmap is directly bottlenecked by thermodynamics. The exact thermal ceilings capping aerospace are capping Sona Comstar:</a:t>
            </a:r>
          </a:p>
        </p:txBody>
      </p:sp>
      <p:sp>
        <p:nvSpPr>
          <p:cNvPr id="6" name="Rounded Rectangle 5"/>
          <p:cNvSpPr/>
          <p:nvPr/>
        </p:nvSpPr>
        <p:spPr>
          <a:xfrm>
            <a:off x="457200" y="2926080"/>
            <a:ext cx="5486400" cy="164592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b="1" sz="1800">
                <a:solidFill>
                  <a:srgbClr val="0055FF"/>
                </a:solidFill>
              </a:defRPr>
            </a:pPr>
            <a:r>
              <a:t>1. Precision Forging Dies (Driveline):</a:t>
            </a:r>
          </a:p>
          <a:p>
            <a:pPr>
              <a:spcAft>
                <a:spcPts val="600"/>
              </a:spcAft>
              <a:defRPr sz="1300">
                <a:solidFill>
                  <a:srgbClr val="FFFFFF"/>
                </a:solidFill>
              </a:defRPr>
            </a:pPr>
            <a:r>
              <a:t>Sona Comstar's legacy H13 tool steel dies suffer from rapid thermal fatigue and yield strength collapse at 1200°C during high-speed gear forging. Our HEA architectures retain over 917.7 MPa yield strength at these exact temperatures.</a:t>
            </a:r>
          </a:p>
        </p:txBody>
      </p:sp>
      <p:sp>
        <p:nvSpPr>
          <p:cNvPr id="7" name="Rounded Rectangle 6"/>
          <p:cNvSpPr/>
          <p:nvPr/>
        </p:nvSpPr>
        <p:spPr>
          <a:xfrm>
            <a:off x="6217920" y="2926080"/>
            <a:ext cx="5486400" cy="164592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b="1" sz="1800">
                <a:solidFill>
                  <a:srgbClr val="0055FF"/>
                </a:solidFill>
              </a:defRPr>
            </a:pPr>
            <a:r>
              <a:t>2. Next-Generation Traction Motors (Electric):</a:t>
            </a:r>
          </a:p>
          <a:p>
            <a:pPr>
              <a:spcAft>
                <a:spcPts val="600"/>
              </a:spcAft>
              <a:defRPr sz="1300">
                <a:solidFill>
                  <a:srgbClr val="FFFFFF"/>
                </a:solidFill>
              </a:defRPr>
            </a:pPr>
            <a:r>
              <a:t>As Sona Comstar scales magnet-less Switched Reluctance Motors (SRMs), traditional metals degrade under the severe localized thermal loads generated by extreme torque densities.</a:t>
            </a:r>
          </a:p>
        </p:txBody>
      </p:sp>
      <p:sp>
        <p:nvSpPr>
          <p:cNvPr id="8" name="Rounded Rectangle 7"/>
          <p:cNvSpPr/>
          <p:nvPr/>
        </p:nvSpPr>
        <p:spPr>
          <a:xfrm>
            <a:off x="457200" y="4754880"/>
            <a:ext cx="11274552" cy="1645920"/>
          </a:xfrm>
          <a:prstGeom prst="roundRect">
            <a:avLst>
              <a:gd name="adj" fmla="val 5000"/>
            </a:avLst>
          </a:prstGeom>
          <a:solidFill>
            <a:srgbClr val="E6EBF0"/>
          </a:solidFill>
          <a:ln w="25400">
            <a:solidFill>
              <a:srgbClr val="0055FF"/>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B132B"/>
                </a:solidFill>
              </a:defRPr>
            </a:pPr>
            <a:r>
              <a:t>INSERT VISUALIZATION:</a:t>
            </a:r>
            <a:br/>
            <a:r>
              <a:t>A sleek arrow connecting 'AEROSPACE EXTREMES (1400°C Turbine)' on the left, pointing to 'TERRESTRIAL MOBILITY (H13 Forging Dies &amp; EV SRMs)' on the right.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0972800" cy="731520"/>
          </a:xfrm>
          <a:prstGeom prst="rect">
            <a:avLst/>
          </a:prstGeom>
          <a:noFill/>
        </p:spPr>
        <p:txBody>
          <a:bodyPr wrap="none">
            <a:spAutoFit/>
          </a:bodyPr>
          <a:lstStyle/>
          <a:p>
            <a:pPr>
              <a:defRPr b="1" sz="2800">
                <a:solidFill>
                  <a:srgbClr val="0B132B"/>
                </a:solidFill>
              </a:defRPr>
            </a:pPr>
            <a:r>
              <a:t>DEPLOYING AEROSPACE GRADE MATERIALS AT COMMERCIAL SCALE</a:t>
            </a:r>
          </a:p>
        </p:txBody>
      </p:sp>
      <p:sp>
        <p:nvSpPr>
          <p:cNvPr id="4" name="TextBox 3"/>
          <p:cNvSpPr txBox="1"/>
          <p:nvPr/>
        </p:nvSpPr>
        <p:spPr>
          <a:xfrm>
            <a:off x="457200" y="914400"/>
            <a:ext cx="10972800" cy="457200"/>
          </a:xfrm>
          <a:prstGeom prst="rect">
            <a:avLst/>
          </a:prstGeom>
          <a:noFill/>
        </p:spPr>
        <p:txBody>
          <a:bodyPr wrap="none">
            <a:spAutoFit/>
          </a:bodyPr>
          <a:lstStyle/>
          <a:p>
            <a:pPr>
              <a:defRPr sz="1600" b="1">
                <a:solidFill>
                  <a:srgbClr val="0055FF"/>
                </a:solidFill>
              </a:defRPr>
            </a:pPr>
            <a:r>
              <a:t>Optimized for the Supply Chain</a:t>
            </a:r>
          </a:p>
        </p:txBody>
      </p:sp>
      <p:sp>
        <p:nvSpPr>
          <p:cNvPr id="5" name="Rounded Rectangle 4"/>
          <p:cNvSpPr/>
          <p:nvPr/>
        </p:nvSpPr>
        <p:spPr>
          <a:xfrm>
            <a:off x="457200" y="1645920"/>
            <a:ext cx="11274552" cy="73152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300">
                <a:solidFill>
                  <a:srgbClr val="FFFFFF"/>
                </a:solidFill>
              </a:defRPr>
            </a:pPr>
            <a:r>
              <a:t>Our AI engine does not just optimize for physics; it optimizes for the supply chain.</a:t>
            </a:r>
          </a:p>
        </p:txBody>
      </p:sp>
      <p:sp>
        <p:nvSpPr>
          <p:cNvPr id="6" name="Rounded Rectangle 5"/>
          <p:cNvSpPr/>
          <p:nvPr/>
        </p:nvSpPr>
        <p:spPr>
          <a:xfrm>
            <a:off x="457200" y="2560320"/>
            <a:ext cx="3566160" cy="36576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b="1" sz="1800">
                <a:solidFill>
                  <a:srgbClr val="0055FF"/>
                </a:solidFill>
              </a:defRPr>
            </a:pPr>
            <a:r>
              <a:t>1. Raw Material Cost Reduction</a:t>
            </a:r>
          </a:p>
          <a:p>
            <a:pPr>
              <a:spcAft>
                <a:spcPts val="600"/>
              </a:spcAft>
              <a:defRPr sz="1300">
                <a:solidFill>
                  <a:srgbClr val="FFFFFF"/>
                </a:solidFill>
              </a:defRPr>
            </a:pPr>
            <a:r>
              <a:t>By programmatically identifying that we could substitute highly expensive, supply-constrained Hafnium with optimized Titanium, our AI dropped the raw material cost of the alloy by 15-20% (achieving ~$170/kg), making aerospace-grade materials viable for commercial automotive forging.</a:t>
            </a:r>
          </a:p>
        </p:txBody>
      </p:sp>
      <p:sp>
        <p:nvSpPr>
          <p:cNvPr id="7" name="Rounded Rectangle 6"/>
          <p:cNvSpPr/>
          <p:nvPr/>
        </p:nvSpPr>
        <p:spPr>
          <a:xfrm>
            <a:off x="4206240" y="2560320"/>
            <a:ext cx="3749039" cy="36576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b="1" sz="1800">
                <a:solidFill>
                  <a:srgbClr val="0055FF"/>
                </a:solidFill>
              </a:defRPr>
            </a:pPr>
            <a:r>
              <a:t>2. ESG &amp; Sustainability</a:t>
            </a:r>
          </a:p>
          <a:p>
            <a:pPr>
              <a:spcAft>
                <a:spcPts val="600"/>
              </a:spcAft>
              <a:defRPr sz="1300">
                <a:solidFill>
                  <a:srgbClr val="FFFFFF"/>
                </a:solidFill>
              </a:defRPr>
            </a:pPr>
            <a:r>
              <a:t>Crystal Paradigm’s Candidate C is fully quantified for environmental impact, capping Embodied Energy at a highly sustainable 1680 MJ/kg—directly supporting zero-emissions manufacturing goals.</a:t>
            </a:r>
          </a:p>
        </p:txBody>
      </p:sp>
      <p:sp>
        <p:nvSpPr>
          <p:cNvPr id="8" name="Rounded Rectangle 7"/>
          <p:cNvSpPr/>
          <p:nvPr/>
        </p:nvSpPr>
        <p:spPr>
          <a:xfrm>
            <a:off x="8138160" y="2560320"/>
            <a:ext cx="3566160" cy="3657600"/>
          </a:xfrm>
          <a:prstGeom prst="roundRect">
            <a:avLst>
              <a:gd name="adj" fmla="val 5000"/>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b="1" sz="1800">
                <a:solidFill>
                  <a:srgbClr val="0055FF"/>
                </a:solidFill>
              </a:defRPr>
            </a:pPr>
            <a:r>
              <a:t>3. Supply Chain Resilience</a:t>
            </a:r>
          </a:p>
          <a:p>
            <a:pPr>
              <a:spcAft>
                <a:spcPts val="600"/>
              </a:spcAft>
              <a:defRPr sz="1300">
                <a:solidFill>
                  <a:srgbClr val="FFFFFF"/>
                </a:solidFill>
              </a:defRPr>
            </a:pPr>
            <a:r>
              <a:t>By utilizing a 9-element multi-principal matrix, we drastically reduce reliance on single critical minerals (like Neodymium) controlled by volatile foreign supply chains. Our pipeline ensures true indigenous, self-reliant IP generation for the Indian mobility sector ('Make in India').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