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11384280" y="6510528"/>
            <a:ext cx="594360" cy="256032"/>
          </a:xfrm>
          <a:prstGeom prst="rect">
            <a:avLst/>
          </a:prstGeom>
          <a:noFill/>
          <a:ln/>
        </p:spPr>
        <p:txBody>
          <a:bodyPr wrap="square" rtlCol="0" anchor="ctr"/>
          <a:lstStyle/>
          <a:p>
            <a:pPr algn="r" indent="0" marL="0">
              <a:buNone/>
            </a:pPr>
            <a:r>
              <a:rPr lang="en-US" sz="850" dirty="0">
                <a:solidFill>
                  <a:srgbClr val="5B6B8C"/>
                </a:solidFill>
                <a:latin typeface="Calibri" pitchFamily="34" charset="0"/>
                <a:ea typeface="Calibri" pitchFamily="34" charset="-122"/>
                <a:cs typeface="Calibri" pitchFamily="34" charset="-120"/>
              </a:rPr>
              <a:t>1 / 18</a:t>
            </a:r>
            <a:endParaRPr lang="en-US" sz="850" dirty="0"/>
          </a:p>
        </p:txBody>
      </p:sp>
      <p:sp>
        <p:nvSpPr>
          <p:cNvPr id="3" name="Shape 1"/>
          <p:cNvSpPr/>
          <p:nvPr/>
        </p:nvSpPr>
        <p:spPr>
          <a:xfrm>
            <a:off x="0" y="6291072"/>
            <a:ext cx="12188952" cy="0"/>
          </a:xfrm>
          <a:prstGeom prst="line">
            <a:avLst/>
          </a:prstGeom>
          <a:noFill/>
          <a:ln w="9525">
            <a:solidFill>
              <a:srgbClr val="DDE2EA"/>
            </a:solidFill>
            <a:prstDash val="solid"/>
          </a:ln>
        </p:spPr>
      </p:sp>
      <p:sp>
        <p:nvSpPr>
          <p:cNvPr id="4" name="Text 2"/>
          <p:cNvSpPr/>
          <p:nvPr/>
        </p:nvSpPr>
        <p:spPr>
          <a:xfrm>
            <a:off x="502920" y="365760"/>
            <a:ext cx="5486400" cy="274320"/>
          </a:xfrm>
          <a:prstGeom prst="rect">
            <a:avLst/>
          </a:prstGeom>
          <a:noFill/>
          <a:ln/>
        </p:spPr>
        <p:txBody>
          <a:bodyPr wrap="square" rtlCol="0" anchor="ctr"/>
          <a:lstStyle/>
          <a:p>
            <a:pPr algn="l" indent="0" marL="0">
              <a:buNone/>
            </a:pPr>
            <a:r>
              <a:rPr lang="en-US" sz="1050" b="1" spc="220" kern="0" dirty="0">
                <a:solidFill>
                  <a:srgbClr val="0E7C86"/>
                </a:solidFill>
                <a:latin typeface="Arial" pitchFamily="34" charset="0"/>
                <a:ea typeface="Arial" pitchFamily="34" charset="-122"/>
                <a:cs typeface="Arial" pitchFamily="34" charset="-120"/>
              </a:rPr>
              <a:t>SCIDIP PROGRAM APPLICATION</a:t>
            </a:r>
            <a:endParaRPr lang="en-US" sz="1050" dirty="0"/>
          </a:p>
        </p:txBody>
      </p:sp>
      <p:sp>
        <p:nvSpPr>
          <p:cNvPr id="5" name="Text 3"/>
          <p:cNvSpPr/>
          <p:nvPr/>
        </p:nvSpPr>
        <p:spPr>
          <a:xfrm>
            <a:off x="502920" y="640080"/>
            <a:ext cx="7315200" cy="256032"/>
          </a:xfrm>
          <a:prstGeom prst="rect">
            <a:avLst/>
          </a:prstGeom>
          <a:noFill/>
          <a:ln/>
        </p:spPr>
        <p:txBody>
          <a:bodyPr wrap="square" rtlCol="0" anchor="ctr"/>
          <a:lstStyle/>
          <a:p>
            <a:pPr indent="0" marL="0">
              <a:buNone/>
            </a:pPr>
            <a:r>
              <a:rPr lang="en-US" sz="950" dirty="0">
                <a:solidFill>
                  <a:srgbClr val="5B6B8C"/>
                </a:solidFill>
                <a:latin typeface="Calibri" pitchFamily="34" charset="0"/>
                <a:ea typeface="Calibri" pitchFamily="34" charset="-122"/>
                <a:cs typeface="Calibri" pitchFamily="34" charset="-120"/>
              </a:rPr>
              <a:t>Advanced Materials  ·  Advanced Batteries  ·  Electric Mobility  ·  Sustainability</a:t>
            </a:r>
            <a:endParaRPr lang="en-US" sz="950" dirty="0"/>
          </a:p>
        </p:txBody>
      </p:sp>
      <p:sp>
        <p:nvSpPr>
          <p:cNvPr id="6" name="Text 4"/>
          <p:cNvSpPr/>
          <p:nvPr/>
        </p:nvSpPr>
        <p:spPr>
          <a:xfrm>
            <a:off x="502920" y="1051560"/>
            <a:ext cx="6583680" cy="1417320"/>
          </a:xfrm>
          <a:prstGeom prst="rect">
            <a:avLst/>
          </a:prstGeom>
          <a:noFill/>
          <a:ln/>
        </p:spPr>
        <p:txBody>
          <a:bodyPr wrap="square" rtlCol="0" anchor="t"/>
          <a:lstStyle/>
          <a:p>
            <a:pPr indent="0" marL="0">
              <a:lnSpc>
                <a:spcPct val="112000"/>
              </a:lnSpc>
              <a:buNone/>
            </a:pPr>
            <a:r>
              <a:rPr lang="en-US" sz="2600" b="1" dirty="0">
                <a:solidFill>
                  <a:srgbClr val="0B132B"/>
                </a:solidFill>
                <a:latin typeface="Arial" pitchFamily="34" charset="0"/>
                <a:ea typeface="Arial" pitchFamily="34" charset="-122"/>
                <a:cs typeface="Arial" pitchFamily="34" charset="-120"/>
              </a:rPr>
              <a:t>Accelerating Innovation at the Intersection of AI and Material Science</a:t>
            </a:r>
            <a:endParaRPr lang="en-US" sz="2600" dirty="0"/>
          </a:p>
        </p:txBody>
      </p:sp>
      <p:sp>
        <p:nvSpPr>
          <p:cNvPr id="7" name="Text 5"/>
          <p:cNvSpPr/>
          <p:nvPr/>
        </p:nvSpPr>
        <p:spPr>
          <a:xfrm>
            <a:off x="502920" y="2514600"/>
            <a:ext cx="6309360" cy="868680"/>
          </a:xfrm>
          <a:prstGeom prst="rect">
            <a:avLst/>
          </a:prstGeom>
          <a:noFill/>
          <a:ln/>
        </p:spPr>
        <p:txBody>
          <a:bodyPr wrap="square" rtlCol="0" anchor="ctr"/>
          <a:lstStyle/>
          <a:p>
            <a:pPr indent="0" marL="0">
              <a:lnSpc>
                <a:spcPct val="128000"/>
              </a:lnSpc>
              <a:buNone/>
            </a:pPr>
            <a:r>
              <a:rPr lang="en-US" sz="1250" dirty="0">
                <a:solidFill>
                  <a:srgbClr val="5B6B8C"/>
                </a:solidFill>
                <a:latin typeface="Calibri" pitchFamily="34" charset="0"/>
                <a:ea typeface="Calibri" pitchFamily="34" charset="-122"/>
                <a:cs typeface="Calibri" pitchFamily="34" charset="-120"/>
              </a:rPr>
              <a:t>Crystal Paradigm is an elite Deep-Tech Discovery Platform. We leverage artificial intelligence and high-performance computing to accelerate material discovery from </a:t>
            </a:r>
            <a:pPr indent="0" marL="0">
              <a:lnSpc>
                <a:spcPct val="128000"/>
              </a:lnSpc>
              <a:buNone/>
            </a:pPr>
            <a:r>
              <a:rPr lang="en-US" sz="1250" b="1" dirty="0">
                <a:solidFill>
                  <a:srgbClr val="0E7C86"/>
                </a:solidFill>
                <a:latin typeface="Calibri" pitchFamily="34" charset="0"/>
                <a:ea typeface="Calibri" pitchFamily="34" charset="-122"/>
                <a:cs typeface="Calibri" pitchFamily="34" charset="-120"/>
              </a:rPr>
              <a:t>5 years to 4 weeks</a:t>
            </a:r>
            <a:pPr indent="0" marL="0">
              <a:lnSpc>
                <a:spcPct val="128000"/>
              </a:lnSpc>
              <a:buNone/>
            </a:pPr>
            <a:r>
              <a:rPr lang="en-US" sz="1250" dirty="0">
                <a:solidFill>
                  <a:srgbClr val="5B6B8C"/>
                </a:solidFill>
                <a:latin typeface="Calibri" pitchFamily="34" charset="0"/>
                <a:ea typeface="Calibri" pitchFamily="34" charset="-122"/>
                <a:cs typeface="Calibri" pitchFamily="34" charset="-120"/>
              </a:rPr>
              <a:t>.</a:t>
            </a:r>
            <a:endParaRPr lang="en-US" sz="1250" dirty="0"/>
          </a:p>
        </p:txBody>
      </p:sp>
      <p:sp>
        <p:nvSpPr>
          <p:cNvPr id="8" name="Shape 6"/>
          <p:cNvSpPr/>
          <p:nvPr/>
        </p:nvSpPr>
        <p:spPr>
          <a:xfrm>
            <a:off x="7360920" y="1051560"/>
            <a:ext cx="3867912" cy="2331720"/>
          </a:xfrm>
          <a:prstGeom prst="roundRect">
            <a:avLst>
              <a:gd name="adj" fmla="val 5490"/>
            </a:avLst>
          </a:prstGeom>
          <a:solidFill>
            <a:srgbClr val="EEF1F5"/>
          </a:solidFill>
          <a:ln w="15875">
            <a:solidFill>
              <a:srgbClr val="0B132B"/>
            </a:solidFill>
            <a:prstDash val="dash"/>
          </a:ln>
        </p:spPr>
      </p:sp>
      <p:sp>
        <p:nvSpPr>
          <p:cNvPr id="9" name="Text 7"/>
          <p:cNvSpPr/>
          <p:nvPr/>
        </p:nvSpPr>
        <p:spPr>
          <a:xfrm>
            <a:off x="7589520" y="1216152"/>
            <a:ext cx="3410712" cy="237744"/>
          </a:xfrm>
          <a:prstGeom prst="rect">
            <a:avLst/>
          </a:prstGeom>
          <a:noFill/>
          <a:ln/>
        </p:spPr>
        <p:txBody>
          <a:bodyPr wrap="square" rtlCol="0" anchor="ctr"/>
          <a:lstStyle/>
          <a:p>
            <a:pPr indent="0" marL="0">
              <a:buNone/>
            </a:pPr>
            <a:r>
              <a:rPr lang="en-US" sz="900" b="1" spc="180" kern="0" dirty="0">
                <a:solidFill>
                  <a:srgbClr val="7C879C"/>
                </a:solidFill>
                <a:latin typeface="Arial" pitchFamily="34" charset="0"/>
                <a:ea typeface="Arial" pitchFamily="34" charset="-122"/>
                <a:cs typeface="Arial" pitchFamily="34" charset="-120"/>
              </a:rPr>
              <a:t>VISUAL PLACEHOLDER</a:t>
            </a:r>
            <a:endParaRPr lang="en-US" sz="900" dirty="0"/>
          </a:p>
        </p:txBody>
      </p:sp>
      <p:sp>
        <p:nvSpPr>
          <p:cNvPr id="10" name="Text 8"/>
          <p:cNvSpPr/>
          <p:nvPr/>
        </p:nvSpPr>
        <p:spPr>
          <a:xfrm>
            <a:off x="7680960" y="1508760"/>
            <a:ext cx="3227832" cy="1645920"/>
          </a:xfrm>
          <a:prstGeom prst="rect">
            <a:avLst/>
          </a:prstGeom>
          <a:noFill/>
          <a:ln/>
        </p:spPr>
        <p:txBody>
          <a:bodyPr wrap="square" rtlCol="0" anchor="ctr"/>
          <a:lstStyle/>
          <a:p>
            <a:pPr algn="ctr" indent="0" marL="0">
              <a:lnSpc>
                <a:spcPct val="125000"/>
              </a:lnSpc>
              <a:buNone/>
            </a:pPr>
            <a:r>
              <a:rPr lang="en-US" sz="1100" i="1" dirty="0">
                <a:solidFill>
                  <a:srgbClr val="7C879C"/>
                </a:solidFill>
                <a:latin typeface="Calibri" pitchFamily="34" charset="0"/>
                <a:ea typeface="Calibri" pitchFamily="34" charset="-122"/>
                <a:cs typeface="Calibri" pitchFamily="34" charset="-120"/>
              </a:rPr>
              <a:t>INSERT VISUALIZATION: composite graphic of glowing atomic structures spanning batteries, sensors &amp; aerospace domains</a:t>
            </a:r>
            <a:endParaRPr lang="en-US" sz="1100" dirty="0"/>
          </a:p>
        </p:txBody>
      </p:sp>
      <p:sp>
        <p:nvSpPr>
          <p:cNvPr id="11" name="Shape 9"/>
          <p:cNvSpPr/>
          <p:nvPr/>
        </p:nvSpPr>
        <p:spPr>
          <a:xfrm>
            <a:off x="502920" y="3657600"/>
            <a:ext cx="5532120" cy="2423160"/>
          </a:xfrm>
          <a:prstGeom prst="roundRect">
            <a:avLst>
              <a:gd name="adj" fmla="val 5283"/>
            </a:avLst>
          </a:prstGeom>
          <a:solidFill>
            <a:srgbClr val="0B132B"/>
          </a:solidFill>
          <a:ln w="9525">
            <a:solidFill>
              <a:srgbClr val="2A3B63"/>
            </a:solidFill>
            <a:prstDash val="solid"/>
          </a:ln>
          <a:effectLst>
            <a:outerShdw sx="100000" sy="100000" kx="0" ky="0" algn="bl" rotWithShape="0" blurRad="127000" dist="38100" dir="5400000">
              <a:srgbClr val="1A2138">
                <a:alpha val="28000"/>
              </a:srgbClr>
            </a:outerShdw>
          </a:effectLst>
        </p:spPr>
      </p:sp>
      <p:sp>
        <p:nvSpPr>
          <p:cNvPr id="12" name="Text 10"/>
          <p:cNvSpPr/>
          <p:nvPr/>
        </p:nvSpPr>
        <p:spPr>
          <a:xfrm>
            <a:off x="795528" y="3886200"/>
            <a:ext cx="4937760" cy="292608"/>
          </a:xfrm>
          <a:prstGeom prst="rect">
            <a:avLst/>
          </a:prstGeom>
          <a:noFill/>
          <a:ln/>
        </p:spPr>
        <p:txBody>
          <a:bodyPr wrap="square" rtlCol="0" anchor="t"/>
          <a:lstStyle/>
          <a:p>
            <a:pPr indent="0" marL="0">
              <a:lnSpc>
                <a:spcPct val="110000"/>
              </a:lnSpc>
              <a:buNone/>
            </a:pPr>
            <a:r>
              <a:rPr lang="en-US" sz="1300" b="1" dirty="0">
                <a:solidFill>
                  <a:srgbClr val="F8F9FA"/>
                </a:solidFill>
                <a:latin typeface="Arial" pitchFamily="34" charset="0"/>
                <a:ea typeface="Arial" pitchFamily="34" charset="-122"/>
                <a:cs typeface="Arial" pitchFamily="34" charset="-120"/>
              </a:rPr>
              <a:t>OUR EXPANDING PIPELINE</a:t>
            </a:r>
            <a:endParaRPr lang="en-US" sz="1300" dirty="0"/>
          </a:p>
        </p:txBody>
      </p:sp>
      <p:sp>
        <p:nvSpPr>
          <p:cNvPr id="13" name="Text 11"/>
          <p:cNvSpPr/>
          <p:nvPr/>
        </p:nvSpPr>
        <p:spPr>
          <a:xfrm>
            <a:off x="795528" y="4224528"/>
            <a:ext cx="4937760" cy="384048"/>
          </a:xfrm>
          <a:prstGeom prst="rect">
            <a:avLst/>
          </a:prstGeom>
          <a:noFill/>
          <a:ln/>
        </p:spPr>
        <p:txBody>
          <a:bodyPr wrap="square" rtlCol="0" anchor="ctr"/>
          <a:lstStyle/>
          <a:p>
            <a:pPr indent="0" marL="0">
              <a:lnSpc>
                <a:spcPct val="120000"/>
              </a:lnSpc>
              <a:buNone/>
            </a:pPr>
            <a:r>
              <a:rPr lang="en-US" sz="1050" i="1" dirty="0">
                <a:solidFill>
                  <a:srgbClr val="AAB6CC"/>
                </a:solidFill>
                <a:latin typeface="Calibri" pitchFamily="34" charset="0"/>
                <a:ea typeface="Calibri" pitchFamily="34" charset="-122"/>
                <a:cs typeface="Calibri" pitchFamily="34" charset="-120"/>
              </a:rPr>
              <a:t>Our AI architecture is highly scalable. We are actively advancing research across:</a:t>
            </a:r>
            <a:endParaRPr lang="en-US" sz="1050" dirty="0"/>
          </a:p>
        </p:txBody>
      </p:sp>
      <p:sp>
        <p:nvSpPr>
          <p:cNvPr id="14" name="Text 12"/>
          <p:cNvSpPr/>
          <p:nvPr/>
        </p:nvSpPr>
        <p:spPr>
          <a:xfrm>
            <a:off x="795528" y="4663440"/>
            <a:ext cx="4937760" cy="365760"/>
          </a:xfrm>
          <a:prstGeom prst="rect">
            <a:avLst/>
          </a:prstGeom>
          <a:noFill/>
          <a:ln/>
        </p:spPr>
        <p:txBody>
          <a:bodyPr wrap="square" rtlCol="0" anchor="ctr"/>
          <a:lstStyle/>
          <a:p>
            <a:pPr indent="0" marL="0">
              <a:lnSpc>
                <a:spcPct val="115000"/>
              </a:lnSpc>
              <a:buNone/>
            </a:pPr>
            <a:r>
              <a:rPr lang="en-US" sz="1050" dirty="0">
                <a:solidFill>
                  <a:srgbClr val="AAB6CC"/>
                </a:solidFill>
                <a:latin typeface="Calibri" pitchFamily="34" charset="0"/>
                <a:ea typeface="Calibri" pitchFamily="34" charset="-122"/>
                <a:cs typeface="Calibri" pitchFamily="34" charset="-120"/>
              </a:rPr>
              <a:t>•  Supercapacitors &amp; Solid-State Battery Electrolytes (Li-ion &amp; Na-ion)</a:t>
            </a:r>
            <a:endParaRPr lang="en-US" sz="1050" dirty="0"/>
          </a:p>
        </p:txBody>
      </p:sp>
      <p:sp>
        <p:nvSpPr>
          <p:cNvPr id="15" name="Text 13"/>
          <p:cNvSpPr/>
          <p:nvPr/>
        </p:nvSpPr>
        <p:spPr>
          <a:xfrm>
            <a:off x="795528" y="5047488"/>
            <a:ext cx="4937760" cy="365760"/>
          </a:xfrm>
          <a:prstGeom prst="rect">
            <a:avLst/>
          </a:prstGeom>
          <a:noFill/>
          <a:ln/>
        </p:spPr>
        <p:txBody>
          <a:bodyPr wrap="square" rtlCol="0" anchor="ctr"/>
          <a:lstStyle/>
          <a:p>
            <a:pPr indent="0" marL="0">
              <a:lnSpc>
                <a:spcPct val="115000"/>
              </a:lnSpc>
              <a:buNone/>
            </a:pPr>
            <a:r>
              <a:rPr lang="en-US" sz="1050" dirty="0">
                <a:solidFill>
                  <a:srgbClr val="AAB6CC"/>
                </a:solidFill>
                <a:latin typeface="Calibri" pitchFamily="34" charset="0"/>
                <a:ea typeface="Calibri" pitchFamily="34" charset="-122"/>
                <a:cs typeface="Calibri" pitchFamily="34" charset="-120"/>
              </a:rPr>
              <a:t>•  Next-Generation Solar Materials &amp; Advanced Sensor Matrices</a:t>
            </a:r>
            <a:endParaRPr lang="en-US" sz="1050" dirty="0"/>
          </a:p>
        </p:txBody>
      </p:sp>
      <p:sp>
        <p:nvSpPr>
          <p:cNvPr id="16" name="Text 14"/>
          <p:cNvSpPr/>
          <p:nvPr/>
        </p:nvSpPr>
        <p:spPr>
          <a:xfrm>
            <a:off x="795528" y="5449824"/>
            <a:ext cx="4937760" cy="502920"/>
          </a:xfrm>
          <a:prstGeom prst="rect">
            <a:avLst/>
          </a:prstGeom>
          <a:noFill/>
          <a:ln/>
        </p:spPr>
        <p:txBody>
          <a:bodyPr wrap="square" rtlCol="0" anchor="t"/>
          <a:lstStyle/>
          <a:p>
            <a:pPr algn="l" indent="0" marL="0">
              <a:lnSpc>
                <a:spcPct val="124000"/>
              </a:lnSpc>
              <a:buNone/>
            </a:pPr>
            <a:r>
              <a:rPr lang="en-US" sz="1050" b="1" dirty="0">
                <a:solidFill>
                  <a:srgbClr val="4FD1C5"/>
                </a:solidFill>
                <a:latin typeface="Calibri" pitchFamily="34" charset="0"/>
                <a:ea typeface="Calibri" pitchFamily="34" charset="-122"/>
                <a:cs typeface="Calibri" pitchFamily="34" charset="-120"/>
              </a:rPr>
              <a:t>Current Traction:</a:t>
            </a:r>
            <a:pPr algn="l" indent="0" marL="0">
              <a:lnSpc>
                <a:spcPct val="124000"/>
              </a:lnSpc>
              <a:buNone/>
            </a:pPr>
            <a:r>
              <a:rPr lang="en-US" sz="1050" dirty="0">
                <a:solidFill>
                  <a:srgbClr val="AAB6CC"/>
                </a:solidFill>
                <a:latin typeface="Calibri" pitchFamily="34" charset="0"/>
                <a:ea typeface="Calibri" pitchFamily="34" charset="-122"/>
                <a:cs typeface="Calibri" pitchFamily="34" charset="-120"/>
              </a:rPr>
              <a:t> 1 Patent Accepted, 4 Research Papers Under Review, and active industry collaborations.</a:t>
            </a:r>
            <a:endParaRPr lang="en-US" sz="1050" dirty="0"/>
          </a:p>
        </p:txBody>
      </p:sp>
      <p:sp>
        <p:nvSpPr>
          <p:cNvPr id="17" name="Shape 15"/>
          <p:cNvSpPr/>
          <p:nvPr/>
        </p:nvSpPr>
        <p:spPr>
          <a:xfrm>
            <a:off x="6355080" y="3657600"/>
            <a:ext cx="5696712" cy="2423160"/>
          </a:xfrm>
          <a:prstGeom prst="roundRect">
            <a:avLst>
              <a:gd name="adj" fmla="val 5283"/>
            </a:avLst>
          </a:prstGeom>
          <a:solidFill>
            <a:srgbClr val="162447"/>
          </a:solidFill>
          <a:ln w="9525">
            <a:solidFill>
              <a:srgbClr val="A9822F"/>
            </a:solidFill>
            <a:prstDash val="solid"/>
          </a:ln>
          <a:effectLst>
            <a:outerShdw sx="100000" sy="100000" kx="0" ky="0" algn="bl" rotWithShape="0" blurRad="127000" dist="38100" dir="5400000">
              <a:srgbClr val="1A2138">
                <a:alpha val="28000"/>
              </a:srgbClr>
            </a:outerShdw>
          </a:effectLst>
        </p:spPr>
      </p:sp>
      <p:sp>
        <p:nvSpPr>
          <p:cNvPr id="18" name="Text 16"/>
          <p:cNvSpPr/>
          <p:nvPr/>
        </p:nvSpPr>
        <p:spPr>
          <a:xfrm>
            <a:off x="6647688" y="3886200"/>
            <a:ext cx="5120640" cy="274320"/>
          </a:xfrm>
          <a:prstGeom prst="rect">
            <a:avLst/>
          </a:prstGeom>
          <a:noFill/>
          <a:ln/>
        </p:spPr>
        <p:txBody>
          <a:bodyPr wrap="square" rtlCol="0" anchor="ctr"/>
          <a:lstStyle/>
          <a:p>
            <a:pPr indent="0" marL="0">
              <a:buNone/>
            </a:pPr>
            <a:r>
              <a:rPr lang="en-US" sz="1300" b="1" spc="80" kern="0" dirty="0">
                <a:solidFill>
                  <a:srgbClr val="D9B872"/>
                </a:solidFill>
                <a:latin typeface="Arial" pitchFamily="34" charset="0"/>
                <a:ea typeface="Arial" pitchFamily="34" charset="-122"/>
                <a:cs typeface="Arial" pitchFamily="34" charset="-120"/>
              </a:rPr>
              <a:t>THE SCIDIP SPEARHEAD</a:t>
            </a:r>
            <a:endParaRPr lang="en-US" sz="1300" dirty="0"/>
          </a:p>
        </p:txBody>
      </p:sp>
      <p:sp>
        <p:nvSpPr>
          <p:cNvPr id="19" name="Text 17"/>
          <p:cNvSpPr/>
          <p:nvPr/>
        </p:nvSpPr>
        <p:spPr>
          <a:xfrm>
            <a:off x="6647688" y="4251960"/>
            <a:ext cx="5120640" cy="1691640"/>
          </a:xfrm>
          <a:prstGeom prst="rect">
            <a:avLst/>
          </a:prstGeom>
          <a:noFill/>
          <a:ln/>
        </p:spPr>
        <p:txBody>
          <a:bodyPr wrap="square" rtlCol="0" anchor="t"/>
          <a:lstStyle/>
          <a:p>
            <a:pPr algn="l" indent="0" marL="0">
              <a:lnSpc>
                <a:spcPct val="130000"/>
              </a:lnSpc>
              <a:buNone/>
            </a:pPr>
            <a:r>
              <a:rPr lang="en-US" sz="1250" dirty="0">
                <a:solidFill>
                  <a:srgbClr val="AAB6CC"/>
                </a:solidFill>
                <a:latin typeface="Calibri" pitchFamily="34" charset="0"/>
                <a:ea typeface="Calibri" pitchFamily="34" charset="-122"/>
                <a:cs typeface="Calibri" pitchFamily="34" charset="-120"/>
              </a:rPr>
              <a:t>For this application, we are deploying our most extreme, fully-validated Proof of Concept: An </a:t>
            </a:r>
            <a:pPr algn="l" indent="0" marL="0">
              <a:lnSpc>
                <a:spcPct val="130000"/>
              </a:lnSpc>
              <a:buNone/>
            </a:pPr>
            <a:r>
              <a:rPr lang="en-US" sz="1250" b="1" dirty="0">
                <a:solidFill>
                  <a:srgbClr val="D9B872"/>
                </a:solidFill>
                <a:latin typeface="Calibri" pitchFamily="34" charset="0"/>
                <a:ea typeface="Calibri" pitchFamily="34" charset="-122"/>
                <a:cs typeface="Calibri" pitchFamily="34" charset="-120"/>
              </a:rPr>
              <a:t>AI-generated, aerospace-grade Refractory High-Entropy Alloy (RHEA)</a:t>
            </a:r>
            <a:pPr algn="l" indent="0" marL="0">
              <a:lnSpc>
                <a:spcPct val="130000"/>
              </a:lnSpc>
              <a:buNone/>
            </a:pPr>
            <a:r>
              <a:rPr lang="en-US" sz="1250" dirty="0">
                <a:solidFill>
                  <a:srgbClr val="AAB6CC"/>
                </a:solidFill>
                <a:latin typeface="Calibri" pitchFamily="34" charset="0"/>
                <a:ea typeface="Calibri" pitchFamily="34" charset="-122"/>
                <a:cs typeface="Calibri" pitchFamily="34" charset="-120"/>
              </a:rPr>
              <a:t> engineered to solve </a:t>
            </a:r>
            <a:pPr algn="l" indent="0" marL="0">
              <a:lnSpc>
                <a:spcPct val="130000"/>
              </a:lnSpc>
              <a:buNone/>
            </a:pPr>
            <a:r>
              <a:rPr lang="en-US" sz="1250" b="1" dirty="0">
                <a:solidFill>
                  <a:srgbClr val="D9B872"/>
                </a:solidFill>
                <a:latin typeface="Calibri" pitchFamily="34" charset="0"/>
                <a:ea typeface="Calibri" pitchFamily="34" charset="-122"/>
                <a:cs typeface="Calibri" pitchFamily="34" charset="-120"/>
              </a:rPr>
              <a:t>Sona Comstar's terrestrial thermal bottlenecks.</a:t>
            </a:r>
            <a:endParaRPr lang="en-US" sz="1250" dirty="0"/>
          </a:p>
        </p:txBody>
      </p:sp>
      <p:sp>
        <p:nvSpPr>
          <p:cNvPr id="20" name="Text 18"/>
          <p:cNvSpPr/>
          <p:nvPr/>
        </p:nvSpPr>
        <p:spPr>
          <a:xfrm>
            <a:off x="502920" y="6510528"/>
            <a:ext cx="9601200" cy="256032"/>
          </a:xfrm>
          <a:prstGeom prst="rect">
            <a:avLst/>
          </a:prstGeom>
          <a:noFill/>
          <a:ln/>
        </p:spPr>
        <p:txBody>
          <a:bodyPr wrap="square" rtlCol="0" anchor="ctr"/>
          <a:lstStyle/>
          <a:p>
            <a:pPr algn="l" indent="0" marL="0">
              <a:buNone/>
            </a:pPr>
            <a:r>
              <a:rPr lang="en-US" sz="850" dirty="0">
                <a:solidFill>
                  <a:srgbClr val="5B6B8C"/>
                </a:solidFill>
                <a:latin typeface="Calibri" pitchFamily="34" charset="0"/>
                <a:ea typeface="Calibri" pitchFamily="34" charset="-122"/>
                <a:cs typeface="Calibri" pitchFamily="34" charset="-120"/>
              </a:rPr>
              <a:t>Crystal Paradigm Logo  |  SCIDIP Program Application</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9125712" y="274320"/>
            <a:ext cx="2560320" cy="219456"/>
          </a:xfrm>
          <a:prstGeom prst="rect">
            <a:avLst/>
          </a:prstGeom>
          <a:noFill/>
          <a:ln/>
        </p:spPr>
        <p:txBody>
          <a:bodyPr wrap="square" rtlCol="0" anchor="ctr"/>
          <a:lstStyle/>
          <a:p>
            <a:pPr algn="r" indent="0" marL="0">
              <a:buNone/>
            </a:pPr>
            <a:r>
              <a:rPr lang="en-US" sz="950" b="1" spc="140" kern="0" dirty="0">
                <a:solidFill>
                  <a:srgbClr val="0B132B"/>
                </a:solidFill>
                <a:latin typeface="Arial" pitchFamily="34" charset="0"/>
                <a:ea typeface="Arial" pitchFamily="34" charset="-122"/>
                <a:cs typeface="Arial" pitchFamily="34" charset="-120"/>
              </a:rPr>
              <a:t>CRYSTAL </a:t>
            </a:r>
            <a:pPr algn="r" indent="0" marL="0">
              <a:buNone/>
            </a:pPr>
            <a:r>
              <a:rPr lang="en-US" sz="950" b="1" spc="140" kern="0" dirty="0">
                <a:solidFill>
                  <a:srgbClr val="0E7C86"/>
                </a:solidFill>
                <a:latin typeface="Arial" pitchFamily="34" charset="0"/>
                <a:ea typeface="Arial" pitchFamily="34" charset="-122"/>
                <a:cs typeface="Arial" pitchFamily="34" charset="-120"/>
              </a:rPr>
              <a:t>PARADIGM</a:t>
            </a:r>
            <a:endParaRPr lang="en-US" sz="950" dirty="0"/>
          </a:p>
        </p:txBody>
      </p:sp>
      <p:sp>
        <p:nvSpPr>
          <p:cNvPr id="3" name="Text 1"/>
          <p:cNvSpPr/>
          <p:nvPr/>
        </p:nvSpPr>
        <p:spPr>
          <a:xfrm>
            <a:off x="11384280" y="6510528"/>
            <a:ext cx="594360" cy="256032"/>
          </a:xfrm>
          <a:prstGeom prst="rect">
            <a:avLst/>
          </a:prstGeom>
          <a:noFill/>
          <a:ln/>
        </p:spPr>
        <p:txBody>
          <a:bodyPr wrap="square" rtlCol="0" anchor="ctr"/>
          <a:lstStyle/>
          <a:p>
            <a:pPr algn="r" indent="0" marL="0">
              <a:buNone/>
            </a:pPr>
            <a:r>
              <a:rPr lang="en-US" sz="850" dirty="0">
                <a:solidFill>
                  <a:srgbClr val="5B6B8C"/>
                </a:solidFill>
                <a:latin typeface="Calibri" pitchFamily="34" charset="0"/>
                <a:ea typeface="Calibri" pitchFamily="34" charset="-122"/>
                <a:cs typeface="Calibri" pitchFamily="34" charset="-120"/>
              </a:rPr>
              <a:t>2 / 18</a:t>
            </a:r>
            <a:endParaRPr lang="en-US" sz="850" dirty="0"/>
          </a:p>
        </p:txBody>
      </p:sp>
      <p:sp>
        <p:nvSpPr>
          <p:cNvPr id="4" name="Text 2"/>
          <p:cNvSpPr/>
          <p:nvPr/>
        </p:nvSpPr>
        <p:spPr>
          <a:xfrm>
            <a:off x="502920" y="384048"/>
            <a:ext cx="5486400" cy="274320"/>
          </a:xfrm>
          <a:prstGeom prst="rect">
            <a:avLst/>
          </a:prstGeom>
          <a:noFill/>
          <a:ln/>
        </p:spPr>
        <p:txBody>
          <a:bodyPr wrap="square" rtlCol="0" anchor="ctr"/>
          <a:lstStyle/>
          <a:p>
            <a:pPr algn="l" indent="0" marL="0">
              <a:buNone/>
            </a:pPr>
            <a:r>
              <a:rPr lang="en-US" sz="1050" b="1" spc="220" kern="0" dirty="0">
                <a:solidFill>
                  <a:srgbClr val="0E7C86"/>
                </a:solidFill>
                <a:latin typeface="Arial" pitchFamily="34" charset="0"/>
                <a:ea typeface="Arial" pitchFamily="34" charset="-122"/>
                <a:cs typeface="Arial" pitchFamily="34" charset="-120"/>
              </a:rPr>
              <a:t>AEROSPACE PROOF OF CONCEPT</a:t>
            </a:r>
            <a:endParaRPr lang="en-US" sz="1050" dirty="0"/>
          </a:p>
        </p:txBody>
      </p:sp>
      <p:sp>
        <p:nvSpPr>
          <p:cNvPr id="5" name="Text 3"/>
          <p:cNvSpPr/>
          <p:nvPr/>
        </p:nvSpPr>
        <p:spPr>
          <a:xfrm>
            <a:off x="502920" y="658368"/>
            <a:ext cx="11183112" cy="548640"/>
          </a:xfrm>
          <a:prstGeom prst="rect">
            <a:avLst/>
          </a:prstGeom>
          <a:noFill/>
          <a:ln/>
        </p:spPr>
        <p:txBody>
          <a:bodyPr wrap="square" rtlCol="0" anchor="ctr"/>
          <a:lstStyle/>
          <a:p>
            <a:pPr algn="l" indent="0" marL="0">
              <a:lnSpc>
                <a:spcPct val="108000"/>
              </a:lnSpc>
              <a:buNone/>
            </a:pPr>
            <a:r>
              <a:rPr lang="en-US" sz="2050" b="1" spc="20" kern="0" dirty="0">
                <a:solidFill>
                  <a:srgbClr val="0B132B"/>
                </a:solidFill>
                <a:latin typeface="Arial" pitchFamily="34" charset="0"/>
                <a:ea typeface="Arial" pitchFamily="34" charset="-122"/>
                <a:cs typeface="Arial" pitchFamily="34" charset="-120"/>
              </a:rPr>
              <a:t>PROVING THE PHYSICS: THE AEROSPACE THERMAL BOTTLENECK</a:t>
            </a:r>
            <a:endParaRPr lang="en-US" sz="2050" dirty="0"/>
          </a:p>
        </p:txBody>
      </p:sp>
      <p:sp>
        <p:nvSpPr>
          <p:cNvPr id="6" name="Text 4"/>
          <p:cNvSpPr/>
          <p:nvPr/>
        </p:nvSpPr>
        <p:spPr>
          <a:xfrm>
            <a:off x="502920" y="1280160"/>
            <a:ext cx="11183112" cy="457200"/>
          </a:xfrm>
          <a:prstGeom prst="rect">
            <a:avLst/>
          </a:prstGeom>
          <a:noFill/>
          <a:ln/>
        </p:spPr>
        <p:txBody>
          <a:bodyPr wrap="square" rtlCol="0" anchor="ctr"/>
          <a:lstStyle/>
          <a:p>
            <a:pPr algn="l" indent="0" marL="0">
              <a:lnSpc>
                <a:spcPct val="124000"/>
              </a:lnSpc>
              <a:buNone/>
            </a:pPr>
            <a:r>
              <a:rPr lang="en-US" sz="1250" dirty="0">
                <a:solidFill>
                  <a:srgbClr val="5B6B8C"/>
                </a:solidFill>
                <a:latin typeface="Calibri" pitchFamily="34" charset="0"/>
                <a:ea typeface="Calibri" pitchFamily="34" charset="-122"/>
                <a:cs typeface="Calibri" pitchFamily="34" charset="-120"/>
              </a:rPr>
              <a:t>Our AI engine was built to solve the hardest thermal problem in modern engineering: Turbine Entry Temperatures (TET) exceeding </a:t>
            </a:r>
            <a:pPr algn="l" indent="0" marL="0">
              <a:lnSpc>
                <a:spcPct val="124000"/>
              </a:lnSpc>
              <a:buNone/>
            </a:pPr>
            <a:r>
              <a:rPr lang="en-US" sz="1250" b="1" dirty="0">
                <a:solidFill>
                  <a:srgbClr val="0E7C86"/>
                </a:solidFill>
                <a:latin typeface="Calibri" pitchFamily="34" charset="0"/>
                <a:ea typeface="Calibri" pitchFamily="34" charset="-122"/>
                <a:cs typeface="Calibri" pitchFamily="34" charset="-120"/>
              </a:rPr>
              <a:t>1400°C</a:t>
            </a:r>
            <a:pPr algn="l" indent="0" marL="0">
              <a:lnSpc>
                <a:spcPct val="124000"/>
              </a:lnSpc>
              <a:buNone/>
            </a:pPr>
            <a:r>
              <a:rPr lang="en-US" sz="1250" dirty="0">
                <a:solidFill>
                  <a:srgbClr val="5B6B8C"/>
                </a:solidFill>
                <a:latin typeface="Calibri" pitchFamily="34" charset="0"/>
                <a:ea typeface="Calibri" pitchFamily="34" charset="-122"/>
                <a:cs typeface="Calibri" pitchFamily="34" charset="-120"/>
              </a:rPr>
              <a:t>.</a:t>
            </a:r>
            <a:endParaRPr lang="en-US" sz="1250" dirty="0"/>
          </a:p>
        </p:txBody>
      </p:sp>
      <p:sp>
        <p:nvSpPr>
          <p:cNvPr id="7" name="Shape 5"/>
          <p:cNvSpPr/>
          <p:nvPr/>
        </p:nvSpPr>
        <p:spPr>
          <a:xfrm>
            <a:off x="502920" y="1783080"/>
            <a:ext cx="11183112" cy="1234440"/>
          </a:xfrm>
          <a:prstGeom prst="roundRect">
            <a:avLst>
              <a:gd name="adj" fmla="val 10370"/>
            </a:avLst>
          </a:prstGeom>
          <a:solidFill>
            <a:srgbClr val="EEF1F5"/>
          </a:solidFill>
          <a:ln w="15875">
            <a:solidFill>
              <a:srgbClr val="0B132B"/>
            </a:solidFill>
            <a:prstDash val="dash"/>
          </a:ln>
        </p:spPr>
      </p:sp>
      <p:sp>
        <p:nvSpPr>
          <p:cNvPr id="8" name="Text 6"/>
          <p:cNvSpPr/>
          <p:nvPr/>
        </p:nvSpPr>
        <p:spPr>
          <a:xfrm>
            <a:off x="731520" y="1947672"/>
            <a:ext cx="10725912" cy="237744"/>
          </a:xfrm>
          <a:prstGeom prst="rect">
            <a:avLst/>
          </a:prstGeom>
          <a:noFill/>
          <a:ln/>
        </p:spPr>
        <p:txBody>
          <a:bodyPr wrap="square" rtlCol="0" anchor="ctr"/>
          <a:lstStyle/>
          <a:p>
            <a:pPr indent="0" marL="0">
              <a:buNone/>
            </a:pPr>
            <a:r>
              <a:rPr lang="en-US" sz="900" b="1" spc="180" kern="0" dirty="0">
                <a:solidFill>
                  <a:srgbClr val="7C879C"/>
                </a:solidFill>
                <a:latin typeface="Arial" pitchFamily="34" charset="0"/>
                <a:ea typeface="Arial" pitchFamily="34" charset="-122"/>
                <a:cs typeface="Arial" pitchFamily="34" charset="-120"/>
              </a:rPr>
              <a:t>VISUAL PLACEHOLDER</a:t>
            </a:r>
            <a:endParaRPr lang="en-US" sz="900" dirty="0"/>
          </a:p>
        </p:txBody>
      </p:sp>
      <p:sp>
        <p:nvSpPr>
          <p:cNvPr id="9" name="Text 7"/>
          <p:cNvSpPr/>
          <p:nvPr/>
        </p:nvSpPr>
        <p:spPr>
          <a:xfrm>
            <a:off x="822960" y="2240280"/>
            <a:ext cx="10543032" cy="548640"/>
          </a:xfrm>
          <a:prstGeom prst="rect">
            <a:avLst/>
          </a:prstGeom>
          <a:noFill/>
          <a:ln/>
        </p:spPr>
        <p:txBody>
          <a:bodyPr wrap="square" rtlCol="0" anchor="ctr"/>
          <a:lstStyle/>
          <a:p>
            <a:pPr algn="ctr" indent="0" marL="0">
              <a:lnSpc>
                <a:spcPct val="125000"/>
              </a:lnSpc>
              <a:buNone/>
            </a:pPr>
            <a:r>
              <a:rPr lang="en-US" sz="1100" i="1" dirty="0">
                <a:solidFill>
                  <a:srgbClr val="7C879C"/>
                </a:solidFill>
                <a:latin typeface="Calibri" pitchFamily="34" charset="0"/>
                <a:ea typeface="Calibri" pitchFamily="34" charset="-122"/>
                <a:cs typeface="Calibri" pitchFamily="34" charset="-120"/>
              </a:rPr>
              <a:t>INSERT VISUALIZATION: side-by-side comparison — traditional cracked superalloy coating (left) vs. Candidate C's 11-layer FGM power-law gradient, metallic HEA to LZO ceramic (right)</a:t>
            </a:r>
            <a:endParaRPr lang="en-US" sz="1100" dirty="0"/>
          </a:p>
        </p:txBody>
      </p:sp>
      <p:sp>
        <p:nvSpPr>
          <p:cNvPr id="10" name="Shape 8"/>
          <p:cNvSpPr/>
          <p:nvPr/>
        </p:nvSpPr>
        <p:spPr>
          <a:xfrm>
            <a:off x="502920" y="3200400"/>
            <a:ext cx="5440680" cy="1417320"/>
          </a:xfrm>
          <a:prstGeom prst="roundRect">
            <a:avLst>
              <a:gd name="adj" fmla="val 9032"/>
            </a:avLst>
          </a:prstGeom>
          <a:solidFill>
            <a:srgbClr val="0B132B"/>
          </a:solidFill>
          <a:ln w="9525">
            <a:solidFill>
              <a:srgbClr val="2A3B63"/>
            </a:solidFill>
            <a:prstDash val="solid"/>
          </a:ln>
          <a:effectLst>
            <a:outerShdw sx="100000" sy="100000" kx="0" ky="0" algn="bl" rotWithShape="0" blurRad="127000" dist="38100" dir="5400000">
              <a:srgbClr val="1A2138">
                <a:alpha val="28000"/>
              </a:srgbClr>
            </a:outerShdw>
          </a:effectLst>
        </p:spPr>
      </p:sp>
      <p:sp>
        <p:nvSpPr>
          <p:cNvPr id="11" name="Text 9"/>
          <p:cNvSpPr/>
          <p:nvPr/>
        </p:nvSpPr>
        <p:spPr>
          <a:xfrm>
            <a:off x="758952" y="3364992"/>
            <a:ext cx="4928616" cy="256032"/>
          </a:xfrm>
          <a:prstGeom prst="rect">
            <a:avLst/>
          </a:prstGeom>
          <a:noFill/>
          <a:ln/>
        </p:spPr>
        <p:txBody>
          <a:bodyPr wrap="square" rtlCol="0" anchor="t"/>
          <a:lstStyle/>
          <a:p>
            <a:pPr indent="0" marL="0">
              <a:lnSpc>
                <a:spcPct val="110000"/>
              </a:lnSpc>
              <a:buNone/>
            </a:pPr>
            <a:r>
              <a:rPr lang="en-US" sz="1150" b="1" dirty="0">
                <a:solidFill>
                  <a:srgbClr val="F8F9FA"/>
                </a:solidFill>
                <a:latin typeface="Arial" pitchFamily="34" charset="0"/>
                <a:ea typeface="Arial" pitchFamily="34" charset="-122"/>
                <a:cs typeface="Arial" pitchFamily="34" charset="-120"/>
              </a:rPr>
              <a:t>THE AEROTHERMAL FIRE LIMIT</a:t>
            </a:r>
            <a:endParaRPr lang="en-US" sz="1150" dirty="0"/>
          </a:p>
        </p:txBody>
      </p:sp>
      <p:sp>
        <p:nvSpPr>
          <p:cNvPr id="12" name="Text 10"/>
          <p:cNvSpPr/>
          <p:nvPr/>
        </p:nvSpPr>
        <p:spPr>
          <a:xfrm>
            <a:off x="758952" y="3675888"/>
            <a:ext cx="4928616" cy="868680"/>
          </a:xfrm>
          <a:prstGeom prst="rect">
            <a:avLst/>
          </a:prstGeom>
          <a:noFill/>
          <a:ln/>
        </p:spPr>
        <p:txBody>
          <a:bodyPr wrap="square" rtlCol="0" anchor="t"/>
          <a:lstStyle/>
          <a:p>
            <a:pPr algn="l" indent="0" marL="0">
              <a:lnSpc>
                <a:spcPct val="124000"/>
              </a:lnSpc>
              <a:buNone/>
            </a:pPr>
            <a:r>
              <a:rPr lang="en-US" sz="1100" dirty="0">
                <a:solidFill>
                  <a:srgbClr val="AAB6CC"/>
                </a:solidFill>
                <a:latin typeface="Calibri" pitchFamily="34" charset="0"/>
                <a:ea typeface="Calibri" pitchFamily="34" charset="-122"/>
                <a:cs typeface="Calibri" pitchFamily="34" charset="-120"/>
              </a:rPr>
              <a:t>Traditional nickel-based superalloys have hit a physical ceiling. When shielded with ceramics, the massive CTE mismatch causes the protective armor to </a:t>
            </a:r>
            <a:pPr algn="l" indent="0" marL="0">
              <a:lnSpc>
                <a:spcPct val="124000"/>
              </a:lnSpc>
              <a:buNone/>
            </a:pPr>
            <a:r>
              <a:rPr lang="en-US" sz="1100" b="1" dirty="0">
                <a:solidFill>
                  <a:srgbClr val="4FD1C5"/>
                </a:solidFill>
                <a:latin typeface="Calibri" pitchFamily="34" charset="0"/>
                <a:ea typeface="Calibri" pitchFamily="34" charset="-122"/>
                <a:cs typeface="Calibri" pitchFamily="34" charset="-120"/>
              </a:rPr>
              <a:t>violently spall off</a:t>
            </a:r>
            <a:pPr algn="l" indent="0" marL="0">
              <a:lnSpc>
                <a:spcPct val="124000"/>
              </a:lnSpc>
              <a:buNone/>
            </a:pPr>
            <a:r>
              <a:rPr lang="en-US" sz="1100" dirty="0">
                <a:solidFill>
                  <a:srgbClr val="AAB6CC"/>
                </a:solidFill>
                <a:latin typeface="Calibri" pitchFamily="34" charset="0"/>
                <a:ea typeface="Calibri" pitchFamily="34" charset="-122"/>
                <a:cs typeface="Calibri" pitchFamily="34" charset="-120"/>
              </a:rPr>
              <a:t> under rapid thermal cycling.</a:t>
            </a:r>
            <a:endParaRPr lang="en-US" sz="1100" dirty="0"/>
          </a:p>
        </p:txBody>
      </p:sp>
      <p:sp>
        <p:nvSpPr>
          <p:cNvPr id="13" name="Shape 11"/>
          <p:cNvSpPr/>
          <p:nvPr/>
        </p:nvSpPr>
        <p:spPr>
          <a:xfrm>
            <a:off x="6245352" y="3200400"/>
            <a:ext cx="5440680" cy="1417320"/>
          </a:xfrm>
          <a:prstGeom prst="roundRect">
            <a:avLst>
              <a:gd name="adj" fmla="val 9032"/>
            </a:avLst>
          </a:prstGeom>
          <a:solidFill>
            <a:srgbClr val="162447"/>
          </a:solidFill>
          <a:ln w="9525">
            <a:solidFill>
              <a:srgbClr val="2A3B63"/>
            </a:solidFill>
            <a:prstDash val="solid"/>
          </a:ln>
          <a:effectLst>
            <a:outerShdw sx="100000" sy="100000" kx="0" ky="0" algn="bl" rotWithShape="0" blurRad="127000" dist="38100" dir="5400000">
              <a:srgbClr val="1A2138">
                <a:alpha val="28000"/>
              </a:srgbClr>
            </a:outerShdw>
          </a:effectLst>
        </p:spPr>
      </p:sp>
      <p:sp>
        <p:nvSpPr>
          <p:cNvPr id="14" name="Text 12"/>
          <p:cNvSpPr/>
          <p:nvPr/>
        </p:nvSpPr>
        <p:spPr>
          <a:xfrm>
            <a:off x="6501384" y="3364992"/>
            <a:ext cx="4928616" cy="384048"/>
          </a:xfrm>
          <a:prstGeom prst="rect">
            <a:avLst/>
          </a:prstGeom>
          <a:noFill/>
          <a:ln/>
        </p:spPr>
        <p:txBody>
          <a:bodyPr wrap="square" rtlCol="0" anchor="t"/>
          <a:lstStyle/>
          <a:p>
            <a:pPr indent="0" marL="0">
              <a:lnSpc>
                <a:spcPct val="110000"/>
              </a:lnSpc>
              <a:buNone/>
            </a:pPr>
            <a:r>
              <a:rPr lang="en-US" sz="1050" b="1" dirty="0">
                <a:solidFill>
                  <a:srgbClr val="F8F9FA"/>
                </a:solidFill>
                <a:latin typeface="Arial" pitchFamily="34" charset="0"/>
                <a:ea typeface="Arial" pitchFamily="34" charset="-122"/>
                <a:cs typeface="Arial" pitchFamily="34" charset="-120"/>
              </a:rPr>
              <a:t>THE CRYSTAL PARADIGM AI SOLUTION (TOP BREAKTHROUGH: CANDIDATE C)</a:t>
            </a:r>
            <a:endParaRPr lang="en-US" sz="1050" dirty="0"/>
          </a:p>
        </p:txBody>
      </p:sp>
      <p:sp>
        <p:nvSpPr>
          <p:cNvPr id="15" name="Text 13"/>
          <p:cNvSpPr/>
          <p:nvPr/>
        </p:nvSpPr>
        <p:spPr>
          <a:xfrm>
            <a:off x="6501384" y="3803904"/>
            <a:ext cx="4928616" cy="777240"/>
          </a:xfrm>
          <a:prstGeom prst="rect">
            <a:avLst/>
          </a:prstGeom>
          <a:noFill/>
          <a:ln/>
        </p:spPr>
        <p:txBody>
          <a:bodyPr wrap="square" rtlCol="0" anchor="t"/>
          <a:lstStyle/>
          <a:p>
            <a:pPr algn="l" indent="0" marL="0">
              <a:lnSpc>
                <a:spcPct val="124000"/>
              </a:lnSpc>
              <a:buNone/>
            </a:pPr>
            <a:r>
              <a:rPr lang="en-US" sz="1030" dirty="0">
                <a:solidFill>
                  <a:srgbClr val="AAB6CC"/>
                </a:solidFill>
                <a:latin typeface="Calibri" pitchFamily="34" charset="0"/>
                <a:ea typeface="Calibri" pitchFamily="34" charset="-122"/>
                <a:cs typeface="Calibri" pitchFamily="34" charset="-120"/>
              </a:rPr>
              <a:t>Instead of laboratory trial-and-error, our proprietary </a:t>
            </a:r>
            <a:pPr algn="l" indent="0" marL="0">
              <a:lnSpc>
                <a:spcPct val="124000"/>
              </a:lnSpc>
              <a:buNone/>
            </a:pPr>
            <a:r>
              <a:rPr lang="en-US" sz="1030" b="1" dirty="0">
                <a:solidFill>
                  <a:srgbClr val="4FD1C5"/>
                </a:solidFill>
                <a:latin typeface="Calibri" pitchFamily="34" charset="0"/>
                <a:ea typeface="Calibri" pitchFamily="34" charset="-122"/>
                <a:cs typeface="Calibri" pitchFamily="34" charset="-120"/>
              </a:rPr>
              <a:t>11-phase AI pipeline</a:t>
            </a:r>
            <a:pPr algn="l" indent="0" marL="0">
              <a:lnSpc>
                <a:spcPct val="124000"/>
              </a:lnSpc>
              <a:buNone/>
            </a:pPr>
            <a:r>
              <a:rPr lang="en-US" sz="1030" dirty="0">
                <a:solidFill>
                  <a:srgbClr val="AAB6CC"/>
                </a:solidFill>
                <a:latin typeface="Calibri" pitchFamily="34" charset="0"/>
                <a:ea typeface="Calibri" pitchFamily="34" charset="-122"/>
                <a:cs typeface="Calibri" pitchFamily="34" charset="-120"/>
              </a:rPr>
              <a:t> screened thousands of combinatorial matrices to isolate top-tier Refractory High-Entropy Alloys. Our champion candidate (</a:t>
            </a:r>
            <a:pPr algn="l" indent="0" marL="0">
              <a:lnSpc>
                <a:spcPct val="124000"/>
              </a:lnSpc>
              <a:buNone/>
            </a:pPr>
            <a:r>
              <a:rPr lang="en-US" sz="1030" b="1" dirty="0">
                <a:solidFill>
                  <a:srgbClr val="4FD1C5"/>
                </a:solidFill>
                <a:latin typeface="Calibri" pitchFamily="34" charset="0"/>
                <a:ea typeface="Calibri" pitchFamily="34" charset="-122"/>
                <a:cs typeface="Calibri" pitchFamily="34" charset="-120"/>
              </a:rPr>
              <a:t>Ta-W-Cr-V-Ti-Zr-Hf + 2.8% Al</a:t>
            </a:r>
            <a:pPr algn="l" indent="0" marL="0">
              <a:lnSpc>
                <a:spcPct val="124000"/>
              </a:lnSpc>
              <a:buNone/>
            </a:pPr>
            <a:r>
              <a:rPr lang="en-US" sz="1030" dirty="0">
                <a:solidFill>
                  <a:srgbClr val="AAB6CC"/>
                </a:solidFill>
                <a:latin typeface="Calibri" pitchFamily="34" charset="0"/>
                <a:ea typeface="Calibri" pitchFamily="34" charset="-122"/>
                <a:cs typeface="Calibri" pitchFamily="34" charset="-120"/>
              </a:rPr>
              <a:t>) proves the math:</a:t>
            </a:r>
            <a:endParaRPr lang="en-US" sz="1030" dirty="0"/>
          </a:p>
        </p:txBody>
      </p:sp>
      <p:sp>
        <p:nvSpPr>
          <p:cNvPr id="16" name="Shape 14"/>
          <p:cNvSpPr/>
          <p:nvPr/>
        </p:nvSpPr>
        <p:spPr>
          <a:xfrm>
            <a:off x="502920" y="4828032"/>
            <a:ext cx="3593592" cy="1417320"/>
          </a:xfrm>
          <a:prstGeom prst="roundRect">
            <a:avLst>
              <a:gd name="adj" fmla="val 9032"/>
            </a:avLst>
          </a:prstGeom>
          <a:solidFill>
            <a:srgbClr val="0B132B"/>
          </a:solidFill>
          <a:ln w="9525">
            <a:solidFill>
              <a:srgbClr val="2A3B63"/>
            </a:solidFill>
            <a:prstDash val="solid"/>
          </a:ln>
          <a:effectLst>
            <a:outerShdw sx="100000" sy="100000" kx="0" ky="0" algn="bl" rotWithShape="0" blurRad="127000" dist="38100" dir="5400000">
              <a:srgbClr val="1A2138">
                <a:alpha val="28000"/>
              </a:srgbClr>
            </a:outerShdw>
          </a:effectLst>
        </p:spPr>
      </p:sp>
      <p:sp>
        <p:nvSpPr>
          <p:cNvPr id="17" name="Shape 15"/>
          <p:cNvSpPr/>
          <p:nvPr/>
        </p:nvSpPr>
        <p:spPr>
          <a:xfrm>
            <a:off x="722376" y="5029200"/>
            <a:ext cx="329184" cy="329184"/>
          </a:xfrm>
          <a:prstGeom prst="roundRect">
            <a:avLst>
              <a:gd name="adj" fmla="val 16667"/>
            </a:avLst>
          </a:prstGeom>
          <a:solidFill>
            <a:srgbClr val="F8F9FA"/>
          </a:solidFill>
          <a:ln/>
        </p:spPr>
      </p:sp>
      <p:sp>
        <p:nvSpPr>
          <p:cNvPr id="18" name="Text 16"/>
          <p:cNvSpPr/>
          <p:nvPr/>
        </p:nvSpPr>
        <p:spPr>
          <a:xfrm>
            <a:off x="722376" y="5029200"/>
            <a:ext cx="329184" cy="329184"/>
          </a:xfrm>
          <a:prstGeom prst="rect">
            <a:avLst/>
          </a:prstGeom>
          <a:noFill/>
          <a:ln/>
        </p:spPr>
        <p:txBody>
          <a:bodyPr wrap="square" rtlCol="0" anchor="ctr"/>
          <a:lstStyle/>
          <a:p>
            <a:pPr algn="ctr" indent="0" marL="0">
              <a:buNone/>
            </a:pPr>
            <a:r>
              <a:rPr lang="en-US" sz="1200" b="1" dirty="0">
                <a:solidFill>
                  <a:srgbClr val="0B132B"/>
                </a:solidFill>
                <a:latin typeface="Arial" pitchFamily="34" charset="0"/>
                <a:ea typeface="Arial" pitchFamily="34" charset="-122"/>
                <a:cs typeface="Arial" pitchFamily="34" charset="-120"/>
              </a:rPr>
              <a:t>1</a:t>
            </a:r>
            <a:endParaRPr lang="en-US" sz="1200" dirty="0"/>
          </a:p>
        </p:txBody>
      </p:sp>
      <p:sp>
        <p:nvSpPr>
          <p:cNvPr id="19" name="Text 17"/>
          <p:cNvSpPr/>
          <p:nvPr/>
        </p:nvSpPr>
        <p:spPr>
          <a:xfrm>
            <a:off x="1179576" y="5047488"/>
            <a:ext cx="2679192" cy="292608"/>
          </a:xfrm>
          <a:prstGeom prst="rect">
            <a:avLst/>
          </a:prstGeom>
          <a:noFill/>
          <a:ln/>
        </p:spPr>
        <p:txBody>
          <a:bodyPr wrap="square" rtlCol="0" anchor="t"/>
          <a:lstStyle/>
          <a:p>
            <a:pPr indent="0" marL="0">
              <a:lnSpc>
                <a:spcPct val="110000"/>
              </a:lnSpc>
              <a:buNone/>
            </a:pPr>
            <a:r>
              <a:rPr lang="en-US" sz="1100" b="1" dirty="0">
                <a:solidFill>
                  <a:srgbClr val="F8F9FA"/>
                </a:solidFill>
                <a:latin typeface="Arial" pitchFamily="34" charset="0"/>
                <a:ea typeface="Arial" pitchFamily="34" charset="-122"/>
                <a:cs typeface="Arial" pitchFamily="34" charset="-120"/>
              </a:rPr>
              <a:t>THE PHYSICS</a:t>
            </a:r>
            <a:endParaRPr lang="en-US" sz="1100" dirty="0"/>
          </a:p>
        </p:txBody>
      </p:sp>
      <p:sp>
        <p:nvSpPr>
          <p:cNvPr id="20" name="Text 18"/>
          <p:cNvSpPr/>
          <p:nvPr/>
        </p:nvSpPr>
        <p:spPr>
          <a:xfrm>
            <a:off x="722376" y="5449824"/>
            <a:ext cx="3154680" cy="713232"/>
          </a:xfrm>
          <a:prstGeom prst="rect">
            <a:avLst/>
          </a:prstGeom>
          <a:noFill/>
          <a:ln/>
        </p:spPr>
        <p:txBody>
          <a:bodyPr wrap="square" rtlCol="0" anchor="t"/>
          <a:lstStyle/>
          <a:p>
            <a:pPr algn="l" indent="0" marL="0">
              <a:lnSpc>
                <a:spcPct val="124000"/>
              </a:lnSpc>
              <a:buNone/>
            </a:pPr>
            <a:r>
              <a:rPr lang="en-US" sz="1030" dirty="0">
                <a:solidFill>
                  <a:srgbClr val="AAB6CC"/>
                </a:solidFill>
                <a:latin typeface="Calibri" pitchFamily="34" charset="0"/>
                <a:ea typeface="Calibri" pitchFamily="34" charset="-122"/>
                <a:cs typeface="Calibri" pitchFamily="34" charset="-120"/>
              </a:rPr>
              <a:t>By forcing a </a:t>
            </a:r>
            <a:pPr algn="l" indent="0" marL="0">
              <a:lnSpc>
                <a:spcPct val="124000"/>
              </a:lnSpc>
              <a:buNone/>
            </a:pPr>
            <a:r>
              <a:rPr lang="en-US" sz="1030" b="1" dirty="0">
                <a:solidFill>
                  <a:srgbClr val="4FD1C5"/>
                </a:solidFill>
                <a:latin typeface="Calibri" pitchFamily="34" charset="0"/>
                <a:ea typeface="Calibri" pitchFamily="34" charset="-122"/>
                <a:cs typeface="Calibri" pitchFamily="34" charset="-120"/>
              </a:rPr>
              <a:t>Titanium-dominant solid solution</a:t>
            </a:r>
            <a:pPr algn="l" indent="0" marL="0">
              <a:lnSpc>
                <a:spcPct val="124000"/>
              </a:lnSpc>
              <a:buNone/>
            </a:pPr>
            <a:r>
              <a:rPr lang="en-US" sz="1030" dirty="0">
                <a:solidFill>
                  <a:srgbClr val="AAB6CC"/>
                </a:solidFill>
                <a:latin typeface="Calibri" pitchFamily="34" charset="0"/>
                <a:ea typeface="Calibri" pitchFamily="34" charset="-122"/>
                <a:cs typeface="Calibri" pitchFamily="34" charset="-120"/>
              </a:rPr>
              <a:t>, we mathematically closed the CTE gap.</a:t>
            </a:r>
            <a:endParaRPr lang="en-US" sz="1030" dirty="0"/>
          </a:p>
        </p:txBody>
      </p:sp>
      <p:sp>
        <p:nvSpPr>
          <p:cNvPr id="21" name="Shape 19"/>
          <p:cNvSpPr/>
          <p:nvPr/>
        </p:nvSpPr>
        <p:spPr>
          <a:xfrm>
            <a:off x="4297680" y="4828032"/>
            <a:ext cx="3593592" cy="1417320"/>
          </a:xfrm>
          <a:prstGeom prst="roundRect">
            <a:avLst>
              <a:gd name="adj" fmla="val 9032"/>
            </a:avLst>
          </a:prstGeom>
          <a:solidFill>
            <a:srgbClr val="0B132B"/>
          </a:solidFill>
          <a:ln w="9525">
            <a:solidFill>
              <a:srgbClr val="2A3B63"/>
            </a:solidFill>
            <a:prstDash val="solid"/>
          </a:ln>
          <a:effectLst>
            <a:outerShdw sx="100000" sy="100000" kx="0" ky="0" algn="bl" rotWithShape="0" blurRad="127000" dist="38100" dir="5400000">
              <a:srgbClr val="1A2138">
                <a:alpha val="28000"/>
              </a:srgbClr>
            </a:outerShdw>
          </a:effectLst>
        </p:spPr>
      </p:sp>
      <p:sp>
        <p:nvSpPr>
          <p:cNvPr id="22" name="Shape 20"/>
          <p:cNvSpPr/>
          <p:nvPr/>
        </p:nvSpPr>
        <p:spPr>
          <a:xfrm>
            <a:off x="4517136" y="5029200"/>
            <a:ext cx="329184" cy="329184"/>
          </a:xfrm>
          <a:prstGeom prst="roundRect">
            <a:avLst>
              <a:gd name="adj" fmla="val 16667"/>
            </a:avLst>
          </a:prstGeom>
          <a:solidFill>
            <a:srgbClr val="F8F9FA"/>
          </a:solidFill>
          <a:ln/>
        </p:spPr>
      </p:sp>
      <p:sp>
        <p:nvSpPr>
          <p:cNvPr id="23" name="Text 21"/>
          <p:cNvSpPr/>
          <p:nvPr/>
        </p:nvSpPr>
        <p:spPr>
          <a:xfrm>
            <a:off x="4517136" y="5029200"/>
            <a:ext cx="329184" cy="329184"/>
          </a:xfrm>
          <a:prstGeom prst="rect">
            <a:avLst/>
          </a:prstGeom>
          <a:noFill/>
          <a:ln/>
        </p:spPr>
        <p:txBody>
          <a:bodyPr wrap="square" rtlCol="0" anchor="ctr"/>
          <a:lstStyle/>
          <a:p>
            <a:pPr algn="ctr" indent="0" marL="0">
              <a:buNone/>
            </a:pPr>
            <a:r>
              <a:rPr lang="en-US" sz="1200" b="1" dirty="0">
                <a:solidFill>
                  <a:srgbClr val="0B132B"/>
                </a:solidFill>
                <a:latin typeface="Arial" pitchFamily="34" charset="0"/>
                <a:ea typeface="Arial" pitchFamily="34" charset="-122"/>
                <a:cs typeface="Arial" pitchFamily="34" charset="-120"/>
              </a:rPr>
              <a:t>2</a:t>
            </a:r>
            <a:endParaRPr lang="en-US" sz="1200" dirty="0"/>
          </a:p>
        </p:txBody>
      </p:sp>
      <p:sp>
        <p:nvSpPr>
          <p:cNvPr id="24" name="Text 22"/>
          <p:cNvSpPr/>
          <p:nvPr/>
        </p:nvSpPr>
        <p:spPr>
          <a:xfrm>
            <a:off x="4974336" y="5047488"/>
            <a:ext cx="2679192" cy="292608"/>
          </a:xfrm>
          <a:prstGeom prst="rect">
            <a:avLst/>
          </a:prstGeom>
          <a:noFill/>
          <a:ln/>
        </p:spPr>
        <p:txBody>
          <a:bodyPr wrap="square" rtlCol="0" anchor="t"/>
          <a:lstStyle/>
          <a:p>
            <a:pPr indent="0" marL="0">
              <a:lnSpc>
                <a:spcPct val="110000"/>
              </a:lnSpc>
              <a:buNone/>
            </a:pPr>
            <a:r>
              <a:rPr lang="en-US" sz="1100" b="1" dirty="0">
                <a:solidFill>
                  <a:srgbClr val="F8F9FA"/>
                </a:solidFill>
                <a:latin typeface="Arial" pitchFamily="34" charset="0"/>
                <a:ea typeface="Arial" pitchFamily="34" charset="-122"/>
                <a:cs typeface="Arial" pitchFamily="34" charset="-120"/>
              </a:rPr>
              <a:t>THE MANUFACTURING</a:t>
            </a:r>
            <a:endParaRPr lang="en-US" sz="1100" dirty="0"/>
          </a:p>
        </p:txBody>
      </p:sp>
      <p:sp>
        <p:nvSpPr>
          <p:cNvPr id="25" name="Text 23"/>
          <p:cNvSpPr/>
          <p:nvPr/>
        </p:nvSpPr>
        <p:spPr>
          <a:xfrm>
            <a:off x="4517136" y="5449824"/>
            <a:ext cx="3154680" cy="713232"/>
          </a:xfrm>
          <a:prstGeom prst="rect">
            <a:avLst/>
          </a:prstGeom>
          <a:noFill/>
          <a:ln/>
        </p:spPr>
        <p:txBody>
          <a:bodyPr wrap="square" rtlCol="0" anchor="t"/>
          <a:lstStyle/>
          <a:p>
            <a:pPr algn="l" indent="0" marL="0">
              <a:lnSpc>
                <a:spcPct val="124000"/>
              </a:lnSpc>
              <a:buNone/>
            </a:pPr>
            <a:r>
              <a:rPr lang="en-US" sz="1030" dirty="0">
                <a:solidFill>
                  <a:srgbClr val="AAB6CC"/>
                </a:solidFill>
                <a:latin typeface="Calibri" pitchFamily="34" charset="0"/>
                <a:ea typeface="Calibri" pitchFamily="34" charset="-122"/>
                <a:cs typeface="Calibri" pitchFamily="34" charset="-120"/>
              </a:rPr>
              <a:t>We deployed an </a:t>
            </a:r>
            <a:pPr algn="l" indent="0" marL="0">
              <a:lnSpc>
                <a:spcPct val="124000"/>
              </a:lnSpc>
              <a:buNone/>
            </a:pPr>
            <a:r>
              <a:rPr lang="en-US" sz="1030" b="1" dirty="0">
                <a:solidFill>
                  <a:srgbClr val="4FD1C5"/>
                </a:solidFill>
                <a:latin typeface="Calibri" pitchFamily="34" charset="0"/>
                <a:ea typeface="Calibri" pitchFamily="34" charset="-122"/>
                <a:cs typeface="Calibri" pitchFamily="34" charset="-120"/>
              </a:rPr>
              <a:t>11-layer FGM matrix</a:t>
            </a:r>
            <a:pPr algn="l" indent="0" marL="0">
              <a:lnSpc>
                <a:spcPct val="124000"/>
              </a:lnSpc>
              <a:buNone/>
            </a:pPr>
            <a:r>
              <a:rPr lang="en-US" sz="1030" dirty="0">
                <a:solidFill>
                  <a:srgbClr val="AAB6CC"/>
                </a:solidFill>
                <a:latin typeface="Calibri" pitchFamily="34" charset="0"/>
                <a:ea typeface="Calibri" pitchFamily="34" charset="-122"/>
                <a:cs typeface="Calibri" pitchFamily="34" charset="-120"/>
              </a:rPr>
              <a:t> using an exact </a:t>
            </a:r>
            <a:pPr algn="l" indent="0" marL="0">
              <a:lnSpc>
                <a:spcPct val="124000"/>
              </a:lnSpc>
              <a:buNone/>
            </a:pPr>
            <a:r>
              <a:rPr lang="en-US" sz="1030" b="1" dirty="0">
                <a:solidFill>
                  <a:srgbClr val="4FD1C5"/>
                </a:solidFill>
                <a:latin typeface="Calibri" pitchFamily="34" charset="0"/>
                <a:ea typeface="Calibri" pitchFamily="34" charset="-122"/>
                <a:cs typeface="Calibri" pitchFamily="34" charset="-120"/>
              </a:rPr>
              <a:t>n=1.1</a:t>
            </a:r>
            <a:pPr algn="l" indent="0" marL="0">
              <a:lnSpc>
                <a:spcPct val="124000"/>
              </a:lnSpc>
              <a:buNone/>
            </a:pPr>
            <a:r>
              <a:rPr lang="en-US" sz="1030" dirty="0">
                <a:solidFill>
                  <a:srgbClr val="AAB6CC"/>
                </a:solidFill>
                <a:latin typeface="Calibri" pitchFamily="34" charset="0"/>
                <a:ea typeface="Calibri" pitchFamily="34" charset="-122"/>
                <a:cs typeface="Calibri" pitchFamily="34" charset="-120"/>
              </a:rPr>
              <a:t> power-law gradient.</a:t>
            </a:r>
            <a:endParaRPr lang="en-US" sz="1030" dirty="0"/>
          </a:p>
        </p:txBody>
      </p:sp>
      <p:sp>
        <p:nvSpPr>
          <p:cNvPr id="26" name="Shape 24"/>
          <p:cNvSpPr/>
          <p:nvPr/>
        </p:nvSpPr>
        <p:spPr>
          <a:xfrm>
            <a:off x="8092440" y="4828032"/>
            <a:ext cx="3593592" cy="1417320"/>
          </a:xfrm>
          <a:prstGeom prst="roundRect">
            <a:avLst>
              <a:gd name="adj" fmla="val 9032"/>
            </a:avLst>
          </a:prstGeom>
          <a:solidFill>
            <a:srgbClr val="0B132B"/>
          </a:solidFill>
          <a:ln w="9525">
            <a:solidFill>
              <a:srgbClr val="2A3B63"/>
            </a:solidFill>
            <a:prstDash val="solid"/>
          </a:ln>
          <a:effectLst>
            <a:outerShdw sx="100000" sy="100000" kx="0" ky="0" algn="bl" rotWithShape="0" blurRad="127000" dist="38100" dir="5400000">
              <a:srgbClr val="1A2138">
                <a:alpha val="28000"/>
              </a:srgbClr>
            </a:outerShdw>
          </a:effectLst>
        </p:spPr>
      </p:sp>
      <p:sp>
        <p:nvSpPr>
          <p:cNvPr id="27" name="Shape 25"/>
          <p:cNvSpPr/>
          <p:nvPr/>
        </p:nvSpPr>
        <p:spPr>
          <a:xfrm>
            <a:off x="8311896" y="5029200"/>
            <a:ext cx="329184" cy="329184"/>
          </a:xfrm>
          <a:prstGeom prst="roundRect">
            <a:avLst>
              <a:gd name="adj" fmla="val 16667"/>
            </a:avLst>
          </a:prstGeom>
          <a:solidFill>
            <a:srgbClr val="F8F9FA"/>
          </a:solidFill>
          <a:ln/>
        </p:spPr>
      </p:sp>
      <p:sp>
        <p:nvSpPr>
          <p:cNvPr id="28" name="Text 26"/>
          <p:cNvSpPr/>
          <p:nvPr/>
        </p:nvSpPr>
        <p:spPr>
          <a:xfrm>
            <a:off x="8311896" y="5029200"/>
            <a:ext cx="329184" cy="329184"/>
          </a:xfrm>
          <a:prstGeom prst="rect">
            <a:avLst/>
          </a:prstGeom>
          <a:noFill/>
          <a:ln/>
        </p:spPr>
        <p:txBody>
          <a:bodyPr wrap="square" rtlCol="0" anchor="ctr"/>
          <a:lstStyle/>
          <a:p>
            <a:pPr algn="ctr" indent="0" marL="0">
              <a:buNone/>
            </a:pPr>
            <a:r>
              <a:rPr lang="en-US" sz="1200" b="1" dirty="0">
                <a:solidFill>
                  <a:srgbClr val="0B132B"/>
                </a:solidFill>
                <a:latin typeface="Arial" pitchFamily="34" charset="0"/>
                <a:ea typeface="Arial" pitchFamily="34" charset="-122"/>
                <a:cs typeface="Arial" pitchFamily="34" charset="-120"/>
              </a:rPr>
              <a:t>3</a:t>
            </a:r>
            <a:endParaRPr lang="en-US" sz="1200" dirty="0"/>
          </a:p>
        </p:txBody>
      </p:sp>
      <p:sp>
        <p:nvSpPr>
          <p:cNvPr id="29" name="Text 27"/>
          <p:cNvSpPr/>
          <p:nvPr/>
        </p:nvSpPr>
        <p:spPr>
          <a:xfrm>
            <a:off x="8769096" y="5047488"/>
            <a:ext cx="2679192" cy="292608"/>
          </a:xfrm>
          <a:prstGeom prst="rect">
            <a:avLst/>
          </a:prstGeom>
          <a:noFill/>
          <a:ln/>
        </p:spPr>
        <p:txBody>
          <a:bodyPr wrap="square" rtlCol="0" anchor="t"/>
          <a:lstStyle/>
          <a:p>
            <a:pPr indent="0" marL="0">
              <a:lnSpc>
                <a:spcPct val="110000"/>
              </a:lnSpc>
              <a:buNone/>
            </a:pPr>
            <a:r>
              <a:rPr lang="en-US" sz="1100" b="1" dirty="0">
                <a:solidFill>
                  <a:srgbClr val="F8F9FA"/>
                </a:solidFill>
                <a:latin typeface="Arial" pitchFamily="34" charset="0"/>
                <a:ea typeface="Arial" pitchFamily="34" charset="-122"/>
                <a:cs typeface="Arial" pitchFamily="34" charset="-120"/>
              </a:rPr>
              <a:t>THE RESULT</a:t>
            </a:r>
            <a:endParaRPr lang="en-US" sz="1100" dirty="0"/>
          </a:p>
        </p:txBody>
      </p:sp>
      <p:sp>
        <p:nvSpPr>
          <p:cNvPr id="30" name="Text 28"/>
          <p:cNvSpPr/>
          <p:nvPr/>
        </p:nvSpPr>
        <p:spPr>
          <a:xfrm>
            <a:off x="8311896" y="5449824"/>
            <a:ext cx="3154680" cy="713232"/>
          </a:xfrm>
          <a:prstGeom prst="rect">
            <a:avLst/>
          </a:prstGeom>
          <a:noFill/>
          <a:ln/>
        </p:spPr>
        <p:txBody>
          <a:bodyPr wrap="square" rtlCol="0" anchor="t"/>
          <a:lstStyle/>
          <a:p>
            <a:pPr algn="l" indent="0" marL="0">
              <a:lnSpc>
                <a:spcPct val="124000"/>
              </a:lnSpc>
              <a:buNone/>
            </a:pPr>
            <a:r>
              <a:rPr lang="en-US" sz="1030" dirty="0">
                <a:solidFill>
                  <a:srgbClr val="AAB6CC"/>
                </a:solidFill>
                <a:latin typeface="Calibri" pitchFamily="34" charset="0"/>
                <a:ea typeface="Calibri" pitchFamily="34" charset="-122"/>
                <a:cs typeface="Calibri" pitchFamily="34" charset="-120"/>
              </a:rPr>
              <a:t>Interface shear stress dropped to an ultra-low </a:t>
            </a:r>
            <a:pPr algn="l" indent="0" marL="0">
              <a:lnSpc>
                <a:spcPct val="124000"/>
              </a:lnSpc>
              <a:buNone/>
            </a:pPr>
            <a:r>
              <a:rPr lang="en-US" sz="1030" b="1" dirty="0">
                <a:solidFill>
                  <a:srgbClr val="4FD1C5"/>
                </a:solidFill>
                <a:latin typeface="Calibri" pitchFamily="34" charset="0"/>
                <a:ea typeface="Calibri" pitchFamily="34" charset="-122"/>
                <a:cs typeface="Calibri" pitchFamily="34" charset="-120"/>
              </a:rPr>
              <a:t>15.95 MPa</a:t>
            </a:r>
            <a:pPr algn="l" indent="0" marL="0">
              <a:lnSpc>
                <a:spcPct val="124000"/>
              </a:lnSpc>
              <a:buNone/>
            </a:pPr>
            <a:r>
              <a:rPr lang="en-US" sz="1030" dirty="0">
                <a:solidFill>
                  <a:srgbClr val="AAB6CC"/>
                </a:solidFill>
                <a:latin typeface="Calibri" pitchFamily="34" charset="0"/>
                <a:ea typeface="Calibri" pitchFamily="34" charset="-122"/>
                <a:cs typeface="Calibri" pitchFamily="34" charset="-120"/>
              </a:rPr>
              <a:t>, eliminating delamination under thermal shock.</a:t>
            </a:r>
            <a:endParaRPr lang="en-US" sz="103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9125712" y="274320"/>
            <a:ext cx="2560320" cy="219456"/>
          </a:xfrm>
          <a:prstGeom prst="rect">
            <a:avLst/>
          </a:prstGeom>
          <a:noFill/>
          <a:ln/>
        </p:spPr>
        <p:txBody>
          <a:bodyPr wrap="square" rtlCol="0" anchor="ctr"/>
          <a:lstStyle/>
          <a:p>
            <a:pPr algn="r" indent="0" marL="0">
              <a:buNone/>
            </a:pPr>
            <a:r>
              <a:rPr lang="en-US" sz="950" b="1" spc="140" kern="0" dirty="0">
                <a:solidFill>
                  <a:srgbClr val="0B132B"/>
                </a:solidFill>
                <a:latin typeface="Arial" pitchFamily="34" charset="0"/>
                <a:ea typeface="Arial" pitchFamily="34" charset="-122"/>
                <a:cs typeface="Arial" pitchFamily="34" charset="-120"/>
              </a:rPr>
              <a:t>CRYSTAL </a:t>
            </a:r>
            <a:pPr algn="r" indent="0" marL="0">
              <a:buNone/>
            </a:pPr>
            <a:r>
              <a:rPr lang="en-US" sz="950" b="1" spc="140" kern="0" dirty="0">
                <a:solidFill>
                  <a:srgbClr val="0E7C86"/>
                </a:solidFill>
                <a:latin typeface="Arial" pitchFamily="34" charset="0"/>
                <a:ea typeface="Arial" pitchFamily="34" charset="-122"/>
                <a:cs typeface="Arial" pitchFamily="34" charset="-120"/>
              </a:rPr>
              <a:t>PARADIGM</a:t>
            </a:r>
            <a:endParaRPr lang="en-US" sz="950" dirty="0"/>
          </a:p>
        </p:txBody>
      </p:sp>
      <p:sp>
        <p:nvSpPr>
          <p:cNvPr id="3" name="Text 1"/>
          <p:cNvSpPr/>
          <p:nvPr/>
        </p:nvSpPr>
        <p:spPr>
          <a:xfrm>
            <a:off x="11384280" y="6510528"/>
            <a:ext cx="594360" cy="256032"/>
          </a:xfrm>
          <a:prstGeom prst="rect">
            <a:avLst/>
          </a:prstGeom>
          <a:noFill/>
          <a:ln/>
        </p:spPr>
        <p:txBody>
          <a:bodyPr wrap="square" rtlCol="0" anchor="ctr"/>
          <a:lstStyle/>
          <a:p>
            <a:pPr algn="r" indent="0" marL="0">
              <a:buNone/>
            </a:pPr>
            <a:r>
              <a:rPr lang="en-US" sz="850" dirty="0">
                <a:solidFill>
                  <a:srgbClr val="5B6B8C"/>
                </a:solidFill>
                <a:latin typeface="Calibri" pitchFamily="34" charset="0"/>
                <a:ea typeface="Calibri" pitchFamily="34" charset="-122"/>
                <a:cs typeface="Calibri" pitchFamily="34" charset="-120"/>
              </a:rPr>
              <a:t>3 / 18</a:t>
            </a:r>
            <a:endParaRPr lang="en-US" sz="850" dirty="0"/>
          </a:p>
        </p:txBody>
      </p:sp>
      <p:sp>
        <p:nvSpPr>
          <p:cNvPr id="4" name="Text 2"/>
          <p:cNvSpPr/>
          <p:nvPr/>
        </p:nvSpPr>
        <p:spPr>
          <a:xfrm>
            <a:off x="502920" y="384048"/>
            <a:ext cx="5486400" cy="274320"/>
          </a:xfrm>
          <a:prstGeom prst="rect">
            <a:avLst/>
          </a:prstGeom>
          <a:noFill/>
          <a:ln/>
        </p:spPr>
        <p:txBody>
          <a:bodyPr wrap="square" rtlCol="0" anchor="ctr"/>
          <a:lstStyle/>
          <a:p>
            <a:pPr algn="l" indent="0" marL="0">
              <a:buNone/>
            </a:pPr>
            <a:r>
              <a:rPr lang="en-US" sz="1050" b="1" spc="220" kern="0" dirty="0">
                <a:solidFill>
                  <a:srgbClr val="0E7C86"/>
                </a:solidFill>
                <a:latin typeface="Arial" pitchFamily="34" charset="0"/>
                <a:ea typeface="Arial" pitchFamily="34" charset="-122"/>
                <a:cs typeface="Arial" pitchFamily="34" charset="-120"/>
              </a:rPr>
              <a:t>FROM AEROSPACE TO MOBILITY</a:t>
            </a:r>
            <a:endParaRPr lang="en-US" sz="1050" dirty="0"/>
          </a:p>
        </p:txBody>
      </p:sp>
      <p:sp>
        <p:nvSpPr>
          <p:cNvPr id="5" name="Text 3"/>
          <p:cNvSpPr/>
          <p:nvPr/>
        </p:nvSpPr>
        <p:spPr>
          <a:xfrm>
            <a:off x="502920" y="658368"/>
            <a:ext cx="11183112" cy="548640"/>
          </a:xfrm>
          <a:prstGeom prst="rect">
            <a:avLst/>
          </a:prstGeom>
          <a:noFill/>
          <a:ln/>
        </p:spPr>
        <p:txBody>
          <a:bodyPr wrap="square" rtlCol="0" anchor="ctr"/>
          <a:lstStyle/>
          <a:p>
            <a:pPr algn="l" indent="0" marL="0">
              <a:lnSpc>
                <a:spcPct val="108000"/>
              </a:lnSpc>
              <a:buNone/>
            </a:pPr>
            <a:r>
              <a:rPr lang="en-US" sz="2100" b="1" spc="20" kern="0" dirty="0">
                <a:solidFill>
                  <a:srgbClr val="0B132B"/>
                </a:solidFill>
                <a:latin typeface="Arial" pitchFamily="34" charset="0"/>
                <a:ea typeface="Arial" pitchFamily="34" charset="-122"/>
                <a:cs typeface="Arial" pitchFamily="34" charset="-120"/>
              </a:rPr>
              <a:t>THE SCIDIP CROSSOVER: FROM AEROSPACE TO EPIC MOBILITY</a:t>
            </a:r>
            <a:endParaRPr lang="en-US" sz="2100" dirty="0"/>
          </a:p>
        </p:txBody>
      </p:sp>
      <p:sp>
        <p:nvSpPr>
          <p:cNvPr id="6" name="Text 4"/>
          <p:cNvSpPr/>
          <p:nvPr/>
        </p:nvSpPr>
        <p:spPr>
          <a:xfrm>
            <a:off x="502920" y="1280160"/>
            <a:ext cx="11183112" cy="457200"/>
          </a:xfrm>
          <a:prstGeom prst="rect">
            <a:avLst/>
          </a:prstGeom>
          <a:noFill/>
          <a:ln/>
        </p:spPr>
        <p:txBody>
          <a:bodyPr wrap="square" rtlCol="0" anchor="ctr"/>
          <a:lstStyle/>
          <a:p>
            <a:pPr algn="l" indent="0" marL="0">
              <a:lnSpc>
                <a:spcPct val="124000"/>
              </a:lnSpc>
              <a:buNone/>
            </a:pPr>
            <a:r>
              <a:rPr lang="en-US" sz="1250" dirty="0">
                <a:solidFill>
                  <a:srgbClr val="5B6B8C"/>
                </a:solidFill>
                <a:latin typeface="Calibri" pitchFamily="34" charset="0"/>
                <a:ea typeface="Calibri" pitchFamily="34" charset="-122"/>
                <a:cs typeface="Calibri" pitchFamily="34" charset="-120"/>
              </a:rPr>
              <a:t>If our AI architecture can prevent a jet turbine from melting at </a:t>
            </a:r>
            <a:pPr algn="l" indent="0" marL="0">
              <a:lnSpc>
                <a:spcPct val="124000"/>
              </a:lnSpc>
              <a:buNone/>
            </a:pPr>
            <a:r>
              <a:rPr lang="en-US" sz="1250" b="1" dirty="0">
                <a:solidFill>
                  <a:srgbClr val="0E7C86"/>
                </a:solidFill>
                <a:latin typeface="Calibri" pitchFamily="34" charset="0"/>
                <a:ea typeface="Calibri" pitchFamily="34" charset="-122"/>
                <a:cs typeface="Calibri" pitchFamily="34" charset="-120"/>
              </a:rPr>
              <a:t>1400°C</a:t>
            </a:r>
            <a:pPr algn="l" indent="0" marL="0">
              <a:lnSpc>
                <a:spcPct val="124000"/>
              </a:lnSpc>
              <a:buNone/>
            </a:pPr>
            <a:r>
              <a:rPr lang="en-US" sz="1250" dirty="0">
                <a:solidFill>
                  <a:srgbClr val="5B6B8C"/>
                </a:solidFill>
                <a:latin typeface="Calibri" pitchFamily="34" charset="0"/>
                <a:ea typeface="Calibri" pitchFamily="34" charset="-122"/>
                <a:cs typeface="Calibri" pitchFamily="34" charset="-120"/>
              </a:rPr>
              <a:t>, it can revolutionize the thermal limits of terrestrial mobility.</a:t>
            </a:r>
            <a:endParaRPr lang="en-US" sz="1250" dirty="0"/>
          </a:p>
        </p:txBody>
      </p:sp>
      <p:sp>
        <p:nvSpPr>
          <p:cNvPr id="7" name="Shape 5"/>
          <p:cNvSpPr/>
          <p:nvPr/>
        </p:nvSpPr>
        <p:spPr>
          <a:xfrm>
            <a:off x="502920" y="1783080"/>
            <a:ext cx="11183112" cy="1051560"/>
          </a:xfrm>
          <a:prstGeom prst="roundRect">
            <a:avLst>
              <a:gd name="adj" fmla="val 12174"/>
            </a:avLst>
          </a:prstGeom>
          <a:solidFill>
            <a:srgbClr val="EEF1F5"/>
          </a:solidFill>
          <a:ln w="15875">
            <a:solidFill>
              <a:srgbClr val="0B132B"/>
            </a:solidFill>
            <a:prstDash val="dash"/>
          </a:ln>
        </p:spPr>
      </p:sp>
      <p:sp>
        <p:nvSpPr>
          <p:cNvPr id="8" name="Text 6"/>
          <p:cNvSpPr/>
          <p:nvPr/>
        </p:nvSpPr>
        <p:spPr>
          <a:xfrm>
            <a:off x="731520" y="1947672"/>
            <a:ext cx="10725912" cy="237744"/>
          </a:xfrm>
          <a:prstGeom prst="rect">
            <a:avLst/>
          </a:prstGeom>
          <a:noFill/>
          <a:ln/>
        </p:spPr>
        <p:txBody>
          <a:bodyPr wrap="square" rtlCol="0" anchor="ctr"/>
          <a:lstStyle/>
          <a:p>
            <a:pPr indent="0" marL="0">
              <a:buNone/>
            </a:pPr>
            <a:r>
              <a:rPr lang="en-US" sz="900" b="1" spc="180" kern="0" dirty="0">
                <a:solidFill>
                  <a:srgbClr val="7C879C"/>
                </a:solidFill>
                <a:latin typeface="Arial" pitchFamily="34" charset="0"/>
                <a:ea typeface="Arial" pitchFamily="34" charset="-122"/>
                <a:cs typeface="Arial" pitchFamily="34" charset="-120"/>
              </a:rPr>
              <a:t>VISUAL PLACEHOLDER</a:t>
            </a:r>
            <a:endParaRPr lang="en-US" sz="900" dirty="0"/>
          </a:p>
        </p:txBody>
      </p:sp>
      <p:sp>
        <p:nvSpPr>
          <p:cNvPr id="9" name="Text 7"/>
          <p:cNvSpPr/>
          <p:nvPr/>
        </p:nvSpPr>
        <p:spPr>
          <a:xfrm>
            <a:off x="822960" y="2240280"/>
            <a:ext cx="10543032" cy="365760"/>
          </a:xfrm>
          <a:prstGeom prst="rect">
            <a:avLst/>
          </a:prstGeom>
          <a:noFill/>
          <a:ln/>
        </p:spPr>
        <p:txBody>
          <a:bodyPr wrap="square" rtlCol="0" anchor="ctr"/>
          <a:lstStyle/>
          <a:p>
            <a:pPr algn="ctr" indent="0" marL="0">
              <a:lnSpc>
                <a:spcPct val="125000"/>
              </a:lnSpc>
              <a:buNone/>
            </a:pPr>
            <a:r>
              <a:rPr lang="en-US" sz="1100" i="1" dirty="0">
                <a:solidFill>
                  <a:srgbClr val="7C879C"/>
                </a:solidFill>
                <a:latin typeface="Calibri" pitchFamily="34" charset="0"/>
                <a:ea typeface="Calibri" pitchFamily="34" charset="-122"/>
                <a:cs typeface="Calibri" pitchFamily="34" charset="-120"/>
              </a:rPr>
              <a:t>INSERT VISUALIZATION: crossover diagram — arrow connecting "Aerospace Extremes (1400°C Turbine)" to "Terrestrial Mobility (H13 Forging Dies &amp; EV SRMs)"</a:t>
            </a:r>
            <a:endParaRPr lang="en-US" sz="1100" dirty="0"/>
          </a:p>
        </p:txBody>
      </p:sp>
      <p:sp>
        <p:nvSpPr>
          <p:cNvPr id="10" name="Text 8"/>
          <p:cNvSpPr/>
          <p:nvPr/>
        </p:nvSpPr>
        <p:spPr>
          <a:xfrm>
            <a:off x="502920" y="2999232"/>
            <a:ext cx="11183112" cy="566928"/>
          </a:xfrm>
          <a:prstGeom prst="rect">
            <a:avLst/>
          </a:prstGeom>
          <a:noFill/>
          <a:ln/>
        </p:spPr>
        <p:txBody>
          <a:bodyPr wrap="square" rtlCol="0" anchor="ctr"/>
          <a:lstStyle/>
          <a:p>
            <a:pPr indent="0" marL="0">
              <a:lnSpc>
                <a:spcPct val="122000"/>
              </a:lnSpc>
              <a:buNone/>
            </a:pPr>
            <a:r>
              <a:rPr lang="en-US" sz="1200" dirty="0">
                <a:solidFill>
                  <a:srgbClr val="5B6B8C"/>
                </a:solidFill>
                <a:latin typeface="Calibri" pitchFamily="34" charset="0"/>
                <a:ea typeface="Calibri" pitchFamily="34" charset="-122"/>
                <a:cs typeface="Calibri" pitchFamily="34" charset="-120"/>
              </a:rPr>
              <a:t>We are entering the IIT Delhi SCIDIP program under the </a:t>
            </a:r>
            <a:pPr indent="0" marL="0">
              <a:lnSpc>
                <a:spcPct val="122000"/>
              </a:lnSpc>
              <a:buNone/>
            </a:pPr>
            <a:r>
              <a:rPr lang="en-US" sz="1200" b="1" dirty="0">
                <a:solidFill>
                  <a:srgbClr val="0E7C86"/>
                </a:solidFill>
                <a:latin typeface="Calibri" pitchFamily="34" charset="0"/>
                <a:ea typeface="Calibri" pitchFamily="34" charset="-122"/>
                <a:cs typeface="Calibri" pitchFamily="34" charset="-120"/>
              </a:rPr>
              <a:t>Advanced Materials</a:t>
            </a:r>
            <a:pPr indent="0" marL="0">
              <a:lnSpc>
                <a:spcPct val="122000"/>
              </a:lnSpc>
              <a:buNone/>
            </a:pPr>
            <a:r>
              <a:rPr lang="en-US" sz="1200" dirty="0">
                <a:solidFill>
                  <a:srgbClr val="5B6B8C"/>
                </a:solidFill>
                <a:latin typeface="Calibri" pitchFamily="34" charset="0"/>
                <a:ea typeface="Calibri" pitchFamily="34" charset="-122"/>
                <a:cs typeface="Calibri" pitchFamily="34" charset="-120"/>
              </a:rPr>
              <a:t> category because Sona Comstar's EPIC (Electric, Personalized, Intelligent, Connected) roadmap is directly bottlenecked by thermodynamics. The exact thermal ceilings capping aerospace are capping Sona Comstar:</a:t>
            </a:r>
            <a:endParaRPr lang="en-US" sz="1200" dirty="0"/>
          </a:p>
        </p:txBody>
      </p:sp>
      <p:sp>
        <p:nvSpPr>
          <p:cNvPr id="11" name="Shape 9"/>
          <p:cNvSpPr/>
          <p:nvPr/>
        </p:nvSpPr>
        <p:spPr>
          <a:xfrm>
            <a:off x="502920" y="3703320"/>
            <a:ext cx="5440680" cy="2377440"/>
          </a:xfrm>
          <a:prstGeom prst="roundRect">
            <a:avLst>
              <a:gd name="adj" fmla="val 5385"/>
            </a:avLst>
          </a:prstGeom>
          <a:solidFill>
            <a:srgbClr val="0B132B"/>
          </a:solidFill>
          <a:ln w="9525">
            <a:solidFill>
              <a:srgbClr val="2A3B63"/>
            </a:solidFill>
            <a:prstDash val="solid"/>
          </a:ln>
          <a:effectLst>
            <a:outerShdw sx="100000" sy="100000" kx="0" ky="0" algn="bl" rotWithShape="0" blurRad="127000" dist="38100" dir="5400000">
              <a:srgbClr val="1A2138">
                <a:alpha val="28000"/>
              </a:srgbClr>
            </a:outerShdw>
          </a:effectLst>
        </p:spPr>
      </p:sp>
      <p:sp>
        <p:nvSpPr>
          <p:cNvPr id="12" name="Shape 10"/>
          <p:cNvSpPr/>
          <p:nvPr/>
        </p:nvSpPr>
        <p:spPr>
          <a:xfrm>
            <a:off x="758952" y="3941064"/>
            <a:ext cx="365760" cy="365760"/>
          </a:xfrm>
          <a:prstGeom prst="roundRect">
            <a:avLst>
              <a:gd name="adj" fmla="val 15000"/>
            </a:avLst>
          </a:prstGeom>
          <a:solidFill>
            <a:srgbClr val="F8F9FA"/>
          </a:solidFill>
          <a:ln/>
        </p:spPr>
      </p:sp>
      <p:sp>
        <p:nvSpPr>
          <p:cNvPr id="13" name="Text 11"/>
          <p:cNvSpPr/>
          <p:nvPr/>
        </p:nvSpPr>
        <p:spPr>
          <a:xfrm>
            <a:off x="758952" y="3941064"/>
            <a:ext cx="365760" cy="365760"/>
          </a:xfrm>
          <a:prstGeom prst="rect">
            <a:avLst/>
          </a:prstGeom>
          <a:noFill/>
          <a:ln/>
        </p:spPr>
        <p:txBody>
          <a:bodyPr wrap="square" rtlCol="0" anchor="ctr"/>
          <a:lstStyle/>
          <a:p>
            <a:pPr algn="ctr" indent="0" marL="0">
              <a:buNone/>
            </a:pPr>
            <a:r>
              <a:rPr lang="en-US" sz="1200" b="1" dirty="0">
                <a:solidFill>
                  <a:srgbClr val="0B132B"/>
                </a:solidFill>
                <a:latin typeface="Arial" pitchFamily="34" charset="0"/>
                <a:ea typeface="Arial" pitchFamily="34" charset="-122"/>
                <a:cs typeface="Arial" pitchFamily="34" charset="-120"/>
              </a:rPr>
              <a:t>1</a:t>
            </a:r>
            <a:endParaRPr lang="en-US" sz="1200" dirty="0"/>
          </a:p>
        </p:txBody>
      </p:sp>
      <p:sp>
        <p:nvSpPr>
          <p:cNvPr id="14" name="Text 12"/>
          <p:cNvSpPr/>
          <p:nvPr/>
        </p:nvSpPr>
        <p:spPr>
          <a:xfrm>
            <a:off x="1271016" y="3922776"/>
            <a:ext cx="4434840" cy="594360"/>
          </a:xfrm>
          <a:prstGeom prst="rect">
            <a:avLst/>
          </a:prstGeom>
          <a:noFill/>
          <a:ln/>
        </p:spPr>
        <p:txBody>
          <a:bodyPr wrap="square" rtlCol="0" anchor="t"/>
          <a:lstStyle/>
          <a:p>
            <a:pPr indent="0" marL="0">
              <a:lnSpc>
                <a:spcPct val="110000"/>
              </a:lnSpc>
              <a:buNone/>
            </a:pPr>
            <a:r>
              <a:rPr lang="en-US" sz="1250" b="1" dirty="0">
                <a:solidFill>
                  <a:srgbClr val="F8F9FA"/>
                </a:solidFill>
                <a:latin typeface="Arial" pitchFamily="34" charset="0"/>
                <a:ea typeface="Arial" pitchFamily="34" charset="-122"/>
                <a:cs typeface="Arial" pitchFamily="34" charset="-120"/>
              </a:rPr>
              <a:t>Precision Forging Dies (Driveline)</a:t>
            </a:r>
            <a:endParaRPr lang="en-US" sz="1250" dirty="0"/>
          </a:p>
        </p:txBody>
      </p:sp>
      <p:sp>
        <p:nvSpPr>
          <p:cNvPr id="15" name="Text 13"/>
          <p:cNvSpPr/>
          <p:nvPr/>
        </p:nvSpPr>
        <p:spPr>
          <a:xfrm>
            <a:off x="758952" y="4617720"/>
            <a:ext cx="4928616" cy="1371600"/>
          </a:xfrm>
          <a:prstGeom prst="rect">
            <a:avLst/>
          </a:prstGeom>
          <a:noFill/>
          <a:ln/>
        </p:spPr>
        <p:txBody>
          <a:bodyPr wrap="square" rtlCol="0" anchor="t"/>
          <a:lstStyle/>
          <a:p>
            <a:pPr algn="l" indent="0" marL="0">
              <a:lnSpc>
                <a:spcPct val="124000"/>
              </a:lnSpc>
              <a:buNone/>
            </a:pPr>
            <a:r>
              <a:rPr lang="en-US" sz="1150" dirty="0">
                <a:solidFill>
                  <a:srgbClr val="AAB6CC"/>
                </a:solidFill>
                <a:latin typeface="Calibri" pitchFamily="34" charset="0"/>
                <a:ea typeface="Calibri" pitchFamily="34" charset="-122"/>
                <a:cs typeface="Calibri" pitchFamily="34" charset="-120"/>
              </a:rPr>
              <a:t>Sona Comstar's legacy H13 tool steel dies suffer from rapid thermal fatigue and yield strength collapse at 1200°C during high-speed gear forging. Our HEA architectures retain over </a:t>
            </a:r>
            <a:pPr algn="l" indent="0" marL="0">
              <a:lnSpc>
                <a:spcPct val="124000"/>
              </a:lnSpc>
              <a:buNone/>
            </a:pPr>
            <a:r>
              <a:rPr lang="en-US" sz="1150" b="1" dirty="0">
                <a:solidFill>
                  <a:srgbClr val="4FD1C5"/>
                </a:solidFill>
                <a:latin typeface="Calibri" pitchFamily="34" charset="0"/>
                <a:ea typeface="Calibri" pitchFamily="34" charset="-122"/>
                <a:cs typeface="Calibri" pitchFamily="34" charset="-120"/>
              </a:rPr>
              <a:t>917.7 MPa yield strength</a:t>
            </a:r>
            <a:pPr algn="l" indent="0" marL="0">
              <a:lnSpc>
                <a:spcPct val="124000"/>
              </a:lnSpc>
              <a:buNone/>
            </a:pPr>
            <a:r>
              <a:rPr lang="en-US" sz="1150" dirty="0">
                <a:solidFill>
                  <a:srgbClr val="AAB6CC"/>
                </a:solidFill>
                <a:latin typeface="Calibri" pitchFamily="34" charset="0"/>
                <a:ea typeface="Calibri" pitchFamily="34" charset="-122"/>
                <a:cs typeface="Calibri" pitchFamily="34" charset="-120"/>
              </a:rPr>
              <a:t> at these exact temperatures.</a:t>
            </a:r>
            <a:endParaRPr lang="en-US" sz="1150" dirty="0"/>
          </a:p>
        </p:txBody>
      </p:sp>
      <p:sp>
        <p:nvSpPr>
          <p:cNvPr id="16" name="Shape 14"/>
          <p:cNvSpPr/>
          <p:nvPr/>
        </p:nvSpPr>
        <p:spPr>
          <a:xfrm>
            <a:off x="6245352" y="3703320"/>
            <a:ext cx="5440680" cy="2377440"/>
          </a:xfrm>
          <a:prstGeom prst="roundRect">
            <a:avLst>
              <a:gd name="adj" fmla="val 5385"/>
            </a:avLst>
          </a:prstGeom>
          <a:solidFill>
            <a:srgbClr val="0B132B"/>
          </a:solidFill>
          <a:ln w="9525">
            <a:solidFill>
              <a:srgbClr val="2A3B63"/>
            </a:solidFill>
            <a:prstDash val="solid"/>
          </a:ln>
          <a:effectLst>
            <a:outerShdw sx="100000" sy="100000" kx="0" ky="0" algn="bl" rotWithShape="0" blurRad="127000" dist="38100" dir="5400000">
              <a:srgbClr val="1A2138">
                <a:alpha val="28000"/>
              </a:srgbClr>
            </a:outerShdw>
          </a:effectLst>
        </p:spPr>
      </p:sp>
      <p:sp>
        <p:nvSpPr>
          <p:cNvPr id="17" name="Shape 15"/>
          <p:cNvSpPr/>
          <p:nvPr/>
        </p:nvSpPr>
        <p:spPr>
          <a:xfrm>
            <a:off x="6501384" y="3941064"/>
            <a:ext cx="365760" cy="365760"/>
          </a:xfrm>
          <a:prstGeom prst="roundRect">
            <a:avLst>
              <a:gd name="adj" fmla="val 15000"/>
            </a:avLst>
          </a:prstGeom>
          <a:solidFill>
            <a:srgbClr val="F8F9FA"/>
          </a:solidFill>
          <a:ln/>
        </p:spPr>
      </p:sp>
      <p:sp>
        <p:nvSpPr>
          <p:cNvPr id="18" name="Text 16"/>
          <p:cNvSpPr/>
          <p:nvPr/>
        </p:nvSpPr>
        <p:spPr>
          <a:xfrm>
            <a:off x="6501384" y="3941064"/>
            <a:ext cx="365760" cy="365760"/>
          </a:xfrm>
          <a:prstGeom prst="rect">
            <a:avLst/>
          </a:prstGeom>
          <a:noFill/>
          <a:ln/>
        </p:spPr>
        <p:txBody>
          <a:bodyPr wrap="square" rtlCol="0" anchor="ctr"/>
          <a:lstStyle/>
          <a:p>
            <a:pPr algn="ctr" indent="0" marL="0">
              <a:buNone/>
            </a:pPr>
            <a:r>
              <a:rPr lang="en-US" sz="1200" b="1" dirty="0">
                <a:solidFill>
                  <a:srgbClr val="0B132B"/>
                </a:solidFill>
                <a:latin typeface="Arial" pitchFamily="34" charset="0"/>
                <a:ea typeface="Arial" pitchFamily="34" charset="-122"/>
                <a:cs typeface="Arial" pitchFamily="34" charset="-120"/>
              </a:rPr>
              <a:t>2</a:t>
            </a:r>
            <a:endParaRPr lang="en-US" sz="1200" dirty="0"/>
          </a:p>
        </p:txBody>
      </p:sp>
      <p:sp>
        <p:nvSpPr>
          <p:cNvPr id="19" name="Text 17"/>
          <p:cNvSpPr/>
          <p:nvPr/>
        </p:nvSpPr>
        <p:spPr>
          <a:xfrm>
            <a:off x="7013448" y="3922776"/>
            <a:ext cx="4434840" cy="594360"/>
          </a:xfrm>
          <a:prstGeom prst="rect">
            <a:avLst/>
          </a:prstGeom>
          <a:noFill/>
          <a:ln/>
        </p:spPr>
        <p:txBody>
          <a:bodyPr wrap="square" rtlCol="0" anchor="t"/>
          <a:lstStyle/>
          <a:p>
            <a:pPr indent="0" marL="0">
              <a:lnSpc>
                <a:spcPct val="110000"/>
              </a:lnSpc>
              <a:buNone/>
            </a:pPr>
            <a:r>
              <a:rPr lang="en-US" sz="1250" b="1" dirty="0">
                <a:solidFill>
                  <a:srgbClr val="F8F9FA"/>
                </a:solidFill>
                <a:latin typeface="Arial" pitchFamily="34" charset="0"/>
                <a:ea typeface="Arial" pitchFamily="34" charset="-122"/>
                <a:cs typeface="Arial" pitchFamily="34" charset="-120"/>
              </a:rPr>
              <a:t>Next-Generation Traction Motors (Electric)</a:t>
            </a:r>
            <a:endParaRPr lang="en-US" sz="1250" dirty="0"/>
          </a:p>
        </p:txBody>
      </p:sp>
      <p:sp>
        <p:nvSpPr>
          <p:cNvPr id="20" name="Text 18"/>
          <p:cNvSpPr/>
          <p:nvPr/>
        </p:nvSpPr>
        <p:spPr>
          <a:xfrm>
            <a:off x="6501384" y="4617720"/>
            <a:ext cx="4928616" cy="1371600"/>
          </a:xfrm>
          <a:prstGeom prst="rect">
            <a:avLst/>
          </a:prstGeom>
          <a:noFill/>
          <a:ln/>
        </p:spPr>
        <p:txBody>
          <a:bodyPr wrap="square" rtlCol="0" anchor="t"/>
          <a:lstStyle/>
          <a:p>
            <a:pPr algn="l" indent="0" marL="0">
              <a:lnSpc>
                <a:spcPct val="124000"/>
              </a:lnSpc>
              <a:buNone/>
            </a:pPr>
            <a:r>
              <a:rPr lang="en-US" sz="1150" dirty="0">
                <a:solidFill>
                  <a:srgbClr val="AAB6CC"/>
                </a:solidFill>
                <a:latin typeface="Calibri" pitchFamily="34" charset="0"/>
                <a:ea typeface="Calibri" pitchFamily="34" charset="-122"/>
                <a:cs typeface="Calibri" pitchFamily="34" charset="-120"/>
              </a:rPr>
              <a:t>As Sona Comstar scales magnet-less Switched Reluctance Motors (SRMs), traditional metals degrade under the severe localized thermal loads generated by extreme torque densities.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9125712" y="274320"/>
            <a:ext cx="2560320" cy="219456"/>
          </a:xfrm>
          <a:prstGeom prst="rect">
            <a:avLst/>
          </a:prstGeom>
          <a:noFill/>
          <a:ln/>
        </p:spPr>
        <p:txBody>
          <a:bodyPr wrap="square" rtlCol="0" anchor="ctr"/>
          <a:lstStyle/>
          <a:p>
            <a:pPr algn="r" indent="0" marL="0">
              <a:buNone/>
            </a:pPr>
            <a:r>
              <a:rPr lang="en-US" sz="950" b="1" spc="140" kern="0" dirty="0">
                <a:solidFill>
                  <a:srgbClr val="0B132B"/>
                </a:solidFill>
                <a:latin typeface="Arial" pitchFamily="34" charset="0"/>
                <a:ea typeface="Arial" pitchFamily="34" charset="-122"/>
                <a:cs typeface="Arial" pitchFamily="34" charset="-120"/>
              </a:rPr>
              <a:t>CRYSTAL </a:t>
            </a:r>
            <a:pPr algn="r" indent="0" marL="0">
              <a:buNone/>
            </a:pPr>
            <a:r>
              <a:rPr lang="en-US" sz="950" b="1" spc="140" kern="0" dirty="0">
                <a:solidFill>
                  <a:srgbClr val="0E7C86"/>
                </a:solidFill>
                <a:latin typeface="Arial" pitchFamily="34" charset="0"/>
                <a:ea typeface="Arial" pitchFamily="34" charset="-122"/>
                <a:cs typeface="Arial" pitchFamily="34" charset="-120"/>
              </a:rPr>
              <a:t>PARADIGM</a:t>
            </a:r>
            <a:endParaRPr lang="en-US" sz="950" dirty="0"/>
          </a:p>
        </p:txBody>
      </p:sp>
      <p:sp>
        <p:nvSpPr>
          <p:cNvPr id="3" name="Text 1"/>
          <p:cNvSpPr/>
          <p:nvPr/>
        </p:nvSpPr>
        <p:spPr>
          <a:xfrm>
            <a:off x="11384280" y="6510528"/>
            <a:ext cx="594360" cy="256032"/>
          </a:xfrm>
          <a:prstGeom prst="rect">
            <a:avLst/>
          </a:prstGeom>
          <a:noFill/>
          <a:ln/>
        </p:spPr>
        <p:txBody>
          <a:bodyPr wrap="square" rtlCol="0" anchor="ctr"/>
          <a:lstStyle/>
          <a:p>
            <a:pPr algn="r" indent="0" marL="0">
              <a:buNone/>
            </a:pPr>
            <a:r>
              <a:rPr lang="en-US" sz="850" dirty="0">
                <a:solidFill>
                  <a:srgbClr val="5B6B8C"/>
                </a:solidFill>
                <a:latin typeface="Calibri" pitchFamily="34" charset="0"/>
                <a:ea typeface="Calibri" pitchFamily="34" charset="-122"/>
                <a:cs typeface="Calibri" pitchFamily="34" charset="-120"/>
              </a:rPr>
              <a:t>4 / 18</a:t>
            </a:r>
            <a:endParaRPr lang="en-US" sz="850" dirty="0"/>
          </a:p>
        </p:txBody>
      </p:sp>
      <p:sp>
        <p:nvSpPr>
          <p:cNvPr id="4" name="Text 2"/>
          <p:cNvSpPr/>
          <p:nvPr/>
        </p:nvSpPr>
        <p:spPr>
          <a:xfrm>
            <a:off x="502920" y="384048"/>
            <a:ext cx="5486400" cy="274320"/>
          </a:xfrm>
          <a:prstGeom prst="rect">
            <a:avLst/>
          </a:prstGeom>
          <a:noFill/>
          <a:ln/>
        </p:spPr>
        <p:txBody>
          <a:bodyPr wrap="square" rtlCol="0" anchor="ctr"/>
          <a:lstStyle/>
          <a:p>
            <a:pPr algn="l" indent="0" marL="0">
              <a:buNone/>
            </a:pPr>
            <a:r>
              <a:rPr lang="en-US" sz="1050" b="1" spc="220" kern="0" dirty="0">
                <a:solidFill>
                  <a:srgbClr val="0E7C86"/>
                </a:solidFill>
                <a:latin typeface="Arial" pitchFamily="34" charset="0"/>
                <a:ea typeface="Arial" pitchFamily="34" charset="-122"/>
                <a:cs typeface="Arial" pitchFamily="34" charset="-120"/>
              </a:rPr>
              <a:t>COMMERCIAL STRATEGY</a:t>
            </a:r>
            <a:endParaRPr lang="en-US" sz="1050" dirty="0"/>
          </a:p>
        </p:txBody>
      </p:sp>
      <p:sp>
        <p:nvSpPr>
          <p:cNvPr id="5" name="Text 3"/>
          <p:cNvSpPr/>
          <p:nvPr/>
        </p:nvSpPr>
        <p:spPr>
          <a:xfrm>
            <a:off x="502920" y="658368"/>
            <a:ext cx="11183112" cy="548640"/>
          </a:xfrm>
          <a:prstGeom prst="rect">
            <a:avLst/>
          </a:prstGeom>
          <a:noFill/>
          <a:ln/>
        </p:spPr>
        <p:txBody>
          <a:bodyPr wrap="square" rtlCol="0" anchor="ctr"/>
          <a:lstStyle/>
          <a:p>
            <a:pPr algn="l" indent="0" marL="0">
              <a:lnSpc>
                <a:spcPct val="108000"/>
              </a:lnSpc>
              <a:buNone/>
            </a:pPr>
            <a:r>
              <a:rPr lang="en-US" sz="2100" b="1" spc="20" kern="0" dirty="0">
                <a:solidFill>
                  <a:srgbClr val="0B132B"/>
                </a:solidFill>
                <a:latin typeface="Arial" pitchFamily="34" charset="0"/>
                <a:ea typeface="Arial" pitchFamily="34" charset="-122"/>
                <a:cs typeface="Arial" pitchFamily="34" charset="-120"/>
              </a:rPr>
              <a:t>DEPLOYING AEROSPACE GRADE MATERIALS AT COMMERCIAL SCALE</a:t>
            </a:r>
            <a:endParaRPr lang="en-US" sz="2100" dirty="0"/>
          </a:p>
        </p:txBody>
      </p:sp>
      <p:sp>
        <p:nvSpPr>
          <p:cNvPr id="6" name="Text 4"/>
          <p:cNvSpPr/>
          <p:nvPr/>
        </p:nvSpPr>
        <p:spPr>
          <a:xfrm>
            <a:off x="502920" y="1280160"/>
            <a:ext cx="11183112" cy="457200"/>
          </a:xfrm>
          <a:prstGeom prst="rect">
            <a:avLst/>
          </a:prstGeom>
          <a:noFill/>
          <a:ln/>
        </p:spPr>
        <p:txBody>
          <a:bodyPr wrap="square" rtlCol="0" anchor="ctr"/>
          <a:lstStyle/>
          <a:p>
            <a:pPr algn="l" indent="0" marL="0">
              <a:lnSpc>
                <a:spcPct val="124000"/>
              </a:lnSpc>
              <a:buNone/>
            </a:pPr>
            <a:r>
              <a:rPr lang="en-US" sz="1250" dirty="0">
                <a:solidFill>
                  <a:srgbClr val="5B6B8C"/>
                </a:solidFill>
                <a:latin typeface="Calibri" pitchFamily="34" charset="0"/>
                <a:ea typeface="Calibri" pitchFamily="34" charset="-122"/>
                <a:cs typeface="Calibri" pitchFamily="34" charset="-120"/>
              </a:rPr>
              <a:t>Our AI engine does not just optimize for physics; it optimizes for the </a:t>
            </a:r>
            <a:pPr algn="l" indent="0" marL="0">
              <a:lnSpc>
                <a:spcPct val="124000"/>
              </a:lnSpc>
              <a:buNone/>
            </a:pPr>
            <a:r>
              <a:rPr lang="en-US" sz="1250" b="1" dirty="0">
                <a:solidFill>
                  <a:srgbClr val="0E7C86"/>
                </a:solidFill>
                <a:latin typeface="Calibri" pitchFamily="34" charset="0"/>
                <a:ea typeface="Calibri" pitchFamily="34" charset="-122"/>
                <a:cs typeface="Calibri" pitchFamily="34" charset="-120"/>
              </a:rPr>
              <a:t>supply chain</a:t>
            </a:r>
            <a:pPr algn="l" indent="0" marL="0">
              <a:lnSpc>
                <a:spcPct val="124000"/>
              </a:lnSpc>
              <a:buNone/>
            </a:pPr>
            <a:r>
              <a:rPr lang="en-US" sz="1250" dirty="0">
                <a:solidFill>
                  <a:srgbClr val="5B6B8C"/>
                </a:solidFill>
                <a:latin typeface="Calibri" pitchFamily="34" charset="0"/>
                <a:ea typeface="Calibri" pitchFamily="34" charset="-122"/>
                <a:cs typeface="Calibri" pitchFamily="34" charset="-120"/>
              </a:rPr>
              <a:t>.</a:t>
            </a:r>
            <a:endParaRPr lang="en-US" sz="1250" dirty="0"/>
          </a:p>
        </p:txBody>
      </p:sp>
      <p:sp>
        <p:nvSpPr>
          <p:cNvPr id="7" name="Shape 5"/>
          <p:cNvSpPr/>
          <p:nvPr/>
        </p:nvSpPr>
        <p:spPr>
          <a:xfrm>
            <a:off x="502920" y="1874520"/>
            <a:ext cx="3593592" cy="4251960"/>
          </a:xfrm>
          <a:prstGeom prst="roundRect">
            <a:avLst>
              <a:gd name="adj" fmla="val 3562"/>
            </a:avLst>
          </a:prstGeom>
          <a:solidFill>
            <a:srgbClr val="0B132B"/>
          </a:solidFill>
          <a:ln w="9525">
            <a:solidFill>
              <a:srgbClr val="2A3B63"/>
            </a:solidFill>
            <a:prstDash val="solid"/>
          </a:ln>
          <a:effectLst>
            <a:outerShdw sx="100000" sy="100000" kx="0" ky="0" algn="bl" rotWithShape="0" blurRad="127000" dist="38100" dir="5400000">
              <a:srgbClr val="1A2138">
                <a:alpha val="28000"/>
              </a:srgbClr>
            </a:outerShdw>
          </a:effectLst>
        </p:spPr>
      </p:sp>
      <p:sp>
        <p:nvSpPr>
          <p:cNvPr id="8" name="Shape 6"/>
          <p:cNvSpPr/>
          <p:nvPr/>
        </p:nvSpPr>
        <p:spPr>
          <a:xfrm>
            <a:off x="740664" y="2112264"/>
            <a:ext cx="365760" cy="365760"/>
          </a:xfrm>
          <a:prstGeom prst="roundRect">
            <a:avLst>
              <a:gd name="adj" fmla="val 15000"/>
            </a:avLst>
          </a:prstGeom>
          <a:solidFill>
            <a:srgbClr val="F8F9FA"/>
          </a:solidFill>
          <a:ln/>
        </p:spPr>
      </p:sp>
      <p:sp>
        <p:nvSpPr>
          <p:cNvPr id="9" name="Text 7"/>
          <p:cNvSpPr/>
          <p:nvPr/>
        </p:nvSpPr>
        <p:spPr>
          <a:xfrm>
            <a:off x="740664" y="2112264"/>
            <a:ext cx="365760" cy="365760"/>
          </a:xfrm>
          <a:prstGeom prst="rect">
            <a:avLst/>
          </a:prstGeom>
          <a:noFill/>
          <a:ln/>
        </p:spPr>
        <p:txBody>
          <a:bodyPr wrap="square" rtlCol="0" anchor="ctr"/>
          <a:lstStyle/>
          <a:p>
            <a:pPr algn="ctr" indent="0" marL="0">
              <a:buNone/>
            </a:pPr>
            <a:r>
              <a:rPr lang="en-US" sz="1200" b="1" dirty="0">
                <a:solidFill>
                  <a:srgbClr val="0B132B"/>
                </a:solidFill>
                <a:latin typeface="Arial" pitchFamily="34" charset="0"/>
                <a:ea typeface="Arial" pitchFamily="34" charset="-122"/>
                <a:cs typeface="Arial" pitchFamily="34" charset="-120"/>
              </a:rPr>
              <a:t>1</a:t>
            </a:r>
            <a:endParaRPr lang="en-US" sz="1200" dirty="0"/>
          </a:p>
        </p:txBody>
      </p:sp>
      <p:sp>
        <p:nvSpPr>
          <p:cNvPr id="10" name="Text 8"/>
          <p:cNvSpPr/>
          <p:nvPr/>
        </p:nvSpPr>
        <p:spPr>
          <a:xfrm>
            <a:off x="740664" y="2697480"/>
            <a:ext cx="3118104" cy="685800"/>
          </a:xfrm>
          <a:prstGeom prst="rect">
            <a:avLst/>
          </a:prstGeom>
          <a:noFill/>
          <a:ln/>
        </p:spPr>
        <p:txBody>
          <a:bodyPr wrap="square" rtlCol="0" anchor="t"/>
          <a:lstStyle/>
          <a:p>
            <a:pPr indent="0" marL="0">
              <a:lnSpc>
                <a:spcPct val="110000"/>
              </a:lnSpc>
              <a:buNone/>
            </a:pPr>
            <a:r>
              <a:rPr lang="en-US" sz="1350" b="1" dirty="0">
                <a:solidFill>
                  <a:srgbClr val="F8F9FA"/>
                </a:solidFill>
                <a:latin typeface="Arial" pitchFamily="34" charset="0"/>
                <a:ea typeface="Arial" pitchFamily="34" charset="-122"/>
                <a:cs typeface="Arial" pitchFamily="34" charset="-120"/>
              </a:rPr>
              <a:t>Raw Material Cost Reduction</a:t>
            </a:r>
            <a:endParaRPr lang="en-US" sz="1350" dirty="0"/>
          </a:p>
        </p:txBody>
      </p:sp>
      <p:sp>
        <p:nvSpPr>
          <p:cNvPr id="11" name="Text 9"/>
          <p:cNvSpPr/>
          <p:nvPr/>
        </p:nvSpPr>
        <p:spPr>
          <a:xfrm>
            <a:off x="740664" y="3429000"/>
            <a:ext cx="3118104" cy="2514600"/>
          </a:xfrm>
          <a:prstGeom prst="rect">
            <a:avLst/>
          </a:prstGeom>
          <a:noFill/>
          <a:ln/>
        </p:spPr>
        <p:txBody>
          <a:bodyPr wrap="square" rtlCol="0" anchor="t"/>
          <a:lstStyle/>
          <a:p>
            <a:pPr algn="l" indent="0" marL="0">
              <a:lnSpc>
                <a:spcPct val="124000"/>
              </a:lnSpc>
              <a:buNone/>
            </a:pPr>
            <a:r>
              <a:rPr lang="en-US" sz="1150" dirty="0">
                <a:solidFill>
                  <a:srgbClr val="AAB6CC"/>
                </a:solidFill>
                <a:latin typeface="Calibri" pitchFamily="34" charset="0"/>
                <a:ea typeface="Calibri" pitchFamily="34" charset="-122"/>
                <a:cs typeface="Calibri" pitchFamily="34" charset="-120"/>
              </a:rPr>
              <a:t>By programmatically identifying that we could substitute highly expensive, supply-constrained Hafnium with optimized Titanium, our AI dropped the raw material cost of the alloy by </a:t>
            </a:r>
            <a:pPr algn="l" indent="0" marL="0">
              <a:lnSpc>
                <a:spcPct val="124000"/>
              </a:lnSpc>
              <a:buNone/>
            </a:pPr>
            <a:r>
              <a:rPr lang="en-US" sz="1150" b="1" dirty="0">
                <a:solidFill>
                  <a:srgbClr val="4FD1C5"/>
                </a:solidFill>
                <a:latin typeface="Calibri" pitchFamily="34" charset="0"/>
                <a:ea typeface="Calibri" pitchFamily="34" charset="-122"/>
                <a:cs typeface="Calibri" pitchFamily="34" charset="-120"/>
              </a:rPr>
              <a:t>15-20%</a:t>
            </a:r>
            <a:pPr algn="l" indent="0" marL="0">
              <a:lnSpc>
                <a:spcPct val="124000"/>
              </a:lnSpc>
              <a:buNone/>
            </a:pPr>
            <a:r>
              <a:rPr lang="en-US" sz="1150" dirty="0">
                <a:solidFill>
                  <a:srgbClr val="AAB6CC"/>
                </a:solidFill>
                <a:latin typeface="Calibri" pitchFamily="34" charset="0"/>
                <a:ea typeface="Calibri" pitchFamily="34" charset="-122"/>
                <a:cs typeface="Calibri" pitchFamily="34" charset="-120"/>
              </a:rPr>
              <a:t> (achieving </a:t>
            </a:r>
            <a:pPr algn="l" indent="0" marL="0">
              <a:lnSpc>
                <a:spcPct val="124000"/>
              </a:lnSpc>
              <a:buNone/>
            </a:pPr>
            <a:r>
              <a:rPr lang="en-US" sz="1150" b="1" dirty="0">
                <a:solidFill>
                  <a:srgbClr val="4FD1C5"/>
                </a:solidFill>
                <a:latin typeface="Calibri" pitchFamily="34" charset="0"/>
                <a:ea typeface="Calibri" pitchFamily="34" charset="-122"/>
                <a:cs typeface="Calibri" pitchFamily="34" charset="-120"/>
              </a:rPr>
              <a:t>~$170/kg</a:t>
            </a:r>
            <a:pPr algn="l" indent="0" marL="0">
              <a:lnSpc>
                <a:spcPct val="124000"/>
              </a:lnSpc>
              <a:buNone/>
            </a:pPr>
            <a:r>
              <a:rPr lang="en-US" sz="1150" dirty="0">
                <a:solidFill>
                  <a:srgbClr val="AAB6CC"/>
                </a:solidFill>
                <a:latin typeface="Calibri" pitchFamily="34" charset="0"/>
                <a:ea typeface="Calibri" pitchFamily="34" charset="-122"/>
                <a:cs typeface="Calibri" pitchFamily="34" charset="-120"/>
              </a:rPr>
              <a:t>), making aerospace-grade materials viable for commercial automotive forging.</a:t>
            </a:r>
            <a:endParaRPr lang="en-US" sz="1150" dirty="0"/>
          </a:p>
        </p:txBody>
      </p:sp>
      <p:sp>
        <p:nvSpPr>
          <p:cNvPr id="12" name="Shape 10"/>
          <p:cNvSpPr/>
          <p:nvPr/>
        </p:nvSpPr>
        <p:spPr>
          <a:xfrm>
            <a:off x="4297680" y="1874520"/>
            <a:ext cx="3593592" cy="4251960"/>
          </a:xfrm>
          <a:prstGeom prst="roundRect">
            <a:avLst>
              <a:gd name="adj" fmla="val 3562"/>
            </a:avLst>
          </a:prstGeom>
          <a:solidFill>
            <a:srgbClr val="0B132B"/>
          </a:solidFill>
          <a:ln w="9525">
            <a:solidFill>
              <a:srgbClr val="2A3B63"/>
            </a:solidFill>
            <a:prstDash val="solid"/>
          </a:ln>
          <a:effectLst>
            <a:outerShdw sx="100000" sy="100000" kx="0" ky="0" algn="bl" rotWithShape="0" blurRad="127000" dist="38100" dir="5400000">
              <a:srgbClr val="1A2138">
                <a:alpha val="28000"/>
              </a:srgbClr>
            </a:outerShdw>
          </a:effectLst>
        </p:spPr>
      </p:sp>
      <p:sp>
        <p:nvSpPr>
          <p:cNvPr id="13" name="Shape 11"/>
          <p:cNvSpPr/>
          <p:nvPr/>
        </p:nvSpPr>
        <p:spPr>
          <a:xfrm>
            <a:off x="4535424" y="2112264"/>
            <a:ext cx="365760" cy="365760"/>
          </a:xfrm>
          <a:prstGeom prst="roundRect">
            <a:avLst>
              <a:gd name="adj" fmla="val 15000"/>
            </a:avLst>
          </a:prstGeom>
          <a:solidFill>
            <a:srgbClr val="F8F9FA"/>
          </a:solidFill>
          <a:ln/>
        </p:spPr>
      </p:sp>
      <p:sp>
        <p:nvSpPr>
          <p:cNvPr id="14" name="Text 12"/>
          <p:cNvSpPr/>
          <p:nvPr/>
        </p:nvSpPr>
        <p:spPr>
          <a:xfrm>
            <a:off x="4535424" y="2112264"/>
            <a:ext cx="365760" cy="365760"/>
          </a:xfrm>
          <a:prstGeom prst="rect">
            <a:avLst/>
          </a:prstGeom>
          <a:noFill/>
          <a:ln/>
        </p:spPr>
        <p:txBody>
          <a:bodyPr wrap="square" rtlCol="0" anchor="ctr"/>
          <a:lstStyle/>
          <a:p>
            <a:pPr algn="ctr" indent="0" marL="0">
              <a:buNone/>
            </a:pPr>
            <a:r>
              <a:rPr lang="en-US" sz="1200" b="1" dirty="0">
                <a:solidFill>
                  <a:srgbClr val="0B132B"/>
                </a:solidFill>
                <a:latin typeface="Arial" pitchFamily="34" charset="0"/>
                <a:ea typeface="Arial" pitchFamily="34" charset="-122"/>
                <a:cs typeface="Arial" pitchFamily="34" charset="-120"/>
              </a:rPr>
              <a:t>2</a:t>
            </a:r>
            <a:endParaRPr lang="en-US" sz="1200" dirty="0"/>
          </a:p>
        </p:txBody>
      </p:sp>
      <p:sp>
        <p:nvSpPr>
          <p:cNvPr id="15" name="Text 13"/>
          <p:cNvSpPr/>
          <p:nvPr/>
        </p:nvSpPr>
        <p:spPr>
          <a:xfrm>
            <a:off x="4535424" y="2697480"/>
            <a:ext cx="3118104" cy="685800"/>
          </a:xfrm>
          <a:prstGeom prst="rect">
            <a:avLst/>
          </a:prstGeom>
          <a:noFill/>
          <a:ln/>
        </p:spPr>
        <p:txBody>
          <a:bodyPr wrap="square" rtlCol="0" anchor="t"/>
          <a:lstStyle/>
          <a:p>
            <a:pPr indent="0" marL="0">
              <a:lnSpc>
                <a:spcPct val="110000"/>
              </a:lnSpc>
              <a:buNone/>
            </a:pPr>
            <a:r>
              <a:rPr lang="en-US" sz="1350" b="1" dirty="0">
                <a:solidFill>
                  <a:srgbClr val="F8F9FA"/>
                </a:solidFill>
                <a:latin typeface="Arial" pitchFamily="34" charset="0"/>
                <a:ea typeface="Arial" pitchFamily="34" charset="-122"/>
                <a:cs typeface="Arial" pitchFamily="34" charset="-120"/>
              </a:rPr>
              <a:t>ESG &amp; Sustainability</a:t>
            </a:r>
            <a:endParaRPr lang="en-US" sz="1350" dirty="0"/>
          </a:p>
        </p:txBody>
      </p:sp>
      <p:sp>
        <p:nvSpPr>
          <p:cNvPr id="16" name="Text 14"/>
          <p:cNvSpPr/>
          <p:nvPr/>
        </p:nvSpPr>
        <p:spPr>
          <a:xfrm>
            <a:off x="4535424" y="3429000"/>
            <a:ext cx="3118104" cy="2514600"/>
          </a:xfrm>
          <a:prstGeom prst="rect">
            <a:avLst/>
          </a:prstGeom>
          <a:noFill/>
          <a:ln/>
        </p:spPr>
        <p:txBody>
          <a:bodyPr wrap="square" rtlCol="0" anchor="t"/>
          <a:lstStyle/>
          <a:p>
            <a:pPr algn="l" indent="0" marL="0">
              <a:lnSpc>
                <a:spcPct val="124000"/>
              </a:lnSpc>
              <a:buNone/>
            </a:pPr>
            <a:r>
              <a:rPr lang="en-US" sz="1150" dirty="0">
                <a:solidFill>
                  <a:srgbClr val="AAB6CC"/>
                </a:solidFill>
                <a:latin typeface="Calibri" pitchFamily="34" charset="0"/>
                <a:ea typeface="Calibri" pitchFamily="34" charset="-122"/>
                <a:cs typeface="Calibri" pitchFamily="34" charset="-120"/>
              </a:rPr>
              <a:t>Crystal Paradigm's Candidate C is fully quantified for environmental impact, capping Embodied Energy at a highly sustainable </a:t>
            </a:r>
            <a:pPr algn="l" indent="0" marL="0">
              <a:lnSpc>
                <a:spcPct val="124000"/>
              </a:lnSpc>
              <a:buNone/>
            </a:pPr>
            <a:r>
              <a:rPr lang="en-US" sz="1150" b="1" dirty="0">
                <a:solidFill>
                  <a:srgbClr val="4FD1C5"/>
                </a:solidFill>
                <a:latin typeface="Calibri" pitchFamily="34" charset="0"/>
                <a:ea typeface="Calibri" pitchFamily="34" charset="-122"/>
                <a:cs typeface="Calibri" pitchFamily="34" charset="-120"/>
              </a:rPr>
              <a:t>1680 MJ/kg</a:t>
            </a:r>
            <a:pPr algn="l" indent="0" marL="0">
              <a:lnSpc>
                <a:spcPct val="124000"/>
              </a:lnSpc>
              <a:buNone/>
            </a:pPr>
            <a:r>
              <a:rPr lang="en-US" sz="1150" dirty="0">
                <a:solidFill>
                  <a:srgbClr val="AAB6CC"/>
                </a:solidFill>
                <a:latin typeface="Calibri" pitchFamily="34" charset="0"/>
                <a:ea typeface="Calibri" pitchFamily="34" charset="-122"/>
                <a:cs typeface="Calibri" pitchFamily="34" charset="-120"/>
              </a:rPr>
              <a:t>—directly supporting zero-emissions manufacturing goals.</a:t>
            </a:r>
            <a:endParaRPr lang="en-US" sz="1150" dirty="0"/>
          </a:p>
        </p:txBody>
      </p:sp>
      <p:sp>
        <p:nvSpPr>
          <p:cNvPr id="17" name="Shape 15"/>
          <p:cNvSpPr/>
          <p:nvPr/>
        </p:nvSpPr>
        <p:spPr>
          <a:xfrm>
            <a:off x="8092440" y="1874520"/>
            <a:ext cx="3593592" cy="4251960"/>
          </a:xfrm>
          <a:prstGeom prst="roundRect">
            <a:avLst>
              <a:gd name="adj" fmla="val 3562"/>
            </a:avLst>
          </a:prstGeom>
          <a:solidFill>
            <a:srgbClr val="0B132B"/>
          </a:solidFill>
          <a:ln w="9525">
            <a:solidFill>
              <a:srgbClr val="2A3B63"/>
            </a:solidFill>
            <a:prstDash val="solid"/>
          </a:ln>
          <a:effectLst>
            <a:outerShdw sx="100000" sy="100000" kx="0" ky="0" algn="bl" rotWithShape="0" blurRad="127000" dist="38100" dir="5400000">
              <a:srgbClr val="1A2138">
                <a:alpha val="28000"/>
              </a:srgbClr>
            </a:outerShdw>
          </a:effectLst>
        </p:spPr>
      </p:sp>
      <p:sp>
        <p:nvSpPr>
          <p:cNvPr id="18" name="Shape 16"/>
          <p:cNvSpPr/>
          <p:nvPr/>
        </p:nvSpPr>
        <p:spPr>
          <a:xfrm>
            <a:off x="8330184" y="2112264"/>
            <a:ext cx="365760" cy="365760"/>
          </a:xfrm>
          <a:prstGeom prst="roundRect">
            <a:avLst>
              <a:gd name="adj" fmla="val 15000"/>
            </a:avLst>
          </a:prstGeom>
          <a:solidFill>
            <a:srgbClr val="F8F9FA"/>
          </a:solidFill>
          <a:ln/>
        </p:spPr>
      </p:sp>
      <p:sp>
        <p:nvSpPr>
          <p:cNvPr id="19" name="Text 17"/>
          <p:cNvSpPr/>
          <p:nvPr/>
        </p:nvSpPr>
        <p:spPr>
          <a:xfrm>
            <a:off x="8330184" y="2112264"/>
            <a:ext cx="365760" cy="365760"/>
          </a:xfrm>
          <a:prstGeom prst="rect">
            <a:avLst/>
          </a:prstGeom>
          <a:noFill/>
          <a:ln/>
        </p:spPr>
        <p:txBody>
          <a:bodyPr wrap="square" rtlCol="0" anchor="ctr"/>
          <a:lstStyle/>
          <a:p>
            <a:pPr algn="ctr" indent="0" marL="0">
              <a:buNone/>
            </a:pPr>
            <a:r>
              <a:rPr lang="en-US" sz="1200" b="1" dirty="0">
                <a:solidFill>
                  <a:srgbClr val="0B132B"/>
                </a:solidFill>
                <a:latin typeface="Arial" pitchFamily="34" charset="0"/>
                <a:ea typeface="Arial" pitchFamily="34" charset="-122"/>
                <a:cs typeface="Arial" pitchFamily="34" charset="-120"/>
              </a:rPr>
              <a:t>3</a:t>
            </a:r>
            <a:endParaRPr lang="en-US" sz="1200" dirty="0"/>
          </a:p>
        </p:txBody>
      </p:sp>
      <p:sp>
        <p:nvSpPr>
          <p:cNvPr id="20" name="Text 18"/>
          <p:cNvSpPr/>
          <p:nvPr/>
        </p:nvSpPr>
        <p:spPr>
          <a:xfrm>
            <a:off x="8330184" y="2697480"/>
            <a:ext cx="3118104" cy="685800"/>
          </a:xfrm>
          <a:prstGeom prst="rect">
            <a:avLst/>
          </a:prstGeom>
          <a:noFill/>
          <a:ln/>
        </p:spPr>
        <p:txBody>
          <a:bodyPr wrap="square" rtlCol="0" anchor="t"/>
          <a:lstStyle/>
          <a:p>
            <a:pPr indent="0" marL="0">
              <a:lnSpc>
                <a:spcPct val="110000"/>
              </a:lnSpc>
              <a:buNone/>
            </a:pPr>
            <a:r>
              <a:rPr lang="en-US" sz="1350" b="1" dirty="0">
                <a:solidFill>
                  <a:srgbClr val="F8F9FA"/>
                </a:solidFill>
                <a:latin typeface="Arial" pitchFamily="34" charset="0"/>
                <a:ea typeface="Arial" pitchFamily="34" charset="-122"/>
                <a:cs typeface="Arial" pitchFamily="34" charset="-120"/>
              </a:rPr>
              <a:t>Supply Chain Resilience ("Make in India")</a:t>
            </a:r>
            <a:endParaRPr lang="en-US" sz="1350" dirty="0"/>
          </a:p>
        </p:txBody>
      </p:sp>
      <p:sp>
        <p:nvSpPr>
          <p:cNvPr id="21" name="Text 19"/>
          <p:cNvSpPr/>
          <p:nvPr/>
        </p:nvSpPr>
        <p:spPr>
          <a:xfrm>
            <a:off x="8330184" y="3429000"/>
            <a:ext cx="3118104" cy="2514600"/>
          </a:xfrm>
          <a:prstGeom prst="rect">
            <a:avLst/>
          </a:prstGeom>
          <a:noFill/>
          <a:ln/>
        </p:spPr>
        <p:txBody>
          <a:bodyPr wrap="square" rtlCol="0" anchor="t"/>
          <a:lstStyle/>
          <a:p>
            <a:pPr algn="l" indent="0" marL="0">
              <a:lnSpc>
                <a:spcPct val="124000"/>
              </a:lnSpc>
              <a:buNone/>
            </a:pPr>
            <a:r>
              <a:rPr lang="en-US" sz="1150" dirty="0">
                <a:solidFill>
                  <a:srgbClr val="AAB6CC"/>
                </a:solidFill>
                <a:latin typeface="Calibri" pitchFamily="34" charset="0"/>
                <a:ea typeface="Calibri" pitchFamily="34" charset="-122"/>
                <a:cs typeface="Calibri" pitchFamily="34" charset="-120"/>
              </a:rPr>
              <a:t>By utilizing a </a:t>
            </a:r>
            <a:pPr algn="l" indent="0" marL="0">
              <a:lnSpc>
                <a:spcPct val="124000"/>
              </a:lnSpc>
              <a:buNone/>
            </a:pPr>
            <a:r>
              <a:rPr lang="en-US" sz="1150" b="1" dirty="0">
                <a:solidFill>
                  <a:srgbClr val="4FD1C5"/>
                </a:solidFill>
                <a:latin typeface="Calibri" pitchFamily="34" charset="0"/>
                <a:ea typeface="Calibri" pitchFamily="34" charset="-122"/>
                <a:cs typeface="Calibri" pitchFamily="34" charset="-120"/>
              </a:rPr>
              <a:t>9-element multi-principal matrix</a:t>
            </a:r>
            <a:pPr algn="l" indent="0" marL="0">
              <a:lnSpc>
                <a:spcPct val="124000"/>
              </a:lnSpc>
              <a:buNone/>
            </a:pPr>
            <a:r>
              <a:rPr lang="en-US" sz="1150" dirty="0">
                <a:solidFill>
                  <a:srgbClr val="AAB6CC"/>
                </a:solidFill>
                <a:latin typeface="Calibri" pitchFamily="34" charset="0"/>
                <a:ea typeface="Calibri" pitchFamily="34" charset="-122"/>
                <a:cs typeface="Calibri" pitchFamily="34" charset="-120"/>
              </a:rPr>
              <a:t>, we drastically reduce reliance on single critical minerals (like Neodymium) controlled by volatile foreign supply chains. Our pipeline ensures true indigenous, self-reliant IP generation for the Indian mobility sector.</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9125712" y="274320"/>
            <a:ext cx="2560320" cy="219456"/>
          </a:xfrm>
          <a:prstGeom prst="rect">
            <a:avLst/>
          </a:prstGeom>
          <a:noFill/>
          <a:ln/>
        </p:spPr>
        <p:txBody>
          <a:bodyPr wrap="square" rtlCol="0" anchor="ctr"/>
          <a:lstStyle/>
          <a:p>
            <a:pPr algn="r" indent="0" marL="0">
              <a:buNone/>
            </a:pPr>
            <a:r>
              <a:rPr lang="en-US" sz="950" b="1" spc="140" kern="0" dirty="0">
                <a:solidFill>
                  <a:srgbClr val="0B132B"/>
                </a:solidFill>
                <a:latin typeface="Arial" pitchFamily="34" charset="0"/>
                <a:ea typeface="Arial" pitchFamily="34" charset="-122"/>
                <a:cs typeface="Arial" pitchFamily="34" charset="-120"/>
              </a:rPr>
              <a:t>CRYSTAL </a:t>
            </a:r>
            <a:pPr algn="r" indent="0" marL="0">
              <a:buNone/>
            </a:pPr>
            <a:r>
              <a:rPr lang="en-US" sz="950" b="1" spc="140" kern="0" dirty="0">
                <a:solidFill>
                  <a:srgbClr val="0E7C86"/>
                </a:solidFill>
                <a:latin typeface="Arial" pitchFamily="34" charset="0"/>
                <a:ea typeface="Arial" pitchFamily="34" charset="-122"/>
                <a:cs typeface="Arial" pitchFamily="34" charset="-120"/>
              </a:rPr>
              <a:t>PARADIGM</a:t>
            </a:r>
            <a:endParaRPr lang="en-US" sz="950" dirty="0"/>
          </a:p>
        </p:txBody>
      </p:sp>
      <p:sp>
        <p:nvSpPr>
          <p:cNvPr id="3" name="Text 1"/>
          <p:cNvSpPr/>
          <p:nvPr/>
        </p:nvSpPr>
        <p:spPr>
          <a:xfrm>
            <a:off x="11384280" y="6510528"/>
            <a:ext cx="594360" cy="256032"/>
          </a:xfrm>
          <a:prstGeom prst="rect">
            <a:avLst/>
          </a:prstGeom>
          <a:noFill/>
          <a:ln/>
        </p:spPr>
        <p:txBody>
          <a:bodyPr wrap="square" rtlCol="0" anchor="ctr"/>
          <a:lstStyle/>
          <a:p>
            <a:pPr algn="r" indent="0" marL="0">
              <a:buNone/>
            </a:pPr>
            <a:r>
              <a:rPr lang="en-US" sz="850" dirty="0">
                <a:solidFill>
                  <a:srgbClr val="5B6B8C"/>
                </a:solidFill>
                <a:latin typeface="Calibri" pitchFamily="34" charset="0"/>
                <a:ea typeface="Calibri" pitchFamily="34" charset="-122"/>
                <a:cs typeface="Calibri" pitchFamily="34" charset="-120"/>
              </a:rPr>
              <a:t>5 / 18</a:t>
            </a:r>
            <a:endParaRPr lang="en-US" sz="850" dirty="0"/>
          </a:p>
        </p:txBody>
      </p:sp>
      <p:sp>
        <p:nvSpPr>
          <p:cNvPr id="4" name="Text 2"/>
          <p:cNvSpPr/>
          <p:nvPr/>
        </p:nvSpPr>
        <p:spPr>
          <a:xfrm>
            <a:off x="502920" y="384048"/>
            <a:ext cx="5486400" cy="274320"/>
          </a:xfrm>
          <a:prstGeom prst="rect">
            <a:avLst/>
          </a:prstGeom>
          <a:noFill/>
          <a:ln/>
        </p:spPr>
        <p:txBody>
          <a:bodyPr wrap="square" rtlCol="0" anchor="ctr"/>
          <a:lstStyle/>
          <a:p>
            <a:pPr algn="l" indent="0" marL="0">
              <a:buNone/>
            </a:pPr>
            <a:r>
              <a:rPr lang="en-US" sz="1050" b="1" spc="220" kern="0" dirty="0">
                <a:solidFill>
                  <a:srgbClr val="0E7C86"/>
                </a:solidFill>
                <a:latin typeface="Arial" pitchFamily="34" charset="0"/>
                <a:ea typeface="Arial" pitchFamily="34" charset="-122"/>
                <a:cs typeface="Arial" pitchFamily="34" charset="-120"/>
              </a:rPr>
              <a:t>AI ENGINE · STEP 1</a:t>
            </a:r>
            <a:endParaRPr lang="en-US" sz="1050" dirty="0"/>
          </a:p>
        </p:txBody>
      </p:sp>
      <p:sp>
        <p:nvSpPr>
          <p:cNvPr id="5" name="Text 3"/>
          <p:cNvSpPr/>
          <p:nvPr/>
        </p:nvSpPr>
        <p:spPr>
          <a:xfrm>
            <a:off x="502920" y="658368"/>
            <a:ext cx="11183112" cy="457200"/>
          </a:xfrm>
          <a:prstGeom prst="rect">
            <a:avLst/>
          </a:prstGeom>
          <a:noFill/>
          <a:ln/>
        </p:spPr>
        <p:txBody>
          <a:bodyPr wrap="square" rtlCol="0" anchor="ctr"/>
          <a:lstStyle/>
          <a:p>
            <a:pPr algn="l" indent="0" marL="0">
              <a:lnSpc>
                <a:spcPct val="108000"/>
              </a:lnSpc>
              <a:buNone/>
            </a:pPr>
            <a:r>
              <a:rPr lang="en-US" sz="2050" b="1" spc="20" kern="0" dirty="0">
                <a:solidFill>
                  <a:srgbClr val="0B132B"/>
                </a:solidFill>
                <a:latin typeface="Arial" pitchFamily="34" charset="0"/>
                <a:ea typeface="Arial" pitchFamily="34" charset="-122"/>
                <a:cs typeface="Arial" pitchFamily="34" charset="-120"/>
              </a:rPr>
              <a:t>THE CRYSTAL PARADIGM AI ENGINE: STEP 1</a:t>
            </a:r>
            <a:endParaRPr lang="en-US" sz="2050" dirty="0"/>
          </a:p>
        </p:txBody>
      </p:sp>
      <p:sp>
        <p:nvSpPr>
          <p:cNvPr id="6" name="Text 4"/>
          <p:cNvSpPr/>
          <p:nvPr/>
        </p:nvSpPr>
        <p:spPr>
          <a:xfrm>
            <a:off x="502920" y="1115568"/>
            <a:ext cx="11183112" cy="292608"/>
          </a:xfrm>
          <a:prstGeom prst="rect">
            <a:avLst/>
          </a:prstGeom>
          <a:noFill/>
          <a:ln/>
        </p:spPr>
        <p:txBody>
          <a:bodyPr wrap="square" rtlCol="0" anchor="ctr"/>
          <a:lstStyle/>
          <a:p>
            <a:pPr algn="l" indent="0" marL="0">
              <a:buNone/>
            </a:pPr>
            <a:r>
              <a:rPr lang="en-US" sz="1300" b="1" dirty="0">
                <a:solidFill>
                  <a:srgbClr val="0E7C86"/>
                </a:solidFill>
                <a:latin typeface="Arial" pitchFamily="34" charset="0"/>
                <a:ea typeface="Arial" pitchFamily="34" charset="-122"/>
                <a:cs typeface="Arial" pitchFamily="34" charset="-120"/>
              </a:rPr>
              <a:t>Secure Ingestion &amp; Empirical Thermodynamic Gating</a:t>
            </a:r>
            <a:endParaRPr lang="en-US" sz="1300" dirty="0"/>
          </a:p>
        </p:txBody>
      </p:sp>
      <p:sp>
        <p:nvSpPr>
          <p:cNvPr id="7" name="Text 5"/>
          <p:cNvSpPr/>
          <p:nvPr/>
        </p:nvSpPr>
        <p:spPr>
          <a:xfrm>
            <a:off x="502920" y="1463040"/>
            <a:ext cx="11183112" cy="731520"/>
          </a:xfrm>
          <a:prstGeom prst="rect">
            <a:avLst/>
          </a:prstGeom>
          <a:noFill/>
          <a:ln/>
        </p:spPr>
        <p:txBody>
          <a:bodyPr wrap="square" rtlCol="0" anchor="ctr"/>
          <a:lstStyle/>
          <a:p>
            <a:pPr algn="l" indent="0" marL="0">
              <a:lnSpc>
                <a:spcPct val="124000"/>
              </a:lnSpc>
              <a:buNone/>
            </a:pPr>
            <a:r>
              <a:rPr lang="en-US" sz="1250" dirty="0">
                <a:solidFill>
                  <a:srgbClr val="5B6B8C"/>
                </a:solidFill>
                <a:latin typeface="Calibri" pitchFamily="34" charset="0"/>
                <a:ea typeface="Calibri" pitchFamily="34" charset="-122"/>
                <a:cs typeface="Calibri" pitchFamily="34" charset="-120"/>
              </a:rPr>
              <a:t>Before a single machine learning model is trained, our pipeline strictly enforces the laws of physics and commercial viability. We ingest massive combinatorial spaces (</a:t>
            </a:r>
            <a:pPr algn="l" indent="0" marL="0">
              <a:lnSpc>
                <a:spcPct val="124000"/>
              </a:lnSpc>
              <a:buNone/>
            </a:pPr>
            <a:r>
              <a:rPr lang="en-US" sz="1250" b="1" dirty="0">
                <a:solidFill>
                  <a:srgbClr val="0E7C86"/>
                </a:solidFill>
                <a:latin typeface="Calibri" pitchFamily="34" charset="0"/>
                <a:ea typeface="Calibri" pitchFamily="34" charset="-122"/>
                <a:cs typeface="Calibri" pitchFamily="34" charset="-120"/>
              </a:rPr>
              <a:t>Materials Project, AFLOW</a:t>
            </a:r>
            <a:pPr algn="l" indent="0" marL="0">
              <a:lnSpc>
                <a:spcPct val="124000"/>
              </a:lnSpc>
              <a:buNone/>
            </a:pPr>
            <a:r>
              <a:rPr lang="en-US" sz="1250" dirty="0">
                <a:solidFill>
                  <a:srgbClr val="5B6B8C"/>
                </a:solidFill>
                <a:latin typeface="Calibri" pitchFamily="34" charset="0"/>
                <a:ea typeface="Calibri" pitchFamily="34" charset="-122"/>
                <a:cs typeface="Calibri" pitchFamily="34" charset="-120"/>
              </a:rPr>
              <a:t>), but ruthlessly filter out unstable or toxic formulations using </a:t>
            </a:r>
            <a:pPr algn="l" indent="0" marL="0">
              <a:lnSpc>
                <a:spcPct val="124000"/>
              </a:lnSpc>
              <a:buNone/>
            </a:pPr>
            <a:r>
              <a:rPr lang="en-US" sz="1250" b="1" dirty="0">
                <a:solidFill>
                  <a:srgbClr val="0E7C86"/>
                </a:solidFill>
                <a:latin typeface="Calibri" pitchFamily="34" charset="0"/>
                <a:ea typeface="Calibri" pitchFamily="34" charset="-122"/>
                <a:cs typeface="Calibri" pitchFamily="34" charset="-120"/>
              </a:rPr>
              <a:t>Miedema's Empirical Rules</a:t>
            </a:r>
            <a:pPr algn="l" indent="0" marL="0">
              <a:lnSpc>
                <a:spcPct val="124000"/>
              </a:lnSpc>
              <a:buNone/>
            </a:pPr>
            <a:r>
              <a:rPr lang="en-US" sz="1250" dirty="0">
                <a:solidFill>
                  <a:srgbClr val="5B6B8C"/>
                </a:solidFill>
                <a:latin typeface="Calibri" pitchFamily="34" charset="0"/>
                <a:ea typeface="Calibri" pitchFamily="34" charset="-122"/>
                <a:cs typeface="Calibri" pitchFamily="34" charset="-120"/>
              </a:rPr>
              <a:t> to ensure day-one compliance with Sona Comstar's </a:t>
            </a:r>
            <a:pPr algn="l" indent="0" marL="0">
              <a:lnSpc>
                <a:spcPct val="124000"/>
              </a:lnSpc>
              <a:buNone/>
            </a:pPr>
            <a:r>
              <a:rPr lang="en-US" sz="1250" b="1" dirty="0">
                <a:solidFill>
                  <a:srgbClr val="0E7C86"/>
                </a:solidFill>
                <a:latin typeface="Calibri" pitchFamily="34" charset="0"/>
                <a:ea typeface="Calibri" pitchFamily="34" charset="-122"/>
                <a:cs typeface="Calibri" pitchFamily="34" charset="-120"/>
              </a:rPr>
              <a:t>75% Supplier ESG mandate</a:t>
            </a:r>
            <a:pPr algn="l" indent="0" marL="0">
              <a:lnSpc>
                <a:spcPct val="124000"/>
              </a:lnSpc>
              <a:buNone/>
            </a:pPr>
            <a:r>
              <a:rPr lang="en-US" sz="1250" dirty="0">
                <a:solidFill>
                  <a:srgbClr val="5B6B8C"/>
                </a:solidFill>
                <a:latin typeface="Calibri" pitchFamily="34" charset="0"/>
                <a:ea typeface="Calibri" pitchFamily="34" charset="-122"/>
                <a:cs typeface="Calibri" pitchFamily="34" charset="-120"/>
              </a:rPr>
              <a:t>.</a:t>
            </a:r>
            <a:endParaRPr lang="en-US" sz="1250" dirty="0"/>
          </a:p>
        </p:txBody>
      </p:sp>
      <p:sp>
        <p:nvSpPr>
          <p:cNvPr id="8" name="Shape 6"/>
          <p:cNvSpPr/>
          <p:nvPr/>
        </p:nvSpPr>
        <p:spPr>
          <a:xfrm>
            <a:off x="502920" y="2286000"/>
            <a:ext cx="11183112" cy="1051560"/>
          </a:xfrm>
          <a:prstGeom prst="roundRect">
            <a:avLst>
              <a:gd name="adj" fmla="val 12174"/>
            </a:avLst>
          </a:prstGeom>
          <a:solidFill>
            <a:srgbClr val="EEF1F5"/>
          </a:solidFill>
          <a:ln w="15875">
            <a:solidFill>
              <a:srgbClr val="0B132B"/>
            </a:solidFill>
            <a:prstDash val="dash"/>
          </a:ln>
        </p:spPr>
      </p:sp>
      <p:sp>
        <p:nvSpPr>
          <p:cNvPr id="9" name="Text 7"/>
          <p:cNvSpPr/>
          <p:nvPr/>
        </p:nvSpPr>
        <p:spPr>
          <a:xfrm>
            <a:off x="731520" y="2450592"/>
            <a:ext cx="10725912" cy="237744"/>
          </a:xfrm>
          <a:prstGeom prst="rect">
            <a:avLst/>
          </a:prstGeom>
          <a:noFill/>
          <a:ln/>
        </p:spPr>
        <p:txBody>
          <a:bodyPr wrap="square" rtlCol="0" anchor="ctr"/>
          <a:lstStyle/>
          <a:p>
            <a:pPr indent="0" marL="0">
              <a:buNone/>
            </a:pPr>
            <a:r>
              <a:rPr lang="en-US" sz="900" b="1" spc="180" kern="0" dirty="0">
                <a:solidFill>
                  <a:srgbClr val="7C879C"/>
                </a:solidFill>
                <a:latin typeface="Arial" pitchFamily="34" charset="0"/>
                <a:ea typeface="Arial" pitchFamily="34" charset="-122"/>
                <a:cs typeface="Arial" pitchFamily="34" charset="-120"/>
              </a:rPr>
              <a:t>VISUAL PLACEHOLDER</a:t>
            </a:r>
            <a:endParaRPr lang="en-US" sz="900" dirty="0"/>
          </a:p>
        </p:txBody>
      </p:sp>
      <p:sp>
        <p:nvSpPr>
          <p:cNvPr id="10" name="Text 8"/>
          <p:cNvSpPr/>
          <p:nvPr/>
        </p:nvSpPr>
        <p:spPr>
          <a:xfrm>
            <a:off x="822960" y="2743200"/>
            <a:ext cx="10543032" cy="365760"/>
          </a:xfrm>
          <a:prstGeom prst="rect">
            <a:avLst/>
          </a:prstGeom>
          <a:noFill/>
          <a:ln/>
        </p:spPr>
        <p:txBody>
          <a:bodyPr wrap="square" rtlCol="0" anchor="ctr"/>
          <a:lstStyle/>
          <a:p>
            <a:pPr algn="ctr" indent="0" marL="0">
              <a:lnSpc>
                <a:spcPct val="125000"/>
              </a:lnSpc>
              <a:buNone/>
            </a:pPr>
            <a:r>
              <a:rPr lang="en-US" sz="1100" i="1" dirty="0">
                <a:solidFill>
                  <a:srgbClr val="7C879C"/>
                </a:solidFill>
                <a:latin typeface="Calibri" pitchFamily="34" charset="0"/>
                <a:ea typeface="Calibri" pitchFamily="34" charset="-122"/>
                <a:cs typeface="Calibri" pitchFamily="34" charset="-120"/>
              </a:rPr>
              <a:t>INSERT VISUALIZATION: process flowchart — raw combinatorial database → thermodynamic gating filter (rejecting toxic/heavy elements) → ESG-compliant candidates, with Sona Comstar 75% Supplier Rule compliance stamp</a:t>
            </a:r>
            <a:endParaRPr lang="en-US" sz="1100" dirty="0"/>
          </a:p>
        </p:txBody>
      </p:sp>
      <p:sp>
        <p:nvSpPr>
          <p:cNvPr id="11" name="Shape 9"/>
          <p:cNvSpPr/>
          <p:nvPr/>
        </p:nvSpPr>
        <p:spPr>
          <a:xfrm>
            <a:off x="502920" y="3520440"/>
            <a:ext cx="11183112" cy="402336"/>
          </a:xfrm>
          <a:prstGeom prst="roundRect">
            <a:avLst>
              <a:gd name="adj" fmla="val 50000"/>
            </a:avLst>
          </a:prstGeom>
          <a:solidFill>
            <a:srgbClr val="162447"/>
          </a:solidFill>
          <a:ln/>
        </p:spPr>
      </p:sp>
      <p:sp>
        <p:nvSpPr>
          <p:cNvPr id="12" name="Text 10"/>
          <p:cNvSpPr/>
          <p:nvPr/>
        </p:nvSpPr>
        <p:spPr>
          <a:xfrm>
            <a:off x="502920" y="3520440"/>
            <a:ext cx="11183112" cy="402336"/>
          </a:xfrm>
          <a:prstGeom prst="rect">
            <a:avLst/>
          </a:prstGeom>
          <a:noFill/>
          <a:ln/>
        </p:spPr>
        <p:txBody>
          <a:bodyPr wrap="square" rtlCol="0" anchor="ctr"/>
          <a:lstStyle/>
          <a:p>
            <a:pPr algn="ctr" indent="0" marL="0">
              <a:buNone/>
            </a:pPr>
            <a:r>
              <a:rPr lang="en-US" sz="1100" b="1" spc="60" kern="0" dirty="0">
                <a:solidFill>
                  <a:srgbClr val="D9B872"/>
                </a:solidFill>
                <a:latin typeface="Arial" pitchFamily="34" charset="0"/>
                <a:ea typeface="Arial" pitchFamily="34" charset="-122"/>
                <a:cs typeface="Arial" pitchFamily="34" charset="-120"/>
              </a:rPr>
              <a:t>✓  SONA COMSTAR 75% SUPPLIER ESG RULE — COMPLIANCE VERIFIED AT INGESTION</a:t>
            </a:r>
            <a:endParaRPr lang="en-US" sz="1100" dirty="0"/>
          </a:p>
        </p:txBody>
      </p:sp>
      <p:sp>
        <p:nvSpPr>
          <p:cNvPr id="13" name="Text 11"/>
          <p:cNvSpPr/>
          <p:nvPr/>
        </p:nvSpPr>
        <p:spPr>
          <a:xfrm>
            <a:off x="502920" y="4114800"/>
            <a:ext cx="11183112" cy="274320"/>
          </a:xfrm>
          <a:prstGeom prst="rect">
            <a:avLst/>
          </a:prstGeom>
          <a:noFill/>
          <a:ln/>
        </p:spPr>
        <p:txBody>
          <a:bodyPr wrap="square" rtlCol="0" anchor="ctr"/>
          <a:lstStyle/>
          <a:p>
            <a:pPr indent="0" marL="0">
              <a:buNone/>
            </a:pPr>
            <a:r>
              <a:rPr lang="en-US" sz="1250" b="1" spc="50" kern="0" dirty="0">
                <a:solidFill>
                  <a:srgbClr val="0B132B"/>
                </a:solidFill>
                <a:latin typeface="Arial" pitchFamily="34" charset="0"/>
                <a:ea typeface="Arial" pitchFamily="34" charset="-122"/>
                <a:cs typeface="Arial" pitchFamily="34" charset="-120"/>
              </a:rPr>
              <a:t>THE THERMODYNAMIC GATING PROTOCOL</a:t>
            </a:r>
            <a:endParaRPr lang="en-US" sz="1250" dirty="0"/>
          </a:p>
        </p:txBody>
      </p:sp>
      <p:sp>
        <p:nvSpPr>
          <p:cNvPr id="14" name="Shape 12"/>
          <p:cNvSpPr/>
          <p:nvPr/>
        </p:nvSpPr>
        <p:spPr>
          <a:xfrm>
            <a:off x="502920" y="4480560"/>
            <a:ext cx="2697480" cy="1600200"/>
          </a:xfrm>
          <a:prstGeom prst="roundRect">
            <a:avLst>
              <a:gd name="adj" fmla="val 8000"/>
            </a:avLst>
          </a:prstGeom>
          <a:solidFill>
            <a:srgbClr val="0B132B"/>
          </a:solidFill>
          <a:ln w="9525">
            <a:solidFill>
              <a:srgbClr val="2A3B63"/>
            </a:solidFill>
            <a:prstDash val="solid"/>
          </a:ln>
          <a:effectLst>
            <a:outerShdw sx="100000" sy="100000" kx="0" ky="0" algn="bl" rotWithShape="0" blurRad="127000" dist="38100" dir="5400000">
              <a:srgbClr val="1A2138">
                <a:alpha val="28000"/>
              </a:srgbClr>
            </a:outerShdw>
          </a:effectLst>
        </p:spPr>
      </p:sp>
      <p:sp>
        <p:nvSpPr>
          <p:cNvPr id="15" name="Text 13"/>
          <p:cNvSpPr/>
          <p:nvPr/>
        </p:nvSpPr>
        <p:spPr>
          <a:xfrm>
            <a:off x="685800" y="4663440"/>
            <a:ext cx="2331720" cy="457200"/>
          </a:xfrm>
          <a:prstGeom prst="rect">
            <a:avLst/>
          </a:prstGeom>
          <a:noFill/>
          <a:ln/>
        </p:spPr>
        <p:txBody>
          <a:bodyPr wrap="square" rtlCol="0" anchor="t"/>
          <a:lstStyle/>
          <a:p>
            <a:pPr algn="l" indent="0" marL="0">
              <a:lnSpc>
                <a:spcPct val="124000"/>
              </a:lnSpc>
              <a:buNone/>
            </a:pPr>
            <a:r>
              <a:rPr lang="en-US" sz="1000" dirty="0">
                <a:solidFill>
                  <a:srgbClr val="AAB6CC"/>
                </a:solidFill>
                <a:latin typeface="Calibri" pitchFamily="34" charset="0"/>
                <a:ea typeface="Calibri" pitchFamily="34" charset="-122"/>
                <a:cs typeface="Calibri" pitchFamily="34" charset="-120"/>
              </a:rPr>
              <a:t>Atomic Size Mismatch (δ)</a:t>
            </a:r>
            <a:endParaRPr lang="en-US" sz="1000" dirty="0"/>
          </a:p>
        </p:txBody>
      </p:sp>
      <p:sp>
        <p:nvSpPr>
          <p:cNvPr id="16" name="Text 14"/>
          <p:cNvSpPr/>
          <p:nvPr/>
        </p:nvSpPr>
        <p:spPr>
          <a:xfrm>
            <a:off x="685800" y="5138928"/>
            <a:ext cx="2331720" cy="365760"/>
          </a:xfrm>
          <a:prstGeom prst="rect">
            <a:avLst/>
          </a:prstGeom>
          <a:noFill/>
          <a:ln/>
        </p:spPr>
        <p:txBody>
          <a:bodyPr wrap="square" rtlCol="0" anchor="ctr"/>
          <a:lstStyle/>
          <a:p>
            <a:pPr indent="0" marL="0">
              <a:buNone/>
            </a:pPr>
            <a:r>
              <a:rPr lang="en-US" sz="1700" b="1" dirty="0">
                <a:solidFill>
                  <a:srgbClr val="4FD1C5"/>
                </a:solidFill>
                <a:latin typeface="Arial" pitchFamily="34" charset="0"/>
                <a:ea typeface="Arial" pitchFamily="34" charset="-122"/>
                <a:cs typeface="Arial" pitchFamily="34" charset="-120"/>
              </a:rPr>
              <a:t>≤ 6.6%</a:t>
            </a:r>
            <a:endParaRPr lang="en-US" sz="1700" dirty="0"/>
          </a:p>
        </p:txBody>
      </p:sp>
      <p:sp>
        <p:nvSpPr>
          <p:cNvPr id="17" name="Text 15"/>
          <p:cNvSpPr/>
          <p:nvPr/>
        </p:nvSpPr>
        <p:spPr>
          <a:xfrm>
            <a:off x="685800" y="5559552"/>
            <a:ext cx="2331720" cy="457200"/>
          </a:xfrm>
          <a:prstGeom prst="rect">
            <a:avLst/>
          </a:prstGeom>
          <a:noFill/>
          <a:ln/>
        </p:spPr>
        <p:txBody>
          <a:bodyPr wrap="square" rtlCol="0" anchor="t"/>
          <a:lstStyle/>
          <a:p>
            <a:pPr algn="l" indent="0" marL="0">
              <a:lnSpc>
                <a:spcPct val="124000"/>
              </a:lnSpc>
              <a:buNone/>
            </a:pPr>
            <a:r>
              <a:rPr lang="en-US" sz="880" dirty="0">
                <a:solidFill>
                  <a:srgbClr val="AAB6CC"/>
                </a:solidFill>
                <a:latin typeface="Calibri" pitchFamily="34" charset="0"/>
                <a:ea typeface="Calibri" pitchFamily="34" charset="-122"/>
                <a:cs typeface="Calibri" pitchFamily="34" charset="-120"/>
              </a:rPr>
              <a:t>prevents lattice distortion under high torque</a:t>
            </a:r>
            <a:endParaRPr lang="en-US" sz="880" dirty="0"/>
          </a:p>
        </p:txBody>
      </p:sp>
      <p:sp>
        <p:nvSpPr>
          <p:cNvPr id="18" name="Shape 16"/>
          <p:cNvSpPr/>
          <p:nvPr/>
        </p:nvSpPr>
        <p:spPr>
          <a:xfrm>
            <a:off x="3319272" y="4480560"/>
            <a:ext cx="2697480" cy="1600200"/>
          </a:xfrm>
          <a:prstGeom prst="roundRect">
            <a:avLst>
              <a:gd name="adj" fmla="val 8000"/>
            </a:avLst>
          </a:prstGeom>
          <a:solidFill>
            <a:srgbClr val="0B132B"/>
          </a:solidFill>
          <a:ln w="9525">
            <a:solidFill>
              <a:srgbClr val="2A3B63"/>
            </a:solidFill>
            <a:prstDash val="solid"/>
          </a:ln>
          <a:effectLst>
            <a:outerShdw sx="100000" sy="100000" kx="0" ky="0" algn="bl" rotWithShape="0" blurRad="127000" dist="38100" dir="5400000">
              <a:srgbClr val="1A2138">
                <a:alpha val="28000"/>
              </a:srgbClr>
            </a:outerShdw>
          </a:effectLst>
        </p:spPr>
      </p:sp>
      <p:sp>
        <p:nvSpPr>
          <p:cNvPr id="19" name="Text 17"/>
          <p:cNvSpPr/>
          <p:nvPr/>
        </p:nvSpPr>
        <p:spPr>
          <a:xfrm>
            <a:off x="3502152" y="4663440"/>
            <a:ext cx="2331720" cy="457200"/>
          </a:xfrm>
          <a:prstGeom prst="rect">
            <a:avLst/>
          </a:prstGeom>
          <a:noFill/>
          <a:ln/>
        </p:spPr>
        <p:txBody>
          <a:bodyPr wrap="square" rtlCol="0" anchor="t"/>
          <a:lstStyle/>
          <a:p>
            <a:pPr algn="l" indent="0" marL="0">
              <a:lnSpc>
                <a:spcPct val="124000"/>
              </a:lnSpc>
              <a:buNone/>
            </a:pPr>
            <a:r>
              <a:rPr lang="en-US" sz="1000" dirty="0">
                <a:solidFill>
                  <a:srgbClr val="AAB6CC"/>
                </a:solidFill>
                <a:latin typeface="Calibri" pitchFamily="34" charset="0"/>
                <a:ea typeface="Calibri" pitchFamily="34" charset="-122"/>
                <a:cs typeface="Calibri" pitchFamily="34" charset="-120"/>
              </a:rPr>
              <a:t>Enthalpy of Mixing (ΔH_mix)</a:t>
            </a:r>
            <a:endParaRPr lang="en-US" sz="1000" dirty="0"/>
          </a:p>
        </p:txBody>
      </p:sp>
      <p:sp>
        <p:nvSpPr>
          <p:cNvPr id="20" name="Text 18"/>
          <p:cNvSpPr/>
          <p:nvPr/>
        </p:nvSpPr>
        <p:spPr>
          <a:xfrm>
            <a:off x="3502152" y="5138928"/>
            <a:ext cx="2331720" cy="365760"/>
          </a:xfrm>
          <a:prstGeom prst="rect">
            <a:avLst/>
          </a:prstGeom>
          <a:noFill/>
          <a:ln/>
        </p:spPr>
        <p:txBody>
          <a:bodyPr wrap="square" rtlCol="0" anchor="ctr"/>
          <a:lstStyle/>
          <a:p>
            <a:pPr indent="0" marL="0">
              <a:buNone/>
            </a:pPr>
            <a:r>
              <a:rPr lang="en-US" sz="1700" b="1" dirty="0">
                <a:solidFill>
                  <a:srgbClr val="4FD1C5"/>
                </a:solidFill>
                <a:latin typeface="Arial" pitchFamily="34" charset="0"/>
                <a:ea typeface="Arial" pitchFamily="34" charset="-122"/>
                <a:cs typeface="Arial" pitchFamily="34" charset="-120"/>
              </a:rPr>
              <a:t>-15 to +5 kJ/mol</a:t>
            </a:r>
            <a:endParaRPr lang="en-US" sz="1700" dirty="0"/>
          </a:p>
        </p:txBody>
      </p:sp>
      <p:sp>
        <p:nvSpPr>
          <p:cNvPr id="21" name="Text 19"/>
          <p:cNvSpPr/>
          <p:nvPr/>
        </p:nvSpPr>
        <p:spPr>
          <a:xfrm>
            <a:off x="3502152" y="5559552"/>
            <a:ext cx="2331720" cy="457200"/>
          </a:xfrm>
          <a:prstGeom prst="rect">
            <a:avLst/>
          </a:prstGeom>
          <a:noFill/>
          <a:ln/>
        </p:spPr>
        <p:txBody>
          <a:bodyPr wrap="square" rtlCol="0" anchor="t"/>
          <a:lstStyle/>
          <a:p>
            <a:pPr algn="l" indent="0" marL="0">
              <a:lnSpc>
                <a:spcPct val="124000"/>
              </a:lnSpc>
              <a:buNone/>
            </a:pPr>
            <a:r>
              <a:rPr lang="en-US" sz="880" dirty="0">
                <a:solidFill>
                  <a:srgbClr val="AAB6CC"/>
                </a:solidFill>
                <a:latin typeface="Calibri" pitchFamily="34" charset="0"/>
                <a:ea typeface="Calibri" pitchFamily="34" charset="-122"/>
                <a:cs typeface="Calibri" pitchFamily="34" charset="-120"/>
              </a:rPr>
              <a:t>bounded stability window</a:t>
            </a:r>
            <a:endParaRPr lang="en-US" sz="880" dirty="0"/>
          </a:p>
        </p:txBody>
      </p:sp>
      <p:sp>
        <p:nvSpPr>
          <p:cNvPr id="22" name="Shape 20"/>
          <p:cNvSpPr/>
          <p:nvPr/>
        </p:nvSpPr>
        <p:spPr>
          <a:xfrm>
            <a:off x="6135624" y="4480560"/>
            <a:ext cx="2697480" cy="1600200"/>
          </a:xfrm>
          <a:prstGeom prst="roundRect">
            <a:avLst>
              <a:gd name="adj" fmla="val 8000"/>
            </a:avLst>
          </a:prstGeom>
          <a:solidFill>
            <a:srgbClr val="0B132B"/>
          </a:solidFill>
          <a:ln w="9525">
            <a:solidFill>
              <a:srgbClr val="2A3B63"/>
            </a:solidFill>
            <a:prstDash val="solid"/>
          </a:ln>
          <a:effectLst>
            <a:outerShdw sx="100000" sy="100000" kx="0" ky="0" algn="bl" rotWithShape="0" blurRad="127000" dist="38100" dir="5400000">
              <a:srgbClr val="1A2138">
                <a:alpha val="28000"/>
              </a:srgbClr>
            </a:outerShdw>
          </a:effectLst>
        </p:spPr>
      </p:sp>
      <p:sp>
        <p:nvSpPr>
          <p:cNvPr id="23" name="Text 21"/>
          <p:cNvSpPr/>
          <p:nvPr/>
        </p:nvSpPr>
        <p:spPr>
          <a:xfrm>
            <a:off x="6318504" y="4663440"/>
            <a:ext cx="2331720" cy="457200"/>
          </a:xfrm>
          <a:prstGeom prst="rect">
            <a:avLst/>
          </a:prstGeom>
          <a:noFill/>
          <a:ln/>
        </p:spPr>
        <p:txBody>
          <a:bodyPr wrap="square" rtlCol="0" anchor="t"/>
          <a:lstStyle/>
          <a:p>
            <a:pPr algn="l" indent="0" marL="0">
              <a:lnSpc>
                <a:spcPct val="124000"/>
              </a:lnSpc>
              <a:buNone/>
            </a:pPr>
            <a:r>
              <a:rPr lang="en-US" sz="1000" dirty="0">
                <a:solidFill>
                  <a:srgbClr val="AAB6CC"/>
                </a:solidFill>
                <a:latin typeface="Calibri" pitchFamily="34" charset="0"/>
                <a:ea typeface="Calibri" pitchFamily="34" charset="-122"/>
                <a:cs typeface="Calibri" pitchFamily="34" charset="-120"/>
              </a:rPr>
              <a:t>Valence Electron Conc. (VEC)</a:t>
            </a:r>
            <a:endParaRPr lang="en-US" sz="1000" dirty="0"/>
          </a:p>
        </p:txBody>
      </p:sp>
      <p:sp>
        <p:nvSpPr>
          <p:cNvPr id="24" name="Text 22"/>
          <p:cNvSpPr/>
          <p:nvPr/>
        </p:nvSpPr>
        <p:spPr>
          <a:xfrm>
            <a:off x="6318504" y="5138928"/>
            <a:ext cx="2331720" cy="365760"/>
          </a:xfrm>
          <a:prstGeom prst="rect">
            <a:avLst/>
          </a:prstGeom>
          <a:noFill/>
          <a:ln/>
        </p:spPr>
        <p:txBody>
          <a:bodyPr wrap="square" rtlCol="0" anchor="ctr"/>
          <a:lstStyle/>
          <a:p>
            <a:pPr indent="0" marL="0">
              <a:buNone/>
            </a:pPr>
            <a:r>
              <a:rPr lang="en-US" sz="1700" b="1" dirty="0">
                <a:solidFill>
                  <a:srgbClr val="4FD1C5"/>
                </a:solidFill>
                <a:latin typeface="Arial" pitchFamily="34" charset="0"/>
                <a:ea typeface="Arial" pitchFamily="34" charset="-122"/>
                <a:cs typeface="Arial" pitchFamily="34" charset="-120"/>
              </a:rPr>
              <a:t>4.0 – 6.8</a:t>
            </a:r>
            <a:endParaRPr lang="en-US" sz="1700" dirty="0"/>
          </a:p>
        </p:txBody>
      </p:sp>
      <p:sp>
        <p:nvSpPr>
          <p:cNvPr id="25" name="Text 23"/>
          <p:cNvSpPr/>
          <p:nvPr/>
        </p:nvSpPr>
        <p:spPr>
          <a:xfrm>
            <a:off x="6318504" y="5559552"/>
            <a:ext cx="2331720" cy="457200"/>
          </a:xfrm>
          <a:prstGeom prst="rect">
            <a:avLst/>
          </a:prstGeom>
          <a:noFill/>
          <a:ln/>
        </p:spPr>
        <p:txBody>
          <a:bodyPr wrap="square" rtlCol="0" anchor="t"/>
          <a:lstStyle/>
          <a:p>
            <a:pPr algn="l" indent="0" marL="0">
              <a:lnSpc>
                <a:spcPct val="124000"/>
              </a:lnSpc>
              <a:buNone/>
            </a:pPr>
            <a:r>
              <a:rPr lang="en-US" sz="880" dirty="0">
                <a:solidFill>
                  <a:srgbClr val="AAB6CC"/>
                </a:solidFill>
                <a:latin typeface="Calibri" pitchFamily="34" charset="0"/>
                <a:ea typeface="Calibri" pitchFamily="34" charset="-122"/>
                <a:cs typeface="Calibri" pitchFamily="34" charset="-120"/>
              </a:rPr>
              <a:t>guarantees stable BCC matrix, no brittle Sigma phase</a:t>
            </a:r>
            <a:endParaRPr lang="en-US" sz="880" dirty="0"/>
          </a:p>
        </p:txBody>
      </p:sp>
      <p:sp>
        <p:nvSpPr>
          <p:cNvPr id="26" name="Shape 24"/>
          <p:cNvSpPr/>
          <p:nvPr/>
        </p:nvSpPr>
        <p:spPr>
          <a:xfrm>
            <a:off x="8951976" y="4480560"/>
            <a:ext cx="2697480" cy="1600200"/>
          </a:xfrm>
          <a:prstGeom prst="roundRect">
            <a:avLst>
              <a:gd name="adj" fmla="val 8000"/>
            </a:avLst>
          </a:prstGeom>
          <a:solidFill>
            <a:srgbClr val="0B132B"/>
          </a:solidFill>
          <a:ln w="9525">
            <a:solidFill>
              <a:srgbClr val="2A3B63"/>
            </a:solidFill>
            <a:prstDash val="solid"/>
          </a:ln>
          <a:effectLst>
            <a:outerShdw sx="100000" sy="100000" kx="0" ky="0" algn="bl" rotWithShape="0" blurRad="127000" dist="38100" dir="5400000">
              <a:srgbClr val="1A2138">
                <a:alpha val="28000"/>
              </a:srgbClr>
            </a:outerShdw>
          </a:effectLst>
        </p:spPr>
      </p:sp>
      <p:sp>
        <p:nvSpPr>
          <p:cNvPr id="27" name="Text 25"/>
          <p:cNvSpPr/>
          <p:nvPr/>
        </p:nvSpPr>
        <p:spPr>
          <a:xfrm>
            <a:off x="9134856" y="4663440"/>
            <a:ext cx="2331720" cy="457200"/>
          </a:xfrm>
          <a:prstGeom prst="rect">
            <a:avLst/>
          </a:prstGeom>
          <a:noFill/>
          <a:ln/>
        </p:spPr>
        <p:txBody>
          <a:bodyPr wrap="square" rtlCol="0" anchor="t"/>
          <a:lstStyle/>
          <a:p>
            <a:pPr algn="l" indent="0" marL="0">
              <a:lnSpc>
                <a:spcPct val="124000"/>
              </a:lnSpc>
              <a:buNone/>
            </a:pPr>
            <a:r>
              <a:rPr lang="en-US" sz="1000" dirty="0">
                <a:solidFill>
                  <a:srgbClr val="AAB6CC"/>
                </a:solidFill>
                <a:latin typeface="Calibri" pitchFamily="34" charset="0"/>
                <a:ea typeface="Calibri" pitchFamily="34" charset="-122"/>
                <a:cs typeface="Calibri" pitchFamily="34" charset="-120"/>
              </a:rPr>
              <a:t>Omega Parameter (Ω)</a:t>
            </a:r>
            <a:endParaRPr lang="en-US" sz="1000" dirty="0"/>
          </a:p>
        </p:txBody>
      </p:sp>
      <p:sp>
        <p:nvSpPr>
          <p:cNvPr id="28" name="Text 26"/>
          <p:cNvSpPr/>
          <p:nvPr/>
        </p:nvSpPr>
        <p:spPr>
          <a:xfrm>
            <a:off x="9134856" y="5138928"/>
            <a:ext cx="2331720" cy="365760"/>
          </a:xfrm>
          <a:prstGeom prst="rect">
            <a:avLst/>
          </a:prstGeom>
          <a:noFill/>
          <a:ln/>
        </p:spPr>
        <p:txBody>
          <a:bodyPr wrap="square" rtlCol="0" anchor="ctr"/>
          <a:lstStyle/>
          <a:p>
            <a:pPr indent="0" marL="0">
              <a:buNone/>
            </a:pPr>
            <a:r>
              <a:rPr lang="en-US" sz="1700" b="1" dirty="0">
                <a:solidFill>
                  <a:srgbClr val="4FD1C5"/>
                </a:solidFill>
                <a:latin typeface="Arial" pitchFamily="34" charset="0"/>
                <a:ea typeface="Arial" pitchFamily="34" charset="-122"/>
                <a:cs typeface="Arial" pitchFamily="34" charset="-120"/>
              </a:rPr>
              <a:t>≥ 1.1</a:t>
            </a:r>
            <a:endParaRPr lang="en-US" sz="1700" dirty="0"/>
          </a:p>
        </p:txBody>
      </p:sp>
      <p:sp>
        <p:nvSpPr>
          <p:cNvPr id="29" name="Text 27"/>
          <p:cNvSpPr/>
          <p:nvPr/>
        </p:nvSpPr>
        <p:spPr>
          <a:xfrm>
            <a:off x="9134856" y="5559552"/>
            <a:ext cx="2331720" cy="457200"/>
          </a:xfrm>
          <a:prstGeom prst="rect">
            <a:avLst/>
          </a:prstGeom>
          <a:noFill/>
          <a:ln/>
        </p:spPr>
        <p:txBody>
          <a:bodyPr wrap="square" rtlCol="0" anchor="t"/>
          <a:lstStyle/>
          <a:p>
            <a:pPr algn="l" indent="0" marL="0">
              <a:lnSpc>
                <a:spcPct val="124000"/>
              </a:lnSpc>
              <a:buNone/>
            </a:pPr>
            <a:r>
              <a:rPr lang="en-US" sz="880" dirty="0">
                <a:solidFill>
                  <a:srgbClr val="AAB6CC"/>
                </a:solidFill>
                <a:latin typeface="Calibri" pitchFamily="34" charset="0"/>
                <a:ea typeface="Calibri" pitchFamily="34" charset="-122"/>
                <a:cs typeface="Calibri" pitchFamily="34" charset="-120"/>
              </a:rPr>
              <a:t>guarantees dominant solid solution stability</a:t>
            </a:r>
            <a:endParaRPr lang="en-US" sz="880" dirty="0"/>
          </a:p>
        </p:txBody>
      </p:sp>
      <p:sp>
        <p:nvSpPr>
          <p:cNvPr id="30" name="Text 28"/>
          <p:cNvSpPr/>
          <p:nvPr/>
        </p:nvSpPr>
        <p:spPr>
          <a:xfrm>
            <a:off x="502920" y="6199632"/>
            <a:ext cx="11183112" cy="274320"/>
          </a:xfrm>
          <a:prstGeom prst="rect">
            <a:avLst/>
          </a:prstGeom>
          <a:noFill/>
          <a:ln/>
        </p:spPr>
        <p:txBody>
          <a:bodyPr wrap="square" rtlCol="0" anchor="ctr"/>
          <a:lstStyle/>
          <a:p>
            <a:pPr indent="0" marL="0">
              <a:buNone/>
            </a:pPr>
            <a:r>
              <a:rPr lang="en-US" sz="900" i="1" dirty="0">
                <a:solidFill>
                  <a:srgbClr val="5B6B8C"/>
                </a:solidFill>
                <a:latin typeface="Calibri" pitchFamily="34" charset="0"/>
                <a:ea typeface="Calibri" pitchFamily="34" charset="-122"/>
                <a:cs typeface="Calibri" pitchFamily="34" charset="-120"/>
              </a:rPr>
              <a:t>This is critical: A VEC &lt; 6.8 mathematically guarantees a stable Body-Centered Cubic (BCC) matrix and explicitly eliminates the risk of brittle Sigma phase formation.</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9125712" y="274320"/>
            <a:ext cx="2560320" cy="219456"/>
          </a:xfrm>
          <a:prstGeom prst="rect">
            <a:avLst/>
          </a:prstGeom>
          <a:noFill/>
          <a:ln/>
        </p:spPr>
        <p:txBody>
          <a:bodyPr wrap="square" rtlCol="0" anchor="ctr"/>
          <a:lstStyle/>
          <a:p>
            <a:pPr algn="r" indent="0" marL="0">
              <a:buNone/>
            </a:pPr>
            <a:r>
              <a:rPr lang="en-US" sz="950" b="1" spc="140" kern="0" dirty="0">
                <a:solidFill>
                  <a:srgbClr val="0B132B"/>
                </a:solidFill>
                <a:latin typeface="Arial" pitchFamily="34" charset="0"/>
                <a:ea typeface="Arial" pitchFamily="34" charset="-122"/>
                <a:cs typeface="Arial" pitchFamily="34" charset="-120"/>
              </a:rPr>
              <a:t>CRYSTAL </a:t>
            </a:r>
            <a:pPr algn="r" indent="0" marL="0">
              <a:buNone/>
            </a:pPr>
            <a:r>
              <a:rPr lang="en-US" sz="950" b="1" spc="140" kern="0" dirty="0">
                <a:solidFill>
                  <a:srgbClr val="0E7C86"/>
                </a:solidFill>
                <a:latin typeface="Arial" pitchFamily="34" charset="0"/>
                <a:ea typeface="Arial" pitchFamily="34" charset="-122"/>
                <a:cs typeface="Arial" pitchFamily="34" charset="-120"/>
              </a:rPr>
              <a:t>PARADIGM</a:t>
            </a:r>
            <a:endParaRPr lang="en-US" sz="950" dirty="0"/>
          </a:p>
        </p:txBody>
      </p:sp>
      <p:sp>
        <p:nvSpPr>
          <p:cNvPr id="3" name="Text 1"/>
          <p:cNvSpPr/>
          <p:nvPr/>
        </p:nvSpPr>
        <p:spPr>
          <a:xfrm>
            <a:off x="11384280" y="6510528"/>
            <a:ext cx="594360" cy="256032"/>
          </a:xfrm>
          <a:prstGeom prst="rect">
            <a:avLst/>
          </a:prstGeom>
          <a:noFill/>
          <a:ln/>
        </p:spPr>
        <p:txBody>
          <a:bodyPr wrap="square" rtlCol="0" anchor="ctr"/>
          <a:lstStyle/>
          <a:p>
            <a:pPr algn="r" indent="0" marL="0">
              <a:buNone/>
            </a:pPr>
            <a:r>
              <a:rPr lang="en-US" sz="850" dirty="0">
                <a:solidFill>
                  <a:srgbClr val="5B6B8C"/>
                </a:solidFill>
                <a:latin typeface="Calibri" pitchFamily="34" charset="0"/>
                <a:ea typeface="Calibri" pitchFamily="34" charset="-122"/>
                <a:cs typeface="Calibri" pitchFamily="34" charset="-120"/>
              </a:rPr>
              <a:t>6 / 18</a:t>
            </a:r>
            <a:endParaRPr lang="en-US" sz="850" dirty="0"/>
          </a:p>
        </p:txBody>
      </p:sp>
      <p:sp>
        <p:nvSpPr>
          <p:cNvPr id="4" name="Text 2"/>
          <p:cNvSpPr/>
          <p:nvPr/>
        </p:nvSpPr>
        <p:spPr>
          <a:xfrm>
            <a:off x="502920" y="384048"/>
            <a:ext cx="5486400" cy="274320"/>
          </a:xfrm>
          <a:prstGeom prst="rect">
            <a:avLst/>
          </a:prstGeom>
          <a:noFill/>
          <a:ln/>
        </p:spPr>
        <p:txBody>
          <a:bodyPr wrap="square" rtlCol="0" anchor="ctr"/>
          <a:lstStyle/>
          <a:p>
            <a:pPr algn="l" indent="0" marL="0">
              <a:buNone/>
            </a:pPr>
            <a:r>
              <a:rPr lang="en-US" sz="1050" b="1" spc="220" kern="0" dirty="0">
                <a:solidFill>
                  <a:srgbClr val="0E7C86"/>
                </a:solidFill>
                <a:latin typeface="Arial" pitchFamily="34" charset="0"/>
                <a:ea typeface="Arial" pitchFamily="34" charset="-122"/>
                <a:cs typeface="Arial" pitchFamily="34" charset="-120"/>
              </a:rPr>
              <a:t>AI ENGINE · STEP 2</a:t>
            </a:r>
            <a:endParaRPr lang="en-US" sz="1050" dirty="0"/>
          </a:p>
        </p:txBody>
      </p:sp>
      <p:sp>
        <p:nvSpPr>
          <p:cNvPr id="5" name="Text 3"/>
          <p:cNvSpPr/>
          <p:nvPr/>
        </p:nvSpPr>
        <p:spPr>
          <a:xfrm>
            <a:off x="502920" y="658368"/>
            <a:ext cx="11183112" cy="457200"/>
          </a:xfrm>
          <a:prstGeom prst="rect">
            <a:avLst/>
          </a:prstGeom>
          <a:noFill/>
          <a:ln/>
        </p:spPr>
        <p:txBody>
          <a:bodyPr wrap="square" rtlCol="0" anchor="ctr"/>
          <a:lstStyle/>
          <a:p>
            <a:pPr algn="l" indent="0" marL="0">
              <a:lnSpc>
                <a:spcPct val="108000"/>
              </a:lnSpc>
              <a:buNone/>
            </a:pPr>
            <a:r>
              <a:rPr lang="en-US" sz="2050" b="1" spc="20" kern="0" dirty="0">
                <a:solidFill>
                  <a:srgbClr val="0B132B"/>
                </a:solidFill>
                <a:latin typeface="Arial" pitchFamily="34" charset="0"/>
                <a:ea typeface="Arial" pitchFamily="34" charset="-122"/>
                <a:cs typeface="Arial" pitchFamily="34" charset="-120"/>
              </a:rPr>
              <a:t>THE CRYSTAL PARADIGM AI ENGINE: STEP 2</a:t>
            </a:r>
            <a:endParaRPr lang="en-US" sz="2050" dirty="0"/>
          </a:p>
        </p:txBody>
      </p:sp>
      <p:sp>
        <p:nvSpPr>
          <p:cNvPr id="6" name="Text 4"/>
          <p:cNvSpPr/>
          <p:nvPr/>
        </p:nvSpPr>
        <p:spPr>
          <a:xfrm>
            <a:off x="502920" y="1115568"/>
            <a:ext cx="11183112" cy="292608"/>
          </a:xfrm>
          <a:prstGeom prst="rect">
            <a:avLst/>
          </a:prstGeom>
          <a:noFill/>
          <a:ln/>
        </p:spPr>
        <p:txBody>
          <a:bodyPr wrap="square" rtlCol="0" anchor="ctr"/>
          <a:lstStyle/>
          <a:p>
            <a:pPr algn="l" indent="0" marL="0">
              <a:buNone/>
            </a:pPr>
            <a:r>
              <a:rPr lang="en-US" sz="1300" b="1" dirty="0">
                <a:solidFill>
                  <a:srgbClr val="0E7C86"/>
                </a:solidFill>
                <a:latin typeface="Arial" pitchFamily="34" charset="0"/>
                <a:ea typeface="Arial" pitchFamily="34" charset="-122"/>
                <a:cs typeface="Arial" pitchFamily="34" charset="-120"/>
              </a:rPr>
              <a:t>Dual-Stream Machine Learning Surrogates</a:t>
            </a:r>
            <a:endParaRPr lang="en-US" sz="1300" dirty="0"/>
          </a:p>
        </p:txBody>
      </p:sp>
      <p:sp>
        <p:nvSpPr>
          <p:cNvPr id="7" name="Text 5"/>
          <p:cNvSpPr/>
          <p:nvPr/>
        </p:nvSpPr>
        <p:spPr>
          <a:xfrm>
            <a:off x="502920" y="1463040"/>
            <a:ext cx="11183112" cy="502920"/>
          </a:xfrm>
          <a:prstGeom prst="rect">
            <a:avLst/>
          </a:prstGeom>
          <a:noFill/>
          <a:ln/>
        </p:spPr>
        <p:txBody>
          <a:bodyPr wrap="square" rtlCol="0" anchor="ctr"/>
          <a:lstStyle/>
          <a:p>
            <a:pPr algn="l" indent="0" marL="0">
              <a:lnSpc>
                <a:spcPct val="124000"/>
              </a:lnSpc>
              <a:buNone/>
            </a:pPr>
            <a:r>
              <a:rPr lang="en-US" sz="1250" dirty="0">
                <a:solidFill>
                  <a:srgbClr val="5B6B8C"/>
                </a:solidFill>
                <a:latin typeface="Calibri" pitchFamily="34" charset="0"/>
                <a:ea typeface="Calibri" pitchFamily="34" charset="-122"/>
                <a:cs typeface="Calibri" pitchFamily="34" charset="-120"/>
              </a:rPr>
              <a:t>To predict material behavior for Sona Comstar's extreme-environment SRMs and H13 forging dies, we engineered a dual-stream surrogate architecture mapping both theoretical physics and real-world variance.</a:t>
            </a:r>
            <a:endParaRPr lang="en-US" sz="1250" dirty="0"/>
          </a:p>
        </p:txBody>
      </p:sp>
      <p:sp>
        <p:nvSpPr>
          <p:cNvPr id="8" name="Shape 6"/>
          <p:cNvSpPr/>
          <p:nvPr/>
        </p:nvSpPr>
        <p:spPr>
          <a:xfrm>
            <a:off x="502920" y="2084832"/>
            <a:ext cx="5440680" cy="4160520"/>
          </a:xfrm>
          <a:prstGeom prst="roundRect">
            <a:avLst>
              <a:gd name="adj" fmla="val 3077"/>
            </a:avLst>
          </a:prstGeom>
          <a:solidFill>
            <a:srgbClr val="0B132B"/>
          </a:solidFill>
          <a:ln w="9525">
            <a:solidFill>
              <a:srgbClr val="2A3B63"/>
            </a:solidFill>
            <a:prstDash val="solid"/>
          </a:ln>
          <a:effectLst>
            <a:outerShdw sx="100000" sy="100000" kx="0" ky="0" algn="bl" rotWithShape="0" blurRad="127000" dist="38100" dir="5400000">
              <a:srgbClr val="1A2138">
                <a:alpha val="28000"/>
              </a:srgbClr>
            </a:outerShdw>
          </a:effectLst>
        </p:spPr>
      </p:sp>
      <p:sp>
        <p:nvSpPr>
          <p:cNvPr id="9" name="Text 7"/>
          <p:cNvSpPr/>
          <p:nvPr/>
        </p:nvSpPr>
        <p:spPr>
          <a:xfrm>
            <a:off x="758952" y="2267712"/>
            <a:ext cx="4928616" cy="256032"/>
          </a:xfrm>
          <a:prstGeom prst="rect">
            <a:avLst/>
          </a:prstGeom>
          <a:noFill/>
          <a:ln/>
        </p:spPr>
        <p:txBody>
          <a:bodyPr wrap="square" rtlCol="0" anchor="t"/>
          <a:lstStyle/>
          <a:p>
            <a:pPr indent="0" marL="0">
              <a:lnSpc>
                <a:spcPct val="110000"/>
              </a:lnSpc>
              <a:buNone/>
            </a:pPr>
            <a:r>
              <a:rPr lang="en-US" sz="1150" b="1" dirty="0">
                <a:solidFill>
                  <a:srgbClr val="F8F9FA"/>
                </a:solidFill>
                <a:latin typeface="Arial" pitchFamily="34" charset="0"/>
                <a:ea typeface="Arial" pitchFamily="34" charset="-122"/>
                <a:cs typeface="Arial" pitchFamily="34" charset="-120"/>
              </a:rPr>
              <a:t>MODEL 1 — THEORETICAL BULK MODULUS</a:t>
            </a:r>
            <a:endParaRPr lang="en-US" sz="1150" dirty="0"/>
          </a:p>
        </p:txBody>
      </p:sp>
      <p:sp>
        <p:nvSpPr>
          <p:cNvPr id="10" name="Text 8"/>
          <p:cNvSpPr/>
          <p:nvPr/>
        </p:nvSpPr>
        <p:spPr>
          <a:xfrm>
            <a:off x="758952" y="2523744"/>
            <a:ext cx="4928616" cy="219456"/>
          </a:xfrm>
          <a:prstGeom prst="rect">
            <a:avLst/>
          </a:prstGeom>
          <a:noFill/>
          <a:ln/>
        </p:spPr>
        <p:txBody>
          <a:bodyPr wrap="square" rtlCol="0" anchor="ctr"/>
          <a:lstStyle/>
          <a:p>
            <a:pPr indent="0" marL="0">
              <a:buNone/>
            </a:pPr>
            <a:r>
              <a:rPr lang="en-US" sz="1000" i="1" dirty="0">
                <a:solidFill>
                  <a:srgbClr val="AAB6CC"/>
                </a:solidFill>
                <a:latin typeface="Calibri" pitchFamily="34" charset="0"/>
                <a:ea typeface="Calibri" pitchFamily="34" charset="-122"/>
                <a:cs typeface="Calibri" pitchFamily="34" charset="-120"/>
              </a:rPr>
              <a:t>Random Forest</a:t>
            </a:r>
            <a:endParaRPr lang="en-US" sz="1000" dirty="0"/>
          </a:p>
        </p:txBody>
      </p:sp>
      <p:sp>
        <p:nvSpPr>
          <p:cNvPr id="11" name="Shape 9"/>
          <p:cNvSpPr/>
          <p:nvPr/>
        </p:nvSpPr>
        <p:spPr>
          <a:xfrm>
            <a:off x="758952" y="2798064"/>
            <a:ext cx="4928616" cy="713232"/>
          </a:xfrm>
          <a:prstGeom prst="roundRect">
            <a:avLst>
              <a:gd name="adj" fmla="val 17949"/>
            </a:avLst>
          </a:prstGeom>
          <a:solidFill>
            <a:srgbClr val="EEF1F5"/>
          </a:solidFill>
          <a:ln w="15875">
            <a:solidFill>
              <a:srgbClr val="0B132B"/>
            </a:solidFill>
            <a:prstDash val="dash"/>
          </a:ln>
        </p:spPr>
      </p:sp>
      <p:sp>
        <p:nvSpPr>
          <p:cNvPr id="12" name="Text 10"/>
          <p:cNvSpPr/>
          <p:nvPr/>
        </p:nvSpPr>
        <p:spPr>
          <a:xfrm>
            <a:off x="987552" y="2962656"/>
            <a:ext cx="4471416" cy="237744"/>
          </a:xfrm>
          <a:prstGeom prst="rect">
            <a:avLst/>
          </a:prstGeom>
          <a:noFill/>
          <a:ln/>
        </p:spPr>
        <p:txBody>
          <a:bodyPr wrap="square" rtlCol="0" anchor="ctr"/>
          <a:lstStyle/>
          <a:p>
            <a:pPr indent="0" marL="0">
              <a:buNone/>
            </a:pPr>
            <a:r>
              <a:rPr lang="en-US" sz="900" b="1" spc="180" kern="0" dirty="0">
                <a:solidFill>
                  <a:srgbClr val="7C879C"/>
                </a:solidFill>
                <a:latin typeface="Arial" pitchFamily="34" charset="0"/>
                <a:ea typeface="Arial" pitchFamily="34" charset="-122"/>
                <a:cs typeface="Arial" pitchFamily="34" charset="-120"/>
              </a:rPr>
              <a:t>VISUAL PLACEHOLDER</a:t>
            </a:r>
            <a:endParaRPr lang="en-US" sz="900" dirty="0"/>
          </a:p>
        </p:txBody>
      </p:sp>
      <p:sp>
        <p:nvSpPr>
          <p:cNvPr id="13" name="Text 11"/>
          <p:cNvSpPr/>
          <p:nvPr/>
        </p:nvSpPr>
        <p:spPr>
          <a:xfrm>
            <a:off x="1078992" y="3255264"/>
            <a:ext cx="4288536" cy="27432"/>
          </a:xfrm>
          <a:prstGeom prst="rect">
            <a:avLst/>
          </a:prstGeom>
          <a:noFill/>
          <a:ln/>
        </p:spPr>
        <p:txBody>
          <a:bodyPr wrap="square" rtlCol="0" anchor="ctr"/>
          <a:lstStyle/>
          <a:p>
            <a:pPr algn="ctr" indent="0" marL="0">
              <a:lnSpc>
                <a:spcPct val="125000"/>
              </a:lnSpc>
              <a:buNone/>
            </a:pPr>
            <a:r>
              <a:rPr lang="en-US" sz="1100" i="1" dirty="0">
                <a:solidFill>
                  <a:srgbClr val="7C879C"/>
                </a:solidFill>
                <a:latin typeface="Calibri" pitchFamily="34" charset="0"/>
                <a:ea typeface="Calibri" pitchFamily="34" charset="-122"/>
                <a:cs typeface="Calibri" pitchFamily="34" charset="-120"/>
              </a:rPr>
              <a:t>INSERT VISUALIZATION: neural network graphic — Random Forest architecture</a:t>
            </a:r>
            <a:endParaRPr lang="en-US" sz="1100" dirty="0"/>
          </a:p>
        </p:txBody>
      </p:sp>
      <p:sp>
        <p:nvSpPr>
          <p:cNvPr id="14" name="Shape 12"/>
          <p:cNvSpPr/>
          <p:nvPr/>
        </p:nvSpPr>
        <p:spPr>
          <a:xfrm>
            <a:off x="758952" y="3621024"/>
            <a:ext cx="2391156" cy="868680"/>
          </a:xfrm>
          <a:prstGeom prst="roundRect">
            <a:avLst>
              <a:gd name="adj" fmla="val 14737"/>
            </a:avLst>
          </a:prstGeom>
          <a:solidFill>
            <a:srgbClr val="162447"/>
          </a:solidFill>
          <a:ln w="9525">
            <a:solidFill>
              <a:srgbClr val="4FD1C5"/>
            </a:solidFill>
            <a:prstDash val="solid"/>
          </a:ln>
        </p:spPr>
      </p:sp>
      <p:sp>
        <p:nvSpPr>
          <p:cNvPr id="15" name="Text 13"/>
          <p:cNvSpPr/>
          <p:nvPr/>
        </p:nvSpPr>
        <p:spPr>
          <a:xfrm>
            <a:off x="758952" y="3694176"/>
            <a:ext cx="2391156" cy="502920"/>
          </a:xfrm>
          <a:prstGeom prst="rect">
            <a:avLst/>
          </a:prstGeom>
          <a:noFill/>
          <a:ln/>
        </p:spPr>
        <p:txBody>
          <a:bodyPr wrap="square" rtlCol="0" anchor="ctr"/>
          <a:lstStyle/>
          <a:p>
            <a:pPr algn="ctr" indent="0" marL="0">
              <a:buNone/>
            </a:pPr>
            <a:r>
              <a:rPr lang="en-US" sz="2700" b="1" dirty="0">
                <a:solidFill>
                  <a:srgbClr val="4FD1C5"/>
                </a:solidFill>
                <a:latin typeface="Arial" pitchFamily="34" charset="0"/>
                <a:ea typeface="Arial" pitchFamily="34" charset="-122"/>
                <a:cs typeface="Arial" pitchFamily="34" charset="-120"/>
              </a:rPr>
              <a:t>0.977</a:t>
            </a:r>
            <a:endParaRPr lang="en-US" sz="2700" dirty="0"/>
          </a:p>
        </p:txBody>
      </p:sp>
      <p:sp>
        <p:nvSpPr>
          <p:cNvPr id="16" name="Text 14"/>
          <p:cNvSpPr/>
          <p:nvPr/>
        </p:nvSpPr>
        <p:spPr>
          <a:xfrm>
            <a:off x="758952" y="4197096"/>
            <a:ext cx="2391156" cy="228600"/>
          </a:xfrm>
          <a:prstGeom prst="rect">
            <a:avLst/>
          </a:prstGeom>
          <a:noFill/>
          <a:ln/>
        </p:spPr>
        <p:txBody>
          <a:bodyPr wrap="square" rtlCol="0" anchor="ctr"/>
          <a:lstStyle/>
          <a:p>
            <a:pPr algn="ctr" indent="0" marL="0">
              <a:buNone/>
            </a:pPr>
            <a:r>
              <a:rPr lang="en-US" sz="850" spc="40" kern="0" dirty="0">
                <a:solidFill>
                  <a:srgbClr val="AAB6CC"/>
                </a:solidFill>
                <a:latin typeface="Calibri" pitchFamily="34" charset="0"/>
                <a:ea typeface="Calibri" pitchFamily="34" charset="-122"/>
                <a:cs typeface="Calibri" pitchFamily="34" charset="-120"/>
              </a:rPr>
              <a:t>AUDITED TEST R²</a:t>
            </a:r>
            <a:endParaRPr lang="en-US" sz="850" dirty="0"/>
          </a:p>
        </p:txBody>
      </p:sp>
      <p:sp>
        <p:nvSpPr>
          <p:cNvPr id="17" name="Shape 15"/>
          <p:cNvSpPr/>
          <p:nvPr/>
        </p:nvSpPr>
        <p:spPr>
          <a:xfrm>
            <a:off x="3296412" y="3621024"/>
            <a:ext cx="2391156" cy="868680"/>
          </a:xfrm>
          <a:prstGeom prst="roundRect">
            <a:avLst>
              <a:gd name="adj" fmla="val 14737"/>
            </a:avLst>
          </a:prstGeom>
          <a:solidFill>
            <a:srgbClr val="162447"/>
          </a:solidFill>
          <a:ln w="9525">
            <a:solidFill>
              <a:srgbClr val="2A3B63"/>
            </a:solidFill>
            <a:prstDash val="solid"/>
          </a:ln>
        </p:spPr>
      </p:sp>
      <p:sp>
        <p:nvSpPr>
          <p:cNvPr id="18" name="Text 16"/>
          <p:cNvSpPr/>
          <p:nvPr/>
        </p:nvSpPr>
        <p:spPr>
          <a:xfrm>
            <a:off x="3296412" y="3694176"/>
            <a:ext cx="2391156" cy="502920"/>
          </a:xfrm>
          <a:prstGeom prst="rect">
            <a:avLst/>
          </a:prstGeom>
          <a:noFill/>
          <a:ln/>
        </p:spPr>
        <p:txBody>
          <a:bodyPr wrap="square" rtlCol="0" anchor="ctr"/>
          <a:lstStyle/>
          <a:p>
            <a:pPr algn="ctr" indent="0" marL="0">
              <a:buNone/>
            </a:pPr>
            <a:r>
              <a:rPr lang="en-US" sz="2200" b="1" dirty="0">
                <a:solidFill>
                  <a:srgbClr val="F8F9FA"/>
                </a:solidFill>
                <a:latin typeface="Arial" pitchFamily="34" charset="0"/>
                <a:ea typeface="Arial" pitchFamily="34" charset="-122"/>
                <a:cs typeface="Arial" pitchFamily="34" charset="-120"/>
              </a:rPr>
              <a:t>8.11 GPa</a:t>
            </a:r>
            <a:endParaRPr lang="en-US" sz="2200" dirty="0"/>
          </a:p>
        </p:txBody>
      </p:sp>
      <p:sp>
        <p:nvSpPr>
          <p:cNvPr id="19" name="Text 17"/>
          <p:cNvSpPr/>
          <p:nvPr/>
        </p:nvSpPr>
        <p:spPr>
          <a:xfrm>
            <a:off x="3296412" y="4197096"/>
            <a:ext cx="2391156" cy="228600"/>
          </a:xfrm>
          <a:prstGeom prst="rect">
            <a:avLst/>
          </a:prstGeom>
          <a:noFill/>
          <a:ln/>
        </p:spPr>
        <p:txBody>
          <a:bodyPr wrap="square" rtlCol="0" anchor="ctr"/>
          <a:lstStyle/>
          <a:p>
            <a:pPr algn="ctr" indent="0" marL="0">
              <a:buNone/>
            </a:pPr>
            <a:r>
              <a:rPr lang="en-US" sz="850" spc="40" kern="0" dirty="0">
                <a:solidFill>
                  <a:srgbClr val="AAB6CC"/>
                </a:solidFill>
                <a:latin typeface="Calibri" pitchFamily="34" charset="0"/>
                <a:ea typeface="Calibri" pitchFamily="34" charset="-122"/>
                <a:cs typeface="Calibri" pitchFamily="34" charset="-120"/>
              </a:rPr>
              <a:t>MEAN ABSOLUTE ERROR</a:t>
            </a:r>
            <a:endParaRPr lang="en-US" sz="850" dirty="0"/>
          </a:p>
        </p:txBody>
      </p:sp>
      <p:sp>
        <p:nvSpPr>
          <p:cNvPr id="20" name="Text 18"/>
          <p:cNvSpPr/>
          <p:nvPr/>
        </p:nvSpPr>
        <p:spPr>
          <a:xfrm>
            <a:off x="758952" y="4626864"/>
            <a:ext cx="4928616" cy="868680"/>
          </a:xfrm>
          <a:prstGeom prst="rect">
            <a:avLst/>
          </a:prstGeom>
          <a:noFill/>
          <a:ln/>
        </p:spPr>
        <p:txBody>
          <a:bodyPr wrap="square" rtlCol="0" anchor="t"/>
          <a:lstStyle/>
          <a:p>
            <a:pPr algn="l" indent="0" marL="0">
              <a:lnSpc>
                <a:spcPct val="124000"/>
              </a:lnSpc>
              <a:buNone/>
            </a:pPr>
            <a:r>
              <a:rPr lang="en-US" sz="1030" b="1" dirty="0">
                <a:solidFill>
                  <a:srgbClr val="4FD1C5"/>
                </a:solidFill>
                <a:latin typeface="Calibri" pitchFamily="34" charset="0"/>
                <a:ea typeface="Calibri" pitchFamily="34" charset="-122"/>
                <a:cs typeface="Calibri" pitchFamily="34" charset="-120"/>
              </a:rPr>
              <a:t>Architecture &amp; Features:</a:t>
            </a:r>
            <a:pPr algn="l" indent="0" marL="0">
              <a:lnSpc>
                <a:spcPct val="124000"/>
              </a:lnSpc>
              <a:buNone/>
            </a:pPr>
            <a:r>
              <a:rPr lang="en-US" sz="1030" dirty="0">
                <a:solidFill>
                  <a:srgbClr val="AAB6CC"/>
                </a:solidFill>
                <a:latin typeface="Calibri" pitchFamily="34" charset="0"/>
                <a:ea typeface="Calibri" pitchFamily="34" charset="-122"/>
                <a:cs typeface="Calibri" pitchFamily="34" charset="-120"/>
              </a:rPr>
              <a:t> 100 Estimators predicting across atomic radius (r), electronegativity (X), VEC, melting temp (Tm), and mass standard deviations.</a:t>
            </a:r>
            <a:endParaRPr lang="en-US" sz="1030" dirty="0"/>
          </a:p>
        </p:txBody>
      </p:sp>
      <p:sp>
        <p:nvSpPr>
          <p:cNvPr id="21" name="Shape 19"/>
          <p:cNvSpPr/>
          <p:nvPr/>
        </p:nvSpPr>
        <p:spPr>
          <a:xfrm>
            <a:off x="6245352" y="2084832"/>
            <a:ext cx="5440680" cy="4160520"/>
          </a:xfrm>
          <a:prstGeom prst="roundRect">
            <a:avLst>
              <a:gd name="adj" fmla="val 3077"/>
            </a:avLst>
          </a:prstGeom>
          <a:solidFill>
            <a:srgbClr val="0B132B"/>
          </a:solidFill>
          <a:ln w="9525">
            <a:solidFill>
              <a:srgbClr val="2A3B63"/>
            </a:solidFill>
            <a:prstDash val="solid"/>
          </a:ln>
          <a:effectLst>
            <a:outerShdw sx="100000" sy="100000" kx="0" ky="0" algn="bl" rotWithShape="0" blurRad="127000" dist="38100" dir="5400000">
              <a:srgbClr val="1A2138">
                <a:alpha val="28000"/>
              </a:srgbClr>
            </a:outerShdw>
          </a:effectLst>
        </p:spPr>
      </p:sp>
      <p:sp>
        <p:nvSpPr>
          <p:cNvPr id="22" name="Text 20"/>
          <p:cNvSpPr/>
          <p:nvPr/>
        </p:nvSpPr>
        <p:spPr>
          <a:xfrm>
            <a:off x="6501384" y="2267712"/>
            <a:ext cx="4928616" cy="256032"/>
          </a:xfrm>
          <a:prstGeom prst="rect">
            <a:avLst/>
          </a:prstGeom>
          <a:noFill/>
          <a:ln/>
        </p:spPr>
        <p:txBody>
          <a:bodyPr wrap="square" rtlCol="0" anchor="t"/>
          <a:lstStyle/>
          <a:p>
            <a:pPr indent="0" marL="0">
              <a:lnSpc>
                <a:spcPct val="110000"/>
              </a:lnSpc>
              <a:buNone/>
            </a:pPr>
            <a:r>
              <a:rPr lang="en-US" sz="1150" b="1" dirty="0">
                <a:solidFill>
                  <a:srgbClr val="F8F9FA"/>
                </a:solidFill>
                <a:latin typeface="Arial" pitchFamily="34" charset="0"/>
                <a:ea typeface="Arial" pitchFamily="34" charset="-122"/>
                <a:cs typeface="Arial" pitchFamily="34" charset="-120"/>
              </a:rPr>
              <a:t>MODEL 2 — EXPERIMENTAL YIELD STRENGTH</a:t>
            </a:r>
            <a:endParaRPr lang="en-US" sz="1150" dirty="0"/>
          </a:p>
        </p:txBody>
      </p:sp>
      <p:sp>
        <p:nvSpPr>
          <p:cNvPr id="23" name="Text 21"/>
          <p:cNvSpPr/>
          <p:nvPr/>
        </p:nvSpPr>
        <p:spPr>
          <a:xfrm>
            <a:off x="6501384" y="2523744"/>
            <a:ext cx="4928616" cy="219456"/>
          </a:xfrm>
          <a:prstGeom prst="rect">
            <a:avLst/>
          </a:prstGeom>
          <a:noFill/>
          <a:ln/>
        </p:spPr>
        <p:txBody>
          <a:bodyPr wrap="square" rtlCol="0" anchor="ctr"/>
          <a:lstStyle/>
          <a:p>
            <a:pPr indent="0" marL="0">
              <a:buNone/>
            </a:pPr>
            <a:r>
              <a:rPr lang="en-US" sz="1000" i="1" dirty="0">
                <a:solidFill>
                  <a:srgbClr val="AAB6CC"/>
                </a:solidFill>
                <a:latin typeface="Calibri" pitchFamily="34" charset="0"/>
                <a:ea typeface="Calibri" pitchFamily="34" charset="-122"/>
                <a:cs typeface="Calibri" pitchFamily="34" charset="-120"/>
              </a:rPr>
              <a:t>Gradient Boosting</a:t>
            </a:r>
            <a:endParaRPr lang="en-US" sz="1000" dirty="0"/>
          </a:p>
        </p:txBody>
      </p:sp>
      <p:sp>
        <p:nvSpPr>
          <p:cNvPr id="24" name="Shape 22"/>
          <p:cNvSpPr/>
          <p:nvPr/>
        </p:nvSpPr>
        <p:spPr>
          <a:xfrm>
            <a:off x="6501384" y="2798064"/>
            <a:ext cx="4928616" cy="713232"/>
          </a:xfrm>
          <a:prstGeom prst="roundRect">
            <a:avLst>
              <a:gd name="adj" fmla="val 17949"/>
            </a:avLst>
          </a:prstGeom>
          <a:solidFill>
            <a:srgbClr val="EEF1F5"/>
          </a:solidFill>
          <a:ln w="15875">
            <a:solidFill>
              <a:srgbClr val="0B132B"/>
            </a:solidFill>
            <a:prstDash val="dash"/>
          </a:ln>
        </p:spPr>
      </p:sp>
      <p:sp>
        <p:nvSpPr>
          <p:cNvPr id="25" name="Text 23"/>
          <p:cNvSpPr/>
          <p:nvPr/>
        </p:nvSpPr>
        <p:spPr>
          <a:xfrm>
            <a:off x="6729984" y="2962656"/>
            <a:ext cx="4471416" cy="237744"/>
          </a:xfrm>
          <a:prstGeom prst="rect">
            <a:avLst/>
          </a:prstGeom>
          <a:noFill/>
          <a:ln/>
        </p:spPr>
        <p:txBody>
          <a:bodyPr wrap="square" rtlCol="0" anchor="ctr"/>
          <a:lstStyle/>
          <a:p>
            <a:pPr indent="0" marL="0">
              <a:buNone/>
            </a:pPr>
            <a:r>
              <a:rPr lang="en-US" sz="900" b="1" spc="180" kern="0" dirty="0">
                <a:solidFill>
                  <a:srgbClr val="7C879C"/>
                </a:solidFill>
                <a:latin typeface="Arial" pitchFamily="34" charset="0"/>
                <a:ea typeface="Arial" pitchFamily="34" charset="-122"/>
                <a:cs typeface="Arial" pitchFamily="34" charset="-120"/>
              </a:rPr>
              <a:t>VISUAL PLACEHOLDER</a:t>
            </a:r>
            <a:endParaRPr lang="en-US" sz="900" dirty="0"/>
          </a:p>
        </p:txBody>
      </p:sp>
      <p:sp>
        <p:nvSpPr>
          <p:cNvPr id="26" name="Text 24"/>
          <p:cNvSpPr/>
          <p:nvPr/>
        </p:nvSpPr>
        <p:spPr>
          <a:xfrm>
            <a:off x="6821424" y="3255264"/>
            <a:ext cx="4288536" cy="27432"/>
          </a:xfrm>
          <a:prstGeom prst="rect">
            <a:avLst/>
          </a:prstGeom>
          <a:noFill/>
          <a:ln/>
        </p:spPr>
        <p:txBody>
          <a:bodyPr wrap="square" rtlCol="0" anchor="ctr"/>
          <a:lstStyle/>
          <a:p>
            <a:pPr algn="ctr" indent="0" marL="0">
              <a:lnSpc>
                <a:spcPct val="125000"/>
              </a:lnSpc>
              <a:buNone/>
            </a:pPr>
            <a:r>
              <a:rPr lang="en-US" sz="1100" i="1" dirty="0">
                <a:solidFill>
                  <a:srgbClr val="7C879C"/>
                </a:solidFill>
                <a:latin typeface="Calibri" pitchFamily="34" charset="0"/>
                <a:ea typeface="Calibri" pitchFamily="34" charset="-122"/>
                <a:cs typeface="Calibri" pitchFamily="34" charset="-120"/>
              </a:rPr>
              <a:t>INSERT VISUALIZATION: thermal performance curve — Gradient Boosting yield-strength prediction dipping near 1400°C</a:t>
            </a:r>
            <a:endParaRPr lang="en-US" sz="1100" dirty="0"/>
          </a:p>
        </p:txBody>
      </p:sp>
      <p:sp>
        <p:nvSpPr>
          <p:cNvPr id="27" name="Shape 25"/>
          <p:cNvSpPr/>
          <p:nvPr/>
        </p:nvSpPr>
        <p:spPr>
          <a:xfrm>
            <a:off x="6501384" y="3621024"/>
            <a:ext cx="2391156" cy="868680"/>
          </a:xfrm>
          <a:prstGeom prst="roundRect">
            <a:avLst>
              <a:gd name="adj" fmla="val 14737"/>
            </a:avLst>
          </a:prstGeom>
          <a:solidFill>
            <a:srgbClr val="162447"/>
          </a:solidFill>
          <a:ln w="9525">
            <a:solidFill>
              <a:srgbClr val="FBBF24"/>
            </a:solidFill>
            <a:prstDash val="solid"/>
          </a:ln>
        </p:spPr>
      </p:sp>
      <p:sp>
        <p:nvSpPr>
          <p:cNvPr id="28" name="Text 26"/>
          <p:cNvSpPr/>
          <p:nvPr/>
        </p:nvSpPr>
        <p:spPr>
          <a:xfrm>
            <a:off x="6501384" y="3694176"/>
            <a:ext cx="2391156" cy="502920"/>
          </a:xfrm>
          <a:prstGeom prst="rect">
            <a:avLst/>
          </a:prstGeom>
          <a:noFill/>
          <a:ln/>
        </p:spPr>
        <p:txBody>
          <a:bodyPr wrap="square" rtlCol="0" anchor="ctr"/>
          <a:lstStyle/>
          <a:p>
            <a:pPr algn="ctr" indent="0" marL="0">
              <a:buNone/>
            </a:pPr>
            <a:r>
              <a:rPr lang="en-US" sz="2700" b="1" dirty="0">
                <a:solidFill>
                  <a:srgbClr val="FBBF24"/>
                </a:solidFill>
                <a:latin typeface="Arial" pitchFamily="34" charset="0"/>
                <a:ea typeface="Arial" pitchFamily="34" charset="-122"/>
                <a:cs typeface="Arial" pitchFamily="34" charset="-120"/>
              </a:rPr>
              <a:t>0.45×</a:t>
            </a:r>
            <a:endParaRPr lang="en-US" sz="2700" dirty="0"/>
          </a:p>
        </p:txBody>
      </p:sp>
      <p:sp>
        <p:nvSpPr>
          <p:cNvPr id="29" name="Text 27"/>
          <p:cNvSpPr/>
          <p:nvPr/>
        </p:nvSpPr>
        <p:spPr>
          <a:xfrm>
            <a:off x="6501384" y="4197096"/>
            <a:ext cx="2391156" cy="228600"/>
          </a:xfrm>
          <a:prstGeom prst="rect">
            <a:avLst/>
          </a:prstGeom>
          <a:noFill/>
          <a:ln/>
        </p:spPr>
        <p:txBody>
          <a:bodyPr wrap="square" rtlCol="0" anchor="ctr"/>
          <a:lstStyle/>
          <a:p>
            <a:pPr algn="ctr" indent="0" marL="0">
              <a:buNone/>
            </a:pPr>
            <a:r>
              <a:rPr lang="en-US" sz="800" spc="30" kern="0" dirty="0">
                <a:solidFill>
                  <a:srgbClr val="AAB6CC"/>
                </a:solidFill>
                <a:latin typeface="Calibri" pitchFamily="34" charset="0"/>
                <a:ea typeface="Calibri" pitchFamily="34" charset="-122"/>
                <a:cs typeface="Calibri" pitchFamily="34" charset="-120"/>
              </a:rPr>
              <a:t>THERMAL KNOCKDOWN FACTOR</a:t>
            </a:r>
            <a:endParaRPr lang="en-US" sz="800" dirty="0"/>
          </a:p>
        </p:txBody>
      </p:sp>
      <p:sp>
        <p:nvSpPr>
          <p:cNvPr id="30" name="Shape 28"/>
          <p:cNvSpPr/>
          <p:nvPr/>
        </p:nvSpPr>
        <p:spPr>
          <a:xfrm>
            <a:off x="9038844" y="3621024"/>
            <a:ext cx="2391156" cy="868680"/>
          </a:xfrm>
          <a:prstGeom prst="roundRect">
            <a:avLst>
              <a:gd name="adj" fmla="val 14737"/>
            </a:avLst>
          </a:prstGeom>
          <a:solidFill>
            <a:srgbClr val="162447"/>
          </a:solidFill>
          <a:ln w="9525">
            <a:solidFill>
              <a:srgbClr val="2A3B63"/>
            </a:solidFill>
            <a:prstDash val="solid"/>
          </a:ln>
        </p:spPr>
      </p:sp>
      <p:sp>
        <p:nvSpPr>
          <p:cNvPr id="31" name="Text 29"/>
          <p:cNvSpPr/>
          <p:nvPr/>
        </p:nvSpPr>
        <p:spPr>
          <a:xfrm>
            <a:off x="9038844" y="3694176"/>
            <a:ext cx="2391156" cy="502920"/>
          </a:xfrm>
          <a:prstGeom prst="rect">
            <a:avLst/>
          </a:prstGeom>
          <a:noFill/>
          <a:ln/>
        </p:spPr>
        <p:txBody>
          <a:bodyPr wrap="square" rtlCol="0" anchor="ctr"/>
          <a:lstStyle/>
          <a:p>
            <a:pPr algn="ctr" indent="0" marL="0">
              <a:buNone/>
            </a:pPr>
            <a:r>
              <a:rPr lang="en-US" sz="2200" b="1" dirty="0">
                <a:solidFill>
                  <a:srgbClr val="F8F9FA"/>
                </a:solidFill>
                <a:latin typeface="Arial" pitchFamily="34" charset="0"/>
                <a:ea typeface="Arial" pitchFamily="34" charset="-122"/>
                <a:cs typeface="Arial" pitchFamily="34" charset="-120"/>
              </a:rPr>
              <a:t>~1200°C</a:t>
            </a:r>
            <a:endParaRPr lang="en-US" sz="2200" dirty="0"/>
          </a:p>
        </p:txBody>
      </p:sp>
      <p:sp>
        <p:nvSpPr>
          <p:cNvPr id="32" name="Text 30"/>
          <p:cNvSpPr/>
          <p:nvPr/>
        </p:nvSpPr>
        <p:spPr>
          <a:xfrm>
            <a:off x="9038844" y="4197096"/>
            <a:ext cx="2391156" cy="228600"/>
          </a:xfrm>
          <a:prstGeom prst="rect">
            <a:avLst/>
          </a:prstGeom>
          <a:noFill/>
          <a:ln/>
        </p:spPr>
        <p:txBody>
          <a:bodyPr wrap="square" rtlCol="0" anchor="ctr"/>
          <a:lstStyle/>
          <a:p>
            <a:pPr algn="ctr" indent="0" marL="0">
              <a:buNone/>
            </a:pPr>
            <a:r>
              <a:rPr lang="en-US" sz="800" spc="30" kern="0" dirty="0">
                <a:solidFill>
                  <a:srgbClr val="AAB6CC"/>
                </a:solidFill>
                <a:latin typeface="Calibri" pitchFamily="34" charset="0"/>
                <a:ea typeface="Calibri" pitchFamily="34" charset="-122"/>
                <a:cs typeface="Calibri" pitchFamily="34" charset="-120"/>
              </a:rPr>
              <a:t>FORGING DIE OPERATING TEMP</a:t>
            </a:r>
            <a:endParaRPr lang="en-US" sz="800" dirty="0"/>
          </a:p>
        </p:txBody>
      </p:sp>
      <p:sp>
        <p:nvSpPr>
          <p:cNvPr id="33" name="Text 31"/>
          <p:cNvSpPr/>
          <p:nvPr/>
        </p:nvSpPr>
        <p:spPr>
          <a:xfrm>
            <a:off x="6501384" y="4626864"/>
            <a:ext cx="4928616" cy="868680"/>
          </a:xfrm>
          <a:prstGeom prst="rect">
            <a:avLst/>
          </a:prstGeom>
          <a:noFill/>
          <a:ln/>
        </p:spPr>
        <p:txBody>
          <a:bodyPr wrap="square" rtlCol="0" anchor="t"/>
          <a:lstStyle/>
          <a:p>
            <a:pPr algn="l" indent="0" marL="0">
              <a:lnSpc>
                <a:spcPct val="124000"/>
              </a:lnSpc>
              <a:buNone/>
            </a:pPr>
            <a:r>
              <a:rPr lang="en-US" sz="960" b="1" dirty="0">
                <a:solidFill>
                  <a:srgbClr val="4FD1C5"/>
                </a:solidFill>
                <a:latin typeface="Calibri" pitchFamily="34" charset="0"/>
                <a:ea typeface="Calibri" pitchFamily="34" charset="-122"/>
                <a:cs typeface="Calibri" pitchFamily="34" charset="-120"/>
              </a:rPr>
              <a:t>Transfer Learning:</a:t>
            </a:r>
            <a:pPr algn="l" indent="0" marL="0">
              <a:lnSpc>
                <a:spcPct val="124000"/>
              </a:lnSpc>
              <a:buNone/>
            </a:pPr>
            <a:r>
              <a:rPr lang="en-US" sz="960" dirty="0">
                <a:solidFill>
                  <a:srgbClr val="AAB6CC"/>
                </a:solidFill>
                <a:latin typeface="Calibri" pitchFamily="34" charset="0"/>
                <a:ea typeface="Calibri" pitchFamily="34" charset="-122"/>
                <a:cs typeface="Calibri" pitchFamily="34" charset="-120"/>
              </a:rPr>
              <a:t> Trained on an experimental MPEA dataset, weighting exact 5-element target alloys (</a:t>
            </a:r>
            <a:pPr algn="l" indent="0" marL="0">
              <a:lnSpc>
                <a:spcPct val="124000"/>
              </a:lnSpc>
              <a:buNone/>
            </a:pPr>
            <a:r>
              <a:rPr lang="en-US" sz="960" b="1" dirty="0">
                <a:solidFill>
                  <a:srgbClr val="4FD1C5"/>
                </a:solidFill>
                <a:latin typeface="Calibri" pitchFamily="34" charset="0"/>
                <a:ea typeface="Calibri" pitchFamily="34" charset="-122"/>
                <a:cs typeface="Calibri" pitchFamily="34" charset="-120"/>
              </a:rPr>
              <a:t>Weight=10</a:t>
            </a:r>
            <a:pPr algn="l" indent="0" marL="0">
              <a:lnSpc>
                <a:spcPct val="124000"/>
              </a:lnSpc>
              <a:buNone/>
            </a:pPr>
            <a:r>
              <a:rPr lang="en-US" sz="960" dirty="0">
                <a:solidFill>
                  <a:srgbClr val="AAB6CC"/>
                </a:solidFill>
                <a:latin typeface="Calibri" pitchFamily="34" charset="0"/>
                <a:ea typeface="Calibri" pitchFamily="34" charset="-122"/>
                <a:cs typeface="Calibri" pitchFamily="34" charset="-120"/>
              </a:rPr>
              <a:t>) vs. broader refractory alloys (</a:t>
            </a:r>
            <a:pPr algn="l" indent="0" marL="0">
              <a:lnSpc>
                <a:spcPct val="124000"/>
              </a:lnSpc>
              <a:buNone/>
            </a:pPr>
            <a:r>
              <a:rPr lang="en-US" sz="960" b="1" dirty="0">
                <a:solidFill>
                  <a:srgbClr val="4FD1C5"/>
                </a:solidFill>
                <a:latin typeface="Calibri" pitchFamily="34" charset="0"/>
                <a:ea typeface="Calibri" pitchFamily="34" charset="-122"/>
                <a:cs typeface="Calibri" pitchFamily="34" charset="-120"/>
              </a:rPr>
              <a:t>Weight=1</a:t>
            </a:r>
            <a:pPr algn="l" indent="0" marL="0">
              <a:lnSpc>
                <a:spcPct val="124000"/>
              </a:lnSpc>
              <a:buNone/>
            </a:pPr>
            <a:r>
              <a:rPr lang="en-US" sz="960" dirty="0">
                <a:solidFill>
                  <a:srgbClr val="AAB6CC"/>
                </a:solidFill>
                <a:latin typeface="Calibri" pitchFamily="34" charset="0"/>
                <a:ea typeface="Calibri" pitchFamily="34" charset="-122"/>
                <a:cs typeface="Calibri" pitchFamily="34" charset="-120"/>
              </a:rPr>
              <a:t>). </a:t>
            </a:r>
            <a:pPr algn="l" indent="0" marL="0">
              <a:lnSpc>
                <a:spcPct val="124000"/>
              </a:lnSpc>
              <a:buNone/>
            </a:pPr>
            <a:r>
              <a:rPr lang="en-US" sz="960" b="1" dirty="0">
                <a:solidFill>
                  <a:srgbClr val="4FD1C5"/>
                </a:solidFill>
                <a:latin typeface="Calibri" pitchFamily="34" charset="0"/>
                <a:ea typeface="Calibri" pitchFamily="34" charset="-122"/>
                <a:cs typeface="Calibri" pitchFamily="34" charset="-120"/>
              </a:rPr>
              <a:t>Knockdown Penalty:</a:t>
            </a:r>
            <a:pPr algn="l" indent="0" marL="0">
              <a:lnSpc>
                <a:spcPct val="124000"/>
              </a:lnSpc>
              <a:buNone/>
            </a:pPr>
            <a:r>
              <a:rPr lang="en-US" sz="960" dirty="0">
                <a:solidFill>
                  <a:srgbClr val="AAB6CC"/>
                </a:solidFill>
                <a:latin typeface="Calibri" pitchFamily="34" charset="0"/>
                <a:ea typeface="Calibri" pitchFamily="34" charset="-122"/>
                <a:cs typeface="Calibri" pitchFamily="34" charset="-120"/>
              </a:rPr>
              <a:t> near 1200°C, the alloy retains only </a:t>
            </a:r>
            <a:pPr algn="l" indent="0" marL="0">
              <a:lnSpc>
                <a:spcPct val="124000"/>
              </a:lnSpc>
              <a:buNone/>
            </a:pPr>
            <a:r>
              <a:rPr lang="en-US" sz="960" b="1" dirty="0">
                <a:solidFill>
                  <a:srgbClr val="4FD1C5"/>
                </a:solidFill>
                <a:latin typeface="Calibri" pitchFamily="34" charset="0"/>
                <a:ea typeface="Calibri" pitchFamily="34" charset="-122"/>
                <a:cs typeface="Calibri" pitchFamily="34" charset="-120"/>
              </a:rPr>
              <a:t>45%</a:t>
            </a:r>
            <a:pPr algn="l" indent="0" marL="0">
              <a:lnSpc>
                <a:spcPct val="124000"/>
              </a:lnSpc>
              <a:buNone/>
            </a:pPr>
            <a:r>
              <a:rPr lang="en-US" sz="960" dirty="0">
                <a:solidFill>
                  <a:srgbClr val="AAB6CC"/>
                </a:solidFill>
                <a:latin typeface="Calibri" pitchFamily="34" charset="0"/>
                <a:ea typeface="Calibri" pitchFamily="34" charset="-122"/>
                <a:cs typeface="Calibri" pitchFamily="34" charset="-120"/>
              </a:rPr>
              <a:t> of Room Temperature yield strength.</a:t>
            </a:r>
            <a:endParaRPr lang="en-US" sz="96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9125712" y="274320"/>
            <a:ext cx="2560320" cy="219456"/>
          </a:xfrm>
          <a:prstGeom prst="rect">
            <a:avLst/>
          </a:prstGeom>
          <a:noFill/>
          <a:ln/>
        </p:spPr>
        <p:txBody>
          <a:bodyPr wrap="square" rtlCol="0" anchor="ctr"/>
          <a:lstStyle/>
          <a:p>
            <a:pPr algn="r" indent="0" marL="0">
              <a:buNone/>
            </a:pPr>
            <a:r>
              <a:rPr lang="en-US" sz="950" b="1" spc="140" kern="0" dirty="0">
                <a:solidFill>
                  <a:srgbClr val="0B132B"/>
                </a:solidFill>
                <a:latin typeface="Arial" pitchFamily="34" charset="0"/>
                <a:ea typeface="Arial" pitchFamily="34" charset="-122"/>
                <a:cs typeface="Arial" pitchFamily="34" charset="-120"/>
              </a:rPr>
              <a:t>CRYSTAL </a:t>
            </a:r>
            <a:pPr algn="r" indent="0" marL="0">
              <a:buNone/>
            </a:pPr>
            <a:r>
              <a:rPr lang="en-US" sz="950" b="1" spc="140" kern="0" dirty="0">
                <a:solidFill>
                  <a:srgbClr val="0E7C86"/>
                </a:solidFill>
                <a:latin typeface="Arial" pitchFamily="34" charset="0"/>
                <a:ea typeface="Arial" pitchFamily="34" charset="-122"/>
                <a:cs typeface="Arial" pitchFamily="34" charset="-120"/>
              </a:rPr>
              <a:t>PARADIGM</a:t>
            </a:r>
            <a:endParaRPr lang="en-US" sz="950" dirty="0"/>
          </a:p>
        </p:txBody>
      </p:sp>
      <p:sp>
        <p:nvSpPr>
          <p:cNvPr id="3" name="Text 1"/>
          <p:cNvSpPr/>
          <p:nvPr/>
        </p:nvSpPr>
        <p:spPr>
          <a:xfrm>
            <a:off x="11384280" y="6510528"/>
            <a:ext cx="594360" cy="256032"/>
          </a:xfrm>
          <a:prstGeom prst="rect">
            <a:avLst/>
          </a:prstGeom>
          <a:noFill/>
          <a:ln/>
        </p:spPr>
        <p:txBody>
          <a:bodyPr wrap="square" rtlCol="0" anchor="ctr"/>
          <a:lstStyle/>
          <a:p>
            <a:pPr algn="r" indent="0" marL="0">
              <a:buNone/>
            </a:pPr>
            <a:r>
              <a:rPr lang="en-US" sz="850" dirty="0">
                <a:solidFill>
                  <a:srgbClr val="5B6B8C"/>
                </a:solidFill>
                <a:latin typeface="Calibri" pitchFamily="34" charset="0"/>
                <a:ea typeface="Calibri" pitchFamily="34" charset="-122"/>
                <a:cs typeface="Calibri" pitchFamily="34" charset="-120"/>
              </a:rPr>
              <a:t>7 / 18</a:t>
            </a:r>
            <a:endParaRPr lang="en-US" sz="850" dirty="0"/>
          </a:p>
        </p:txBody>
      </p:sp>
      <p:sp>
        <p:nvSpPr>
          <p:cNvPr id="4" name="Text 2"/>
          <p:cNvSpPr/>
          <p:nvPr/>
        </p:nvSpPr>
        <p:spPr>
          <a:xfrm>
            <a:off x="502920" y="384048"/>
            <a:ext cx="5486400" cy="274320"/>
          </a:xfrm>
          <a:prstGeom prst="rect">
            <a:avLst/>
          </a:prstGeom>
          <a:noFill/>
          <a:ln/>
        </p:spPr>
        <p:txBody>
          <a:bodyPr wrap="square" rtlCol="0" anchor="ctr"/>
          <a:lstStyle/>
          <a:p>
            <a:pPr algn="l" indent="0" marL="0">
              <a:buNone/>
            </a:pPr>
            <a:r>
              <a:rPr lang="en-US" sz="1050" b="1" spc="220" kern="0" dirty="0">
                <a:solidFill>
                  <a:srgbClr val="0E7C86"/>
                </a:solidFill>
                <a:latin typeface="Arial" pitchFamily="34" charset="0"/>
                <a:ea typeface="Arial" pitchFamily="34" charset="-122"/>
                <a:cs typeface="Arial" pitchFamily="34" charset="-120"/>
              </a:rPr>
              <a:t>AI ENGINE · STEP 3</a:t>
            </a:r>
            <a:endParaRPr lang="en-US" sz="1050" dirty="0"/>
          </a:p>
        </p:txBody>
      </p:sp>
      <p:sp>
        <p:nvSpPr>
          <p:cNvPr id="5" name="Text 3"/>
          <p:cNvSpPr/>
          <p:nvPr/>
        </p:nvSpPr>
        <p:spPr>
          <a:xfrm>
            <a:off x="502920" y="658368"/>
            <a:ext cx="11183112" cy="457200"/>
          </a:xfrm>
          <a:prstGeom prst="rect">
            <a:avLst/>
          </a:prstGeom>
          <a:noFill/>
          <a:ln/>
        </p:spPr>
        <p:txBody>
          <a:bodyPr wrap="square" rtlCol="0" anchor="ctr"/>
          <a:lstStyle/>
          <a:p>
            <a:pPr algn="l" indent="0" marL="0">
              <a:lnSpc>
                <a:spcPct val="108000"/>
              </a:lnSpc>
              <a:buNone/>
            </a:pPr>
            <a:r>
              <a:rPr lang="en-US" sz="2050" b="1" spc="20" kern="0" dirty="0">
                <a:solidFill>
                  <a:srgbClr val="0B132B"/>
                </a:solidFill>
                <a:latin typeface="Arial" pitchFamily="34" charset="0"/>
                <a:ea typeface="Arial" pitchFamily="34" charset="-122"/>
                <a:cs typeface="Arial" pitchFamily="34" charset="-120"/>
              </a:rPr>
              <a:t>THE CRYSTAL PARADIGM AI ENGINE: STEP 3</a:t>
            </a:r>
            <a:endParaRPr lang="en-US" sz="2050" dirty="0"/>
          </a:p>
        </p:txBody>
      </p:sp>
      <p:sp>
        <p:nvSpPr>
          <p:cNvPr id="6" name="Text 4"/>
          <p:cNvSpPr/>
          <p:nvPr/>
        </p:nvSpPr>
        <p:spPr>
          <a:xfrm>
            <a:off x="502920" y="1115568"/>
            <a:ext cx="11183112" cy="292608"/>
          </a:xfrm>
          <a:prstGeom prst="rect">
            <a:avLst/>
          </a:prstGeom>
          <a:noFill/>
          <a:ln/>
        </p:spPr>
        <p:txBody>
          <a:bodyPr wrap="square" rtlCol="0" anchor="ctr"/>
          <a:lstStyle/>
          <a:p>
            <a:pPr algn="l" indent="0" marL="0">
              <a:buNone/>
            </a:pPr>
            <a:r>
              <a:rPr lang="en-US" sz="1300" b="1" dirty="0">
                <a:solidFill>
                  <a:srgbClr val="0E7C86"/>
                </a:solidFill>
                <a:latin typeface="Arial" pitchFamily="34" charset="0"/>
                <a:ea typeface="Arial" pitchFamily="34" charset="-122"/>
                <a:cs typeface="Arial" pitchFamily="34" charset="-120"/>
              </a:rPr>
              <a:t>Constrained Differential Evolution (DE)</a:t>
            </a:r>
            <a:endParaRPr lang="en-US" sz="1300" dirty="0"/>
          </a:p>
        </p:txBody>
      </p:sp>
      <p:sp>
        <p:nvSpPr>
          <p:cNvPr id="7" name="Text 5"/>
          <p:cNvSpPr/>
          <p:nvPr/>
        </p:nvSpPr>
        <p:spPr>
          <a:xfrm>
            <a:off x="502920" y="1463040"/>
            <a:ext cx="11183112" cy="502920"/>
          </a:xfrm>
          <a:prstGeom prst="rect">
            <a:avLst/>
          </a:prstGeom>
          <a:noFill/>
          <a:ln/>
        </p:spPr>
        <p:txBody>
          <a:bodyPr wrap="square" rtlCol="0" anchor="ctr"/>
          <a:lstStyle/>
          <a:p>
            <a:pPr algn="l" indent="0" marL="0">
              <a:lnSpc>
                <a:spcPct val="124000"/>
              </a:lnSpc>
              <a:buNone/>
            </a:pPr>
            <a:r>
              <a:rPr lang="en-US" sz="1250" dirty="0">
                <a:solidFill>
                  <a:srgbClr val="5B6B8C"/>
                </a:solidFill>
                <a:latin typeface="Calibri" pitchFamily="34" charset="0"/>
                <a:ea typeface="Calibri" pitchFamily="34" charset="-122"/>
                <a:cs typeface="Calibri" pitchFamily="34" charset="-120"/>
              </a:rPr>
              <a:t>To discover completely novel alloys, our AI sweeps a continuous </a:t>
            </a:r>
            <a:pPr algn="l" indent="0" marL="0">
              <a:lnSpc>
                <a:spcPct val="124000"/>
              </a:lnSpc>
              <a:buNone/>
            </a:pPr>
            <a:r>
              <a:rPr lang="en-US" sz="1250" b="1" dirty="0">
                <a:solidFill>
                  <a:srgbClr val="0E7C86"/>
                </a:solidFill>
                <a:latin typeface="Calibri" pitchFamily="34" charset="0"/>
                <a:ea typeface="Calibri" pitchFamily="34" charset="-122"/>
                <a:cs typeface="Calibri" pitchFamily="34" charset="-120"/>
              </a:rPr>
              <a:t>9-element space</a:t>
            </a:r>
            <a:pPr algn="l" indent="0" marL="0">
              <a:lnSpc>
                <a:spcPct val="124000"/>
              </a:lnSpc>
              <a:buNone/>
            </a:pPr>
            <a:r>
              <a:rPr lang="en-US" sz="1250" dirty="0">
                <a:solidFill>
                  <a:srgbClr val="5B6B8C"/>
                </a:solidFill>
                <a:latin typeface="Calibri" pitchFamily="34" charset="0"/>
                <a:ea typeface="Calibri" pitchFamily="34" charset="-122"/>
                <a:cs typeface="Calibri" pitchFamily="34" charset="-120"/>
              </a:rPr>
              <a:t> using a </a:t>
            </a:r>
            <a:pPr algn="l" indent="0" marL="0">
              <a:lnSpc>
                <a:spcPct val="124000"/>
              </a:lnSpc>
              <a:buNone/>
            </a:pPr>
            <a:r>
              <a:rPr lang="en-US" sz="1250" b="1" dirty="0">
                <a:solidFill>
                  <a:srgbClr val="0E7C86"/>
                </a:solidFill>
                <a:latin typeface="Calibri" pitchFamily="34" charset="0"/>
                <a:ea typeface="Calibri" pitchFamily="34" charset="-122"/>
                <a:cs typeface="Calibri" pitchFamily="34" charset="-120"/>
              </a:rPr>
              <a:t>Softmax activation function</a:t>
            </a:r>
            <a:pPr algn="l" indent="0" marL="0">
              <a:lnSpc>
                <a:spcPct val="124000"/>
              </a:lnSpc>
              <a:buNone/>
            </a:pPr>
            <a:r>
              <a:rPr lang="en-US" sz="1250" dirty="0">
                <a:solidFill>
                  <a:srgbClr val="5B6B8C"/>
                </a:solidFill>
                <a:latin typeface="Calibri" pitchFamily="34" charset="0"/>
                <a:ea typeface="Calibri" pitchFamily="34" charset="-122"/>
                <a:cs typeface="Calibri" pitchFamily="34" charset="-120"/>
              </a:rPr>
              <a:t> to generate perfect sum-to-one fractional matrices.</a:t>
            </a:r>
            <a:endParaRPr lang="en-US" sz="1250" dirty="0"/>
          </a:p>
        </p:txBody>
      </p:sp>
      <p:sp>
        <p:nvSpPr>
          <p:cNvPr id="8" name="Shape 6"/>
          <p:cNvSpPr/>
          <p:nvPr/>
        </p:nvSpPr>
        <p:spPr>
          <a:xfrm>
            <a:off x="502920" y="2103120"/>
            <a:ext cx="5120640" cy="2651760"/>
          </a:xfrm>
          <a:prstGeom prst="roundRect">
            <a:avLst>
              <a:gd name="adj" fmla="val 4828"/>
            </a:avLst>
          </a:prstGeom>
          <a:solidFill>
            <a:srgbClr val="EEF1F5"/>
          </a:solidFill>
          <a:ln w="15875">
            <a:solidFill>
              <a:srgbClr val="0B132B"/>
            </a:solidFill>
            <a:prstDash val="dash"/>
          </a:ln>
        </p:spPr>
      </p:sp>
      <p:sp>
        <p:nvSpPr>
          <p:cNvPr id="9" name="Text 7"/>
          <p:cNvSpPr/>
          <p:nvPr/>
        </p:nvSpPr>
        <p:spPr>
          <a:xfrm>
            <a:off x="731520" y="2267712"/>
            <a:ext cx="4663440" cy="237744"/>
          </a:xfrm>
          <a:prstGeom prst="rect">
            <a:avLst/>
          </a:prstGeom>
          <a:noFill/>
          <a:ln/>
        </p:spPr>
        <p:txBody>
          <a:bodyPr wrap="square" rtlCol="0" anchor="ctr"/>
          <a:lstStyle/>
          <a:p>
            <a:pPr indent="0" marL="0">
              <a:buNone/>
            </a:pPr>
            <a:r>
              <a:rPr lang="en-US" sz="900" b="1" spc="180" kern="0" dirty="0">
                <a:solidFill>
                  <a:srgbClr val="7C879C"/>
                </a:solidFill>
                <a:latin typeface="Arial" pitchFamily="34" charset="0"/>
                <a:ea typeface="Arial" pitchFamily="34" charset="-122"/>
                <a:cs typeface="Arial" pitchFamily="34" charset="-120"/>
              </a:rPr>
              <a:t>VISUAL PLACEHOLDER</a:t>
            </a:r>
            <a:endParaRPr lang="en-US" sz="900" dirty="0"/>
          </a:p>
        </p:txBody>
      </p:sp>
      <p:sp>
        <p:nvSpPr>
          <p:cNvPr id="10" name="Text 8"/>
          <p:cNvSpPr/>
          <p:nvPr/>
        </p:nvSpPr>
        <p:spPr>
          <a:xfrm>
            <a:off x="822960" y="2560320"/>
            <a:ext cx="4480560" cy="1965960"/>
          </a:xfrm>
          <a:prstGeom prst="rect">
            <a:avLst/>
          </a:prstGeom>
          <a:noFill/>
          <a:ln/>
        </p:spPr>
        <p:txBody>
          <a:bodyPr wrap="square" rtlCol="0" anchor="ctr"/>
          <a:lstStyle/>
          <a:p>
            <a:pPr algn="ctr" indent="0" marL="0">
              <a:lnSpc>
                <a:spcPct val="125000"/>
              </a:lnSpc>
              <a:buNone/>
            </a:pPr>
            <a:r>
              <a:rPr lang="en-US" sz="1100" i="1" dirty="0">
                <a:solidFill>
                  <a:srgbClr val="7C879C"/>
                </a:solidFill>
                <a:latin typeface="Calibri" pitchFamily="34" charset="0"/>
                <a:ea typeface="Calibri" pitchFamily="34" charset="-122"/>
                <a:cs typeface="Calibri" pitchFamily="34" charset="-120"/>
              </a:rPr>
              <a:t>INSERT VISUALIZATION: 3D topographical optimization surface with a glowing "Global Optimum" point</a:t>
            </a:r>
            <a:endParaRPr lang="en-US" sz="1100" dirty="0"/>
          </a:p>
        </p:txBody>
      </p:sp>
      <p:sp>
        <p:nvSpPr>
          <p:cNvPr id="11" name="Text 9"/>
          <p:cNvSpPr/>
          <p:nvPr/>
        </p:nvSpPr>
        <p:spPr>
          <a:xfrm>
            <a:off x="502920" y="4892040"/>
            <a:ext cx="5120640" cy="868680"/>
          </a:xfrm>
          <a:prstGeom prst="rect">
            <a:avLst/>
          </a:prstGeom>
          <a:noFill/>
          <a:ln/>
        </p:spPr>
        <p:txBody>
          <a:bodyPr wrap="square" rtlCol="0" anchor="ctr"/>
          <a:lstStyle/>
          <a:p>
            <a:pPr indent="0" marL="0">
              <a:lnSpc>
                <a:spcPct val="128000"/>
              </a:lnSpc>
              <a:buNone/>
            </a:pPr>
            <a:r>
              <a:rPr lang="en-US" sz="1100" i="1" dirty="0">
                <a:solidFill>
                  <a:srgbClr val="5B6B8C"/>
                </a:solidFill>
                <a:latin typeface="Calibri" pitchFamily="34" charset="0"/>
                <a:ea typeface="Calibri" pitchFamily="34" charset="-122"/>
                <a:cs typeface="Calibri" pitchFamily="34" charset="-120"/>
              </a:rPr>
              <a:t>*Result (Candidate C):* The DE optimizer achieved a maximum fitness score of </a:t>
            </a:r>
            <a:pPr indent="0" marL="0">
              <a:lnSpc>
                <a:spcPct val="128000"/>
              </a:lnSpc>
              <a:buNone/>
            </a:pPr>
            <a:r>
              <a:rPr lang="en-US" sz="1100" b="1" i="1" dirty="0">
                <a:solidFill>
                  <a:srgbClr val="0E7C86"/>
                </a:solidFill>
                <a:latin typeface="Calibri" pitchFamily="34" charset="0"/>
                <a:ea typeface="Calibri" pitchFamily="34" charset="-122"/>
                <a:cs typeface="Calibri" pitchFamily="34" charset="-120"/>
              </a:rPr>
              <a:t>1.5981 (Safety Factor)</a:t>
            </a:r>
            <a:pPr indent="0" marL="0">
              <a:lnSpc>
                <a:spcPct val="128000"/>
              </a:lnSpc>
              <a:buNone/>
            </a:pPr>
            <a:r>
              <a:rPr lang="en-US" sz="1100" i="1" dirty="0">
                <a:solidFill>
                  <a:srgbClr val="5B6B8C"/>
                </a:solidFill>
                <a:latin typeface="Calibri" pitchFamily="34" charset="0"/>
                <a:ea typeface="Calibri" pitchFamily="34" charset="-122"/>
                <a:cs typeface="Calibri" pitchFamily="34" charset="-120"/>
              </a:rPr>
              <a:t>, finding a globally optimal solution (</a:t>
            </a:r>
            <a:pPr indent="0" marL="0">
              <a:lnSpc>
                <a:spcPct val="128000"/>
              </a:lnSpc>
              <a:buNone/>
            </a:pPr>
            <a:r>
              <a:rPr lang="en-US" sz="1100" b="1" i="1" dirty="0">
                <a:solidFill>
                  <a:srgbClr val="0E7C86"/>
                </a:solidFill>
                <a:latin typeface="Calibri" pitchFamily="34" charset="0"/>
                <a:ea typeface="Calibri" pitchFamily="34" charset="-122"/>
                <a:cs typeface="Calibri" pitchFamily="34" charset="-120"/>
              </a:rPr>
              <a:t>Titanium 21.7%</a:t>
            </a:r>
            <a:pPr indent="0" marL="0">
              <a:lnSpc>
                <a:spcPct val="128000"/>
              </a:lnSpc>
              <a:buNone/>
            </a:pPr>
            <a:r>
              <a:rPr lang="en-US" sz="1100" i="1" dirty="0">
                <a:solidFill>
                  <a:srgbClr val="5B6B8C"/>
                </a:solidFill>
                <a:latin typeface="Calibri" pitchFamily="34" charset="0"/>
                <a:ea typeface="Calibri" pitchFamily="34" charset="-122"/>
                <a:cs typeface="Calibri" pitchFamily="34" charset="-120"/>
              </a:rPr>
              <a:t>) that cleared every penalty and dropped the CTE mismatch to an unprecedented </a:t>
            </a:r>
            <a:pPr indent="0" marL="0">
              <a:lnSpc>
                <a:spcPct val="128000"/>
              </a:lnSpc>
              <a:buNone/>
            </a:pPr>
            <a:r>
              <a:rPr lang="en-US" sz="1100" b="1" i="1" dirty="0">
                <a:solidFill>
                  <a:srgbClr val="0E7C86"/>
                </a:solidFill>
                <a:latin typeface="Calibri" pitchFamily="34" charset="0"/>
                <a:ea typeface="Calibri" pitchFamily="34" charset="-122"/>
                <a:cs typeface="Calibri" pitchFamily="34" charset="-120"/>
              </a:rPr>
              <a:t>2.66 μm/mK</a:t>
            </a:r>
            <a:pPr indent="0" marL="0">
              <a:lnSpc>
                <a:spcPct val="128000"/>
              </a:lnSpc>
              <a:buNone/>
            </a:pPr>
            <a:r>
              <a:rPr lang="en-US" sz="1100" i="1" dirty="0">
                <a:solidFill>
                  <a:srgbClr val="5B6B8C"/>
                </a:solidFill>
                <a:latin typeface="Calibri" pitchFamily="34" charset="0"/>
                <a:ea typeface="Calibri" pitchFamily="34" charset="-122"/>
                <a:cs typeface="Calibri" pitchFamily="34" charset="-120"/>
              </a:rPr>
              <a:t>.</a:t>
            </a:r>
            <a:endParaRPr lang="en-US" sz="1100" dirty="0"/>
          </a:p>
        </p:txBody>
      </p:sp>
      <p:sp>
        <p:nvSpPr>
          <p:cNvPr id="12" name="Shape 10"/>
          <p:cNvSpPr/>
          <p:nvPr/>
        </p:nvSpPr>
        <p:spPr>
          <a:xfrm>
            <a:off x="5925312" y="2103120"/>
            <a:ext cx="5760720" cy="841248"/>
          </a:xfrm>
          <a:prstGeom prst="roundRect">
            <a:avLst>
              <a:gd name="adj" fmla="val 15217"/>
            </a:avLst>
          </a:prstGeom>
          <a:solidFill>
            <a:srgbClr val="0B132B"/>
          </a:solidFill>
          <a:ln w="9525">
            <a:solidFill>
              <a:srgbClr val="2A3B63"/>
            </a:solidFill>
            <a:prstDash val="solid"/>
          </a:ln>
          <a:effectLst>
            <a:outerShdw sx="100000" sy="100000" kx="0" ky="0" algn="bl" rotWithShape="0" blurRad="127000" dist="38100" dir="5400000">
              <a:srgbClr val="1A2138">
                <a:alpha val="28000"/>
              </a:srgbClr>
            </a:outerShdw>
          </a:effectLst>
        </p:spPr>
      </p:sp>
      <p:sp>
        <p:nvSpPr>
          <p:cNvPr id="13" name="Shape 11"/>
          <p:cNvSpPr/>
          <p:nvPr/>
        </p:nvSpPr>
        <p:spPr>
          <a:xfrm>
            <a:off x="6089904" y="2267712"/>
            <a:ext cx="384048" cy="384048"/>
          </a:xfrm>
          <a:prstGeom prst="roundRect">
            <a:avLst>
              <a:gd name="adj" fmla="val 14286"/>
            </a:avLst>
          </a:prstGeom>
          <a:solidFill>
            <a:srgbClr val="F8F9FA"/>
          </a:solidFill>
          <a:ln/>
        </p:spPr>
      </p:sp>
      <p:sp>
        <p:nvSpPr>
          <p:cNvPr id="14" name="Text 12"/>
          <p:cNvSpPr/>
          <p:nvPr/>
        </p:nvSpPr>
        <p:spPr>
          <a:xfrm>
            <a:off x="6089904" y="2267712"/>
            <a:ext cx="384048" cy="384048"/>
          </a:xfrm>
          <a:prstGeom prst="rect">
            <a:avLst/>
          </a:prstGeom>
          <a:noFill/>
          <a:ln/>
        </p:spPr>
        <p:txBody>
          <a:bodyPr wrap="square" rtlCol="0" anchor="ctr"/>
          <a:lstStyle/>
          <a:p>
            <a:pPr algn="ctr" indent="0" marL="0">
              <a:buNone/>
            </a:pPr>
            <a:r>
              <a:rPr lang="en-US" sz="1200" b="1" dirty="0">
                <a:solidFill>
                  <a:srgbClr val="0B132B"/>
                </a:solidFill>
                <a:latin typeface="Arial" pitchFamily="34" charset="0"/>
                <a:ea typeface="Arial" pitchFamily="34" charset="-122"/>
                <a:cs typeface="Arial" pitchFamily="34" charset="-120"/>
              </a:rPr>
              <a:t>1</a:t>
            </a:r>
            <a:endParaRPr lang="en-US" sz="1200" dirty="0"/>
          </a:p>
        </p:txBody>
      </p:sp>
      <p:sp>
        <p:nvSpPr>
          <p:cNvPr id="15" name="Text 13"/>
          <p:cNvSpPr/>
          <p:nvPr/>
        </p:nvSpPr>
        <p:spPr>
          <a:xfrm>
            <a:off x="6601968" y="2221992"/>
            <a:ext cx="3886200" cy="274320"/>
          </a:xfrm>
          <a:prstGeom prst="rect">
            <a:avLst/>
          </a:prstGeom>
          <a:noFill/>
          <a:ln/>
        </p:spPr>
        <p:txBody>
          <a:bodyPr wrap="square" rtlCol="0" anchor="t"/>
          <a:lstStyle/>
          <a:p>
            <a:pPr indent="0" marL="0">
              <a:lnSpc>
                <a:spcPct val="110000"/>
              </a:lnSpc>
              <a:buNone/>
            </a:pPr>
            <a:r>
              <a:rPr lang="en-US" sz="1150" b="1" dirty="0">
                <a:solidFill>
                  <a:srgbClr val="F8F9FA"/>
                </a:solidFill>
                <a:latin typeface="Arial" pitchFamily="34" charset="0"/>
                <a:ea typeface="Arial" pitchFamily="34" charset="-122"/>
                <a:cs typeface="Arial" pitchFamily="34" charset="-120"/>
              </a:rPr>
              <a:t>Sigma Phase Mitigation</a:t>
            </a:r>
            <a:endParaRPr lang="en-US" sz="1150" dirty="0"/>
          </a:p>
        </p:txBody>
      </p:sp>
      <p:sp>
        <p:nvSpPr>
          <p:cNvPr id="16" name="Text 14"/>
          <p:cNvSpPr/>
          <p:nvPr/>
        </p:nvSpPr>
        <p:spPr>
          <a:xfrm>
            <a:off x="6601968" y="2505456"/>
            <a:ext cx="3886200" cy="384048"/>
          </a:xfrm>
          <a:prstGeom prst="rect">
            <a:avLst/>
          </a:prstGeom>
          <a:noFill/>
          <a:ln/>
        </p:spPr>
        <p:txBody>
          <a:bodyPr wrap="square" rtlCol="0" anchor="t"/>
          <a:lstStyle/>
          <a:p>
            <a:pPr algn="l" indent="0" marL="0">
              <a:lnSpc>
                <a:spcPct val="124000"/>
              </a:lnSpc>
              <a:buNone/>
            </a:pPr>
            <a:r>
              <a:rPr lang="en-US" sz="900" dirty="0">
                <a:solidFill>
                  <a:srgbClr val="AAB6CC"/>
                </a:solidFill>
                <a:latin typeface="Calibri" pitchFamily="34" charset="0"/>
                <a:ea typeface="Calibri" pitchFamily="34" charset="-122"/>
                <a:cs typeface="Calibri" pitchFamily="34" charset="-120"/>
              </a:rPr>
              <a:t>if "Sigma Formers" (W + Cr + Mo) exceed 50% — Sona Comstar commercial limit</a:t>
            </a:r>
            <a:endParaRPr lang="en-US" sz="900" dirty="0"/>
          </a:p>
        </p:txBody>
      </p:sp>
      <p:sp>
        <p:nvSpPr>
          <p:cNvPr id="17" name="Text 15"/>
          <p:cNvSpPr/>
          <p:nvPr/>
        </p:nvSpPr>
        <p:spPr>
          <a:xfrm>
            <a:off x="10451592" y="2103120"/>
            <a:ext cx="1097280" cy="841248"/>
          </a:xfrm>
          <a:prstGeom prst="rect">
            <a:avLst/>
          </a:prstGeom>
          <a:noFill/>
          <a:ln/>
        </p:spPr>
        <p:txBody>
          <a:bodyPr wrap="square" rtlCol="0" anchor="ctr"/>
          <a:lstStyle/>
          <a:p>
            <a:pPr algn="ctr" indent="0" marL="0">
              <a:buNone/>
            </a:pPr>
            <a:r>
              <a:rPr lang="en-US" sz="1250" b="1" dirty="0">
                <a:solidFill>
                  <a:srgbClr val="FBBF24"/>
                </a:solidFill>
                <a:latin typeface="Arial" pitchFamily="34" charset="0"/>
                <a:ea typeface="Arial" pitchFamily="34" charset="-122"/>
                <a:cs typeface="Arial" pitchFamily="34" charset="-120"/>
              </a:rPr>
              <a:t>Penalty 5.0</a:t>
            </a:r>
            <a:endParaRPr lang="en-US" sz="1250" dirty="0"/>
          </a:p>
        </p:txBody>
      </p:sp>
      <p:sp>
        <p:nvSpPr>
          <p:cNvPr id="18" name="Shape 16"/>
          <p:cNvSpPr/>
          <p:nvPr/>
        </p:nvSpPr>
        <p:spPr>
          <a:xfrm>
            <a:off x="5925312" y="3072384"/>
            <a:ext cx="5760720" cy="841248"/>
          </a:xfrm>
          <a:prstGeom prst="roundRect">
            <a:avLst>
              <a:gd name="adj" fmla="val 15217"/>
            </a:avLst>
          </a:prstGeom>
          <a:solidFill>
            <a:srgbClr val="0B132B"/>
          </a:solidFill>
          <a:ln w="9525">
            <a:solidFill>
              <a:srgbClr val="2A3B63"/>
            </a:solidFill>
            <a:prstDash val="solid"/>
          </a:ln>
          <a:effectLst>
            <a:outerShdw sx="100000" sy="100000" kx="0" ky="0" algn="bl" rotWithShape="0" blurRad="127000" dist="38100" dir="5400000">
              <a:srgbClr val="1A2138">
                <a:alpha val="28000"/>
              </a:srgbClr>
            </a:outerShdw>
          </a:effectLst>
        </p:spPr>
      </p:sp>
      <p:sp>
        <p:nvSpPr>
          <p:cNvPr id="19" name="Shape 17"/>
          <p:cNvSpPr/>
          <p:nvPr/>
        </p:nvSpPr>
        <p:spPr>
          <a:xfrm>
            <a:off x="6089904" y="3236976"/>
            <a:ext cx="384048" cy="384048"/>
          </a:xfrm>
          <a:prstGeom prst="roundRect">
            <a:avLst>
              <a:gd name="adj" fmla="val 14286"/>
            </a:avLst>
          </a:prstGeom>
          <a:solidFill>
            <a:srgbClr val="F8F9FA"/>
          </a:solidFill>
          <a:ln/>
        </p:spPr>
      </p:sp>
      <p:sp>
        <p:nvSpPr>
          <p:cNvPr id="20" name="Text 18"/>
          <p:cNvSpPr/>
          <p:nvPr/>
        </p:nvSpPr>
        <p:spPr>
          <a:xfrm>
            <a:off x="6089904" y="3236976"/>
            <a:ext cx="384048" cy="384048"/>
          </a:xfrm>
          <a:prstGeom prst="rect">
            <a:avLst/>
          </a:prstGeom>
          <a:noFill/>
          <a:ln/>
        </p:spPr>
        <p:txBody>
          <a:bodyPr wrap="square" rtlCol="0" anchor="ctr"/>
          <a:lstStyle/>
          <a:p>
            <a:pPr algn="ctr" indent="0" marL="0">
              <a:buNone/>
            </a:pPr>
            <a:r>
              <a:rPr lang="en-US" sz="1200" b="1" dirty="0">
                <a:solidFill>
                  <a:srgbClr val="0B132B"/>
                </a:solidFill>
                <a:latin typeface="Arial" pitchFamily="34" charset="0"/>
                <a:ea typeface="Arial" pitchFamily="34" charset="-122"/>
                <a:cs typeface="Arial" pitchFamily="34" charset="-120"/>
              </a:rPr>
              <a:t>2</a:t>
            </a:r>
            <a:endParaRPr lang="en-US" sz="1200" dirty="0"/>
          </a:p>
        </p:txBody>
      </p:sp>
      <p:sp>
        <p:nvSpPr>
          <p:cNvPr id="21" name="Text 19"/>
          <p:cNvSpPr/>
          <p:nvPr/>
        </p:nvSpPr>
        <p:spPr>
          <a:xfrm>
            <a:off x="6601968" y="3191256"/>
            <a:ext cx="3886200" cy="274320"/>
          </a:xfrm>
          <a:prstGeom prst="rect">
            <a:avLst/>
          </a:prstGeom>
          <a:noFill/>
          <a:ln/>
        </p:spPr>
        <p:txBody>
          <a:bodyPr wrap="square" rtlCol="0" anchor="t"/>
          <a:lstStyle/>
          <a:p>
            <a:pPr indent="0" marL="0">
              <a:lnSpc>
                <a:spcPct val="110000"/>
              </a:lnSpc>
              <a:buNone/>
            </a:pPr>
            <a:r>
              <a:rPr lang="en-US" sz="1150" b="1" dirty="0">
                <a:solidFill>
                  <a:srgbClr val="F8F9FA"/>
                </a:solidFill>
                <a:latin typeface="Arial" pitchFamily="34" charset="0"/>
                <a:ea typeface="Arial" pitchFamily="34" charset="-122"/>
                <a:cs typeface="Arial" pitchFamily="34" charset="-120"/>
              </a:rPr>
              <a:t>Vanadium Volatility</a:t>
            </a:r>
            <a:endParaRPr lang="en-US" sz="1150" dirty="0"/>
          </a:p>
        </p:txBody>
      </p:sp>
      <p:sp>
        <p:nvSpPr>
          <p:cNvPr id="22" name="Text 20"/>
          <p:cNvSpPr/>
          <p:nvPr/>
        </p:nvSpPr>
        <p:spPr>
          <a:xfrm>
            <a:off x="6601968" y="3474720"/>
            <a:ext cx="3886200" cy="384048"/>
          </a:xfrm>
          <a:prstGeom prst="rect">
            <a:avLst/>
          </a:prstGeom>
          <a:noFill/>
          <a:ln/>
        </p:spPr>
        <p:txBody>
          <a:bodyPr wrap="square" rtlCol="0" anchor="t"/>
          <a:lstStyle/>
          <a:p>
            <a:pPr algn="l" indent="0" marL="0">
              <a:lnSpc>
                <a:spcPct val="124000"/>
              </a:lnSpc>
              <a:buNone/>
            </a:pPr>
            <a:r>
              <a:rPr lang="en-US" sz="900" dirty="0">
                <a:solidFill>
                  <a:srgbClr val="AAB6CC"/>
                </a:solidFill>
                <a:latin typeface="Calibri" pitchFamily="34" charset="0"/>
                <a:ea typeface="Calibri" pitchFamily="34" charset="-122"/>
                <a:cs typeface="Calibri" pitchFamily="34" charset="-120"/>
              </a:rPr>
              <a:t>prevents toxic outgassing during high-temp operation</a:t>
            </a:r>
            <a:endParaRPr lang="en-US" sz="900" dirty="0"/>
          </a:p>
        </p:txBody>
      </p:sp>
      <p:sp>
        <p:nvSpPr>
          <p:cNvPr id="23" name="Text 21"/>
          <p:cNvSpPr/>
          <p:nvPr/>
        </p:nvSpPr>
        <p:spPr>
          <a:xfrm>
            <a:off x="10451592" y="3072384"/>
            <a:ext cx="1097280" cy="841248"/>
          </a:xfrm>
          <a:prstGeom prst="rect">
            <a:avLst/>
          </a:prstGeom>
          <a:noFill/>
          <a:ln/>
        </p:spPr>
        <p:txBody>
          <a:bodyPr wrap="square" rtlCol="0" anchor="ctr"/>
          <a:lstStyle/>
          <a:p>
            <a:pPr algn="ctr" indent="0" marL="0">
              <a:buNone/>
            </a:pPr>
            <a:r>
              <a:rPr lang="en-US" sz="1250" b="1" dirty="0">
                <a:solidFill>
                  <a:srgbClr val="FBBF24"/>
                </a:solidFill>
                <a:latin typeface="Arial" pitchFamily="34" charset="0"/>
                <a:ea typeface="Arial" pitchFamily="34" charset="-122"/>
                <a:cs typeface="Arial" pitchFamily="34" charset="-120"/>
              </a:rPr>
              <a:t>V ≤ 20%</a:t>
            </a:r>
            <a:endParaRPr lang="en-US" sz="1250" dirty="0"/>
          </a:p>
        </p:txBody>
      </p:sp>
      <p:sp>
        <p:nvSpPr>
          <p:cNvPr id="24" name="Shape 22"/>
          <p:cNvSpPr/>
          <p:nvPr/>
        </p:nvSpPr>
        <p:spPr>
          <a:xfrm>
            <a:off x="5925312" y="4041648"/>
            <a:ext cx="5760720" cy="841248"/>
          </a:xfrm>
          <a:prstGeom prst="roundRect">
            <a:avLst>
              <a:gd name="adj" fmla="val 15217"/>
            </a:avLst>
          </a:prstGeom>
          <a:solidFill>
            <a:srgbClr val="0B132B"/>
          </a:solidFill>
          <a:ln w="9525">
            <a:solidFill>
              <a:srgbClr val="2A3B63"/>
            </a:solidFill>
            <a:prstDash val="solid"/>
          </a:ln>
          <a:effectLst>
            <a:outerShdw sx="100000" sy="100000" kx="0" ky="0" algn="bl" rotWithShape="0" blurRad="127000" dist="38100" dir="5400000">
              <a:srgbClr val="1A2138">
                <a:alpha val="28000"/>
              </a:srgbClr>
            </a:outerShdw>
          </a:effectLst>
        </p:spPr>
      </p:sp>
      <p:sp>
        <p:nvSpPr>
          <p:cNvPr id="25" name="Shape 23"/>
          <p:cNvSpPr/>
          <p:nvPr/>
        </p:nvSpPr>
        <p:spPr>
          <a:xfrm>
            <a:off x="6089904" y="4206240"/>
            <a:ext cx="384048" cy="384048"/>
          </a:xfrm>
          <a:prstGeom prst="roundRect">
            <a:avLst>
              <a:gd name="adj" fmla="val 14286"/>
            </a:avLst>
          </a:prstGeom>
          <a:solidFill>
            <a:srgbClr val="F8F9FA"/>
          </a:solidFill>
          <a:ln/>
        </p:spPr>
      </p:sp>
      <p:sp>
        <p:nvSpPr>
          <p:cNvPr id="26" name="Text 24"/>
          <p:cNvSpPr/>
          <p:nvPr/>
        </p:nvSpPr>
        <p:spPr>
          <a:xfrm>
            <a:off x="6089904" y="4206240"/>
            <a:ext cx="384048" cy="384048"/>
          </a:xfrm>
          <a:prstGeom prst="rect">
            <a:avLst/>
          </a:prstGeom>
          <a:noFill/>
          <a:ln/>
        </p:spPr>
        <p:txBody>
          <a:bodyPr wrap="square" rtlCol="0" anchor="ctr"/>
          <a:lstStyle/>
          <a:p>
            <a:pPr algn="ctr" indent="0" marL="0">
              <a:buNone/>
            </a:pPr>
            <a:r>
              <a:rPr lang="en-US" sz="1200" b="1" dirty="0">
                <a:solidFill>
                  <a:srgbClr val="0B132B"/>
                </a:solidFill>
                <a:latin typeface="Arial" pitchFamily="34" charset="0"/>
                <a:ea typeface="Arial" pitchFamily="34" charset="-122"/>
                <a:cs typeface="Arial" pitchFamily="34" charset="-120"/>
              </a:rPr>
              <a:t>3</a:t>
            </a:r>
            <a:endParaRPr lang="en-US" sz="1200" dirty="0"/>
          </a:p>
        </p:txBody>
      </p:sp>
      <p:sp>
        <p:nvSpPr>
          <p:cNvPr id="27" name="Text 25"/>
          <p:cNvSpPr/>
          <p:nvPr/>
        </p:nvSpPr>
        <p:spPr>
          <a:xfrm>
            <a:off x="6601968" y="4160520"/>
            <a:ext cx="3886200" cy="274320"/>
          </a:xfrm>
          <a:prstGeom prst="rect">
            <a:avLst/>
          </a:prstGeom>
          <a:noFill/>
          <a:ln/>
        </p:spPr>
        <p:txBody>
          <a:bodyPr wrap="square" rtlCol="0" anchor="t"/>
          <a:lstStyle/>
          <a:p>
            <a:pPr indent="0" marL="0">
              <a:lnSpc>
                <a:spcPct val="110000"/>
              </a:lnSpc>
              <a:buNone/>
            </a:pPr>
            <a:r>
              <a:rPr lang="en-US" sz="1150" b="1" dirty="0">
                <a:solidFill>
                  <a:srgbClr val="F8F9FA"/>
                </a:solidFill>
                <a:latin typeface="Arial" pitchFamily="34" charset="0"/>
                <a:ea typeface="Arial" pitchFamily="34" charset="-122"/>
                <a:cs typeface="Arial" pitchFamily="34" charset="-120"/>
              </a:rPr>
              <a:t>ESG Weight Budget</a:t>
            </a:r>
            <a:endParaRPr lang="en-US" sz="1150" dirty="0"/>
          </a:p>
        </p:txBody>
      </p:sp>
      <p:sp>
        <p:nvSpPr>
          <p:cNvPr id="28" name="Text 26"/>
          <p:cNvSpPr/>
          <p:nvPr/>
        </p:nvSpPr>
        <p:spPr>
          <a:xfrm>
            <a:off x="6601968" y="4443984"/>
            <a:ext cx="3886200" cy="384048"/>
          </a:xfrm>
          <a:prstGeom prst="rect">
            <a:avLst/>
          </a:prstGeom>
          <a:noFill/>
          <a:ln/>
        </p:spPr>
        <p:txBody>
          <a:bodyPr wrap="square" rtlCol="0" anchor="t"/>
          <a:lstStyle/>
          <a:p>
            <a:pPr algn="l" indent="0" marL="0">
              <a:lnSpc>
                <a:spcPct val="124000"/>
              </a:lnSpc>
              <a:buNone/>
            </a:pPr>
            <a:r>
              <a:rPr lang="en-US" sz="900" dirty="0">
                <a:solidFill>
                  <a:srgbClr val="AAB6CC"/>
                </a:solidFill>
                <a:latin typeface="Calibri" pitchFamily="34" charset="0"/>
                <a:ea typeface="Calibri" pitchFamily="34" charset="-122"/>
                <a:cs typeface="Calibri" pitchFamily="34" charset="-120"/>
              </a:rPr>
              <a:t>hard penalty above this density; aligns with EV lightweighting</a:t>
            </a:r>
            <a:endParaRPr lang="en-US" sz="900" dirty="0"/>
          </a:p>
        </p:txBody>
      </p:sp>
      <p:sp>
        <p:nvSpPr>
          <p:cNvPr id="29" name="Text 27"/>
          <p:cNvSpPr/>
          <p:nvPr/>
        </p:nvSpPr>
        <p:spPr>
          <a:xfrm>
            <a:off x="10451592" y="4041648"/>
            <a:ext cx="1097280" cy="841248"/>
          </a:xfrm>
          <a:prstGeom prst="rect">
            <a:avLst/>
          </a:prstGeom>
          <a:noFill/>
          <a:ln/>
        </p:spPr>
        <p:txBody>
          <a:bodyPr wrap="square" rtlCol="0" anchor="ctr"/>
          <a:lstStyle/>
          <a:p>
            <a:pPr algn="ctr" indent="0" marL="0">
              <a:buNone/>
            </a:pPr>
            <a:r>
              <a:rPr lang="en-US" sz="1250" b="1" dirty="0">
                <a:solidFill>
                  <a:srgbClr val="FBBF24"/>
                </a:solidFill>
                <a:latin typeface="Arial" pitchFamily="34" charset="0"/>
                <a:ea typeface="Arial" pitchFamily="34" charset="-122"/>
                <a:cs typeface="Arial" pitchFamily="34" charset="-120"/>
              </a:rPr>
              <a:t>≤ 11.0 g/cm³</a:t>
            </a:r>
            <a:endParaRPr lang="en-US" sz="1250" dirty="0"/>
          </a:p>
        </p:txBody>
      </p:sp>
      <p:sp>
        <p:nvSpPr>
          <p:cNvPr id="30" name="Shape 28"/>
          <p:cNvSpPr/>
          <p:nvPr/>
        </p:nvSpPr>
        <p:spPr>
          <a:xfrm>
            <a:off x="5925312" y="5010912"/>
            <a:ext cx="5760720" cy="841248"/>
          </a:xfrm>
          <a:prstGeom prst="roundRect">
            <a:avLst>
              <a:gd name="adj" fmla="val 15217"/>
            </a:avLst>
          </a:prstGeom>
          <a:solidFill>
            <a:srgbClr val="0B132B"/>
          </a:solidFill>
          <a:ln w="9525">
            <a:solidFill>
              <a:srgbClr val="2A3B63"/>
            </a:solidFill>
            <a:prstDash val="solid"/>
          </a:ln>
          <a:effectLst>
            <a:outerShdw sx="100000" sy="100000" kx="0" ky="0" algn="bl" rotWithShape="0" blurRad="127000" dist="38100" dir="5400000">
              <a:srgbClr val="1A2138">
                <a:alpha val="28000"/>
              </a:srgbClr>
            </a:outerShdw>
          </a:effectLst>
        </p:spPr>
      </p:sp>
      <p:sp>
        <p:nvSpPr>
          <p:cNvPr id="31" name="Shape 29"/>
          <p:cNvSpPr/>
          <p:nvPr/>
        </p:nvSpPr>
        <p:spPr>
          <a:xfrm>
            <a:off x="6089904" y="5175504"/>
            <a:ext cx="384048" cy="384048"/>
          </a:xfrm>
          <a:prstGeom prst="roundRect">
            <a:avLst>
              <a:gd name="adj" fmla="val 14286"/>
            </a:avLst>
          </a:prstGeom>
          <a:solidFill>
            <a:srgbClr val="F8F9FA"/>
          </a:solidFill>
          <a:ln/>
        </p:spPr>
      </p:sp>
      <p:sp>
        <p:nvSpPr>
          <p:cNvPr id="32" name="Text 30"/>
          <p:cNvSpPr/>
          <p:nvPr/>
        </p:nvSpPr>
        <p:spPr>
          <a:xfrm>
            <a:off x="6089904" y="5175504"/>
            <a:ext cx="384048" cy="384048"/>
          </a:xfrm>
          <a:prstGeom prst="rect">
            <a:avLst/>
          </a:prstGeom>
          <a:noFill/>
          <a:ln/>
        </p:spPr>
        <p:txBody>
          <a:bodyPr wrap="square" rtlCol="0" anchor="ctr"/>
          <a:lstStyle/>
          <a:p>
            <a:pPr algn="ctr" indent="0" marL="0">
              <a:buNone/>
            </a:pPr>
            <a:r>
              <a:rPr lang="en-US" sz="1200" b="1" dirty="0">
                <a:solidFill>
                  <a:srgbClr val="0B132B"/>
                </a:solidFill>
                <a:latin typeface="Arial" pitchFamily="34" charset="0"/>
                <a:ea typeface="Arial" pitchFamily="34" charset="-122"/>
                <a:cs typeface="Arial" pitchFamily="34" charset="-120"/>
              </a:rPr>
              <a:t>4</a:t>
            </a:r>
            <a:endParaRPr lang="en-US" sz="1200" dirty="0"/>
          </a:p>
        </p:txBody>
      </p:sp>
      <p:sp>
        <p:nvSpPr>
          <p:cNvPr id="33" name="Text 31"/>
          <p:cNvSpPr/>
          <p:nvPr/>
        </p:nvSpPr>
        <p:spPr>
          <a:xfrm>
            <a:off x="6601968" y="5129784"/>
            <a:ext cx="3886200" cy="274320"/>
          </a:xfrm>
          <a:prstGeom prst="rect">
            <a:avLst/>
          </a:prstGeom>
          <a:noFill/>
          <a:ln/>
        </p:spPr>
        <p:txBody>
          <a:bodyPr wrap="square" rtlCol="0" anchor="t"/>
          <a:lstStyle/>
          <a:p>
            <a:pPr indent="0" marL="0">
              <a:lnSpc>
                <a:spcPct val="110000"/>
              </a:lnSpc>
              <a:buNone/>
            </a:pPr>
            <a:r>
              <a:rPr lang="en-US" sz="1150" b="1" dirty="0">
                <a:solidFill>
                  <a:srgbClr val="F8F9FA"/>
                </a:solidFill>
                <a:latin typeface="Arial" pitchFamily="34" charset="0"/>
                <a:ea typeface="Arial" pitchFamily="34" charset="-122"/>
                <a:cs typeface="Arial" pitchFamily="34" charset="-120"/>
              </a:rPr>
              <a:t>Oxidation Barrier</a:t>
            </a:r>
            <a:endParaRPr lang="en-US" sz="1150" dirty="0"/>
          </a:p>
        </p:txBody>
      </p:sp>
      <p:sp>
        <p:nvSpPr>
          <p:cNvPr id="34" name="Text 32"/>
          <p:cNvSpPr/>
          <p:nvPr/>
        </p:nvSpPr>
        <p:spPr>
          <a:xfrm>
            <a:off x="6601968" y="5413248"/>
            <a:ext cx="3886200" cy="384048"/>
          </a:xfrm>
          <a:prstGeom prst="rect">
            <a:avLst/>
          </a:prstGeom>
          <a:noFill/>
          <a:ln/>
        </p:spPr>
        <p:txBody>
          <a:bodyPr wrap="square" rtlCol="0" anchor="t"/>
          <a:lstStyle/>
          <a:p>
            <a:pPr algn="l" indent="0" marL="0">
              <a:lnSpc>
                <a:spcPct val="124000"/>
              </a:lnSpc>
              <a:buNone/>
            </a:pPr>
            <a:r>
              <a:rPr lang="en-US" sz="900" dirty="0">
                <a:solidFill>
                  <a:srgbClr val="AAB6CC"/>
                </a:solidFill>
                <a:latin typeface="Calibri" pitchFamily="34" charset="0"/>
                <a:ea typeface="Calibri" pitchFamily="34" charset="-122"/>
                <a:cs typeface="Calibri" pitchFamily="34" charset="-120"/>
              </a:rPr>
              <a:t>minimum chromium requirement</a:t>
            </a:r>
            <a:endParaRPr lang="en-US" sz="900" dirty="0"/>
          </a:p>
        </p:txBody>
      </p:sp>
      <p:sp>
        <p:nvSpPr>
          <p:cNvPr id="35" name="Text 33"/>
          <p:cNvSpPr/>
          <p:nvPr/>
        </p:nvSpPr>
        <p:spPr>
          <a:xfrm>
            <a:off x="10451592" y="5010912"/>
            <a:ext cx="1097280" cy="841248"/>
          </a:xfrm>
          <a:prstGeom prst="rect">
            <a:avLst/>
          </a:prstGeom>
          <a:noFill/>
          <a:ln/>
        </p:spPr>
        <p:txBody>
          <a:bodyPr wrap="square" rtlCol="0" anchor="ctr"/>
          <a:lstStyle/>
          <a:p>
            <a:pPr algn="ctr" indent="0" marL="0">
              <a:buNone/>
            </a:pPr>
            <a:r>
              <a:rPr lang="en-US" sz="1250" b="1" dirty="0">
                <a:solidFill>
                  <a:srgbClr val="FBBF24"/>
                </a:solidFill>
                <a:latin typeface="Arial" pitchFamily="34" charset="0"/>
                <a:ea typeface="Arial" pitchFamily="34" charset="-122"/>
                <a:cs typeface="Arial" pitchFamily="34" charset="-120"/>
              </a:rPr>
              <a:t>≥ 15% Cr</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9125712" y="274320"/>
            <a:ext cx="2560320" cy="219456"/>
          </a:xfrm>
          <a:prstGeom prst="rect">
            <a:avLst/>
          </a:prstGeom>
          <a:noFill/>
          <a:ln/>
        </p:spPr>
        <p:txBody>
          <a:bodyPr wrap="square" rtlCol="0" anchor="ctr"/>
          <a:lstStyle/>
          <a:p>
            <a:pPr algn="r" indent="0" marL="0">
              <a:buNone/>
            </a:pPr>
            <a:r>
              <a:rPr lang="en-US" sz="950" b="1" spc="140" kern="0" dirty="0">
                <a:solidFill>
                  <a:srgbClr val="0B132B"/>
                </a:solidFill>
                <a:latin typeface="Arial" pitchFamily="34" charset="0"/>
                <a:ea typeface="Arial" pitchFamily="34" charset="-122"/>
                <a:cs typeface="Arial" pitchFamily="34" charset="-120"/>
              </a:rPr>
              <a:t>CRYSTAL </a:t>
            </a:r>
            <a:pPr algn="r" indent="0" marL="0">
              <a:buNone/>
            </a:pPr>
            <a:r>
              <a:rPr lang="en-US" sz="950" b="1" spc="140" kern="0" dirty="0">
                <a:solidFill>
                  <a:srgbClr val="0E7C86"/>
                </a:solidFill>
                <a:latin typeface="Arial" pitchFamily="34" charset="0"/>
                <a:ea typeface="Arial" pitchFamily="34" charset="-122"/>
                <a:cs typeface="Arial" pitchFamily="34" charset="-120"/>
              </a:rPr>
              <a:t>PARADIGM</a:t>
            </a:r>
            <a:endParaRPr lang="en-US" sz="950" dirty="0"/>
          </a:p>
        </p:txBody>
      </p:sp>
      <p:sp>
        <p:nvSpPr>
          <p:cNvPr id="3" name="Text 1"/>
          <p:cNvSpPr/>
          <p:nvPr/>
        </p:nvSpPr>
        <p:spPr>
          <a:xfrm>
            <a:off x="11384280" y="6510528"/>
            <a:ext cx="594360" cy="256032"/>
          </a:xfrm>
          <a:prstGeom prst="rect">
            <a:avLst/>
          </a:prstGeom>
          <a:noFill/>
          <a:ln/>
        </p:spPr>
        <p:txBody>
          <a:bodyPr wrap="square" rtlCol="0" anchor="ctr"/>
          <a:lstStyle/>
          <a:p>
            <a:pPr algn="r" indent="0" marL="0">
              <a:buNone/>
            </a:pPr>
            <a:r>
              <a:rPr lang="en-US" sz="850" dirty="0">
                <a:solidFill>
                  <a:srgbClr val="5B6B8C"/>
                </a:solidFill>
                <a:latin typeface="Calibri" pitchFamily="34" charset="0"/>
                <a:ea typeface="Calibri" pitchFamily="34" charset="-122"/>
                <a:cs typeface="Calibri" pitchFamily="34" charset="-120"/>
              </a:rPr>
              <a:t>8 / 18</a:t>
            </a:r>
            <a:endParaRPr lang="en-US" sz="850" dirty="0"/>
          </a:p>
        </p:txBody>
      </p:sp>
      <p:sp>
        <p:nvSpPr>
          <p:cNvPr id="4" name="Text 2"/>
          <p:cNvSpPr/>
          <p:nvPr/>
        </p:nvSpPr>
        <p:spPr>
          <a:xfrm>
            <a:off x="502920" y="384048"/>
            <a:ext cx="5486400" cy="274320"/>
          </a:xfrm>
          <a:prstGeom prst="rect">
            <a:avLst/>
          </a:prstGeom>
          <a:noFill/>
          <a:ln/>
        </p:spPr>
        <p:txBody>
          <a:bodyPr wrap="square" rtlCol="0" anchor="ctr"/>
          <a:lstStyle/>
          <a:p>
            <a:pPr algn="l" indent="0" marL="0">
              <a:buNone/>
            </a:pPr>
            <a:r>
              <a:rPr lang="en-US" sz="1050" b="1" spc="220" kern="0" dirty="0">
                <a:solidFill>
                  <a:srgbClr val="0E7C86"/>
                </a:solidFill>
                <a:latin typeface="Arial" pitchFamily="34" charset="0"/>
                <a:ea typeface="Arial" pitchFamily="34" charset="-122"/>
                <a:cs typeface="Arial" pitchFamily="34" charset="-120"/>
              </a:rPr>
              <a:t>VERIFICATION &amp; TRL STATUS</a:t>
            </a:r>
            <a:endParaRPr lang="en-US" sz="1050" dirty="0"/>
          </a:p>
        </p:txBody>
      </p:sp>
      <p:sp>
        <p:nvSpPr>
          <p:cNvPr id="5" name="Text 3"/>
          <p:cNvSpPr/>
          <p:nvPr/>
        </p:nvSpPr>
        <p:spPr>
          <a:xfrm>
            <a:off x="502920" y="658368"/>
            <a:ext cx="11183112" cy="457200"/>
          </a:xfrm>
          <a:prstGeom prst="rect">
            <a:avLst/>
          </a:prstGeom>
          <a:noFill/>
          <a:ln/>
        </p:spPr>
        <p:txBody>
          <a:bodyPr wrap="square" rtlCol="0" anchor="ctr"/>
          <a:lstStyle/>
          <a:p>
            <a:pPr algn="l" indent="0" marL="0">
              <a:lnSpc>
                <a:spcPct val="108000"/>
              </a:lnSpc>
              <a:buNone/>
            </a:pPr>
            <a:r>
              <a:rPr lang="en-US" sz="2100" b="1" spc="20" kern="0" dirty="0">
                <a:solidFill>
                  <a:srgbClr val="0B132B"/>
                </a:solidFill>
                <a:latin typeface="Arial" pitchFamily="34" charset="0"/>
                <a:ea typeface="Arial" pitchFamily="34" charset="-122"/>
                <a:cs typeface="Arial" pitchFamily="34" charset="-120"/>
              </a:rPr>
              <a:t>WHAT IS PROVEN TODAY AND WHAT IS NOT</a:t>
            </a:r>
            <a:endParaRPr lang="en-US" sz="2100" dirty="0"/>
          </a:p>
        </p:txBody>
      </p:sp>
      <p:sp>
        <p:nvSpPr>
          <p:cNvPr id="6" name="Text 4"/>
          <p:cNvSpPr/>
          <p:nvPr/>
        </p:nvSpPr>
        <p:spPr>
          <a:xfrm>
            <a:off x="502920" y="1097280"/>
            <a:ext cx="11183112" cy="292608"/>
          </a:xfrm>
          <a:prstGeom prst="rect">
            <a:avLst/>
          </a:prstGeom>
          <a:noFill/>
          <a:ln/>
        </p:spPr>
        <p:txBody>
          <a:bodyPr wrap="square" rtlCol="0" anchor="ctr"/>
          <a:lstStyle/>
          <a:p>
            <a:pPr algn="l" indent="0" marL="0">
              <a:buNone/>
            </a:pPr>
            <a:r>
              <a:rPr lang="en-US" sz="1300" b="1" dirty="0">
                <a:solidFill>
                  <a:srgbClr val="0E7C86"/>
                </a:solidFill>
                <a:latin typeface="Arial" pitchFamily="34" charset="0"/>
                <a:ea typeface="Arial" pitchFamily="34" charset="-122"/>
                <a:cs typeface="Arial" pitchFamily="34" charset="-120"/>
              </a:rPr>
              <a:t>High-Fidelity Verification Metrics and TRL Maturity Status</a:t>
            </a:r>
            <a:endParaRPr lang="en-US" sz="1300" dirty="0"/>
          </a:p>
        </p:txBody>
      </p:sp>
      <p:sp>
        <p:nvSpPr>
          <p:cNvPr id="7" name="Text 5"/>
          <p:cNvSpPr/>
          <p:nvPr/>
        </p:nvSpPr>
        <p:spPr>
          <a:xfrm>
            <a:off x="502920" y="1444752"/>
            <a:ext cx="11183112" cy="658368"/>
          </a:xfrm>
          <a:prstGeom prst="rect">
            <a:avLst/>
          </a:prstGeom>
          <a:noFill/>
          <a:ln/>
        </p:spPr>
        <p:txBody>
          <a:bodyPr wrap="square" rtlCol="0" anchor="ctr"/>
          <a:lstStyle/>
          <a:p>
            <a:pPr algn="l" indent="0" marL="0">
              <a:lnSpc>
                <a:spcPct val="124000"/>
              </a:lnSpc>
              <a:buNone/>
            </a:pPr>
            <a:r>
              <a:rPr lang="en-US" sz="1250" dirty="0">
                <a:solidFill>
                  <a:srgbClr val="5B6B8C"/>
                </a:solidFill>
                <a:latin typeface="Calibri" pitchFamily="34" charset="0"/>
                <a:ea typeface="Calibri" pitchFamily="34" charset="-122"/>
                <a:cs typeface="Calibri" pitchFamily="34" charset="-120"/>
              </a:rPr>
              <a:t>Our platform is currently at </a:t>
            </a:r>
            <a:pPr algn="l" indent="0" marL="0">
              <a:lnSpc>
                <a:spcPct val="124000"/>
              </a:lnSpc>
              <a:buNone/>
            </a:pPr>
            <a:r>
              <a:rPr lang="en-US" sz="1250" b="1" dirty="0">
                <a:solidFill>
                  <a:srgbClr val="0E7C86"/>
                </a:solidFill>
                <a:latin typeface="Calibri" pitchFamily="34" charset="0"/>
                <a:ea typeface="Calibri" pitchFamily="34" charset="-122"/>
                <a:cs typeface="Calibri" pitchFamily="34" charset="-120"/>
              </a:rPr>
              <a:t>TRL 3+</a:t>
            </a:r>
            <a:pPr algn="l" indent="0" marL="0">
              <a:lnSpc>
                <a:spcPct val="124000"/>
              </a:lnSpc>
              <a:buNone/>
            </a:pPr>
            <a:r>
              <a:rPr lang="en-US" sz="1250" dirty="0">
                <a:solidFill>
                  <a:srgbClr val="5B6B8C"/>
                </a:solidFill>
                <a:latin typeface="Calibri" pitchFamily="34" charset="0"/>
                <a:ea typeface="Calibri" pitchFamily="34" charset="-122"/>
                <a:cs typeface="Calibri" pitchFamily="34" charset="-120"/>
              </a:rPr>
              <a:t>. All computational physics and validations are fully confirmed in-silico via </a:t>
            </a:r>
            <a:pPr algn="l" indent="0" marL="0">
              <a:lnSpc>
                <a:spcPct val="124000"/>
              </a:lnSpc>
              <a:buNone/>
            </a:pPr>
            <a:r>
              <a:rPr lang="en-US" sz="1250" b="1" dirty="0">
                <a:solidFill>
                  <a:srgbClr val="0E7C86"/>
                </a:solidFill>
                <a:latin typeface="Calibri" pitchFamily="34" charset="0"/>
                <a:ea typeface="Calibri" pitchFamily="34" charset="-122"/>
                <a:cs typeface="Calibri" pitchFamily="34" charset="-120"/>
              </a:rPr>
              <a:t>PyCalphad, 1D/3D FEA, and MACE MD</a:t>
            </a:r>
            <a:pPr algn="l" indent="0" marL="0">
              <a:lnSpc>
                <a:spcPct val="124000"/>
              </a:lnSpc>
              <a:buNone/>
            </a:pPr>
            <a:r>
              <a:rPr lang="en-US" sz="1250" dirty="0">
                <a:solidFill>
                  <a:srgbClr val="5B6B8C"/>
                </a:solidFill>
                <a:latin typeface="Calibri" pitchFamily="34" charset="0"/>
                <a:ea typeface="Calibri" pitchFamily="34" charset="-122"/>
                <a:cs typeface="Calibri" pitchFamily="34" charset="-120"/>
              </a:rPr>
              <a:t>. We are applying to SCIDIP to execute physical TRL 4 lab validation utilizing IIT Delhi's </a:t>
            </a:r>
            <a:pPr algn="l" indent="0" marL="0">
              <a:lnSpc>
                <a:spcPct val="124000"/>
              </a:lnSpc>
              <a:buNone/>
            </a:pPr>
            <a:r>
              <a:rPr lang="en-US" sz="1250" b="1" dirty="0">
                <a:solidFill>
                  <a:srgbClr val="0E7C86"/>
                </a:solidFill>
                <a:latin typeface="Calibri" pitchFamily="34" charset="0"/>
                <a:ea typeface="Calibri" pitchFamily="34" charset="-122"/>
                <a:cs typeface="Calibri" pitchFamily="34" charset="-120"/>
              </a:rPr>
              <a:t>Central Research Facility (CRF)</a:t>
            </a:r>
            <a:pPr algn="l" indent="0" marL="0">
              <a:lnSpc>
                <a:spcPct val="124000"/>
              </a:lnSpc>
              <a:buNone/>
            </a:pPr>
            <a:r>
              <a:rPr lang="en-US" sz="1250" dirty="0">
                <a:solidFill>
                  <a:srgbClr val="5B6B8C"/>
                </a:solidFill>
                <a:latin typeface="Calibri" pitchFamily="34" charset="0"/>
                <a:ea typeface="Calibri" pitchFamily="34" charset="-122"/>
                <a:cs typeface="Calibri" pitchFamily="34" charset="-120"/>
              </a:rPr>
              <a:t> and </a:t>
            </a:r>
            <a:pPr algn="l" indent="0" marL="0">
              <a:lnSpc>
                <a:spcPct val="124000"/>
              </a:lnSpc>
              <a:buNone/>
            </a:pPr>
            <a:r>
              <a:rPr lang="en-US" sz="1250" b="1" dirty="0">
                <a:solidFill>
                  <a:srgbClr val="0E7C86"/>
                </a:solidFill>
                <a:latin typeface="Calibri" pitchFamily="34" charset="0"/>
                <a:ea typeface="Calibri" pitchFamily="34" charset="-122"/>
                <a:cs typeface="Calibri" pitchFamily="34" charset="-120"/>
              </a:rPr>
              <a:t>NIDHI-CoE</a:t>
            </a:r>
            <a:pPr algn="l" indent="0" marL="0">
              <a:lnSpc>
                <a:spcPct val="124000"/>
              </a:lnSpc>
              <a:buNone/>
            </a:pPr>
            <a:r>
              <a:rPr lang="en-US" sz="1250" dirty="0">
                <a:solidFill>
                  <a:srgbClr val="5B6B8C"/>
                </a:solidFill>
                <a:latin typeface="Calibri" pitchFamily="34" charset="0"/>
                <a:ea typeface="Calibri" pitchFamily="34" charset="-122"/>
                <a:cs typeface="Calibri" pitchFamily="34" charset="-120"/>
              </a:rPr>
              <a:t>.</a:t>
            </a:r>
            <a:endParaRPr lang="en-US" sz="1250" dirty="0"/>
          </a:p>
        </p:txBody>
      </p:sp>
      <p:sp>
        <p:nvSpPr>
          <p:cNvPr id="8" name="Shape 6"/>
          <p:cNvSpPr/>
          <p:nvPr/>
        </p:nvSpPr>
        <p:spPr>
          <a:xfrm>
            <a:off x="411480" y="2194560"/>
            <a:ext cx="11365992" cy="3977640"/>
          </a:xfrm>
          <a:prstGeom prst="roundRect">
            <a:avLst>
              <a:gd name="adj" fmla="val 3678"/>
            </a:avLst>
          </a:prstGeom>
          <a:solidFill>
            <a:srgbClr val="0B132B"/>
          </a:solidFill>
          <a:ln w="9525">
            <a:solidFill>
              <a:srgbClr val="2A3B63"/>
            </a:solidFill>
            <a:prstDash val="solid"/>
          </a:ln>
          <a:effectLst>
            <a:outerShdw sx="100000" sy="100000" kx="0" ky="0" algn="bl" rotWithShape="0" blurRad="127000" dist="38100" dir="5400000">
              <a:srgbClr val="1A2138">
                <a:alpha val="28000"/>
              </a:srgbClr>
            </a:outerShdw>
          </a:effectLst>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2286000"/>
          <a:ext cx="11183112" cy="914400"/>
        </p:xfrm>
        <a:graphic>
          <a:graphicData uri="http://schemas.openxmlformats.org/drawingml/2006/table">
            <a:tbl>
              <a:tblPr/>
              <a:tblGrid>
                <a:gridCol w="2331720"/>
                <a:gridCol w="2240280"/>
                <a:gridCol w="2743200"/>
                <a:gridCol w="2286000"/>
                <a:gridCol w="1581912"/>
              </a:tblGrid>
              <a:tr h="438912">
                <a:tc>
                  <a:txBody>
                    <a:bodyPr/>
                    <a:lstStyle/>
                    <a:p>
                      <a:pPr algn="l" indent="0" marL="0">
                        <a:buNone/>
                      </a:pPr>
                      <a:r>
                        <a:rPr lang="en-US" sz="1000" b="1" dirty="0">
                          <a:solidFill>
                            <a:srgbClr val="F8F9FA"/>
                          </a:solidFill>
                          <a:latin typeface="Calibri" pitchFamily="34" charset="0"/>
                          <a:ea typeface="Calibri" pitchFamily="34" charset="-122"/>
                          <a:cs typeface="Calibri" pitchFamily="34" charset="-120"/>
                        </a:rPr>
                        <a:t>Evaluation Vector</a:t>
                      </a:r>
                      <a:endParaRPr lang="en-US" sz="1000" dirty="0">
                        <a:latin typeface="Calibri" charset="0"/>
                        <a:ea typeface="Calibri" charset="0"/>
                        <a:cs typeface="Calibri" charset="0"/>
                      </a:endParaRPr>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0B132B"/>
                    </a:solidFill>
                  </a:tcPr>
                </a:tc>
                <a:tc>
                  <a:txBody>
                    <a:bodyPr/>
                    <a:lstStyle/>
                    <a:p>
                      <a:pPr algn="l" indent="0" marL="0">
                        <a:buNone/>
                      </a:pPr>
                      <a:r>
                        <a:rPr lang="en-US" sz="1000" b="1" dirty="0">
                          <a:solidFill>
                            <a:srgbClr val="F8F9FA"/>
                          </a:solidFill>
                          <a:latin typeface="Calibri" pitchFamily="34" charset="0"/>
                          <a:ea typeface="Calibri" pitchFamily="34" charset="-122"/>
                          <a:cs typeface="Calibri" pitchFamily="34" charset="-120"/>
                        </a:rPr>
                        <a:t>Model / In Silico Status</a:t>
                      </a:r>
                      <a:endParaRPr lang="en-US" sz="1000" dirty="0">
                        <a:latin typeface="Calibri" charset="0"/>
                        <a:ea typeface="Calibri" charset="0"/>
                        <a:cs typeface="Calibri" charset="0"/>
                      </a:endParaRPr>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0B132B"/>
                    </a:solidFill>
                  </a:tcPr>
                </a:tc>
                <a:tc>
                  <a:txBody>
                    <a:bodyPr/>
                    <a:lstStyle/>
                    <a:p>
                      <a:pPr algn="l" indent="0" marL="0">
                        <a:buNone/>
                      </a:pPr>
                      <a:r>
                        <a:rPr lang="en-US" sz="1000" b="1" dirty="0">
                          <a:solidFill>
                            <a:srgbClr val="F8F9FA"/>
                          </a:solidFill>
                          <a:latin typeface="Calibri" pitchFamily="34" charset="0"/>
                          <a:ea typeface="Calibri" pitchFamily="34" charset="-122"/>
                          <a:cs typeface="Calibri" pitchFamily="34" charset="-120"/>
                        </a:rPr>
                        <a:t>Experimental Lab Status</a:t>
                      </a:r>
                      <a:endParaRPr lang="en-US" sz="1000" dirty="0">
                        <a:latin typeface="Calibri" charset="0"/>
                        <a:ea typeface="Calibri" charset="0"/>
                        <a:cs typeface="Calibri" charset="0"/>
                      </a:endParaRPr>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0B132B"/>
                    </a:solidFill>
                  </a:tcPr>
                </a:tc>
                <a:tc>
                  <a:txBody>
                    <a:bodyPr/>
                    <a:lstStyle/>
                    <a:p>
                      <a:pPr algn="l" indent="0" marL="0">
                        <a:buNone/>
                      </a:pPr>
                      <a:r>
                        <a:rPr lang="en-US" sz="1000" b="1" dirty="0">
                          <a:solidFill>
                            <a:srgbClr val="F8F9FA"/>
                          </a:solidFill>
                          <a:latin typeface="Calibri" pitchFamily="34" charset="0"/>
                          <a:ea typeface="Calibri" pitchFamily="34" charset="-122"/>
                          <a:cs typeface="Calibri" pitchFamily="34" charset="-120"/>
                        </a:rPr>
                        <a:t>Validation Target</a:t>
                      </a:r>
                      <a:endParaRPr lang="en-US" sz="1000" dirty="0">
                        <a:latin typeface="Calibri" charset="0"/>
                        <a:ea typeface="Calibri" charset="0"/>
                        <a:cs typeface="Calibri" charset="0"/>
                      </a:endParaRPr>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0B132B"/>
                    </a:solidFill>
                  </a:tcPr>
                </a:tc>
                <a:tc>
                  <a:txBody>
                    <a:bodyPr/>
                    <a:lstStyle/>
                    <a:p>
                      <a:pPr algn="l" indent="0" marL="0">
                        <a:buNone/>
                      </a:pPr>
                      <a:r>
                        <a:rPr lang="en-US" sz="1000" b="1" dirty="0">
                          <a:solidFill>
                            <a:srgbClr val="F8F9FA"/>
                          </a:solidFill>
                          <a:latin typeface="Calibri" pitchFamily="34" charset="0"/>
                          <a:ea typeface="Calibri" pitchFamily="34" charset="-122"/>
                          <a:cs typeface="Calibri" pitchFamily="34" charset="-120"/>
                        </a:rPr>
                        <a:t>Status</a:t>
                      </a:r>
                      <a:endParaRPr lang="en-US" sz="1000" dirty="0">
                        <a:latin typeface="Calibri" charset="0"/>
                        <a:ea typeface="Calibri" charset="0"/>
                        <a:cs typeface="Calibri" charset="0"/>
                      </a:endParaRPr>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0B132B"/>
                    </a:solidFill>
                  </a:tcPr>
                </a:tc>
              </a:tr>
              <a:tr h="640080">
                <a:tc>
                  <a:txBody>
                    <a:bodyPr/>
                    <a:lstStyle/>
                    <a:p>
                      <a:pPr algn="l" indent="0" marL="0">
                        <a:buNone/>
                      </a:pPr>
                      <a:r>
                        <a:rPr lang="en-US" sz="950" b="1" dirty="0">
                          <a:solidFill>
                            <a:srgbClr val="0B132B"/>
                          </a:solidFill>
                          <a:latin typeface="Calibri" pitchFamily="34" charset="0"/>
                          <a:ea typeface="Calibri" pitchFamily="34" charset="-122"/>
                          <a:cs typeface="Calibri" pitchFamily="34" charset="-120"/>
                        </a:rPr>
                        <a:t>BCC Phase Security</a:t>
                      </a:r>
                      <a:endParaRPr lang="en-US" sz="950" dirty="0">
                        <a:latin typeface="Calibri" charset="0"/>
                        <a:ea typeface="Calibri" charset="0"/>
                        <a:cs typeface="Calibri" charset="0"/>
                      </a:endParaRPr>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1F3F7"/>
                    </a:solidFill>
                  </a:tcPr>
                </a:tc>
                <a:tc>
                  <a:txBody>
                    <a:bodyPr/>
                    <a:lstStyle/>
                    <a:p>
                      <a:pPr algn="l" indent="0" marL="0">
                        <a:buNone/>
                      </a:pPr>
                      <a:r>
                        <a:rPr lang="en-US" sz="950" dirty="0">
                          <a:solidFill>
                            <a:srgbClr val="0B132B"/>
                          </a:solidFill>
                          <a:latin typeface="Calibri" pitchFamily="34" charset="0"/>
                          <a:ea typeface="Calibri" pitchFamily="34" charset="-122"/>
                          <a:cs typeface="Calibri" pitchFamily="34" charset="-120"/>
                        </a:rPr>
                        <a:t>Verified (CALPHAD)</a:t>
                      </a:r>
                      <a:endParaRPr lang="en-US" sz="950" dirty="0">
                        <a:latin typeface="Calibri" charset="0"/>
                        <a:ea typeface="Calibri" charset="0"/>
                        <a:cs typeface="Calibri" charset="0"/>
                      </a:endParaRPr>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1F3F7"/>
                    </a:solidFill>
                  </a:tcPr>
                </a:tc>
                <a:tc>
                  <a:txBody>
                    <a:bodyPr/>
                    <a:lstStyle/>
                    <a:p>
                      <a:pPr algn="l" indent="0" marL="0">
                        <a:buNone/>
                      </a:pPr>
                      <a:r>
                        <a:rPr lang="en-US" sz="950" dirty="0">
                          <a:solidFill>
                            <a:srgbClr val="0B132B"/>
                          </a:solidFill>
                          <a:latin typeface="Calibri" pitchFamily="34" charset="0"/>
                          <a:ea typeface="Calibri" pitchFamily="34" charset="-122"/>
                          <a:cs typeface="Calibri" pitchFamily="34" charset="-120"/>
                        </a:rPr>
                        <a:t>Pending High-Temp XRD (IIT Delhi CRF)</a:t>
                      </a:r>
                      <a:endParaRPr lang="en-US" sz="950" dirty="0">
                        <a:latin typeface="Calibri" charset="0"/>
                        <a:ea typeface="Calibri" charset="0"/>
                        <a:cs typeface="Calibri" charset="0"/>
                      </a:endParaRPr>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1F3F7"/>
                    </a:solidFill>
                  </a:tcPr>
                </a:tc>
                <a:tc>
                  <a:txBody>
                    <a:bodyPr/>
                    <a:lstStyle/>
                    <a:p>
                      <a:pPr algn="l" indent="0" marL="0">
                        <a:buNone/>
                      </a:pPr>
                      <a:r>
                        <a:rPr lang="en-US" sz="950" dirty="0">
                          <a:solidFill>
                            <a:srgbClr val="0B132B"/>
                          </a:solidFill>
                          <a:latin typeface="Calibri" pitchFamily="34" charset="0"/>
                          <a:ea typeface="Calibri" pitchFamily="34" charset="-122"/>
                          <a:cs typeface="Calibri" pitchFamily="34" charset="-120"/>
                        </a:rPr>
                        <a:t>0% Brittle Sigma Phase</a:t>
                      </a:r>
                      <a:endParaRPr lang="en-US" sz="950" dirty="0">
                        <a:latin typeface="Calibri" charset="0"/>
                        <a:ea typeface="Calibri" charset="0"/>
                        <a:cs typeface="Calibri" charset="0"/>
                      </a:endParaRPr>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1F3F7"/>
                    </a:solidFill>
                  </a:tcPr>
                </a:tc>
                <a:tc>
                  <a:txBody>
                    <a:bodyPr/>
                    <a:lstStyle/>
                    <a:p>
                      <a:pPr algn="ctr" indent="0" marL="0">
                        <a:buNone/>
                      </a:pPr>
                      <a:r>
                        <a:rPr lang="en-US" sz="950" b="1" dirty="0">
                          <a:solidFill>
                            <a:srgbClr val="1E8E5A"/>
                          </a:solidFill>
                          <a:latin typeface="Calibri" pitchFamily="34" charset="0"/>
                          <a:ea typeface="Calibri" pitchFamily="34" charset="-122"/>
                          <a:cs typeface="Calibri" pitchFamily="34" charset="-120"/>
                        </a:rPr>
                        <a:t>● VERIFIED</a:t>
                      </a:r>
                      <a:endParaRPr lang="en-US" sz="950" dirty="0">
                        <a:latin typeface="Calibri" charset="0"/>
                        <a:ea typeface="Calibri" charset="0"/>
                        <a:cs typeface="Calibri" charset="0"/>
                      </a:endParaRPr>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E6F4EC"/>
                    </a:solidFill>
                  </a:tcPr>
                </a:tc>
              </a:tr>
              <a:tr h="640080">
                <a:tc>
                  <a:txBody>
                    <a:bodyPr/>
                    <a:lstStyle/>
                    <a:p>
                      <a:pPr algn="l" indent="0" marL="0">
                        <a:buNone/>
                      </a:pPr>
                      <a:r>
                        <a:rPr lang="en-US" sz="950" b="1" dirty="0">
                          <a:solidFill>
                            <a:srgbClr val="0B132B"/>
                          </a:solidFill>
                          <a:latin typeface="Calibri" pitchFamily="34" charset="0"/>
                          <a:ea typeface="Calibri" pitchFamily="34" charset="-122"/>
                          <a:cs typeface="Calibri" pitchFamily="34" charset="-120"/>
                        </a:rPr>
                        <a:t>Elastic Modulus Surface</a:t>
                      </a:r>
                      <a:endParaRPr lang="en-US" sz="950" dirty="0">
                        <a:latin typeface="Calibri" charset="0"/>
                        <a:ea typeface="Calibri" charset="0"/>
                        <a:cs typeface="Calibri" charset="0"/>
                      </a:endParaRPr>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0B132B"/>
                          </a:solidFill>
                          <a:latin typeface="Calibri" pitchFamily="34" charset="0"/>
                          <a:ea typeface="Calibri" pitchFamily="34" charset="-122"/>
                          <a:cs typeface="Calibri" pitchFamily="34" charset="-120"/>
                        </a:rPr>
                        <a:t>Audited (Test R²=0.977)</a:t>
                      </a:r>
                      <a:endParaRPr lang="en-US" sz="950" dirty="0">
                        <a:latin typeface="Calibri" charset="0"/>
                        <a:ea typeface="Calibri" charset="0"/>
                        <a:cs typeface="Calibri" charset="0"/>
                      </a:endParaRPr>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0B132B"/>
                          </a:solidFill>
                          <a:latin typeface="Calibri" pitchFamily="34" charset="0"/>
                          <a:ea typeface="Calibri" pitchFamily="34" charset="-122"/>
                          <a:cs typeface="Calibri" pitchFamily="34" charset="-120"/>
                        </a:rPr>
                        <a:t>Pending NIDHI-CoE Tensile</a:t>
                      </a:r>
                      <a:endParaRPr lang="en-US" sz="950" dirty="0">
                        <a:latin typeface="Calibri" charset="0"/>
                        <a:ea typeface="Calibri" charset="0"/>
                        <a:cs typeface="Calibri" charset="0"/>
                      </a:endParaRPr>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0B132B"/>
                          </a:solidFill>
                          <a:latin typeface="Calibri" pitchFamily="34" charset="0"/>
                          <a:ea typeface="Calibri" pitchFamily="34" charset="-122"/>
                          <a:cs typeface="Calibri" pitchFamily="34" charset="-120"/>
                        </a:rPr>
                        <a:t>MAE ≤ 8.11 GPa</a:t>
                      </a:r>
                      <a:endParaRPr lang="en-US" sz="950" dirty="0">
                        <a:latin typeface="Calibri" charset="0"/>
                        <a:ea typeface="Calibri" charset="0"/>
                        <a:cs typeface="Calibri" charset="0"/>
                      </a:endParaRPr>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8E5A"/>
                          </a:solidFill>
                          <a:latin typeface="Calibri" pitchFamily="34" charset="0"/>
                          <a:ea typeface="Calibri" pitchFamily="34" charset="-122"/>
                          <a:cs typeface="Calibri" pitchFamily="34" charset="-120"/>
                        </a:rPr>
                        <a:t>● VERIFIED</a:t>
                      </a:r>
                      <a:endParaRPr lang="en-US" sz="950" dirty="0">
                        <a:latin typeface="Calibri" charset="0"/>
                        <a:ea typeface="Calibri" charset="0"/>
                        <a:cs typeface="Calibri" charset="0"/>
                      </a:endParaRPr>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E6F4EC"/>
                    </a:solidFill>
                  </a:tcPr>
                </a:tc>
              </a:tr>
              <a:tr h="640080">
                <a:tc>
                  <a:txBody>
                    <a:bodyPr/>
                    <a:lstStyle/>
                    <a:p>
                      <a:pPr algn="l" indent="0" marL="0">
                        <a:buNone/>
                      </a:pPr>
                      <a:r>
                        <a:rPr lang="en-US" sz="950" b="1" dirty="0">
                          <a:solidFill>
                            <a:srgbClr val="0B132B"/>
                          </a:solidFill>
                          <a:latin typeface="Calibri" pitchFamily="34" charset="0"/>
                          <a:ea typeface="Calibri" pitchFamily="34" charset="-122"/>
                          <a:cs typeface="Calibri" pitchFamily="34" charset="-120"/>
                        </a:rPr>
                        <a:t>Oxidation Scale Kinetics</a:t>
                      </a:r>
                      <a:endParaRPr lang="en-US" sz="950" dirty="0">
                        <a:latin typeface="Calibri" charset="0"/>
                        <a:ea typeface="Calibri" charset="0"/>
                        <a:cs typeface="Calibri" charset="0"/>
                      </a:endParaRPr>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1F3F7"/>
                    </a:solidFill>
                  </a:tcPr>
                </a:tc>
                <a:tc>
                  <a:txBody>
                    <a:bodyPr/>
                    <a:lstStyle/>
                    <a:p>
                      <a:pPr algn="l" indent="0" marL="0">
                        <a:buNone/>
                      </a:pPr>
                      <a:r>
                        <a:rPr lang="en-US" sz="950" dirty="0">
                          <a:solidFill>
                            <a:srgbClr val="0B132B"/>
                          </a:solidFill>
                          <a:latin typeface="Calibri" pitchFamily="34" charset="0"/>
                          <a:ea typeface="Calibri" pitchFamily="34" charset="-122"/>
                          <a:cs typeface="Calibri" pitchFamily="34" charset="-120"/>
                        </a:rPr>
                        <a:t>Verified (2.8% Al Pivot)</a:t>
                      </a:r>
                      <a:endParaRPr lang="en-US" sz="950" dirty="0">
                        <a:latin typeface="Calibri" charset="0"/>
                        <a:ea typeface="Calibri" charset="0"/>
                        <a:cs typeface="Calibri" charset="0"/>
                      </a:endParaRPr>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1F3F7"/>
                    </a:solidFill>
                  </a:tcPr>
                </a:tc>
                <a:tc>
                  <a:txBody>
                    <a:bodyPr/>
                    <a:lstStyle/>
                    <a:p>
                      <a:pPr algn="l" indent="0" marL="0">
                        <a:buNone/>
                      </a:pPr>
                      <a:r>
                        <a:rPr lang="en-US" sz="950" dirty="0">
                          <a:solidFill>
                            <a:srgbClr val="0B132B"/>
                          </a:solidFill>
                          <a:latin typeface="Calibri" pitchFamily="34" charset="0"/>
                          <a:ea typeface="Calibri" pitchFamily="34" charset="-122"/>
                          <a:cs typeface="Calibri" pitchFamily="34" charset="-120"/>
                        </a:rPr>
                        <a:t>Pending STA/TGA Weight (IIT Delhi)</a:t>
                      </a:r>
                      <a:endParaRPr lang="en-US" sz="950" dirty="0">
                        <a:latin typeface="Calibri" charset="0"/>
                        <a:ea typeface="Calibri" charset="0"/>
                        <a:cs typeface="Calibri" charset="0"/>
                      </a:endParaRPr>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1F3F7"/>
                    </a:solidFill>
                  </a:tcPr>
                </a:tc>
                <a:tc>
                  <a:txBody>
                    <a:bodyPr/>
                    <a:lstStyle/>
                    <a:p>
                      <a:pPr algn="l" indent="0" marL="0">
                        <a:buNone/>
                      </a:pPr>
                      <a:r>
                        <a:rPr lang="en-US" sz="950" dirty="0">
                          <a:solidFill>
                            <a:srgbClr val="0B132B"/>
                          </a:solidFill>
                          <a:latin typeface="Calibri" pitchFamily="34" charset="0"/>
                          <a:ea typeface="Calibri" pitchFamily="34" charset="-122"/>
                          <a:cs typeface="Calibri" pitchFamily="34" charset="-120"/>
                        </a:rPr>
                        <a:t>Mass Gain &lt; 10 mg/cm²</a:t>
                      </a:r>
                      <a:endParaRPr lang="en-US" sz="950" dirty="0">
                        <a:latin typeface="Calibri" charset="0"/>
                        <a:ea typeface="Calibri" charset="0"/>
                        <a:cs typeface="Calibri" charset="0"/>
                      </a:endParaRPr>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1F3F7"/>
                    </a:solidFill>
                  </a:tcPr>
                </a:tc>
                <a:tc>
                  <a:txBody>
                    <a:bodyPr/>
                    <a:lstStyle/>
                    <a:p>
                      <a:pPr algn="ctr" indent="0" marL="0">
                        <a:buNone/>
                      </a:pPr>
                      <a:r>
                        <a:rPr lang="en-US" sz="950" b="1" dirty="0">
                          <a:solidFill>
                            <a:srgbClr val="1E8E5A"/>
                          </a:solidFill>
                          <a:latin typeface="Calibri" pitchFamily="34" charset="0"/>
                          <a:ea typeface="Calibri" pitchFamily="34" charset="-122"/>
                          <a:cs typeface="Calibri" pitchFamily="34" charset="-120"/>
                        </a:rPr>
                        <a:t>● VERIFIED</a:t>
                      </a:r>
                      <a:endParaRPr lang="en-US" sz="950" dirty="0">
                        <a:latin typeface="Calibri" charset="0"/>
                        <a:ea typeface="Calibri" charset="0"/>
                        <a:cs typeface="Calibri" charset="0"/>
                      </a:endParaRPr>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E6F4EC"/>
                    </a:solidFill>
                  </a:tcPr>
                </a:tc>
              </a:tr>
              <a:tr h="640080">
                <a:tc>
                  <a:txBody>
                    <a:bodyPr/>
                    <a:lstStyle/>
                    <a:p>
                      <a:pPr algn="l" indent="0" marL="0">
                        <a:buNone/>
                      </a:pPr>
                      <a:r>
                        <a:rPr lang="en-US" sz="950" b="1" dirty="0">
                          <a:solidFill>
                            <a:srgbClr val="0B132B"/>
                          </a:solidFill>
                          <a:latin typeface="Calibri" pitchFamily="34" charset="0"/>
                          <a:ea typeface="Calibri" pitchFamily="34" charset="-122"/>
                          <a:cs typeface="Calibri" pitchFamily="34" charset="-120"/>
                        </a:rPr>
                        <a:t>Interfacial Bond Safety</a:t>
                      </a:r>
                      <a:endParaRPr lang="en-US" sz="950" dirty="0">
                        <a:latin typeface="Calibri" charset="0"/>
                        <a:ea typeface="Calibri" charset="0"/>
                        <a:cs typeface="Calibri" charset="0"/>
                      </a:endParaRPr>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0B132B"/>
                          </a:solidFill>
                          <a:latin typeface="Calibri" pitchFamily="34" charset="0"/>
                          <a:ea typeface="Calibri" pitchFamily="34" charset="-122"/>
                          <a:cs typeface="Calibri" pitchFamily="34" charset="-120"/>
                        </a:rPr>
                        <a:t>Verified (1D/3D FEA)</a:t>
                      </a:r>
                      <a:endParaRPr lang="en-US" sz="950" dirty="0">
                        <a:latin typeface="Calibri" charset="0"/>
                        <a:ea typeface="Calibri" charset="0"/>
                        <a:cs typeface="Calibri" charset="0"/>
                      </a:endParaRPr>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0B132B"/>
                          </a:solidFill>
                          <a:latin typeface="Calibri" pitchFamily="34" charset="0"/>
                          <a:ea typeface="Calibri" pitchFamily="34" charset="-122"/>
                          <a:cs typeface="Calibri" pitchFamily="34" charset="-120"/>
                        </a:rPr>
                        <a:t>Pending Burner Rig Adhesion Test</a:t>
                      </a:r>
                      <a:endParaRPr lang="en-US" sz="950" dirty="0">
                        <a:latin typeface="Calibri" charset="0"/>
                        <a:ea typeface="Calibri" charset="0"/>
                        <a:cs typeface="Calibri" charset="0"/>
                      </a:endParaRPr>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0B132B"/>
                          </a:solidFill>
                          <a:latin typeface="Calibri" pitchFamily="34" charset="0"/>
                          <a:ea typeface="Calibri" pitchFamily="34" charset="-122"/>
                          <a:cs typeface="Calibri" pitchFamily="34" charset="-120"/>
                        </a:rPr>
                        <a:t>Safety Factor ≥ 1.50</a:t>
                      </a:r>
                      <a:endParaRPr lang="en-US" sz="950" dirty="0">
                        <a:latin typeface="Calibri" charset="0"/>
                        <a:ea typeface="Calibri" charset="0"/>
                        <a:cs typeface="Calibri" charset="0"/>
                      </a:endParaRPr>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8E5A"/>
                          </a:solidFill>
                          <a:latin typeface="Calibri" pitchFamily="34" charset="0"/>
                          <a:ea typeface="Calibri" pitchFamily="34" charset="-122"/>
                          <a:cs typeface="Calibri" pitchFamily="34" charset="-120"/>
                        </a:rPr>
                        <a:t>● VERIFIED</a:t>
                      </a:r>
                      <a:endParaRPr lang="en-US" sz="950" dirty="0">
                        <a:latin typeface="Calibri" charset="0"/>
                        <a:ea typeface="Calibri" charset="0"/>
                        <a:cs typeface="Calibri" charset="0"/>
                      </a:endParaRPr>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E6F4EC"/>
                    </a:solidFill>
                  </a:tcPr>
                </a:tc>
              </a:tr>
              <a:tr h="530352">
                <a:tc>
                  <a:txBody>
                    <a:bodyPr/>
                    <a:lstStyle/>
                    <a:p>
                      <a:pPr algn="l" indent="0" marL="0">
                        <a:buNone/>
                      </a:pPr>
                      <a:r>
                        <a:rPr lang="en-US" sz="950" b="1" dirty="0">
                          <a:solidFill>
                            <a:srgbClr val="0B132B"/>
                          </a:solidFill>
                          <a:latin typeface="Calibri" pitchFamily="34" charset="0"/>
                          <a:ea typeface="Calibri" pitchFamily="34" charset="-122"/>
                          <a:cs typeface="Calibri" pitchFamily="34" charset="-120"/>
                        </a:rPr>
                        <a:t>Physical Prototyping</a:t>
                      </a:r>
                      <a:endParaRPr lang="en-US" sz="950" dirty="0">
                        <a:latin typeface="Calibri" charset="0"/>
                        <a:ea typeface="Calibri" charset="0"/>
                        <a:cs typeface="Calibri" charset="0"/>
                      </a:endParaRPr>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1F3F7"/>
                    </a:solidFill>
                  </a:tcPr>
                </a:tc>
                <a:tc>
                  <a:txBody>
                    <a:bodyPr/>
                    <a:lstStyle/>
                    <a:p>
                      <a:pPr algn="l" indent="0" marL="0">
                        <a:buNone/>
                      </a:pPr>
                      <a:r>
                        <a:rPr lang="en-US" sz="950" dirty="0">
                          <a:solidFill>
                            <a:srgbClr val="0B132B"/>
                          </a:solidFill>
                          <a:latin typeface="Calibri" pitchFamily="34" charset="0"/>
                          <a:ea typeface="Calibri" pitchFamily="34" charset="-122"/>
                          <a:cs typeface="Calibri" pitchFamily="34" charset="-120"/>
                        </a:rPr>
                        <a:t>Fully Formulated</a:t>
                      </a:r>
                      <a:endParaRPr lang="en-US" sz="950" dirty="0">
                        <a:latin typeface="Calibri" charset="0"/>
                        <a:ea typeface="Calibri" charset="0"/>
                        <a:cs typeface="Calibri" charset="0"/>
                      </a:endParaRPr>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1F3F7"/>
                    </a:solidFill>
                  </a:tcPr>
                </a:tc>
                <a:tc>
                  <a:txBody>
                    <a:bodyPr/>
                    <a:lstStyle/>
                    <a:p>
                      <a:pPr algn="l" indent="0" marL="0">
                        <a:buNone/>
                      </a:pPr>
                      <a:r>
                        <a:rPr lang="en-US" sz="950" dirty="0">
                          <a:solidFill>
                            <a:srgbClr val="0B132B"/>
                          </a:solidFill>
                          <a:latin typeface="Calibri" pitchFamily="34" charset="0"/>
                          <a:ea typeface="Calibri" pitchFamily="34" charset="-122"/>
                          <a:cs typeface="Calibri" pitchFamily="34" charset="-120"/>
                        </a:rPr>
                        <a:t>Not Yet Tested</a:t>
                      </a:r>
                      <a:endParaRPr lang="en-US" sz="950" dirty="0">
                        <a:latin typeface="Calibri" charset="0"/>
                        <a:ea typeface="Calibri" charset="0"/>
                        <a:cs typeface="Calibri" charset="0"/>
                      </a:endParaRPr>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1F3F7"/>
                    </a:solidFill>
                  </a:tcPr>
                </a:tc>
                <a:tc>
                  <a:txBody>
                    <a:bodyPr/>
                    <a:lstStyle/>
                    <a:p>
                      <a:pPr algn="l" indent="0" marL="0">
                        <a:buNone/>
                      </a:pPr>
                      <a:r>
                        <a:rPr lang="en-US" sz="950" dirty="0">
                          <a:solidFill>
                            <a:srgbClr val="0B132B"/>
                          </a:solidFill>
                          <a:latin typeface="Calibri" pitchFamily="34" charset="0"/>
                          <a:ea typeface="Calibri" pitchFamily="34" charset="-122"/>
                          <a:cs typeface="Calibri" pitchFamily="34" charset="-120"/>
                        </a:rPr>
                        <a:t>TRL 4 Coupon Assembly</a:t>
                      </a:r>
                      <a:endParaRPr lang="en-US" sz="950" dirty="0">
                        <a:latin typeface="Calibri" charset="0"/>
                        <a:ea typeface="Calibri" charset="0"/>
                        <a:cs typeface="Calibri" charset="0"/>
                      </a:endParaRPr>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1F3F7"/>
                    </a:solidFill>
                  </a:tcPr>
                </a:tc>
                <a:tc>
                  <a:txBody>
                    <a:bodyPr/>
                    <a:lstStyle/>
                    <a:p>
                      <a:pPr algn="ctr" indent="0" marL="0">
                        <a:buNone/>
                      </a:pPr>
                      <a:r>
                        <a:rPr lang="en-US" sz="950" b="1" dirty="0">
                          <a:solidFill>
                            <a:srgbClr val="9A6A00"/>
                          </a:solidFill>
                          <a:latin typeface="Calibri" pitchFamily="34" charset="0"/>
                          <a:ea typeface="Calibri" pitchFamily="34" charset="-122"/>
                          <a:cs typeface="Calibri" pitchFamily="34" charset="-120"/>
                        </a:rPr>
                        <a:t>● PENDING</a:t>
                      </a:r>
                      <a:endParaRPr lang="en-US" sz="950" dirty="0">
                        <a:latin typeface="Calibri" charset="0"/>
                        <a:ea typeface="Calibri" charset="0"/>
                        <a:cs typeface="Calibri" charset="0"/>
                      </a:endParaRPr>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CF1DC"/>
                    </a:solidFill>
                  </a:tcPr>
                </a:tc>
              </a:tr>
            </a:tbl>
          </a:graphicData>
        </a:graphic>
      </p:graphicFrame>
      <p:sp>
        <p:nvSpPr>
          <p:cNvPr id="10" name="Text 7"/>
          <p:cNvSpPr/>
          <p:nvPr/>
        </p:nvSpPr>
        <p:spPr>
          <a:xfrm>
            <a:off x="502920" y="6510528"/>
            <a:ext cx="9601200" cy="256032"/>
          </a:xfrm>
          <a:prstGeom prst="rect">
            <a:avLst/>
          </a:prstGeom>
          <a:noFill/>
          <a:ln/>
        </p:spPr>
        <p:txBody>
          <a:bodyPr wrap="square" rtlCol="0" anchor="ctr"/>
          <a:lstStyle/>
          <a:p>
            <a:pPr algn="l" indent="0" marL="0">
              <a:buNone/>
            </a:pPr>
            <a:r>
              <a:rPr lang="en-US" sz="850" dirty="0">
                <a:solidFill>
                  <a:srgbClr val="5B6B8C"/>
                </a:solidFill>
                <a:latin typeface="Calibri" pitchFamily="34" charset="0"/>
                <a:ea typeface="Calibri" pitchFamily="34" charset="-122"/>
                <a:cs typeface="Calibri" pitchFamily="34" charset="-120"/>
              </a:rPr>
              <a:t>PyCalphad · 1D/3D FEA · MACE MD  —  IIT Delhi CRF &amp; NIDHI-CoE for physical TRL 4 validation</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9125712" y="274320"/>
            <a:ext cx="2560320" cy="219456"/>
          </a:xfrm>
          <a:prstGeom prst="rect">
            <a:avLst/>
          </a:prstGeom>
          <a:noFill/>
          <a:ln/>
        </p:spPr>
        <p:txBody>
          <a:bodyPr wrap="square" rtlCol="0" anchor="ctr"/>
          <a:lstStyle/>
          <a:p>
            <a:pPr algn="r" indent="0" marL="0">
              <a:buNone/>
            </a:pPr>
            <a:r>
              <a:rPr lang="en-US" sz="950" b="1" spc="140" kern="0" dirty="0">
                <a:solidFill>
                  <a:srgbClr val="0B132B"/>
                </a:solidFill>
                <a:latin typeface="Arial" pitchFamily="34" charset="0"/>
                <a:ea typeface="Arial" pitchFamily="34" charset="-122"/>
                <a:cs typeface="Arial" pitchFamily="34" charset="-120"/>
              </a:rPr>
              <a:t>CRYSTAL </a:t>
            </a:r>
            <a:pPr algn="r" indent="0" marL="0">
              <a:buNone/>
            </a:pPr>
            <a:r>
              <a:rPr lang="en-US" sz="950" b="1" spc="140" kern="0" dirty="0">
                <a:solidFill>
                  <a:srgbClr val="0E7C86"/>
                </a:solidFill>
                <a:latin typeface="Arial" pitchFamily="34" charset="0"/>
                <a:ea typeface="Arial" pitchFamily="34" charset="-122"/>
                <a:cs typeface="Arial" pitchFamily="34" charset="-120"/>
              </a:rPr>
              <a:t>PARADIGM</a:t>
            </a:r>
            <a:endParaRPr lang="en-US" sz="950" dirty="0"/>
          </a:p>
        </p:txBody>
      </p:sp>
      <p:sp>
        <p:nvSpPr>
          <p:cNvPr id="3" name="Text 1"/>
          <p:cNvSpPr/>
          <p:nvPr/>
        </p:nvSpPr>
        <p:spPr>
          <a:xfrm>
            <a:off x="11384280" y="6510528"/>
            <a:ext cx="594360" cy="256032"/>
          </a:xfrm>
          <a:prstGeom prst="rect">
            <a:avLst/>
          </a:prstGeom>
          <a:noFill/>
          <a:ln/>
        </p:spPr>
        <p:txBody>
          <a:bodyPr wrap="square" rtlCol="0" anchor="ctr"/>
          <a:lstStyle/>
          <a:p>
            <a:pPr algn="r" indent="0" marL="0">
              <a:buNone/>
            </a:pPr>
            <a:r>
              <a:rPr lang="en-US" sz="850" dirty="0">
                <a:solidFill>
                  <a:srgbClr val="5B6B8C"/>
                </a:solidFill>
                <a:latin typeface="Calibri" pitchFamily="34" charset="0"/>
                <a:ea typeface="Calibri" pitchFamily="34" charset="-122"/>
                <a:cs typeface="Calibri" pitchFamily="34" charset="-120"/>
              </a:rPr>
              <a:t>9 / 18</a:t>
            </a:r>
            <a:endParaRPr lang="en-US" sz="850" dirty="0"/>
          </a:p>
        </p:txBody>
      </p:sp>
      <p:sp>
        <p:nvSpPr>
          <p:cNvPr id="4" name="Text 2"/>
          <p:cNvSpPr/>
          <p:nvPr/>
        </p:nvSpPr>
        <p:spPr>
          <a:xfrm>
            <a:off x="502920" y="384048"/>
            <a:ext cx="5486400" cy="274320"/>
          </a:xfrm>
          <a:prstGeom prst="rect">
            <a:avLst/>
          </a:prstGeom>
          <a:noFill/>
          <a:ln/>
        </p:spPr>
        <p:txBody>
          <a:bodyPr wrap="square" rtlCol="0" anchor="ctr"/>
          <a:lstStyle/>
          <a:p>
            <a:pPr algn="l" indent="0" marL="0">
              <a:buNone/>
            </a:pPr>
            <a:r>
              <a:rPr lang="en-US" sz="1050" b="1" spc="220" kern="0" dirty="0">
                <a:solidFill>
                  <a:srgbClr val="0E7C86"/>
                </a:solidFill>
                <a:latin typeface="Arial" pitchFamily="34" charset="0"/>
                <a:ea typeface="Arial" pitchFamily="34" charset="-122"/>
                <a:cs typeface="Arial" pitchFamily="34" charset="-120"/>
              </a:rPr>
              <a:t>FROM CHEMISTRY TO MANUFACTURING</a:t>
            </a:r>
            <a:endParaRPr lang="en-US" sz="1050" dirty="0"/>
          </a:p>
        </p:txBody>
      </p:sp>
      <p:sp>
        <p:nvSpPr>
          <p:cNvPr id="5" name="Text 3"/>
          <p:cNvSpPr/>
          <p:nvPr/>
        </p:nvSpPr>
        <p:spPr>
          <a:xfrm>
            <a:off x="502920" y="658368"/>
            <a:ext cx="11183112" cy="457200"/>
          </a:xfrm>
          <a:prstGeom prst="rect">
            <a:avLst/>
          </a:prstGeom>
          <a:noFill/>
          <a:ln/>
        </p:spPr>
        <p:txBody>
          <a:bodyPr wrap="square" rtlCol="0" anchor="ctr"/>
          <a:lstStyle/>
          <a:p>
            <a:pPr algn="l" indent="0" marL="0">
              <a:lnSpc>
                <a:spcPct val="108000"/>
              </a:lnSpc>
              <a:buNone/>
            </a:pPr>
            <a:r>
              <a:rPr lang="en-US" sz="2200" b="1" spc="20" kern="0" dirty="0">
                <a:solidFill>
                  <a:srgbClr val="0B132B"/>
                </a:solidFill>
                <a:latin typeface="Arial" pitchFamily="34" charset="0"/>
                <a:ea typeface="Arial" pitchFamily="34" charset="-122"/>
                <a:cs typeface="Arial" pitchFamily="34" charset="-120"/>
              </a:rPr>
              <a:t>THE FINAL ARCHITECTURE (CANDIDATE C)</a:t>
            </a:r>
            <a:endParaRPr lang="en-US" sz="2200" dirty="0"/>
          </a:p>
        </p:txBody>
      </p:sp>
      <p:sp>
        <p:nvSpPr>
          <p:cNvPr id="6" name="Text 4"/>
          <p:cNvSpPr/>
          <p:nvPr/>
        </p:nvSpPr>
        <p:spPr>
          <a:xfrm>
            <a:off x="502920" y="1097280"/>
            <a:ext cx="11183112" cy="292608"/>
          </a:xfrm>
          <a:prstGeom prst="rect">
            <a:avLst/>
          </a:prstGeom>
          <a:noFill/>
          <a:ln/>
        </p:spPr>
        <p:txBody>
          <a:bodyPr wrap="square" rtlCol="0" anchor="ctr"/>
          <a:lstStyle/>
          <a:p>
            <a:pPr algn="l" indent="0" marL="0">
              <a:buNone/>
            </a:pPr>
            <a:r>
              <a:rPr lang="en-US" sz="1300" b="1" dirty="0">
                <a:solidFill>
                  <a:srgbClr val="0E7C86"/>
                </a:solidFill>
                <a:latin typeface="Arial" pitchFamily="34" charset="0"/>
                <a:ea typeface="Arial" pitchFamily="34" charset="-122"/>
                <a:cs typeface="Arial" pitchFamily="34" charset="-120"/>
              </a:rPr>
              <a:t>From In-Silico Chemistry to Print-Ready Manufacturing</a:t>
            </a:r>
            <a:endParaRPr lang="en-US" sz="1300" dirty="0"/>
          </a:p>
        </p:txBody>
      </p:sp>
      <p:sp>
        <p:nvSpPr>
          <p:cNvPr id="7" name="Text 5"/>
          <p:cNvSpPr/>
          <p:nvPr/>
        </p:nvSpPr>
        <p:spPr>
          <a:xfrm>
            <a:off x="502920" y="1444752"/>
            <a:ext cx="11183112" cy="502920"/>
          </a:xfrm>
          <a:prstGeom prst="rect">
            <a:avLst/>
          </a:prstGeom>
          <a:noFill/>
          <a:ln/>
        </p:spPr>
        <p:txBody>
          <a:bodyPr wrap="square" rtlCol="0" anchor="ctr"/>
          <a:lstStyle/>
          <a:p>
            <a:pPr algn="l" indent="0" marL="0">
              <a:lnSpc>
                <a:spcPct val="124000"/>
              </a:lnSpc>
              <a:buNone/>
            </a:pPr>
            <a:r>
              <a:rPr lang="en-US" sz="1250" dirty="0">
                <a:solidFill>
                  <a:srgbClr val="5B6B8C"/>
                </a:solidFill>
                <a:latin typeface="Calibri" pitchFamily="34" charset="0"/>
                <a:ea typeface="Calibri" pitchFamily="34" charset="-122"/>
                <a:cs typeface="Calibri" pitchFamily="34" charset="-120"/>
              </a:rPr>
              <a:t>Through 11 phases of autonomous generation, our AI produced </a:t>
            </a:r>
            <a:pPr algn="l" indent="0" marL="0">
              <a:lnSpc>
                <a:spcPct val="124000"/>
              </a:lnSpc>
              <a:buNone/>
            </a:pPr>
            <a:r>
              <a:rPr lang="en-US" sz="1250" b="1" dirty="0">
                <a:solidFill>
                  <a:srgbClr val="0E7C86"/>
                </a:solidFill>
                <a:latin typeface="Calibri" pitchFamily="34" charset="0"/>
                <a:ea typeface="Calibri" pitchFamily="34" charset="-122"/>
                <a:cs typeface="Calibri" pitchFamily="34" charset="-120"/>
              </a:rPr>
              <a:t>Candidate C</a:t>
            </a:r>
            <a:pPr algn="l" indent="0" marL="0">
              <a:lnSpc>
                <a:spcPct val="124000"/>
              </a:lnSpc>
              <a:buNone/>
            </a:pPr>
            <a:r>
              <a:rPr lang="en-US" sz="1250" dirty="0">
                <a:solidFill>
                  <a:srgbClr val="5B6B8C"/>
                </a:solidFill>
                <a:latin typeface="Calibri" pitchFamily="34" charset="0"/>
                <a:ea typeface="Calibri" pitchFamily="34" charset="-122"/>
                <a:cs typeface="Calibri" pitchFamily="34" charset="-120"/>
              </a:rPr>
              <a:t>, a hyper-optimized Refractory High-Entropy Alloy designed specifically for extreme thermal shock.</a:t>
            </a:r>
            <a:endParaRPr lang="en-US" sz="1250" dirty="0"/>
          </a:p>
        </p:txBody>
      </p:sp>
      <p:sp>
        <p:nvSpPr>
          <p:cNvPr id="8" name="Shape 6"/>
          <p:cNvSpPr/>
          <p:nvPr/>
        </p:nvSpPr>
        <p:spPr>
          <a:xfrm>
            <a:off x="7406640" y="2084832"/>
            <a:ext cx="4279392" cy="4160520"/>
          </a:xfrm>
          <a:prstGeom prst="roundRect">
            <a:avLst>
              <a:gd name="adj" fmla="val 3077"/>
            </a:avLst>
          </a:prstGeom>
          <a:solidFill>
            <a:srgbClr val="EEF1F5"/>
          </a:solidFill>
          <a:ln w="15875">
            <a:solidFill>
              <a:srgbClr val="0B132B"/>
            </a:solidFill>
            <a:prstDash val="dash"/>
          </a:ln>
        </p:spPr>
      </p:sp>
      <p:sp>
        <p:nvSpPr>
          <p:cNvPr id="9" name="Text 7"/>
          <p:cNvSpPr/>
          <p:nvPr/>
        </p:nvSpPr>
        <p:spPr>
          <a:xfrm>
            <a:off x="7635240" y="2249424"/>
            <a:ext cx="3822192" cy="237744"/>
          </a:xfrm>
          <a:prstGeom prst="rect">
            <a:avLst/>
          </a:prstGeom>
          <a:noFill/>
          <a:ln/>
        </p:spPr>
        <p:txBody>
          <a:bodyPr wrap="square" rtlCol="0" anchor="ctr"/>
          <a:lstStyle/>
          <a:p>
            <a:pPr indent="0" marL="0">
              <a:buNone/>
            </a:pPr>
            <a:r>
              <a:rPr lang="en-US" sz="900" b="1" spc="180" kern="0" dirty="0">
                <a:solidFill>
                  <a:srgbClr val="7C879C"/>
                </a:solidFill>
                <a:latin typeface="Arial" pitchFamily="34" charset="0"/>
                <a:ea typeface="Arial" pitchFamily="34" charset="-122"/>
                <a:cs typeface="Arial" pitchFamily="34" charset="-120"/>
              </a:rPr>
              <a:t>VISUAL PLACEHOLDER</a:t>
            </a:r>
            <a:endParaRPr lang="en-US" sz="900" dirty="0"/>
          </a:p>
        </p:txBody>
      </p:sp>
      <p:sp>
        <p:nvSpPr>
          <p:cNvPr id="10" name="Text 8"/>
          <p:cNvSpPr/>
          <p:nvPr/>
        </p:nvSpPr>
        <p:spPr>
          <a:xfrm>
            <a:off x="7726680" y="2542032"/>
            <a:ext cx="3639312" cy="3474720"/>
          </a:xfrm>
          <a:prstGeom prst="rect">
            <a:avLst/>
          </a:prstGeom>
          <a:noFill/>
          <a:ln/>
        </p:spPr>
        <p:txBody>
          <a:bodyPr wrap="square" rtlCol="0" anchor="ctr"/>
          <a:lstStyle/>
          <a:p>
            <a:pPr algn="ctr" indent="0" marL="0">
              <a:lnSpc>
                <a:spcPct val="125000"/>
              </a:lnSpc>
              <a:buNone/>
            </a:pPr>
            <a:r>
              <a:rPr lang="en-US" sz="1100" i="1" dirty="0">
                <a:solidFill>
                  <a:srgbClr val="7C879C"/>
                </a:solidFill>
                <a:latin typeface="Calibri" pitchFamily="34" charset="0"/>
                <a:ea typeface="Calibri" pitchFamily="34" charset="-122"/>
                <a:cs typeface="Calibri" pitchFamily="34" charset="-120"/>
              </a:rPr>
              <a:t>INSERT VISUALIZATION: cross-section of the 11-layer print matrix — Layer 1 (100% Alloy) transitioning to Layer 11 (100% Ceramic); SRM / forging-die render</a:t>
            </a:r>
            <a:endParaRPr lang="en-US" sz="1100" dirty="0"/>
          </a:p>
        </p:txBody>
      </p:sp>
      <p:sp>
        <p:nvSpPr>
          <p:cNvPr id="11" name="Shape 9"/>
          <p:cNvSpPr/>
          <p:nvPr/>
        </p:nvSpPr>
        <p:spPr>
          <a:xfrm>
            <a:off x="502920" y="2084832"/>
            <a:ext cx="6400800" cy="1298448"/>
          </a:xfrm>
          <a:prstGeom prst="roundRect">
            <a:avLst>
              <a:gd name="adj" fmla="val 9859"/>
            </a:avLst>
          </a:prstGeom>
          <a:solidFill>
            <a:srgbClr val="0B132B"/>
          </a:solidFill>
          <a:ln w="9525">
            <a:solidFill>
              <a:srgbClr val="2A3B63"/>
            </a:solidFill>
            <a:prstDash val="solid"/>
          </a:ln>
          <a:effectLst>
            <a:outerShdw sx="100000" sy="100000" kx="0" ky="0" algn="bl" rotWithShape="0" blurRad="127000" dist="38100" dir="5400000">
              <a:srgbClr val="1A2138">
                <a:alpha val="28000"/>
              </a:srgbClr>
            </a:outerShdw>
          </a:effectLst>
        </p:spPr>
      </p:sp>
      <p:sp>
        <p:nvSpPr>
          <p:cNvPr id="12" name="Text 10"/>
          <p:cNvSpPr/>
          <p:nvPr/>
        </p:nvSpPr>
        <p:spPr>
          <a:xfrm>
            <a:off x="740664" y="2231136"/>
            <a:ext cx="5925312" cy="292608"/>
          </a:xfrm>
          <a:prstGeom prst="rect">
            <a:avLst/>
          </a:prstGeom>
          <a:noFill/>
          <a:ln/>
        </p:spPr>
        <p:txBody>
          <a:bodyPr wrap="square" rtlCol="0" anchor="t"/>
          <a:lstStyle/>
          <a:p>
            <a:pPr indent="0" marL="0">
              <a:lnSpc>
                <a:spcPct val="110000"/>
              </a:lnSpc>
              <a:buNone/>
            </a:pPr>
            <a:r>
              <a:rPr lang="en-US" sz="1200" b="1" dirty="0">
                <a:solidFill>
                  <a:srgbClr val="F8F9FA"/>
                </a:solidFill>
                <a:latin typeface="Arial" pitchFamily="34" charset="0"/>
                <a:ea typeface="Arial" pitchFamily="34" charset="-122"/>
                <a:cs typeface="Arial" pitchFamily="34" charset="-120"/>
              </a:rPr>
              <a:t>1. The Titanium Pivot (CTE Matching)</a:t>
            </a:r>
            <a:endParaRPr lang="en-US" sz="1200" dirty="0"/>
          </a:p>
        </p:txBody>
      </p:sp>
      <p:sp>
        <p:nvSpPr>
          <p:cNvPr id="13" name="Text 11"/>
          <p:cNvSpPr/>
          <p:nvPr/>
        </p:nvSpPr>
        <p:spPr>
          <a:xfrm>
            <a:off x="740664" y="2542032"/>
            <a:ext cx="5925312" cy="786384"/>
          </a:xfrm>
          <a:prstGeom prst="rect">
            <a:avLst/>
          </a:prstGeom>
          <a:noFill/>
          <a:ln/>
        </p:spPr>
        <p:txBody>
          <a:bodyPr wrap="square" rtlCol="0" anchor="t"/>
          <a:lstStyle/>
          <a:p>
            <a:pPr algn="l" indent="0" marL="0">
              <a:lnSpc>
                <a:spcPct val="124000"/>
              </a:lnSpc>
              <a:buNone/>
            </a:pPr>
            <a:r>
              <a:rPr lang="en-US" sz="1020" dirty="0">
                <a:solidFill>
                  <a:srgbClr val="AAB6CC"/>
                </a:solidFill>
                <a:latin typeface="Calibri" pitchFamily="34" charset="0"/>
                <a:ea typeface="Calibri" pitchFamily="34" charset="-122"/>
                <a:cs typeface="Calibri" pitchFamily="34" charset="-120"/>
              </a:rPr>
              <a:t>Our AI intentionally substituted heavy Hafnium for Titanium (</a:t>
            </a:r>
            <a:pPr algn="l" indent="0" marL="0">
              <a:lnSpc>
                <a:spcPct val="124000"/>
              </a:lnSpc>
              <a:buNone/>
            </a:pPr>
            <a:r>
              <a:rPr lang="en-US" sz="1020" b="1" dirty="0">
                <a:solidFill>
                  <a:srgbClr val="4FD1C5"/>
                </a:solidFill>
                <a:latin typeface="Calibri" pitchFamily="34" charset="0"/>
                <a:ea typeface="Calibri" pitchFamily="34" charset="-122"/>
                <a:cs typeface="Calibri" pitchFamily="34" charset="-120"/>
              </a:rPr>
              <a:t>21.7%</a:t>
            </a:r>
            <a:pPr algn="l" indent="0" marL="0">
              <a:lnSpc>
                <a:spcPct val="124000"/>
              </a:lnSpc>
              <a:buNone/>
            </a:pPr>
            <a:r>
              <a:rPr lang="en-US" sz="1020" dirty="0">
                <a:solidFill>
                  <a:srgbClr val="AAB6CC"/>
                </a:solidFill>
                <a:latin typeface="Calibri" pitchFamily="34" charset="0"/>
                <a:ea typeface="Calibri" pitchFamily="34" charset="-122"/>
                <a:cs typeface="Calibri" pitchFamily="34" charset="-120"/>
              </a:rPr>
              <a:t>). Because Titanium has the highest CTE (</a:t>
            </a:r>
            <a:pPr algn="l" indent="0" marL="0">
              <a:lnSpc>
                <a:spcPct val="124000"/>
              </a:lnSpc>
              <a:buNone/>
            </a:pPr>
            <a:r>
              <a:rPr lang="en-US" sz="1020" b="1" dirty="0">
                <a:solidFill>
                  <a:srgbClr val="4FD1C5"/>
                </a:solidFill>
                <a:latin typeface="Calibri" pitchFamily="34" charset="0"/>
                <a:ea typeface="Calibri" pitchFamily="34" charset="-122"/>
                <a:cs typeface="Calibri" pitchFamily="34" charset="-120"/>
              </a:rPr>
              <a:t>8.6 µm/mK</a:t>
            </a:r>
            <a:pPr algn="l" indent="0" marL="0">
              <a:lnSpc>
                <a:spcPct val="124000"/>
              </a:lnSpc>
              <a:buNone/>
            </a:pPr>
            <a:r>
              <a:rPr lang="en-US" sz="1020" dirty="0">
                <a:solidFill>
                  <a:srgbClr val="AAB6CC"/>
                </a:solidFill>
                <a:latin typeface="Calibri" pitchFamily="34" charset="0"/>
                <a:ea typeface="Calibri" pitchFamily="34" charset="-122"/>
                <a:cs typeface="Calibri" pitchFamily="34" charset="-120"/>
              </a:rPr>
              <a:t>) in the refractory space, it aggressively closed the mismatch with the ceramic coating, dropping the gap to just </a:t>
            </a:r>
            <a:pPr algn="l" indent="0" marL="0">
              <a:lnSpc>
                <a:spcPct val="124000"/>
              </a:lnSpc>
              <a:buNone/>
            </a:pPr>
            <a:r>
              <a:rPr lang="en-US" sz="1020" b="1" dirty="0">
                <a:solidFill>
                  <a:srgbClr val="4FD1C5"/>
                </a:solidFill>
                <a:latin typeface="Calibri" pitchFamily="34" charset="0"/>
                <a:ea typeface="Calibri" pitchFamily="34" charset="-122"/>
                <a:cs typeface="Calibri" pitchFamily="34" charset="-120"/>
              </a:rPr>
              <a:t>2.66 μm/mK</a:t>
            </a:r>
            <a:pPr algn="l" indent="0" marL="0">
              <a:lnSpc>
                <a:spcPct val="124000"/>
              </a:lnSpc>
              <a:buNone/>
            </a:pPr>
            <a:r>
              <a:rPr lang="en-US" sz="1020" dirty="0">
                <a:solidFill>
                  <a:srgbClr val="AAB6CC"/>
                </a:solidFill>
                <a:latin typeface="Calibri" pitchFamily="34" charset="0"/>
                <a:ea typeface="Calibri" pitchFamily="34" charset="-122"/>
                <a:cs typeface="Calibri" pitchFamily="34" charset="-120"/>
              </a:rPr>
              <a:t>.</a:t>
            </a:r>
            <a:endParaRPr lang="en-US" sz="1020" dirty="0"/>
          </a:p>
        </p:txBody>
      </p:sp>
      <p:sp>
        <p:nvSpPr>
          <p:cNvPr id="14" name="Shape 12"/>
          <p:cNvSpPr/>
          <p:nvPr/>
        </p:nvSpPr>
        <p:spPr>
          <a:xfrm>
            <a:off x="502920" y="3520440"/>
            <a:ext cx="6400800" cy="1298448"/>
          </a:xfrm>
          <a:prstGeom prst="roundRect">
            <a:avLst>
              <a:gd name="adj" fmla="val 9859"/>
            </a:avLst>
          </a:prstGeom>
          <a:solidFill>
            <a:srgbClr val="0B132B"/>
          </a:solidFill>
          <a:ln w="9525">
            <a:solidFill>
              <a:srgbClr val="2A3B63"/>
            </a:solidFill>
            <a:prstDash val="solid"/>
          </a:ln>
          <a:effectLst>
            <a:outerShdw sx="100000" sy="100000" kx="0" ky="0" algn="bl" rotWithShape="0" blurRad="127000" dist="38100" dir="5400000">
              <a:srgbClr val="1A2138">
                <a:alpha val="28000"/>
              </a:srgbClr>
            </a:outerShdw>
          </a:effectLst>
        </p:spPr>
      </p:sp>
      <p:sp>
        <p:nvSpPr>
          <p:cNvPr id="15" name="Text 13"/>
          <p:cNvSpPr/>
          <p:nvPr/>
        </p:nvSpPr>
        <p:spPr>
          <a:xfrm>
            <a:off x="740664" y="3666744"/>
            <a:ext cx="5925312" cy="292608"/>
          </a:xfrm>
          <a:prstGeom prst="rect">
            <a:avLst/>
          </a:prstGeom>
          <a:noFill/>
          <a:ln/>
        </p:spPr>
        <p:txBody>
          <a:bodyPr wrap="square" rtlCol="0" anchor="t"/>
          <a:lstStyle/>
          <a:p>
            <a:pPr indent="0" marL="0">
              <a:lnSpc>
                <a:spcPct val="110000"/>
              </a:lnSpc>
              <a:buNone/>
            </a:pPr>
            <a:r>
              <a:rPr lang="en-US" sz="1200" b="1" dirty="0">
                <a:solidFill>
                  <a:srgbClr val="F8F9FA"/>
                </a:solidFill>
                <a:latin typeface="Arial" pitchFamily="34" charset="0"/>
                <a:ea typeface="Arial" pitchFamily="34" charset="-122"/>
                <a:cs typeface="Arial" pitchFamily="34" charset="-120"/>
              </a:rPr>
              <a:t>2. The Aluminum Armor (Oxidation Resistance)</a:t>
            </a:r>
            <a:endParaRPr lang="en-US" sz="1200" dirty="0"/>
          </a:p>
        </p:txBody>
      </p:sp>
      <p:sp>
        <p:nvSpPr>
          <p:cNvPr id="16" name="Text 14"/>
          <p:cNvSpPr/>
          <p:nvPr/>
        </p:nvSpPr>
        <p:spPr>
          <a:xfrm>
            <a:off x="740664" y="3977640"/>
            <a:ext cx="5925312" cy="786384"/>
          </a:xfrm>
          <a:prstGeom prst="rect">
            <a:avLst/>
          </a:prstGeom>
          <a:noFill/>
          <a:ln/>
        </p:spPr>
        <p:txBody>
          <a:bodyPr wrap="square" rtlCol="0" anchor="t"/>
          <a:lstStyle/>
          <a:p>
            <a:pPr algn="l" indent="0" marL="0">
              <a:lnSpc>
                <a:spcPct val="124000"/>
              </a:lnSpc>
              <a:buNone/>
            </a:pPr>
            <a:r>
              <a:rPr lang="en-US" sz="1020" dirty="0">
                <a:solidFill>
                  <a:srgbClr val="AAB6CC"/>
                </a:solidFill>
                <a:latin typeface="Calibri" pitchFamily="34" charset="0"/>
                <a:ea typeface="Calibri" pitchFamily="34" charset="-122"/>
                <a:cs typeface="Calibri" pitchFamily="34" charset="-120"/>
              </a:rPr>
              <a:t>The AI identified that standard Chromium oxidizes above 1100°C. We executed a micro-addition of </a:t>
            </a:r>
            <a:pPr algn="l" indent="0" marL="0">
              <a:lnSpc>
                <a:spcPct val="124000"/>
              </a:lnSpc>
              <a:buNone/>
            </a:pPr>
            <a:r>
              <a:rPr lang="en-US" sz="1020" b="1" dirty="0">
                <a:solidFill>
                  <a:srgbClr val="4FD1C5"/>
                </a:solidFill>
                <a:latin typeface="Calibri" pitchFamily="34" charset="0"/>
                <a:ea typeface="Calibri" pitchFamily="34" charset="-122"/>
                <a:cs typeface="Calibri" pitchFamily="34" charset="-120"/>
              </a:rPr>
              <a:t>2.8 at% Aluminum</a:t>
            </a:r>
            <a:pPr algn="l" indent="0" marL="0">
              <a:lnSpc>
                <a:spcPct val="124000"/>
              </a:lnSpc>
              <a:buNone/>
            </a:pPr>
            <a:r>
              <a:rPr lang="en-US" sz="1020" dirty="0">
                <a:solidFill>
                  <a:srgbClr val="AAB6CC"/>
                </a:solidFill>
                <a:latin typeface="Calibri" pitchFamily="34" charset="0"/>
                <a:ea typeface="Calibri" pitchFamily="34" charset="-122"/>
                <a:cs typeface="Calibri" pitchFamily="34" charset="-120"/>
              </a:rPr>
              <a:t> to force a highly stable </a:t>
            </a:r>
            <a:pPr algn="l" indent="0" marL="0">
              <a:lnSpc>
                <a:spcPct val="124000"/>
              </a:lnSpc>
              <a:buNone/>
            </a:pPr>
            <a:r>
              <a:rPr lang="en-US" sz="1020" b="1" dirty="0">
                <a:solidFill>
                  <a:srgbClr val="4FD1C5"/>
                </a:solidFill>
                <a:latin typeface="Calibri" pitchFamily="34" charset="0"/>
                <a:ea typeface="Calibri" pitchFamily="34" charset="-122"/>
                <a:cs typeface="Calibri" pitchFamily="34" charset="-120"/>
              </a:rPr>
              <a:t>α-Al₂O₃</a:t>
            </a:r>
            <a:pPr algn="l" indent="0" marL="0">
              <a:lnSpc>
                <a:spcPct val="124000"/>
              </a:lnSpc>
              <a:buNone/>
            </a:pPr>
            <a:r>
              <a:rPr lang="en-US" sz="1020" dirty="0">
                <a:solidFill>
                  <a:srgbClr val="AAB6CC"/>
                </a:solidFill>
                <a:latin typeface="Calibri" pitchFamily="34" charset="0"/>
                <a:ea typeface="Calibri" pitchFamily="34" charset="-122"/>
                <a:cs typeface="Calibri" pitchFamily="34" charset="-120"/>
              </a:rPr>
              <a:t> protective armor scale, capping mass gain at </a:t>
            </a:r>
            <a:pPr algn="l" indent="0" marL="0">
              <a:lnSpc>
                <a:spcPct val="124000"/>
              </a:lnSpc>
              <a:buNone/>
            </a:pPr>
            <a:r>
              <a:rPr lang="en-US" sz="1020" b="1" dirty="0">
                <a:solidFill>
                  <a:srgbClr val="4FD1C5"/>
                </a:solidFill>
                <a:latin typeface="Calibri" pitchFamily="34" charset="0"/>
                <a:ea typeface="Calibri" pitchFamily="34" charset="-122"/>
                <a:cs typeface="Calibri" pitchFamily="34" charset="-120"/>
              </a:rPr>
              <a:t>7.5 mg/cm²</a:t>
            </a:r>
            <a:pPr algn="l" indent="0" marL="0">
              <a:lnSpc>
                <a:spcPct val="124000"/>
              </a:lnSpc>
              <a:buNone/>
            </a:pPr>
            <a:r>
              <a:rPr lang="en-US" sz="1020" dirty="0">
                <a:solidFill>
                  <a:srgbClr val="AAB6CC"/>
                </a:solidFill>
                <a:latin typeface="Calibri" pitchFamily="34" charset="0"/>
                <a:ea typeface="Calibri" pitchFamily="34" charset="-122"/>
                <a:cs typeface="Calibri" pitchFamily="34" charset="-120"/>
              </a:rPr>
              <a:t>.</a:t>
            </a:r>
            <a:endParaRPr lang="en-US" sz="1020" dirty="0"/>
          </a:p>
        </p:txBody>
      </p:sp>
      <p:sp>
        <p:nvSpPr>
          <p:cNvPr id="17" name="Shape 15"/>
          <p:cNvSpPr/>
          <p:nvPr/>
        </p:nvSpPr>
        <p:spPr>
          <a:xfrm>
            <a:off x="502920" y="4956048"/>
            <a:ext cx="6400800" cy="1298448"/>
          </a:xfrm>
          <a:prstGeom prst="roundRect">
            <a:avLst>
              <a:gd name="adj" fmla="val 9859"/>
            </a:avLst>
          </a:prstGeom>
          <a:solidFill>
            <a:srgbClr val="0B132B"/>
          </a:solidFill>
          <a:ln w="9525">
            <a:solidFill>
              <a:srgbClr val="2A3B63"/>
            </a:solidFill>
            <a:prstDash val="solid"/>
          </a:ln>
          <a:effectLst>
            <a:outerShdw sx="100000" sy="100000" kx="0" ky="0" algn="bl" rotWithShape="0" blurRad="127000" dist="38100" dir="5400000">
              <a:srgbClr val="1A2138">
                <a:alpha val="28000"/>
              </a:srgbClr>
            </a:outerShdw>
          </a:effectLst>
        </p:spPr>
      </p:sp>
      <p:sp>
        <p:nvSpPr>
          <p:cNvPr id="18" name="Text 16"/>
          <p:cNvSpPr/>
          <p:nvPr/>
        </p:nvSpPr>
        <p:spPr>
          <a:xfrm>
            <a:off x="740664" y="5102352"/>
            <a:ext cx="5925312" cy="292608"/>
          </a:xfrm>
          <a:prstGeom prst="rect">
            <a:avLst/>
          </a:prstGeom>
          <a:noFill/>
          <a:ln/>
        </p:spPr>
        <p:txBody>
          <a:bodyPr wrap="square" rtlCol="0" anchor="t"/>
          <a:lstStyle/>
          <a:p>
            <a:pPr indent="0" marL="0">
              <a:lnSpc>
                <a:spcPct val="110000"/>
              </a:lnSpc>
              <a:buNone/>
            </a:pPr>
            <a:r>
              <a:rPr lang="en-US" sz="1200" b="1" dirty="0">
                <a:solidFill>
                  <a:srgbClr val="F8F9FA"/>
                </a:solidFill>
                <a:latin typeface="Arial" pitchFamily="34" charset="0"/>
                <a:ea typeface="Arial" pitchFamily="34" charset="-122"/>
                <a:cs typeface="Arial" pitchFamily="34" charset="-120"/>
              </a:rPr>
              <a:t>3. The Manufacturing Recipe</a:t>
            </a:r>
            <a:endParaRPr lang="en-US" sz="1200" dirty="0"/>
          </a:p>
        </p:txBody>
      </p:sp>
      <p:sp>
        <p:nvSpPr>
          <p:cNvPr id="19" name="Text 17"/>
          <p:cNvSpPr/>
          <p:nvPr/>
        </p:nvSpPr>
        <p:spPr>
          <a:xfrm>
            <a:off x="740664" y="5413248"/>
            <a:ext cx="5925312" cy="786384"/>
          </a:xfrm>
          <a:prstGeom prst="rect">
            <a:avLst/>
          </a:prstGeom>
          <a:noFill/>
          <a:ln/>
        </p:spPr>
        <p:txBody>
          <a:bodyPr wrap="square" rtlCol="0" anchor="t"/>
          <a:lstStyle/>
          <a:p>
            <a:pPr algn="l" indent="0" marL="0">
              <a:lnSpc>
                <a:spcPct val="124000"/>
              </a:lnSpc>
              <a:buNone/>
            </a:pPr>
            <a:r>
              <a:rPr lang="en-US" sz="1020" dirty="0">
                <a:solidFill>
                  <a:srgbClr val="AAB6CC"/>
                </a:solidFill>
                <a:latin typeface="Calibri" pitchFamily="34" charset="0"/>
                <a:ea typeface="Calibri" pitchFamily="34" charset="-122"/>
                <a:cs typeface="Calibri" pitchFamily="34" charset="-120"/>
              </a:rPr>
              <a:t>We directly exported the continuous FGM physics curves into a discrete, print-ready </a:t>
            </a:r>
            <a:pPr algn="l" indent="0" marL="0">
              <a:lnSpc>
                <a:spcPct val="124000"/>
              </a:lnSpc>
              <a:buNone/>
            </a:pPr>
            <a:r>
              <a:rPr lang="en-US" sz="1020" b="1" dirty="0">
                <a:solidFill>
                  <a:srgbClr val="4FD1C5"/>
                </a:solidFill>
                <a:latin typeface="Calibri" pitchFamily="34" charset="0"/>
                <a:ea typeface="Calibri" pitchFamily="34" charset="-122"/>
                <a:cs typeface="Calibri" pitchFamily="34" charset="-120"/>
              </a:rPr>
              <a:t>11-layer `manufacturing_recipe.csv`</a:t>
            </a:r>
            <a:pPr algn="l" indent="0" marL="0">
              <a:lnSpc>
                <a:spcPct val="124000"/>
              </a:lnSpc>
              <a:buNone/>
            </a:pPr>
            <a:r>
              <a:rPr lang="en-US" sz="1020" dirty="0">
                <a:solidFill>
                  <a:srgbClr val="AAB6CC"/>
                </a:solidFill>
                <a:latin typeface="Calibri" pitchFamily="34" charset="0"/>
                <a:ea typeface="Calibri" pitchFamily="34" charset="-122"/>
                <a:cs typeface="Calibri" pitchFamily="34" charset="-120"/>
              </a:rPr>
              <a:t> (0.0mm 100% alloy to 5.0mm 100% LZO ceramic) — ready for immediate Multi-Hopper DED 3D printing.</a:t>
            </a:r>
            <a:endParaRPr lang="en-US" sz="10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9125712" y="274320"/>
            <a:ext cx="2560320" cy="219456"/>
          </a:xfrm>
          <a:prstGeom prst="rect">
            <a:avLst/>
          </a:prstGeom>
          <a:noFill/>
          <a:ln/>
        </p:spPr>
        <p:txBody>
          <a:bodyPr wrap="square" rtlCol="0" anchor="ctr"/>
          <a:lstStyle/>
          <a:p>
            <a:pPr algn="r" indent="0" marL="0">
              <a:buNone/>
            </a:pPr>
            <a:r>
              <a:rPr lang="en-US" sz="950" b="1" spc="140" kern="0" dirty="0">
                <a:solidFill>
                  <a:srgbClr val="0B132B"/>
                </a:solidFill>
                <a:latin typeface="Arial" pitchFamily="34" charset="0"/>
                <a:ea typeface="Arial" pitchFamily="34" charset="-122"/>
                <a:cs typeface="Arial" pitchFamily="34" charset="-120"/>
              </a:rPr>
              <a:t>CRYSTAL </a:t>
            </a:r>
            <a:pPr algn="r" indent="0" marL="0">
              <a:buNone/>
            </a:pPr>
            <a:r>
              <a:rPr lang="en-US" sz="950" b="1" spc="140" kern="0" dirty="0">
                <a:solidFill>
                  <a:srgbClr val="0E7C86"/>
                </a:solidFill>
                <a:latin typeface="Arial" pitchFamily="34" charset="0"/>
                <a:ea typeface="Arial" pitchFamily="34" charset="-122"/>
                <a:cs typeface="Arial" pitchFamily="34" charset="-120"/>
              </a:rPr>
              <a:t>PARADIGM</a:t>
            </a:r>
            <a:endParaRPr lang="en-US" sz="950" dirty="0"/>
          </a:p>
        </p:txBody>
      </p:sp>
      <p:sp>
        <p:nvSpPr>
          <p:cNvPr id="3" name="Text 1"/>
          <p:cNvSpPr/>
          <p:nvPr/>
        </p:nvSpPr>
        <p:spPr>
          <a:xfrm>
            <a:off x="11384280" y="6510528"/>
            <a:ext cx="594360" cy="256032"/>
          </a:xfrm>
          <a:prstGeom prst="rect">
            <a:avLst/>
          </a:prstGeom>
          <a:noFill/>
          <a:ln/>
        </p:spPr>
        <p:txBody>
          <a:bodyPr wrap="square" rtlCol="0" anchor="ctr"/>
          <a:lstStyle/>
          <a:p>
            <a:pPr algn="r" indent="0" marL="0">
              <a:buNone/>
            </a:pPr>
            <a:r>
              <a:rPr lang="en-US" sz="850" dirty="0">
                <a:solidFill>
                  <a:srgbClr val="5B6B8C"/>
                </a:solidFill>
                <a:latin typeface="Calibri" pitchFamily="34" charset="0"/>
                <a:ea typeface="Calibri" pitchFamily="34" charset="-122"/>
                <a:cs typeface="Calibri" pitchFamily="34" charset="-120"/>
              </a:rPr>
              <a:t>10 / 18</a:t>
            </a:r>
            <a:endParaRPr lang="en-US" sz="850" dirty="0"/>
          </a:p>
        </p:txBody>
      </p:sp>
      <p:sp>
        <p:nvSpPr>
          <p:cNvPr id="4" name="Text 2"/>
          <p:cNvSpPr/>
          <p:nvPr/>
        </p:nvSpPr>
        <p:spPr>
          <a:xfrm>
            <a:off x="502920" y="384048"/>
            <a:ext cx="5486400" cy="274320"/>
          </a:xfrm>
          <a:prstGeom prst="rect">
            <a:avLst/>
          </a:prstGeom>
          <a:noFill/>
          <a:ln/>
        </p:spPr>
        <p:txBody>
          <a:bodyPr wrap="square" rtlCol="0" anchor="ctr"/>
          <a:lstStyle/>
          <a:p>
            <a:pPr algn="l" indent="0" marL="0">
              <a:buNone/>
            </a:pPr>
            <a:r>
              <a:rPr lang="en-US" sz="1050" b="1" spc="220" kern="0" dirty="0">
                <a:solidFill>
                  <a:srgbClr val="0E7C86"/>
                </a:solidFill>
                <a:latin typeface="Arial" pitchFamily="34" charset="0"/>
                <a:ea typeface="Arial" pitchFamily="34" charset="-122"/>
                <a:cs typeface="Arial" pitchFamily="34" charset="-120"/>
              </a:rPr>
              <a:t>COMMERCIAL IMPACT</a:t>
            </a:r>
            <a:endParaRPr lang="en-US" sz="1050" dirty="0"/>
          </a:p>
        </p:txBody>
      </p:sp>
      <p:sp>
        <p:nvSpPr>
          <p:cNvPr id="5" name="Text 3"/>
          <p:cNvSpPr/>
          <p:nvPr/>
        </p:nvSpPr>
        <p:spPr>
          <a:xfrm>
            <a:off x="502920" y="658368"/>
            <a:ext cx="11183112" cy="457200"/>
          </a:xfrm>
          <a:prstGeom prst="rect">
            <a:avLst/>
          </a:prstGeom>
          <a:noFill/>
          <a:ln/>
        </p:spPr>
        <p:txBody>
          <a:bodyPr wrap="square" rtlCol="0" anchor="ctr"/>
          <a:lstStyle/>
          <a:p>
            <a:pPr algn="l" indent="0" marL="0">
              <a:lnSpc>
                <a:spcPct val="108000"/>
              </a:lnSpc>
              <a:buNone/>
            </a:pPr>
            <a:r>
              <a:rPr lang="en-US" sz="2200" b="1" spc="20" kern="0" dirty="0">
                <a:solidFill>
                  <a:srgbClr val="0B132B"/>
                </a:solidFill>
                <a:latin typeface="Arial" pitchFamily="34" charset="0"/>
                <a:ea typeface="Arial" pitchFamily="34" charset="-122"/>
                <a:cs typeface="Arial" pitchFamily="34" charset="-120"/>
              </a:rPr>
              <a:t>THE COMMERCIAL IMPACT FOR SONA COMSTAR</a:t>
            </a:r>
            <a:endParaRPr lang="en-US" sz="2200" dirty="0"/>
          </a:p>
        </p:txBody>
      </p:sp>
      <p:sp>
        <p:nvSpPr>
          <p:cNvPr id="6" name="Text 4"/>
          <p:cNvSpPr/>
          <p:nvPr/>
        </p:nvSpPr>
        <p:spPr>
          <a:xfrm>
            <a:off x="502920" y="1097280"/>
            <a:ext cx="11183112" cy="292608"/>
          </a:xfrm>
          <a:prstGeom prst="rect">
            <a:avLst/>
          </a:prstGeom>
          <a:noFill/>
          <a:ln/>
        </p:spPr>
        <p:txBody>
          <a:bodyPr wrap="square" rtlCol="0" anchor="ctr"/>
          <a:lstStyle/>
          <a:p>
            <a:pPr algn="l" indent="0" marL="0">
              <a:buNone/>
            </a:pPr>
            <a:r>
              <a:rPr lang="en-US" sz="1300" b="1" dirty="0">
                <a:solidFill>
                  <a:srgbClr val="0E7C86"/>
                </a:solidFill>
                <a:latin typeface="Arial" pitchFamily="34" charset="0"/>
                <a:ea typeface="Arial" pitchFamily="34" charset="-122"/>
                <a:cs typeface="Arial" pitchFamily="34" charset="-120"/>
              </a:rPr>
              <a:t>Fleet Scalability and Direct Operating Cost Reductions</a:t>
            </a:r>
            <a:endParaRPr lang="en-US" sz="1300" dirty="0"/>
          </a:p>
        </p:txBody>
      </p:sp>
      <p:sp>
        <p:nvSpPr>
          <p:cNvPr id="7" name="Text 5"/>
          <p:cNvSpPr/>
          <p:nvPr/>
        </p:nvSpPr>
        <p:spPr>
          <a:xfrm>
            <a:off x="502920" y="1444752"/>
            <a:ext cx="11183112" cy="365760"/>
          </a:xfrm>
          <a:prstGeom prst="rect">
            <a:avLst/>
          </a:prstGeom>
          <a:noFill/>
          <a:ln/>
        </p:spPr>
        <p:txBody>
          <a:bodyPr wrap="square" rtlCol="0" anchor="ctr"/>
          <a:lstStyle/>
          <a:p>
            <a:pPr algn="l" indent="0" marL="0">
              <a:lnSpc>
                <a:spcPct val="124000"/>
              </a:lnSpc>
              <a:buNone/>
            </a:pPr>
            <a:r>
              <a:rPr lang="en-US" sz="1250" dirty="0">
                <a:solidFill>
                  <a:srgbClr val="5B6B8C"/>
                </a:solidFill>
                <a:latin typeface="Calibri" pitchFamily="34" charset="0"/>
                <a:ea typeface="Calibri" pitchFamily="34" charset="-122"/>
                <a:cs typeface="Calibri" pitchFamily="34" charset="-120"/>
              </a:rPr>
              <a:t>By bridging aerospace materials into Sona Comstar's EPIC mobility framework, we generate massive downstream financial returns.</a:t>
            </a:r>
            <a:endParaRPr lang="en-US" sz="1250" dirty="0"/>
          </a:p>
        </p:txBody>
      </p:sp>
      <p:sp>
        <p:nvSpPr>
          <p:cNvPr id="8" name="Shape 6"/>
          <p:cNvSpPr/>
          <p:nvPr/>
        </p:nvSpPr>
        <p:spPr>
          <a:xfrm>
            <a:off x="411480" y="1920240"/>
            <a:ext cx="11365992" cy="4251960"/>
          </a:xfrm>
          <a:prstGeom prst="roundRect">
            <a:avLst>
              <a:gd name="adj" fmla="val 3441"/>
            </a:avLst>
          </a:prstGeom>
          <a:solidFill>
            <a:srgbClr val="0B132B"/>
          </a:solidFill>
          <a:ln w="9525">
            <a:solidFill>
              <a:srgbClr val="2A3B63"/>
            </a:solidFill>
            <a:prstDash val="solid"/>
          </a:ln>
          <a:effectLst>
            <a:outerShdw sx="100000" sy="100000" kx="0" ky="0" algn="bl" rotWithShape="0" blurRad="127000" dist="38100" dir="5400000">
              <a:srgbClr val="1A2138">
                <a:alpha val="28000"/>
              </a:srgbClr>
            </a:outerShdw>
          </a:effectLst>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2011680"/>
          <a:ext cx="11183112" cy="914400"/>
        </p:xfrm>
        <a:graphic>
          <a:graphicData uri="http://schemas.openxmlformats.org/drawingml/2006/table">
            <a:tbl>
              <a:tblPr/>
              <a:tblGrid>
                <a:gridCol w="2651760"/>
                <a:gridCol w="3840480"/>
                <a:gridCol w="4690872"/>
              </a:tblGrid>
              <a:tr h="457200">
                <a:tc>
                  <a:txBody>
                    <a:bodyPr/>
                    <a:lstStyle/>
                    <a:p>
                      <a:pPr algn="l" indent="0" marL="0">
                        <a:buNone/>
                      </a:pPr>
                      <a:r>
                        <a:rPr lang="en-US" sz="1100" b="1" dirty="0">
                          <a:solidFill>
                            <a:srgbClr val="F8F9FA"/>
                          </a:solidFill>
                          <a:latin typeface="Calibri" pitchFamily="34" charset="0"/>
                          <a:ea typeface="Calibri" pitchFamily="34" charset="-122"/>
                          <a:cs typeface="Calibri" pitchFamily="34" charset="-120"/>
                        </a:rPr>
                        <a:t>Impact Area</a:t>
                      </a:r>
                      <a:endParaRPr lang="en-US" sz="1100" dirty="0">
                        <a:latin typeface="Calibri" charset="0"/>
                        <a:ea typeface="Calibri" charset="0"/>
                        <a:cs typeface="Calibri" charset="0"/>
                      </a:endParaRPr>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0B132B"/>
                    </a:solidFill>
                  </a:tcPr>
                </a:tc>
                <a:tc>
                  <a:txBody>
                    <a:bodyPr/>
                    <a:lstStyle/>
                    <a:p>
                      <a:pPr algn="l" indent="0" marL="0">
                        <a:buNone/>
                      </a:pPr>
                      <a:r>
                        <a:rPr lang="en-US" sz="1100" b="1" dirty="0">
                          <a:solidFill>
                            <a:srgbClr val="F8F9FA"/>
                          </a:solidFill>
                          <a:latin typeface="Calibri" pitchFamily="34" charset="0"/>
                          <a:ea typeface="Calibri" pitchFamily="34" charset="-122"/>
                          <a:cs typeface="Calibri" pitchFamily="34" charset="-120"/>
                        </a:rPr>
                        <a:t>The Physics Trigger</a:t>
                      </a:r>
                      <a:endParaRPr lang="en-US" sz="1100" dirty="0">
                        <a:latin typeface="Calibri" charset="0"/>
                        <a:ea typeface="Calibri" charset="0"/>
                        <a:cs typeface="Calibri" charset="0"/>
                      </a:endParaRPr>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0B132B"/>
                    </a:solidFill>
                  </a:tcPr>
                </a:tc>
                <a:tc>
                  <a:txBody>
                    <a:bodyPr/>
                    <a:lstStyle/>
                    <a:p>
                      <a:pPr algn="l" indent="0" marL="0">
                        <a:buNone/>
                      </a:pPr>
                      <a:r>
                        <a:rPr lang="en-US" sz="1100" b="1" dirty="0">
                          <a:solidFill>
                            <a:srgbClr val="F8F9FA"/>
                          </a:solidFill>
                          <a:latin typeface="Calibri" pitchFamily="34" charset="0"/>
                          <a:ea typeface="Calibri" pitchFamily="34" charset="-122"/>
                          <a:cs typeface="Calibri" pitchFamily="34" charset="-120"/>
                        </a:rPr>
                        <a:t>The Commercial Result</a:t>
                      </a:r>
                      <a:endParaRPr lang="en-US" sz="1100" dirty="0">
                        <a:latin typeface="Calibri" charset="0"/>
                        <a:ea typeface="Calibri" charset="0"/>
                        <a:cs typeface="Calibri" charset="0"/>
                      </a:endParaRPr>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0B132B"/>
                    </a:solidFill>
                  </a:tcPr>
                </a:tc>
              </a:tr>
              <a:tr h="1188720">
                <a:tc>
                  <a:txBody>
                    <a:bodyPr/>
                    <a:lstStyle/>
                    <a:p>
                      <a:pPr algn="l" indent="0" marL="0">
                        <a:buNone/>
                      </a:pPr>
                      <a:r>
                        <a:rPr lang="en-US" sz="1000" b="1" dirty="0">
                          <a:solidFill>
                            <a:srgbClr val="0B132B"/>
                          </a:solidFill>
                          <a:latin typeface="Calibri" pitchFamily="34" charset="0"/>
                          <a:ea typeface="Calibri" pitchFamily="34" charset="-122"/>
                          <a:cs typeface="Calibri" pitchFamily="34" charset="-120"/>
                        </a:rPr>
                        <a:t>Raw Material Procurement</a:t>
                      </a:r>
                      <a:endParaRPr lang="en-US" sz="1000" dirty="0">
                        <a:latin typeface="Calibri" charset="0"/>
                        <a:ea typeface="Calibri" charset="0"/>
                        <a:cs typeface="Calibri" charset="0"/>
                      </a:endParaRPr>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1F3F7"/>
                    </a:solidFill>
                  </a:tcPr>
                </a:tc>
                <a:tc>
                  <a:txBody>
                    <a:bodyPr/>
                    <a:lstStyle/>
                    <a:p>
                      <a:pPr algn="l" indent="0" marL="0">
                        <a:buNone/>
                      </a:pPr>
                      <a:r>
                        <a:rPr lang="en-US" sz="1000" dirty="0">
                          <a:solidFill>
                            <a:srgbClr val="0B132B"/>
                          </a:solidFill>
                          <a:latin typeface="Calibri" pitchFamily="34" charset="0"/>
                          <a:ea typeface="Calibri" pitchFamily="34" charset="-122"/>
                          <a:cs typeface="Calibri" pitchFamily="34" charset="-120"/>
                        </a:rPr>
                        <a:t>75% reduction in Hafnium, substituted with Titanium.</a:t>
                      </a:r>
                      <a:endParaRPr lang="en-US" sz="1000" dirty="0">
                        <a:latin typeface="Calibri" charset="0"/>
                        <a:ea typeface="Calibri" charset="0"/>
                        <a:cs typeface="Calibri" charset="0"/>
                      </a:endParaRPr>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1F3F7"/>
                    </a:solidFill>
                  </a:tcPr>
                </a:tc>
                <a:tc>
                  <a:txBody>
                    <a:bodyPr/>
                    <a:lstStyle/>
                    <a:p>
                      <a:pPr algn="l" indent="0" marL="0">
                        <a:buNone/>
                      </a:pPr>
                      <a:r>
                        <a:rPr lang="en-US" sz="1000" b="1" dirty="0">
                          <a:solidFill>
                            <a:srgbClr val="1E8E5A"/>
                          </a:solidFill>
                          <a:latin typeface="Calibri" pitchFamily="34" charset="0"/>
                          <a:ea typeface="Calibri" pitchFamily="34" charset="-122"/>
                          <a:cs typeface="Calibri" pitchFamily="34" charset="-120"/>
                        </a:rPr>
                        <a:t>15-20% Drop in Alloy Cost:</a:t>
                      </a:r>
                      <a:pPr algn="l" indent="0" marL="0">
                        <a:buNone/>
                      </a:pPr>
                      <a:r>
                        <a:rPr lang="en-US" sz="1000" dirty="0">
                          <a:solidFill>
                            <a:srgbClr val="0B132B"/>
                          </a:solidFill>
                          <a:latin typeface="Calibri" pitchFamily="34" charset="0"/>
                          <a:ea typeface="Calibri" pitchFamily="34" charset="-122"/>
                          <a:cs typeface="Calibri" pitchFamily="34" charset="-120"/>
                        </a:rPr>
                        <a:t> Achieves ~$170/kg, enabling high-volume EV commercialization.</a:t>
                      </a:r>
                      <a:endParaRPr lang="en-US" sz="1000" dirty="0">
                        <a:latin typeface="Calibri" charset="0"/>
                        <a:ea typeface="Calibri" charset="0"/>
                        <a:cs typeface="Calibri" charset="0"/>
                      </a:endParaRPr>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1F3F7"/>
                    </a:solidFill>
                  </a:tcPr>
                </a:tc>
              </a:tr>
              <a:tr h="1188720">
                <a:tc>
                  <a:txBody>
                    <a:bodyPr/>
                    <a:lstStyle/>
                    <a:p>
                      <a:pPr algn="l" indent="0" marL="0">
                        <a:buNone/>
                      </a:pPr>
                      <a:r>
                        <a:rPr lang="en-US" sz="1000" b="1" dirty="0">
                          <a:solidFill>
                            <a:srgbClr val="0B132B"/>
                          </a:solidFill>
                          <a:latin typeface="Calibri" pitchFamily="34" charset="0"/>
                          <a:ea typeface="Calibri" pitchFamily="34" charset="-122"/>
                          <a:cs typeface="Calibri" pitchFamily="34" charset="-120"/>
                        </a:rPr>
                        <a:t>Tooling &amp; Forging Uptime</a:t>
                      </a:r>
                      <a:endParaRPr lang="en-US" sz="1000" dirty="0">
                        <a:latin typeface="Calibri" charset="0"/>
                        <a:ea typeface="Calibri" charset="0"/>
                        <a:cs typeface="Calibri" charset="0"/>
                      </a:endParaRPr>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B132B"/>
                          </a:solidFill>
                          <a:latin typeface="Calibri" pitchFamily="34" charset="0"/>
                          <a:ea typeface="Calibri" pitchFamily="34" charset="-122"/>
                          <a:cs typeface="Calibri" pitchFamily="34" charset="-120"/>
                        </a:rPr>
                        <a:t>H13 Dies retain 917.7 MPa yield strength at 1200°C.</a:t>
                      </a:r>
                      <a:endParaRPr lang="en-US" sz="1000" dirty="0">
                        <a:latin typeface="Calibri" charset="0"/>
                        <a:ea typeface="Calibri" charset="0"/>
                        <a:cs typeface="Calibri" charset="0"/>
                      </a:endParaRPr>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1E8E5A"/>
                          </a:solidFill>
                          <a:latin typeface="Calibri" pitchFamily="34" charset="0"/>
                          <a:ea typeface="Calibri" pitchFamily="34" charset="-122"/>
                          <a:cs typeface="Calibri" pitchFamily="34" charset="-120"/>
                        </a:rPr>
                        <a:t>Drastic MRO Reduction:</a:t>
                      </a:r>
                      <a:pPr algn="l" indent="0" marL="0">
                        <a:buNone/>
                      </a:pPr>
                      <a:r>
                        <a:rPr lang="en-US" sz="1000" dirty="0">
                          <a:solidFill>
                            <a:srgbClr val="0B132B"/>
                          </a:solidFill>
                          <a:latin typeface="Calibri" pitchFamily="34" charset="0"/>
                          <a:ea typeface="Calibri" pitchFamily="34" charset="-122"/>
                          <a:cs typeface="Calibri" pitchFamily="34" charset="-120"/>
                        </a:rPr>
                        <a:t> Eliminates thermal fatigue cracking, vastly extending tooling life and manufacturing throughput.</a:t>
                      </a:r>
                      <a:endParaRPr lang="en-US" sz="1000" dirty="0">
                        <a:latin typeface="Calibri" charset="0"/>
                        <a:ea typeface="Calibri" charset="0"/>
                        <a:cs typeface="Calibri" charset="0"/>
                      </a:endParaRPr>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r>
              <a:tr h="1188720">
                <a:tc>
                  <a:txBody>
                    <a:bodyPr/>
                    <a:lstStyle/>
                    <a:p>
                      <a:pPr algn="l" indent="0" marL="0">
                        <a:buNone/>
                      </a:pPr>
                      <a:r>
                        <a:rPr lang="en-US" sz="1000" b="1" dirty="0">
                          <a:solidFill>
                            <a:srgbClr val="0B132B"/>
                          </a:solidFill>
                          <a:latin typeface="Calibri" pitchFamily="34" charset="0"/>
                          <a:ea typeface="Calibri" pitchFamily="34" charset="-122"/>
                          <a:cs typeface="Calibri" pitchFamily="34" charset="-120"/>
                        </a:rPr>
                        <a:t>Next-Gen EV Motors</a:t>
                      </a:r>
                      <a:endParaRPr lang="en-US" sz="1000" dirty="0">
                        <a:latin typeface="Calibri" charset="0"/>
                        <a:ea typeface="Calibri" charset="0"/>
                        <a:cs typeface="Calibri" charset="0"/>
                      </a:endParaRPr>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1F3F7"/>
                    </a:solidFill>
                  </a:tcPr>
                </a:tc>
                <a:tc>
                  <a:txBody>
                    <a:bodyPr/>
                    <a:lstStyle/>
                    <a:p>
                      <a:pPr algn="l" indent="0" marL="0">
                        <a:buNone/>
                      </a:pPr>
                      <a:r>
                        <a:rPr lang="en-US" sz="1000" dirty="0">
                          <a:solidFill>
                            <a:srgbClr val="0B132B"/>
                          </a:solidFill>
                          <a:latin typeface="Calibri" pitchFamily="34" charset="0"/>
                          <a:ea typeface="Calibri" pitchFamily="34" charset="-122"/>
                          <a:cs typeface="Calibri" pitchFamily="34" charset="-120"/>
                        </a:rPr>
                        <a:t>Elimination of localized thermal hotspots in SRMs.</a:t>
                      </a:r>
                      <a:endParaRPr lang="en-US" sz="1000" dirty="0">
                        <a:latin typeface="Calibri" charset="0"/>
                        <a:ea typeface="Calibri" charset="0"/>
                        <a:cs typeface="Calibri" charset="0"/>
                      </a:endParaRPr>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1F3F7"/>
                    </a:solidFill>
                  </a:tcPr>
                </a:tc>
                <a:tc>
                  <a:txBody>
                    <a:bodyPr/>
                    <a:lstStyle/>
                    <a:p>
                      <a:pPr algn="l" indent="0" marL="0">
                        <a:buNone/>
                      </a:pPr>
                      <a:r>
                        <a:rPr lang="en-US" sz="1000" b="1" dirty="0">
                          <a:solidFill>
                            <a:srgbClr val="1E8E5A"/>
                          </a:solidFill>
                          <a:latin typeface="Calibri" pitchFamily="34" charset="0"/>
                          <a:ea typeface="Calibri" pitchFamily="34" charset="-122"/>
                          <a:cs typeface="Calibri" pitchFamily="34" charset="-120"/>
                        </a:rPr>
                        <a:t>Rare-Earth Independence:</a:t>
                      </a:r>
                      <a:pPr algn="l" indent="0" marL="0">
                        <a:buNone/>
                      </a:pPr>
                      <a:r>
                        <a:rPr lang="en-US" sz="1000" dirty="0">
                          <a:solidFill>
                            <a:srgbClr val="0B132B"/>
                          </a:solidFill>
                          <a:latin typeface="Calibri" pitchFamily="34" charset="0"/>
                          <a:ea typeface="Calibri" pitchFamily="34" charset="-122"/>
                          <a:cs typeface="Calibri" pitchFamily="34" charset="-120"/>
                        </a:rPr>
                        <a:t> Enables high-power magnet-less motors without thermal degradation.</a:t>
                      </a:r>
                      <a:endParaRPr lang="en-US" sz="1000" dirty="0">
                        <a:latin typeface="Calibri" charset="0"/>
                        <a:ea typeface="Calibri" charset="0"/>
                        <a:cs typeface="Calibri" charset="0"/>
                      </a:endParaRPr>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1F3F7"/>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9125712" y="274320"/>
            <a:ext cx="2560320" cy="219456"/>
          </a:xfrm>
          <a:prstGeom prst="rect">
            <a:avLst/>
          </a:prstGeom>
          <a:noFill/>
          <a:ln/>
        </p:spPr>
        <p:txBody>
          <a:bodyPr wrap="square" rtlCol="0" anchor="ctr"/>
          <a:lstStyle/>
          <a:p>
            <a:pPr algn="r" indent="0" marL="0">
              <a:buNone/>
            </a:pPr>
            <a:r>
              <a:rPr lang="en-US" sz="950" b="1" spc="140" kern="0" dirty="0">
                <a:solidFill>
                  <a:srgbClr val="0B132B"/>
                </a:solidFill>
                <a:latin typeface="Arial" pitchFamily="34" charset="0"/>
                <a:ea typeface="Arial" pitchFamily="34" charset="-122"/>
                <a:cs typeface="Arial" pitchFamily="34" charset="-120"/>
              </a:rPr>
              <a:t>CRYSTAL </a:t>
            </a:r>
            <a:pPr algn="r" indent="0" marL="0">
              <a:buNone/>
            </a:pPr>
            <a:r>
              <a:rPr lang="en-US" sz="950" b="1" spc="140" kern="0" dirty="0">
                <a:solidFill>
                  <a:srgbClr val="0E7C86"/>
                </a:solidFill>
                <a:latin typeface="Arial" pitchFamily="34" charset="0"/>
                <a:ea typeface="Arial" pitchFamily="34" charset="-122"/>
                <a:cs typeface="Arial" pitchFamily="34" charset="-120"/>
              </a:rPr>
              <a:t>PARADIGM</a:t>
            </a:r>
            <a:endParaRPr lang="en-US" sz="950" dirty="0"/>
          </a:p>
        </p:txBody>
      </p:sp>
      <p:sp>
        <p:nvSpPr>
          <p:cNvPr id="3" name="Text 1"/>
          <p:cNvSpPr/>
          <p:nvPr/>
        </p:nvSpPr>
        <p:spPr>
          <a:xfrm>
            <a:off x="11384280" y="6510528"/>
            <a:ext cx="594360" cy="256032"/>
          </a:xfrm>
          <a:prstGeom prst="rect">
            <a:avLst/>
          </a:prstGeom>
          <a:noFill/>
          <a:ln/>
        </p:spPr>
        <p:txBody>
          <a:bodyPr wrap="square" rtlCol="0" anchor="ctr"/>
          <a:lstStyle/>
          <a:p>
            <a:pPr algn="r" indent="0" marL="0">
              <a:buNone/>
            </a:pPr>
            <a:r>
              <a:rPr lang="en-US" sz="850" dirty="0">
                <a:solidFill>
                  <a:srgbClr val="5B6B8C"/>
                </a:solidFill>
                <a:latin typeface="Calibri" pitchFamily="34" charset="0"/>
                <a:ea typeface="Calibri" pitchFamily="34" charset="-122"/>
                <a:cs typeface="Calibri" pitchFamily="34" charset="-120"/>
              </a:rPr>
              <a:t>11 / 18</a:t>
            </a:r>
            <a:endParaRPr lang="en-US" sz="850" dirty="0"/>
          </a:p>
        </p:txBody>
      </p:sp>
      <p:sp>
        <p:nvSpPr>
          <p:cNvPr id="4" name="Text 2"/>
          <p:cNvSpPr/>
          <p:nvPr/>
        </p:nvSpPr>
        <p:spPr>
          <a:xfrm>
            <a:off x="502920" y="384048"/>
            <a:ext cx="5486400" cy="274320"/>
          </a:xfrm>
          <a:prstGeom prst="rect">
            <a:avLst/>
          </a:prstGeom>
          <a:noFill/>
          <a:ln/>
        </p:spPr>
        <p:txBody>
          <a:bodyPr wrap="square" rtlCol="0" anchor="ctr"/>
          <a:lstStyle/>
          <a:p>
            <a:pPr algn="l" indent="0" marL="0">
              <a:buNone/>
            </a:pPr>
            <a:r>
              <a:rPr lang="en-US" sz="1050" b="1" spc="220" kern="0" dirty="0">
                <a:solidFill>
                  <a:srgbClr val="0E7C86"/>
                </a:solidFill>
                <a:latin typeface="Arial" pitchFamily="34" charset="0"/>
                <a:ea typeface="Arial" pitchFamily="34" charset="-122"/>
                <a:cs typeface="Arial" pitchFamily="34" charset="-120"/>
              </a:rPr>
              <a:t>SCIDIP DEPLOYMENT 1</a:t>
            </a:r>
            <a:endParaRPr lang="en-US" sz="1050" dirty="0"/>
          </a:p>
        </p:txBody>
      </p:sp>
      <p:sp>
        <p:nvSpPr>
          <p:cNvPr id="5" name="Text 3"/>
          <p:cNvSpPr/>
          <p:nvPr/>
        </p:nvSpPr>
        <p:spPr>
          <a:xfrm>
            <a:off x="502920" y="658368"/>
            <a:ext cx="11183112" cy="457200"/>
          </a:xfrm>
          <a:prstGeom prst="rect">
            <a:avLst/>
          </a:prstGeom>
          <a:noFill/>
          <a:ln/>
        </p:spPr>
        <p:txBody>
          <a:bodyPr wrap="square" rtlCol="0" anchor="ctr"/>
          <a:lstStyle/>
          <a:p>
            <a:pPr algn="l" indent="0" marL="0">
              <a:lnSpc>
                <a:spcPct val="108000"/>
              </a:lnSpc>
              <a:buNone/>
            </a:pPr>
            <a:r>
              <a:rPr lang="en-US" sz="2200" b="1" spc="20" kern="0" dirty="0">
                <a:solidFill>
                  <a:srgbClr val="0B132B"/>
                </a:solidFill>
                <a:latin typeface="Arial" pitchFamily="34" charset="0"/>
                <a:ea typeface="Arial" pitchFamily="34" charset="-122"/>
                <a:cs typeface="Arial" pitchFamily="34" charset="-120"/>
              </a:rPr>
              <a:t>SCIDIP DEPLOYMENT 1: NEXT-GEN FORGING DIES</a:t>
            </a:r>
            <a:endParaRPr lang="en-US" sz="2200" dirty="0"/>
          </a:p>
        </p:txBody>
      </p:sp>
      <p:sp>
        <p:nvSpPr>
          <p:cNvPr id="6" name="Text 4"/>
          <p:cNvSpPr/>
          <p:nvPr/>
        </p:nvSpPr>
        <p:spPr>
          <a:xfrm>
            <a:off x="502920" y="1097280"/>
            <a:ext cx="11183112" cy="292608"/>
          </a:xfrm>
          <a:prstGeom prst="rect">
            <a:avLst/>
          </a:prstGeom>
          <a:noFill/>
          <a:ln/>
        </p:spPr>
        <p:txBody>
          <a:bodyPr wrap="square" rtlCol="0" anchor="ctr"/>
          <a:lstStyle/>
          <a:p>
            <a:pPr algn="l" indent="0" marL="0">
              <a:buNone/>
            </a:pPr>
            <a:r>
              <a:rPr lang="en-US" sz="1300" b="1" dirty="0">
                <a:solidFill>
                  <a:srgbClr val="0E7C86"/>
                </a:solidFill>
                <a:latin typeface="Arial" pitchFamily="34" charset="0"/>
                <a:ea typeface="Arial" pitchFamily="34" charset="-122"/>
                <a:cs typeface="Arial" pitchFamily="34" charset="-120"/>
              </a:rPr>
              <a:t>Solving Sona Comstar's Differential Gear Bottleneck</a:t>
            </a:r>
            <a:endParaRPr lang="en-US" sz="1300" dirty="0"/>
          </a:p>
        </p:txBody>
      </p:sp>
      <p:sp>
        <p:nvSpPr>
          <p:cNvPr id="7" name="Text 5"/>
          <p:cNvSpPr/>
          <p:nvPr/>
        </p:nvSpPr>
        <p:spPr>
          <a:xfrm>
            <a:off x="502920" y="1444752"/>
            <a:ext cx="11183112" cy="658368"/>
          </a:xfrm>
          <a:prstGeom prst="rect">
            <a:avLst/>
          </a:prstGeom>
          <a:noFill/>
          <a:ln/>
        </p:spPr>
        <p:txBody>
          <a:bodyPr wrap="square" rtlCol="0" anchor="ctr"/>
          <a:lstStyle/>
          <a:p>
            <a:pPr algn="l" indent="0" marL="0">
              <a:lnSpc>
                <a:spcPct val="124000"/>
              </a:lnSpc>
              <a:buNone/>
            </a:pPr>
            <a:r>
              <a:rPr lang="en-US" sz="1250" dirty="0">
                <a:solidFill>
                  <a:srgbClr val="5B6B8C"/>
                </a:solidFill>
                <a:latin typeface="Calibri" pitchFamily="34" charset="0"/>
                <a:ea typeface="Calibri" pitchFamily="34" charset="-122"/>
                <a:cs typeface="Calibri" pitchFamily="34" charset="-120"/>
              </a:rPr>
              <a:t>Sona Comstar's core competitive advantage lies in precision forging of differential bevel gears. However, legacy H13 tool steel dies suffer massive yield strength collapse and thermal fatigue when operating near 1200°C, causing costly manufacturing downtime.</a:t>
            </a:r>
            <a:endParaRPr lang="en-US" sz="1250" dirty="0"/>
          </a:p>
        </p:txBody>
      </p:sp>
      <p:sp>
        <p:nvSpPr>
          <p:cNvPr id="8" name="Shape 6"/>
          <p:cNvSpPr/>
          <p:nvPr/>
        </p:nvSpPr>
        <p:spPr>
          <a:xfrm>
            <a:off x="502920" y="2212848"/>
            <a:ext cx="11183112" cy="1097280"/>
          </a:xfrm>
          <a:prstGeom prst="roundRect">
            <a:avLst>
              <a:gd name="adj" fmla="val 11667"/>
            </a:avLst>
          </a:prstGeom>
          <a:solidFill>
            <a:srgbClr val="EEF1F5"/>
          </a:solidFill>
          <a:ln w="15875">
            <a:solidFill>
              <a:srgbClr val="0B132B"/>
            </a:solidFill>
            <a:prstDash val="dash"/>
          </a:ln>
        </p:spPr>
      </p:sp>
      <p:sp>
        <p:nvSpPr>
          <p:cNvPr id="9" name="Text 7"/>
          <p:cNvSpPr/>
          <p:nvPr/>
        </p:nvSpPr>
        <p:spPr>
          <a:xfrm>
            <a:off x="731520" y="2377440"/>
            <a:ext cx="10725912" cy="237744"/>
          </a:xfrm>
          <a:prstGeom prst="rect">
            <a:avLst/>
          </a:prstGeom>
          <a:noFill/>
          <a:ln/>
        </p:spPr>
        <p:txBody>
          <a:bodyPr wrap="square" rtlCol="0" anchor="ctr"/>
          <a:lstStyle/>
          <a:p>
            <a:pPr indent="0" marL="0">
              <a:buNone/>
            </a:pPr>
            <a:r>
              <a:rPr lang="en-US" sz="900" b="1" spc="180" kern="0" dirty="0">
                <a:solidFill>
                  <a:srgbClr val="7C879C"/>
                </a:solidFill>
                <a:latin typeface="Arial" pitchFamily="34" charset="0"/>
                <a:ea typeface="Arial" pitchFamily="34" charset="-122"/>
                <a:cs typeface="Arial" pitchFamily="34" charset="-120"/>
              </a:rPr>
              <a:t>VISUAL PLACEHOLDER</a:t>
            </a:r>
            <a:endParaRPr lang="en-US" sz="900" dirty="0"/>
          </a:p>
        </p:txBody>
      </p:sp>
      <p:sp>
        <p:nvSpPr>
          <p:cNvPr id="10" name="Text 8"/>
          <p:cNvSpPr/>
          <p:nvPr/>
        </p:nvSpPr>
        <p:spPr>
          <a:xfrm>
            <a:off x="822960" y="2670048"/>
            <a:ext cx="10543032" cy="411480"/>
          </a:xfrm>
          <a:prstGeom prst="rect">
            <a:avLst/>
          </a:prstGeom>
          <a:noFill/>
          <a:ln/>
        </p:spPr>
        <p:txBody>
          <a:bodyPr wrap="square" rtlCol="0" anchor="ctr"/>
          <a:lstStyle/>
          <a:p>
            <a:pPr algn="ctr" indent="0" marL="0">
              <a:lnSpc>
                <a:spcPct val="125000"/>
              </a:lnSpc>
              <a:buNone/>
            </a:pPr>
            <a:r>
              <a:rPr lang="en-US" sz="1100" i="1" dirty="0">
                <a:solidFill>
                  <a:srgbClr val="7C879C"/>
                </a:solidFill>
                <a:latin typeface="Calibri" pitchFamily="34" charset="0"/>
                <a:ea typeface="Calibri" pitchFamily="34" charset="-122"/>
                <a:cs typeface="Calibri" pitchFamily="34" charset="-120"/>
              </a:rPr>
              <a:t>INSERT VISUALIZATION: problem vs. solution — legacy H13 die cracking under thermal fatigue vs. Candidate C FGM die operating smoothly at 1200°C, with yield-strength data callouts</a:t>
            </a:r>
            <a:endParaRPr lang="en-US" sz="1100" dirty="0"/>
          </a:p>
        </p:txBody>
      </p:sp>
      <p:sp>
        <p:nvSpPr>
          <p:cNvPr id="11" name="Text 9"/>
          <p:cNvSpPr/>
          <p:nvPr/>
        </p:nvSpPr>
        <p:spPr>
          <a:xfrm>
            <a:off x="502920" y="3456432"/>
            <a:ext cx="11183112" cy="292608"/>
          </a:xfrm>
          <a:prstGeom prst="rect">
            <a:avLst/>
          </a:prstGeom>
          <a:noFill/>
          <a:ln/>
        </p:spPr>
        <p:txBody>
          <a:bodyPr wrap="square" rtlCol="0" anchor="ctr"/>
          <a:lstStyle/>
          <a:p>
            <a:pPr indent="0" marL="0">
              <a:buNone/>
            </a:pPr>
            <a:r>
              <a:rPr lang="en-US" sz="1250" b="1" dirty="0">
                <a:solidFill>
                  <a:srgbClr val="0B132B"/>
                </a:solidFill>
                <a:latin typeface="Arial" pitchFamily="34" charset="0"/>
                <a:ea typeface="Arial" pitchFamily="34" charset="-122"/>
                <a:cs typeface="Arial" pitchFamily="34" charset="-120"/>
              </a:rPr>
              <a:t>THE CRYSTAL PARADIGM UPGRADE: Our </a:t>
            </a:r>
            <a:pPr indent="0" marL="0">
              <a:buNone/>
            </a:pPr>
            <a:r>
              <a:rPr lang="en-US" sz="1250" b="1" dirty="0">
                <a:solidFill>
                  <a:srgbClr val="0E7C86"/>
                </a:solidFill>
                <a:latin typeface="Arial" pitchFamily="34" charset="0"/>
                <a:ea typeface="Arial" pitchFamily="34" charset="-122"/>
                <a:cs typeface="Arial" pitchFamily="34" charset="-120"/>
              </a:rPr>
              <a:t>11-layer FGM architecture</a:t>
            </a:r>
            <a:pPr indent="0" marL="0">
              <a:buNone/>
            </a:pPr>
            <a:r>
              <a:rPr lang="en-US" sz="1250" b="1" dirty="0">
                <a:solidFill>
                  <a:srgbClr val="0B132B"/>
                </a:solidFill>
                <a:latin typeface="Arial" pitchFamily="34" charset="0"/>
                <a:ea typeface="Arial" pitchFamily="34" charset="-122"/>
                <a:cs typeface="Arial" pitchFamily="34" charset="-120"/>
              </a:rPr>
              <a:t> replaces the traditional monolithic die.</a:t>
            </a:r>
            <a:endParaRPr lang="en-US" sz="1250" dirty="0"/>
          </a:p>
        </p:txBody>
      </p:sp>
      <p:sp>
        <p:nvSpPr>
          <p:cNvPr id="12" name="Shape 10"/>
          <p:cNvSpPr/>
          <p:nvPr/>
        </p:nvSpPr>
        <p:spPr>
          <a:xfrm>
            <a:off x="502920" y="3840480"/>
            <a:ext cx="3593592" cy="2331720"/>
          </a:xfrm>
          <a:prstGeom prst="roundRect">
            <a:avLst>
              <a:gd name="adj" fmla="val 5490"/>
            </a:avLst>
          </a:prstGeom>
          <a:solidFill>
            <a:srgbClr val="0B132B"/>
          </a:solidFill>
          <a:ln w="9525">
            <a:solidFill>
              <a:srgbClr val="2A3B63"/>
            </a:solidFill>
            <a:prstDash val="solid"/>
          </a:ln>
          <a:effectLst>
            <a:outerShdw sx="100000" sy="100000" kx="0" ky="0" algn="bl" rotWithShape="0" blurRad="127000" dist="38100" dir="5400000">
              <a:srgbClr val="1A2138">
                <a:alpha val="28000"/>
              </a:srgbClr>
            </a:outerShdw>
          </a:effectLst>
        </p:spPr>
      </p:sp>
      <p:sp>
        <p:nvSpPr>
          <p:cNvPr id="13" name="Shape 11"/>
          <p:cNvSpPr/>
          <p:nvPr/>
        </p:nvSpPr>
        <p:spPr>
          <a:xfrm>
            <a:off x="722376" y="4041648"/>
            <a:ext cx="365760" cy="365760"/>
          </a:xfrm>
          <a:prstGeom prst="roundRect">
            <a:avLst>
              <a:gd name="adj" fmla="val 15000"/>
            </a:avLst>
          </a:prstGeom>
          <a:solidFill>
            <a:srgbClr val="F8F9FA"/>
          </a:solidFill>
          <a:ln/>
        </p:spPr>
      </p:sp>
      <p:sp>
        <p:nvSpPr>
          <p:cNvPr id="14" name="Text 12"/>
          <p:cNvSpPr/>
          <p:nvPr/>
        </p:nvSpPr>
        <p:spPr>
          <a:xfrm>
            <a:off x="722376" y="4041648"/>
            <a:ext cx="365760" cy="365760"/>
          </a:xfrm>
          <a:prstGeom prst="rect">
            <a:avLst/>
          </a:prstGeom>
          <a:noFill/>
          <a:ln/>
        </p:spPr>
        <p:txBody>
          <a:bodyPr wrap="square" rtlCol="0" anchor="ctr"/>
          <a:lstStyle/>
          <a:p>
            <a:pPr algn="ctr" indent="0" marL="0">
              <a:buNone/>
            </a:pPr>
            <a:r>
              <a:rPr lang="en-US" sz="1200" b="1" dirty="0">
                <a:solidFill>
                  <a:srgbClr val="0B132B"/>
                </a:solidFill>
                <a:latin typeface="Arial" pitchFamily="34" charset="0"/>
                <a:ea typeface="Arial" pitchFamily="34" charset="-122"/>
                <a:cs typeface="Arial" pitchFamily="34" charset="-120"/>
              </a:rPr>
              <a:t>1</a:t>
            </a:r>
            <a:endParaRPr lang="en-US" sz="1200" dirty="0"/>
          </a:p>
        </p:txBody>
      </p:sp>
      <p:sp>
        <p:nvSpPr>
          <p:cNvPr id="15" name="Text 13"/>
          <p:cNvSpPr/>
          <p:nvPr/>
        </p:nvSpPr>
        <p:spPr>
          <a:xfrm>
            <a:off x="1234440" y="4059936"/>
            <a:ext cx="2633472" cy="320040"/>
          </a:xfrm>
          <a:prstGeom prst="rect">
            <a:avLst/>
          </a:prstGeom>
          <a:noFill/>
          <a:ln/>
        </p:spPr>
        <p:txBody>
          <a:bodyPr wrap="square" rtlCol="0" anchor="t"/>
          <a:lstStyle/>
          <a:p>
            <a:pPr indent="0" marL="0">
              <a:lnSpc>
                <a:spcPct val="110000"/>
              </a:lnSpc>
              <a:buNone/>
            </a:pPr>
            <a:r>
              <a:rPr lang="en-US" sz="1300" b="1" dirty="0">
                <a:solidFill>
                  <a:srgbClr val="F8F9FA"/>
                </a:solidFill>
                <a:latin typeface="Arial" pitchFamily="34" charset="0"/>
                <a:ea typeface="Arial" pitchFamily="34" charset="-122"/>
                <a:cs typeface="Arial" pitchFamily="34" charset="-120"/>
              </a:rPr>
              <a:t>The Core</a:t>
            </a:r>
            <a:endParaRPr lang="en-US" sz="1300" dirty="0"/>
          </a:p>
        </p:txBody>
      </p:sp>
      <p:sp>
        <p:nvSpPr>
          <p:cNvPr id="16" name="Text 14"/>
          <p:cNvSpPr/>
          <p:nvPr/>
        </p:nvSpPr>
        <p:spPr>
          <a:xfrm>
            <a:off x="722376" y="4526280"/>
            <a:ext cx="3154680" cy="1463040"/>
          </a:xfrm>
          <a:prstGeom prst="rect">
            <a:avLst/>
          </a:prstGeom>
          <a:noFill/>
          <a:ln/>
        </p:spPr>
        <p:txBody>
          <a:bodyPr wrap="square" rtlCol="0" anchor="t"/>
          <a:lstStyle/>
          <a:p>
            <a:pPr algn="l" indent="0" marL="0">
              <a:lnSpc>
                <a:spcPct val="124000"/>
              </a:lnSpc>
              <a:buNone/>
            </a:pPr>
            <a:r>
              <a:rPr lang="en-US" sz="1080" dirty="0">
                <a:solidFill>
                  <a:srgbClr val="AAB6CC"/>
                </a:solidFill>
                <a:latin typeface="Calibri" pitchFamily="34" charset="0"/>
                <a:ea typeface="Calibri" pitchFamily="34" charset="-122"/>
                <a:cs typeface="Calibri" pitchFamily="34" charset="-120"/>
              </a:rPr>
              <a:t>The Ta-W-Cr-V-Ti-Zr-Hf alloy retains </a:t>
            </a:r>
            <a:pPr algn="l" indent="0" marL="0">
              <a:lnSpc>
                <a:spcPct val="124000"/>
              </a:lnSpc>
              <a:buNone/>
            </a:pPr>
            <a:r>
              <a:rPr lang="en-US" sz="1080" b="1" dirty="0">
                <a:solidFill>
                  <a:srgbClr val="4FD1C5"/>
                </a:solidFill>
                <a:latin typeface="Calibri" pitchFamily="34" charset="0"/>
                <a:ea typeface="Calibri" pitchFamily="34" charset="-122"/>
                <a:cs typeface="Calibri" pitchFamily="34" charset="-120"/>
              </a:rPr>
              <a:t>&gt;917.7 MPa yield strength</a:t>
            </a:r>
            <a:pPr algn="l" indent="0" marL="0">
              <a:lnSpc>
                <a:spcPct val="124000"/>
              </a:lnSpc>
              <a:buNone/>
            </a:pPr>
            <a:r>
              <a:rPr lang="en-US" sz="1080" dirty="0">
                <a:solidFill>
                  <a:srgbClr val="AAB6CC"/>
                </a:solidFill>
                <a:latin typeface="Calibri" pitchFamily="34" charset="0"/>
                <a:ea typeface="Calibri" pitchFamily="34" charset="-122"/>
                <a:cs typeface="Calibri" pitchFamily="34" charset="-120"/>
              </a:rPr>
              <a:t> at 1200°C, preventing mechanical deformation under massive forging pressures.</a:t>
            </a:r>
            <a:endParaRPr lang="en-US" sz="1080" dirty="0"/>
          </a:p>
        </p:txBody>
      </p:sp>
      <p:sp>
        <p:nvSpPr>
          <p:cNvPr id="17" name="Shape 15"/>
          <p:cNvSpPr/>
          <p:nvPr/>
        </p:nvSpPr>
        <p:spPr>
          <a:xfrm>
            <a:off x="4297680" y="3840480"/>
            <a:ext cx="3593592" cy="2331720"/>
          </a:xfrm>
          <a:prstGeom prst="roundRect">
            <a:avLst>
              <a:gd name="adj" fmla="val 5490"/>
            </a:avLst>
          </a:prstGeom>
          <a:solidFill>
            <a:srgbClr val="0B132B"/>
          </a:solidFill>
          <a:ln w="9525">
            <a:solidFill>
              <a:srgbClr val="2A3B63"/>
            </a:solidFill>
            <a:prstDash val="solid"/>
          </a:ln>
          <a:effectLst>
            <a:outerShdw sx="100000" sy="100000" kx="0" ky="0" algn="bl" rotWithShape="0" blurRad="127000" dist="38100" dir="5400000">
              <a:srgbClr val="1A2138">
                <a:alpha val="28000"/>
              </a:srgbClr>
            </a:outerShdw>
          </a:effectLst>
        </p:spPr>
      </p:sp>
      <p:sp>
        <p:nvSpPr>
          <p:cNvPr id="18" name="Shape 16"/>
          <p:cNvSpPr/>
          <p:nvPr/>
        </p:nvSpPr>
        <p:spPr>
          <a:xfrm>
            <a:off x="4517136" y="4041648"/>
            <a:ext cx="365760" cy="365760"/>
          </a:xfrm>
          <a:prstGeom prst="roundRect">
            <a:avLst>
              <a:gd name="adj" fmla="val 15000"/>
            </a:avLst>
          </a:prstGeom>
          <a:solidFill>
            <a:srgbClr val="F8F9FA"/>
          </a:solidFill>
          <a:ln/>
        </p:spPr>
      </p:sp>
      <p:sp>
        <p:nvSpPr>
          <p:cNvPr id="19" name="Text 17"/>
          <p:cNvSpPr/>
          <p:nvPr/>
        </p:nvSpPr>
        <p:spPr>
          <a:xfrm>
            <a:off x="4517136" y="4041648"/>
            <a:ext cx="365760" cy="365760"/>
          </a:xfrm>
          <a:prstGeom prst="rect">
            <a:avLst/>
          </a:prstGeom>
          <a:noFill/>
          <a:ln/>
        </p:spPr>
        <p:txBody>
          <a:bodyPr wrap="square" rtlCol="0" anchor="ctr"/>
          <a:lstStyle/>
          <a:p>
            <a:pPr algn="ctr" indent="0" marL="0">
              <a:buNone/>
            </a:pPr>
            <a:r>
              <a:rPr lang="en-US" sz="1200" b="1" dirty="0">
                <a:solidFill>
                  <a:srgbClr val="0B132B"/>
                </a:solidFill>
                <a:latin typeface="Arial" pitchFamily="34" charset="0"/>
                <a:ea typeface="Arial" pitchFamily="34" charset="-122"/>
                <a:cs typeface="Arial" pitchFamily="34" charset="-120"/>
              </a:rPr>
              <a:t>2</a:t>
            </a:r>
            <a:endParaRPr lang="en-US" sz="1200" dirty="0"/>
          </a:p>
        </p:txBody>
      </p:sp>
      <p:sp>
        <p:nvSpPr>
          <p:cNvPr id="20" name="Text 18"/>
          <p:cNvSpPr/>
          <p:nvPr/>
        </p:nvSpPr>
        <p:spPr>
          <a:xfrm>
            <a:off x="5029200" y="4059936"/>
            <a:ext cx="2633472" cy="320040"/>
          </a:xfrm>
          <a:prstGeom prst="rect">
            <a:avLst/>
          </a:prstGeom>
          <a:noFill/>
          <a:ln/>
        </p:spPr>
        <p:txBody>
          <a:bodyPr wrap="square" rtlCol="0" anchor="t"/>
          <a:lstStyle/>
          <a:p>
            <a:pPr indent="0" marL="0">
              <a:lnSpc>
                <a:spcPct val="110000"/>
              </a:lnSpc>
              <a:buNone/>
            </a:pPr>
            <a:r>
              <a:rPr lang="en-US" sz="1300" b="1" dirty="0">
                <a:solidFill>
                  <a:srgbClr val="F8F9FA"/>
                </a:solidFill>
                <a:latin typeface="Arial" pitchFamily="34" charset="0"/>
                <a:ea typeface="Arial" pitchFamily="34" charset="-122"/>
                <a:cs typeface="Arial" pitchFamily="34" charset="-120"/>
              </a:rPr>
              <a:t>The Surface</a:t>
            </a:r>
            <a:endParaRPr lang="en-US" sz="1300" dirty="0"/>
          </a:p>
        </p:txBody>
      </p:sp>
      <p:sp>
        <p:nvSpPr>
          <p:cNvPr id="21" name="Text 19"/>
          <p:cNvSpPr/>
          <p:nvPr/>
        </p:nvSpPr>
        <p:spPr>
          <a:xfrm>
            <a:off x="4517136" y="4526280"/>
            <a:ext cx="3154680" cy="1463040"/>
          </a:xfrm>
          <a:prstGeom prst="rect">
            <a:avLst/>
          </a:prstGeom>
          <a:noFill/>
          <a:ln/>
        </p:spPr>
        <p:txBody>
          <a:bodyPr wrap="square" rtlCol="0" anchor="t"/>
          <a:lstStyle/>
          <a:p>
            <a:pPr algn="l" indent="0" marL="0">
              <a:lnSpc>
                <a:spcPct val="124000"/>
              </a:lnSpc>
              <a:buNone/>
            </a:pPr>
            <a:r>
              <a:rPr lang="en-US" sz="1080" dirty="0">
                <a:solidFill>
                  <a:srgbClr val="AAB6CC"/>
                </a:solidFill>
                <a:latin typeface="Calibri" pitchFamily="34" charset="0"/>
                <a:ea typeface="Calibri" pitchFamily="34" charset="-122"/>
                <a:cs typeface="Calibri" pitchFamily="34" charset="-120"/>
              </a:rPr>
              <a:t>The LZO (Lanthanum Zirconate) ceramic outer layer acts as a supreme thermal barrier, preventing heat transfer into the die infrastructure.</a:t>
            </a:r>
            <a:endParaRPr lang="en-US" sz="1080" dirty="0"/>
          </a:p>
        </p:txBody>
      </p:sp>
      <p:sp>
        <p:nvSpPr>
          <p:cNvPr id="22" name="Shape 20"/>
          <p:cNvSpPr/>
          <p:nvPr/>
        </p:nvSpPr>
        <p:spPr>
          <a:xfrm>
            <a:off x="8092440" y="3840480"/>
            <a:ext cx="3593592" cy="2331720"/>
          </a:xfrm>
          <a:prstGeom prst="roundRect">
            <a:avLst>
              <a:gd name="adj" fmla="val 5490"/>
            </a:avLst>
          </a:prstGeom>
          <a:solidFill>
            <a:srgbClr val="0B132B"/>
          </a:solidFill>
          <a:ln w="9525">
            <a:solidFill>
              <a:srgbClr val="2A3B63"/>
            </a:solidFill>
            <a:prstDash val="solid"/>
          </a:ln>
          <a:effectLst>
            <a:outerShdw sx="100000" sy="100000" kx="0" ky="0" algn="bl" rotWithShape="0" blurRad="127000" dist="38100" dir="5400000">
              <a:srgbClr val="1A2138">
                <a:alpha val="28000"/>
              </a:srgbClr>
            </a:outerShdw>
          </a:effectLst>
        </p:spPr>
      </p:sp>
      <p:sp>
        <p:nvSpPr>
          <p:cNvPr id="23" name="Shape 21"/>
          <p:cNvSpPr/>
          <p:nvPr/>
        </p:nvSpPr>
        <p:spPr>
          <a:xfrm>
            <a:off x="8311896" y="4041648"/>
            <a:ext cx="365760" cy="365760"/>
          </a:xfrm>
          <a:prstGeom prst="roundRect">
            <a:avLst>
              <a:gd name="adj" fmla="val 15000"/>
            </a:avLst>
          </a:prstGeom>
          <a:solidFill>
            <a:srgbClr val="F8F9FA"/>
          </a:solidFill>
          <a:ln/>
        </p:spPr>
      </p:sp>
      <p:sp>
        <p:nvSpPr>
          <p:cNvPr id="24" name="Text 22"/>
          <p:cNvSpPr/>
          <p:nvPr/>
        </p:nvSpPr>
        <p:spPr>
          <a:xfrm>
            <a:off x="8311896" y="4041648"/>
            <a:ext cx="365760" cy="365760"/>
          </a:xfrm>
          <a:prstGeom prst="rect">
            <a:avLst/>
          </a:prstGeom>
          <a:noFill/>
          <a:ln/>
        </p:spPr>
        <p:txBody>
          <a:bodyPr wrap="square" rtlCol="0" anchor="ctr"/>
          <a:lstStyle/>
          <a:p>
            <a:pPr algn="ctr" indent="0" marL="0">
              <a:buNone/>
            </a:pPr>
            <a:r>
              <a:rPr lang="en-US" sz="1200" b="1" dirty="0">
                <a:solidFill>
                  <a:srgbClr val="0B132B"/>
                </a:solidFill>
                <a:latin typeface="Arial" pitchFamily="34" charset="0"/>
                <a:ea typeface="Arial" pitchFamily="34" charset="-122"/>
                <a:cs typeface="Arial" pitchFamily="34" charset="-120"/>
              </a:rPr>
              <a:t>3</a:t>
            </a:r>
            <a:endParaRPr lang="en-US" sz="1200" dirty="0"/>
          </a:p>
        </p:txBody>
      </p:sp>
      <p:sp>
        <p:nvSpPr>
          <p:cNvPr id="25" name="Text 23"/>
          <p:cNvSpPr/>
          <p:nvPr/>
        </p:nvSpPr>
        <p:spPr>
          <a:xfrm>
            <a:off x="8823960" y="4059936"/>
            <a:ext cx="2633472" cy="320040"/>
          </a:xfrm>
          <a:prstGeom prst="rect">
            <a:avLst/>
          </a:prstGeom>
          <a:noFill/>
          <a:ln/>
        </p:spPr>
        <p:txBody>
          <a:bodyPr wrap="square" rtlCol="0" anchor="t"/>
          <a:lstStyle/>
          <a:p>
            <a:pPr indent="0" marL="0">
              <a:lnSpc>
                <a:spcPct val="110000"/>
              </a:lnSpc>
              <a:buNone/>
            </a:pPr>
            <a:r>
              <a:rPr lang="en-US" sz="1300" b="1" dirty="0">
                <a:solidFill>
                  <a:srgbClr val="F8F9FA"/>
                </a:solidFill>
                <a:latin typeface="Arial" pitchFamily="34" charset="0"/>
                <a:ea typeface="Arial" pitchFamily="34" charset="-122"/>
                <a:cs typeface="Arial" pitchFamily="34" charset="-120"/>
              </a:rPr>
              <a:t>The Result</a:t>
            </a:r>
            <a:endParaRPr lang="en-US" sz="1300" dirty="0"/>
          </a:p>
        </p:txBody>
      </p:sp>
      <p:sp>
        <p:nvSpPr>
          <p:cNvPr id="26" name="Text 24"/>
          <p:cNvSpPr/>
          <p:nvPr/>
        </p:nvSpPr>
        <p:spPr>
          <a:xfrm>
            <a:off x="8311896" y="4526280"/>
            <a:ext cx="3154680" cy="1463040"/>
          </a:xfrm>
          <a:prstGeom prst="rect">
            <a:avLst/>
          </a:prstGeom>
          <a:noFill/>
          <a:ln/>
        </p:spPr>
        <p:txBody>
          <a:bodyPr wrap="square" rtlCol="0" anchor="t"/>
          <a:lstStyle/>
          <a:p>
            <a:pPr algn="l" indent="0" marL="0">
              <a:lnSpc>
                <a:spcPct val="124000"/>
              </a:lnSpc>
              <a:buNone/>
            </a:pPr>
            <a:r>
              <a:rPr lang="en-US" sz="1080" dirty="0">
                <a:solidFill>
                  <a:srgbClr val="AAB6CC"/>
                </a:solidFill>
                <a:latin typeface="Calibri" pitchFamily="34" charset="0"/>
                <a:ea typeface="Calibri" pitchFamily="34" charset="-122"/>
                <a:cs typeface="Calibri" pitchFamily="34" charset="-120"/>
              </a:rPr>
              <a:t>Elimination of rapid thermal fatigue cracking, vastly extending tooling life and accelerating manufacturing throughput.</a:t>
            </a:r>
            <a:endParaRPr lang="en-US" sz="10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9125712" y="274320"/>
            <a:ext cx="2560320" cy="219456"/>
          </a:xfrm>
          <a:prstGeom prst="rect">
            <a:avLst/>
          </a:prstGeom>
          <a:noFill/>
          <a:ln/>
        </p:spPr>
        <p:txBody>
          <a:bodyPr wrap="square" rtlCol="0" anchor="ctr"/>
          <a:lstStyle/>
          <a:p>
            <a:pPr algn="r" indent="0" marL="0">
              <a:buNone/>
            </a:pPr>
            <a:r>
              <a:rPr lang="en-US" sz="950" b="1" spc="140" kern="0" dirty="0">
                <a:solidFill>
                  <a:srgbClr val="0B132B"/>
                </a:solidFill>
                <a:latin typeface="Arial" pitchFamily="34" charset="0"/>
                <a:ea typeface="Arial" pitchFamily="34" charset="-122"/>
                <a:cs typeface="Arial" pitchFamily="34" charset="-120"/>
              </a:rPr>
              <a:t>CRYSTAL </a:t>
            </a:r>
            <a:pPr algn="r" indent="0" marL="0">
              <a:buNone/>
            </a:pPr>
            <a:r>
              <a:rPr lang="en-US" sz="950" b="1" spc="140" kern="0" dirty="0">
                <a:solidFill>
                  <a:srgbClr val="0E7C86"/>
                </a:solidFill>
                <a:latin typeface="Arial" pitchFamily="34" charset="0"/>
                <a:ea typeface="Arial" pitchFamily="34" charset="-122"/>
                <a:cs typeface="Arial" pitchFamily="34" charset="-120"/>
              </a:rPr>
              <a:t>PARADIGM</a:t>
            </a:r>
            <a:endParaRPr lang="en-US" sz="950" dirty="0"/>
          </a:p>
        </p:txBody>
      </p:sp>
      <p:sp>
        <p:nvSpPr>
          <p:cNvPr id="3" name="Text 1"/>
          <p:cNvSpPr/>
          <p:nvPr/>
        </p:nvSpPr>
        <p:spPr>
          <a:xfrm>
            <a:off x="11384280" y="6510528"/>
            <a:ext cx="594360" cy="256032"/>
          </a:xfrm>
          <a:prstGeom prst="rect">
            <a:avLst/>
          </a:prstGeom>
          <a:noFill/>
          <a:ln/>
        </p:spPr>
        <p:txBody>
          <a:bodyPr wrap="square" rtlCol="0" anchor="ctr"/>
          <a:lstStyle/>
          <a:p>
            <a:pPr algn="r" indent="0" marL="0">
              <a:buNone/>
            </a:pPr>
            <a:r>
              <a:rPr lang="en-US" sz="850" dirty="0">
                <a:solidFill>
                  <a:srgbClr val="5B6B8C"/>
                </a:solidFill>
                <a:latin typeface="Calibri" pitchFamily="34" charset="0"/>
                <a:ea typeface="Calibri" pitchFamily="34" charset="-122"/>
                <a:cs typeface="Calibri" pitchFamily="34" charset="-120"/>
              </a:rPr>
              <a:t>12 / 18</a:t>
            </a:r>
            <a:endParaRPr lang="en-US" sz="850" dirty="0"/>
          </a:p>
        </p:txBody>
      </p:sp>
      <p:sp>
        <p:nvSpPr>
          <p:cNvPr id="4" name="Text 2"/>
          <p:cNvSpPr/>
          <p:nvPr/>
        </p:nvSpPr>
        <p:spPr>
          <a:xfrm>
            <a:off x="502920" y="384048"/>
            <a:ext cx="5486400" cy="274320"/>
          </a:xfrm>
          <a:prstGeom prst="rect">
            <a:avLst/>
          </a:prstGeom>
          <a:noFill/>
          <a:ln/>
        </p:spPr>
        <p:txBody>
          <a:bodyPr wrap="square" rtlCol="0" anchor="ctr"/>
          <a:lstStyle/>
          <a:p>
            <a:pPr algn="l" indent="0" marL="0">
              <a:buNone/>
            </a:pPr>
            <a:r>
              <a:rPr lang="en-US" sz="1050" b="1" spc="220" kern="0" dirty="0">
                <a:solidFill>
                  <a:srgbClr val="0E7C86"/>
                </a:solidFill>
                <a:latin typeface="Arial" pitchFamily="34" charset="0"/>
                <a:ea typeface="Arial" pitchFamily="34" charset="-122"/>
                <a:cs typeface="Arial" pitchFamily="34" charset="-120"/>
              </a:rPr>
              <a:t>SCIDIP DEPLOYMENT 2</a:t>
            </a:r>
            <a:endParaRPr lang="en-US" sz="1050" dirty="0"/>
          </a:p>
        </p:txBody>
      </p:sp>
      <p:sp>
        <p:nvSpPr>
          <p:cNvPr id="5" name="Text 3"/>
          <p:cNvSpPr/>
          <p:nvPr/>
        </p:nvSpPr>
        <p:spPr>
          <a:xfrm>
            <a:off x="502920" y="658368"/>
            <a:ext cx="11183112" cy="457200"/>
          </a:xfrm>
          <a:prstGeom prst="rect">
            <a:avLst/>
          </a:prstGeom>
          <a:noFill/>
          <a:ln/>
        </p:spPr>
        <p:txBody>
          <a:bodyPr wrap="square" rtlCol="0" anchor="ctr"/>
          <a:lstStyle/>
          <a:p>
            <a:pPr algn="l" indent="0" marL="0">
              <a:lnSpc>
                <a:spcPct val="108000"/>
              </a:lnSpc>
              <a:buNone/>
            </a:pPr>
            <a:r>
              <a:rPr lang="en-US" sz="2200" b="1" spc="20" kern="0" dirty="0">
                <a:solidFill>
                  <a:srgbClr val="0B132B"/>
                </a:solidFill>
                <a:latin typeface="Arial" pitchFamily="34" charset="0"/>
                <a:ea typeface="Arial" pitchFamily="34" charset="-122"/>
                <a:cs typeface="Arial" pitchFamily="34" charset="-120"/>
              </a:rPr>
              <a:t>SCIDIP DEPLOYMENT 2: MAGNET-LESS EV MOTORS</a:t>
            </a:r>
            <a:endParaRPr lang="en-US" sz="2200" dirty="0"/>
          </a:p>
        </p:txBody>
      </p:sp>
      <p:sp>
        <p:nvSpPr>
          <p:cNvPr id="6" name="Text 4"/>
          <p:cNvSpPr/>
          <p:nvPr/>
        </p:nvSpPr>
        <p:spPr>
          <a:xfrm>
            <a:off x="502920" y="1097280"/>
            <a:ext cx="11183112" cy="292608"/>
          </a:xfrm>
          <a:prstGeom prst="rect">
            <a:avLst/>
          </a:prstGeom>
          <a:noFill/>
          <a:ln/>
        </p:spPr>
        <p:txBody>
          <a:bodyPr wrap="square" rtlCol="0" anchor="ctr"/>
          <a:lstStyle/>
          <a:p>
            <a:pPr algn="l" indent="0" marL="0">
              <a:buNone/>
            </a:pPr>
            <a:r>
              <a:rPr lang="en-US" sz="1300" b="1" dirty="0">
                <a:solidFill>
                  <a:srgbClr val="0E7C86"/>
                </a:solidFill>
                <a:latin typeface="Arial" pitchFamily="34" charset="0"/>
                <a:ea typeface="Arial" pitchFamily="34" charset="-122"/>
                <a:cs typeface="Arial" pitchFamily="34" charset="-120"/>
              </a:rPr>
              <a:t>Enabling Rare-Earth Independence in Traction Motors</a:t>
            </a:r>
            <a:endParaRPr lang="en-US" sz="1300" dirty="0"/>
          </a:p>
        </p:txBody>
      </p:sp>
      <p:sp>
        <p:nvSpPr>
          <p:cNvPr id="7" name="Text 5"/>
          <p:cNvSpPr/>
          <p:nvPr/>
        </p:nvSpPr>
        <p:spPr>
          <a:xfrm>
            <a:off x="502920" y="1444752"/>
            <a:ext cx="11183112" cy="713232"/>
          </a:xfrm>
          <a:prstGeom prst="rect">
            <a:avLst/>
          </a:prstGeom>
          <a:noFill/>
          <a:ln/>
        </p:spPr>
        <p:txBody>
          <a:bodyPr wrap="square" rtlCol="0" anchor="ctr"/>
          <a:lstStyle/>
          <a:p>
            <a:pPr algn="l" indent="0" marL="0">
              <a:lnSpc>
                <a:spcPct val="124000"/>
              </a:lnSpc>
              <a:buNone/>
            </a:pPr>
            <a:r>
              <a:rPr lang="en-US" sz="1250" dirty="0">
                <a:solidFill>
                  <a:srgbClr val="5B6B8C"/>
                </a:solidFill>
                <a:latin typeface="Calibri" pitchFamily="34" charset="0"/>
                <a:ea typeface="Calibri" pitchFamily="34" charset="-122"/>
                <a:cs typeface="Calibri" pitchFamily="34" charset="-120"/>
              </a:rPr>
              <a:t>As part of the "EPIC" roadmap, Sona Comstar is heavily investing in Switched Reluctance Motors (SRMs) to eliminate reliance on imported Neodymium magnets. The engineering bottleneck? SRMs generate extreme, localized thermal hotspots that degrade traditional stator/rotor metals.</a:t>
            </a:r>
            <a:endParaRPr lang="en-US" sz="1250" dirty="0"/>
          </a:p>
        </p:txBody>
      </p:sp>
      <p:sp>
        <p:nvSpPr>
          <p:cNvPr id="8" name="Shape 6"/>
          <p:cNvSpPr/>
          <p:nvPr/>
        </p:nvSpPr>
        <p:spPr>
          <a:xfrm>
            <a:off x="502920" y="2267712"/>
            <a:ext cx="5760720" cy="3977640"/>
          </a:xfrm>
          <a:prstGeom prst="roundRect">
            <a:avLst>
              <a:gd name="adj" fmla="val 3218"/>
            </a:avLst>
          </a:prstGeom>
          <a:solidFill>
            <a:srgbClr val="EEF1F5"/>
          </a:solidFill>
          <a:ln w="15875">
            <a:solidFill>
              <a:srgbClr val="0B132B"/>
            </a:solidFill>
            <a:prstDash val="dash"/>
          </a:ln>
        </p:spPr>
      </p:sp>
      <p:sp>
        <p:nvSpPr>
          <p:cNvPr id="9" name="Text 7"/>
          <p:cNvSpPr/>
          <p:nvPr/>
        </p:nvSpPr>
        <p:spPr>
          <a:xfrm>
            <a:off x="731520" y="2432304"/>
            <a:ext cx="5303520" cy="237744"/>
          </a:xfrm>
          <a:prstGeom prst="rect">
            <a:avLst/>
          </a:prstGeom>
          <a:noFill/>
          <a:ln/>
        </p:spPr>
        <p:txBody>
          <a:bodyPr wrap="square" rtlCol="0" anchor="ctr"/>
          <a:lstStyle/>
          <a:p>
            <a:pPr indent="0" marL="0">
              <a:buNone/>
            </a:pPr>
            <a:r>
              <a:rPr lang="en-US" sz="900" b="1" spc="180" kern="0" dirty="0">
                <a:solidFill>
                  <a:srgbClr val="7C879C"/>
                </a:solidFill>
                <a:latin typeface="Arial" pitchFamily="34" charset="0"/>
                <a:ea typeface="Arial" pitchFamily="34" charset="-122"/>
                <a:cs typeface="Arial" pitchFamily="34" charset="-120"/>
              </a:rPr>
              <a:t>VISUAL PLACEHOLDER</a:t>
            </a:r>
            <a:endParaRPr lang="en-US" sz="900" dirty="0"/>
          </a:p>
        </p:txBody>
      </p:sp>
      <p:sp>
        <p:nvSpPr>
          <p:cNvPr id="10" name="Text 8"/>
          <p:cNvSpPr/>
          <p:nvPr/>
        </p:nvSpPr>
        <p:spPr>
          <a:xfrm>
            <a:off x="822960" y="2724912"/>
            <a:ext cx="5120640" cy="3291840"/>
          </a:xfrm>
          <a:prstGeom prst="rect">
            <a:avLst/>
          </a:prstGeom>
          <a:noFill/>
          <a:ln/>
        </p:spPr>
        <p:txBody>
          <a:bodyPr wrap="square" rtlCol="0" anchor="ctr"/>
          <a:lstStyle/>
          <a:p>
            <a:pPr algn="ctr" indent="0" marL="0">
              <a:lnSpc>
                <a:spcPct val="125000"/>
              </a:lnSpc>
              <a:buNone/>
            </a:pPr>
            <a:r>
              <a:rPr lang="en-US" sz="1100" i="1" dirty="0">
                <a:solidFill>
                  <a:srgbClr val="7C879C"/>
                </a:solidFill>
                <a:latin typeface="Calibri" pitchFamily="34" charset="0"/>
                <a:ea typeface="Calibri" pitchFamily="34" charset="-122"/>
                <a:cs typeface="Calibri" pitchFamily="34" charset="-120"/>
              </a:rPr>
              <a:t>INSERT VISUALIZATION: CAD-style engineering blueprint of an SRM with thermal heat-map hotspots, showing Candidate C acting as a thermal shield / structural component</a:t>
            </a:r>
            <a:endParaRPr lang="en-US" sz="1100" dirty="0"/>
          </a:p>
        </p:txBody>
      </p:sp>
      <p:sp>
        <p:nvSpPr>
          <p:cNvPr id="11" name="Text 9"/>
          <p:cNvSpPr/>
          <p:nvPr/>
        </p:nvSpPr>
        <p:spPr>
          <a:xfrm>
            <a:off x="6565392" y="2267712"/>
            <a:ext cx="5120640" cy="1051560"/>
          </a:xfrm>
          <a:prstGeom prst="rect">
            <a:avLst/>
          </a:prstGeom>
          <a:noFill/>
          <a:ln/>
        </p:spPr>
        <p:txBody>
          <a:bodyPr wrap="square" rtlCol="0" anchor="ctr"/>
          <a:lstStyle/>
          <a:p>
            <a:pPr indent="0" marL="0">
              <a:lnSpc>
                <a:spcPct val="128000"/>
              </a:lnSpc>
              <a:buNone/>
            </a:pPr>
            <a:r>
              <a:rPr lang="en-US" sz="1100" dirty="0">
                <a:solidFill>
                  <a:srgbClr val="5B6B8C"/>
                </a:solidFill>
                <a:latin typeface="Calibri" pitchFamily="34" charset="0"/>
                <a:ea typeface="Calibri" pitchFamily="34" charset="-122"/>
                <a:cs typeface="Calibri" pitchFamily="34" charset="-120"/>
              </a:rPr>
              <a:t>THE CRYSTAL PARADIGM UPGRADE: By deploying our aerospace-derived Candidate C, we provide Sona Comstar with a structural material capable of surviving localized high-temperature spikes without compromising mechanical integrity.</a:t>
            </a:r>
            <a:endParaRPr lang="en-US" sz="1100" dirty="0"/>
          </a:p>
        </p:txBody>
      </p:sp>
      <p:sp>
        <p:nvSpPr>
          <p:cNvPr id="12" name="Shape 10"/>
          <p:cNvSpPr/>
          <p:nvPr/>
        </p:nvSpPr>
        <p:spPr>
          <a:xfrm>
            <a:off x="6565392" y="3429000"/>
            <a:ext cx="5120640" cy="1371600"/>
          </a:xfrm>
          <a:prstGeom prst="roundRect">
            <a:avLst>
              <a:gd name="adj" fmla="val 9333"/>
            </a:avLst>
          </a:prstGeom>
          <a:solidFill>
            <a:srgbClr val="0B132B"/>
          </a:solidFill>
          <a:ln w="9525">
            <a:solidFill>
              <a:srgbClr val="2A3B63"/>
            </a:solidFill>
            <a:prstDash val="solid"/>
          </a:ln>
          <a:effectLst>
            <a:outerShdw sx="100000" sy="100000" kx="0" ky="0" algn="bl" rotWithShape="0" blurRad="127000" dist="38100" dir="5400000">
              <a:srgbClr val="1A2138">
                <a:alpha val="28000"/>
              </a:srgbClr>
            </a:outerShdw>
          </a:effectLst>
        </p:spPr>
      </p:sp>
      <p:sp>
        <p:nvSpPr>
          <p:cNvPr id="13" name="Shape 11"/>
          <p:cNvSpPr/>
          <p:nvPr/>
        </p:nvSpPr>
        <p:spPr>
          <a:xfrm>
            <a:off x="6766560" y="3630168"/>
            <a:ext cx="347472" cy="347472"/>
          </a:xfrm>
          <a:prstGeom prst="roundRect">
            <a:avLst>
              <a:gd name="adj" fmla="val 15789"/>
            </a:avLst>
          </a:prstGeom>
          <a:solidFill>
            <a:srgbClr val="F8F9FA"/>
          </a:solidFill>
          <a:ln/>
        </p:spPr>
      </p:sp>
      <p:sp>
        <p:nvSpPr>
          <p:cNvPr id="14" name="Text 12"/>
          <p:cNvSpPr/>
          <p:nvPr/>
        </p:nvSpPr>
        <p:spPr>
          <a:xfrm>
            <a:off x="6766560" y="3630168"/>
            <a:ext cx="347472" cy="347472"/>
          </a:xfrm>
          <a:prstGeom prst="rect">
            <a:avLst/>
          </a:prstGeom>
          <a:noFill/>
          <a:ln/>
        </p:spPr>
        <p:txBody>
          <a:bodyPr wrap="square" rtlCol="0" anchor="ctr"/>
          <a:lstStyle/>
          <a:p>
            <a:pPr algn="ctr" indent="0" marL="0">
              <a:buNone/>
            </a:pPr>
            <a:r>
              <a:rPr lang="en-US" sz="1200" b="1" dirty="0">
                <a:solidFill>
                  <a:srgbClr val="0B132B"/>
                </a:solidFill>
                <a:latin typeface="Arial" pitchFamily="34" charset="0"/>
                <a:ea typeface="Arial" pitchFamily="34" charset="-122"/>
                <a:cs typeface="Arial" pitchFamily="34" charset="-120"/>
              </a:rPr>
              <a:t>1</a:t>
            </a:r>
            <a:endParaRPr lang="en-US" sz="1200" dirty="0"/>
          </a:p>
        </p:txBody>
      </p:sp>
      <p:sp>
        <p:nvSpPr>
          <p:cNvPr id="15" name="Text 13"/>
          <p:cNvSpPr/>
          <p:nvPr/>
        </p:nvSpPr>
        <p:spPr>
          <a:xfrm>
            <a:off x="7260336" y="3648456"/>
            <a:ext cx="4206240" cy="292608"/>
          </a:xfrm>
          <a:prstGeom prst="rect">
            <a:avLst/>
          </a:prstGeom>
          <a:noFill/>
          <a:ln/>
        </p:spPr>
        <p:txBody>
          <a:bodyPr wrap="square" rtlCol="0" anchor="t"/>
          <a:lstStyle/>
          <a:p>
            <a:pPr indent="0" marL="0">
              <a:lnSpc>
                <a:spcPct val="110000"/>
              </a:lnSpc>
              <a:buNone/>
            </a:pPr>
            <a:r>
              <a:rPr lang="en-US" sz="1250" b="1" dirty="0">
                <a:solidFill>
                  <a:srgbClr val="F8F9FA"/>
                </a:solidFill>
                <a:latin typeface="Arial" pitchFamily="34" charset="0"/>
                <a:ea typeface="Arial" pitchFamily="34" charset="-122"/>
                <a:cs typeface="Arial" pitchFamily="34" charset="-120"/>
              </a:rPr>
              <a:t>Thermal Shielding</a:t>
            </a:r>
            <a:endParaRPr lang="en-US" sz="1250" dirty="0"/>
          </a:p>
        </p:txBody>
      </p:sp>
      <p:sp>
        <p:nvSpPr>
          <p:cNvPr id="16" name="Text 14"/>
          <p:cNvSpPr/>
          <p:nvPr/>
        </p:nvSpPr>
        <p:spPr>
          <a:xfrm>
            <a:off x="6766560" y="4023360"/>
            <a:ext cx="4718304" cy="713232"/>
          </a:xfrm>
          <a:prstGeom prst="rect">
            <a:avLst/>
          </a:prstGeom>
          <a:noFill/>
          <a:ln/>
        </p:spPr>
        <p:txBody>
          <a:bodyPr wrap="square" rtlCol="0" anchor="t"/>
          <a:lstStyle/>
          <a:p>
            <a:pPr algn="l" indent="0" marL="0">
              <a:lnSpc>
                <a:spcPct val="124000"/>
              </a:lnSpc>
              <a:buNone/>
            </a:pPr>
            <a:r>
              <a:rPr lang="en-US" sz="1030" dirty="0">
                <a:solidFill>
                  <a:srgbClr val="AAB6CC"/>
                </a:solidFill>
                <a:latin typeface="Calibri" pitchFamily="34" charset="0"/>
                <a:ea typeface="Calibri" pitchFamily="34" charset="-122"/>
                <a:cs typeface="Calibri" pitchFamily="34" charset="-120"/>
              </a:rPr>
              <a:t>The FGM gradient handles rapid thermal cycling without delamination (</a:t>
            </a:r>
            <a:pPr algn="l" indent="0" marL="0">
              <a:lnSpc>
                <a:spcPct val="124000"/>
              </a:lnSpc>
              <a:buNone/>
            </a:pPr>
            <a:r>
              <a:rPr lang="en-US" sz="1030" b="1" dirty="0">
                <a:solidFill>
                  <a:srgbClr val="4FD1C5"/>
                </a:solidFill>
                <a:latin typeface="Calibri" pitchFamily="34" charset="0"/>
                <a:ea typeface="Calibri" pitchFamily="34" charset="-122"/>
                <a:cs typeface="Calibri" pitchFamily="34" charset="-120"/>
              </a:rPr>
              <a:t>15.95 MPa</a:t>
            </a:r>
            <a:pPr algn="l" indent="0" marL="0">
              <a:lnSpc>
                <a:spcPct val="124000"/>
              </a:lnSpc>
              <a:buNone/>
            </a:pPr>
            <a:r>
              <a:rPr lang="en-US" sz="1030" dirty="0">
                <a:solidFill>
                  <a:srgbClr val="AAB6CC"/>
                </a:solidFill>
                <a:latin typeface="Calibri" pitchFamily="34" charset="0"/>
                <a:ea typeface="Calibri" pitchFamily="34" charset="-122"/>
                <a:cs typeface="Calibri" pitchFamily="34" charset="-120"/>
              </a:rPr>
              <a:t> interface shear stress), acting as a physical shield for sensitive copper windings.</a:t>
            </a:r>
            <a:endParaRPr lang="en-US" sz="1030" dirty="0"/>
          </a:p>
        </p:txBody>
      </p:sp>
      <p:sp>
        <p:nvSpPr>
          <p:cNvPr id="17" name="Shape 15"/>
          <p:cNvSpPr/>
          <p:nvPr/>
        </p:nvSpPr>
        <p:spPr>
          <a:xfrm>
            <a:off x="6565392" y="4937760"/>
            <a:ext cx="5120640" cy="1371600"/>
          </a:xfrm>
          <a:prstGeom prst="roundRect">
            <a:avLst>
              <a:gd name="adj" fmla="val 9333"/>
            </a:avLst>
          </a:prstGeom>
          <a:solidFill>
            <a:srgbClr val="0B132B"/>
          </a:solidFill>
          <a:ln w="9525">
            <a:solidFill>
              <a:srgbClr val="2A3B63"/>
            </a:solidFill>
            <a:prstDash val="solid"/>
          </a:ln>
          <a:effectLst>
            <a:outerShdw sx="100000" sy="100000" kx="0" ky="0" algn="bl" rotWithShape="0" blurRad="127000" dist="38100" dir="5400000">
              <a:srgbClr val="1A2138">
                <a:alpha val="28000"/>
              </a:srgbClr>
            </a:outerShdw>
          </a:effectLst>
        </p:spPr>
      </p:sp>
      <p:sp>
        <p:nvSpPr>
          <p:cNvPr id="18" name="Shape 16"/>
          <p:cNvSpPr/>
          <p:nvPr/>
        </p:nvSpPr>
        <p:spPr>
          <a:xfrm>
            <a:off x="6766560" y="5138928"/>
            <a:ext cx="347472" cy="347472"/>
          </a:xfrm>
          <a:prstGeom prst="roundRect">
            <a:avLst>
              <a:gd name="adj" fmla="val 15789"/>
            </a:avLst>
          </a:prstGeom>
          <a:solidFill>
            <a:srgbClr val="F8F9FA"/>
          </a:solidFill>
          <a:ln/>
        </p:spPr>
      </p:sp>
      <p:sp>
        <p:nvSpPr>
          <p:cNvPr id="19" name="Text 17"/>
          <p:cNvSpPr/>
          <p:nvPr/>
        </p:nvSpPr>
        <p:spPr>
          <a:xfrm>
            <a:off x="6766560" y="5138928"/>
            <a:ext cx="347472" cy="347472"/>
          </a:xfrm>
          <a:prstGeom prst="rect">
            <a:avLst/>
          </a:prstGeom>
          <a:noFill/>
          <a:ln/>
        </p:spPr>
        <p:txBody>
          <a:bodyPr wrap="square" rtlCol="0" anchor="ctr"/>
          <a:lstStyle/>
          <a:p>
            <a:pPr algn="ctr" indent="0" marL="0">
              <a:buNone/>
            </a:pPr>
            <a:r>
              <a:rPr lang="en-US" sz="1200" b="1" dirty="0">
                <a:solidFill>
                  <a:srgbClr val="0B132B"/>
                </a:solidFill>
                <a:latin typeface="Arial" pitchFamily="34" charset="0"/>
                <a:ea typeface="Arial" pitchFamily="34" charset="-122"/>
                <a:cs typeface="Arial" pitchFamily="34" charset="-120"/>
              </a:rPr>
              <a:t>2</a:t>
            </a:r>
            <a:endParaRPr lang="en-US" sz="1200" dirty="0"/>
          </a:p>
        </p:txBody>
      </p:sp>
      <p:sp>
        <p:nvSpPr>
          <p:cNvPr id="20" name="Text 18"/>
          <p:cNvSpPr/>
          <p:nvPr/>
        </p:nvSpPr>
        <p:spPr>
          <a:xfrm>
            <a:off x="7260336" y="5157216"/>
            <a:ext cx="4206240" cy="292608"/>
          </a:xfrm>
          <a:prstGeom prst="rect">
            <a:avLst/>
          </a:prstGeom>
          <a:noFill/>
          <a:ln/>
        </p:spPr>
        <p:txBody>
          <a:bodyPr wrap="square" rtlCol="0" anchor="t"/>
          <a:lstStyle/>
          <a:p>
            <a:pPr indent="0" marL="0">
              <a:lnSpc>
                <a:spcPct val="110000"/>
              </a:lnSpc>
              <a:buNone/>
            </a:pPr>
            <a:r>
              <a:rPr lang="en-US" sz="1250" b="1" dirty="0">
                <a:solidFill>
                  <a:srgbClr val="F8F9FA"/>
                </a:solidFill>
                <a:latin typeface="Arial" pitchFamily="34" charset="0"/>
                <a:ea typeface="Arial" pitchFamily="34" charset="-122"/>
                <a:cs typeface="Arial" pitchFamily="34" charset="-120"/>
              </a:rPr>
              <a:t>Make-In-India Supply Chain</a:t>
            </a:r>
            <a:endParaRPr lang="en-US" sz="1250" dirty="0"/>
          </a:p>
        </p:txBody>
      </p:sp>
      <p:sp>
        <p:nvSpPr>
          <p:cNvPr id="21" name="Text 19"/>
          <p:cNvSpPr/>
          <p:nvPr/>
        </p:nvSpPr>
        <p:spPr>
          <a:xfrm>
            <a:off x="6766560" y="5532120"/>
            <a:ext cx="4718304" cy="713232"/>
          </a:xfrm>
          <a:prstGeom prst="rect">
            <a:avLst/>
          </a:prstGeom>
          <a:noFill/>
          <a:ln/>
        </p:spPr>
        <p:txBody>
          <a:bodyPr wrap="square" rtlCol="0" anchor="t"/>
          <a:lstStyle/>
          <a:p>
            <a:pPr algn="l" indent="0" marL="0">
              <a:lnSpc>
                <a:spcPct val="124000"/>
              </a:lnSpc>
              <a:buNone/>
            </a:pPr>
            <a:r>
              <a:rPr lang="en-US" sz="1030" dirty="0">
                <a:solidFill>
                  <a:srgbClr val="AAB6CC"/>
                </a:solidFill>
                <a:latin typeface="Calibri" pitchFamily="34" charset="0"/>
                <a:ea typeface="Calibri" pitchFamily="34" charset="-122"/>
                <a:cs typeface="Calibri" pitchFamily="34" charset="-120"/>
              </a:rPr>
              <a:t>By substituting Hafnium for Titanium, we drastically drop the alloy cost to </a:t>
            </a:r>
            <a:pPr algn="l" indent="0" marL="0">
              <a:lnSpc>
                <a:spcPct val="124000"/>
              </a:lnSpc>
              <a:buNone/>
            </a:pPr>
            <a:r>
              <a:rPr lang="en-US" sz="1030" b="1" dirty="0">
                <a:solidFill>
                  <a:srgbClr val="4FD1C5"/>
                </a:solidFill>
                <a:latin typeface="Calibri" pitchFamily="34" charset="0"/>
                <a:ea typeface="Calibri" pitchFamily="34" charset="-122"/>
                <a:cs typeface="Calibri" pitchFamily="34" charset="-120"/>
              </a:rPr>
              <a:t>~$170/kg</a:t>
            </a:r>
            <a:pPr algn="l" indent="0" marL="0">
              <a:lnSpc>
                <a:spcPct val="124000"/>
              </a:lnSpc>
              <a:buNone/>
            </a:pPr>
            <a:r>
              <a:rPr lang="en-US" sz="1030" dirty="0">
                <a:solidFill>
                  <a:srgbClr val="AAB6CC"/>
                </a:solidFill>
                <a:latin typeface="Calibri" pitchFamily="34" charset="0"/>
                <a:ea typeface="Calibri" pitchFamily="34" charset="-122"/>
                <a:cs typeface="Calibri" pitchFamily="34" charset="-120"/>
              </a:rPr>
              <a:t>, making aerospace-grade thermal protection economically viable for high-volume Indian EV manufacturing.</a:t>
            </a:r>
            <a:endParaRPr lang="en-US" sz="103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9125712" y="274320"/>
            <a:ext cx="2560320" cy="219456"/>
          </a:xfrm>
          <a:prstGeom prst="rect">
            <a:avLst/>
          </a:prstGeom>
          <a:noFill/>
          <a:ln/>
        </p:spPr>
        <p:txBody>
          <a:bodyPr wrap="square" rtlCol="0" anchor="ctr"/>
          <a:lstStyle/>
          <a:p>
            <a:pPr algn="r" indent="0" marL="0">
              <a:buNone/>
            </a:pPr>
            <a:r>
              <a:rPr lang="en-US" sz="950" b="1" spc="140" kern="0" dirty="0">
                <a:solidFill>
                  <a:srgbClr val="0B132B"/>
                </a:solidFill>
                <a:latin typeface="Arial" pitchFamily="34" charset="0"/>
                <a:ea typeface="Arial" pitchFamily="34" charset="-122"/>
                <a:cs typeface="Arial" pitchFamily="34" charset="-120"/>
              </a:rPr>
              <a:t>CRYSTAL </a:t>
            </a:r>
            <a:pPr algn="r" indent="0" marL="0">
              <a:buNone/>
            </a:pPr>
            <a:r>
              <a:rPr lang="en-US" sz="950" b="1" spc="140" kern="0" dirty="0">
                <a:solidFill>
                  <a:srgbClr val="0E7C86"/>
                </a:solidFill>
                <a:latin typeface="Arial" pitchFamily="34" charset="0"/>
                <a:ea typeface="Arial" pitchFamily="34" charset="-122"/>
                <a:cs typeface="Arial" pitchFamily="34" charset="-120"/>
              </a:rPr>
              <a:t>PARADIGM</a:t>
            </a:r>
            <a:endParaRPr lang="en-US" sz="950" dirty="0"/>
          </a:p>
        </p:txBody>
      </p:sp>
      <p:sp>
        <p:nvSpPr>
          <p:cNvPr id="3" name="Text 1"/>
          <p:cNvSpPr/>
          <p:nvPr/>
        </p:nvSpPr>
        <p:spPr>
          <a:xfrm>
            <a:off x="11384280" y="6510528"/>
            <a:ext cx="594360" cy="256032"/>
          </a:xfrm>
          <a:prstGeom prst="rect">
            <a:avLst/>
          </a:prstGeom>
          <a:noFill/>
          <a:ln/>
        </p:spPr>
        <p:txBody>
          <a:bodyPr wrap="square" rtlCol="0" anchor="ctr"/>
          <a:lstStyle/>
          <a:p>
            <a:pPr algn="r" indent="0" marL="0">
              <a:buNone/>
            </a:pPr>
            <a:r>
              <a:rPr lang="en-US" sz="850" dirty="0">
                <a:solidFill>
                  <a:srgbClr val="5B6B8C"/>
                </a:solidFill>
                <a:latin typeface="Calibri" pitchFamily="34" charset="0"/>
                <a:ea typeface="Calibri" pitchFamily="34" charset="-122"/>
                <a:cs typeface="Calibri" pitchFamily="34" charset="-120"/>
              </a:rPr>
              <a:t>13 / 18</a:t>
            </a:r>
            <a:endParaRPr lang="en-US" sz="850" dirty="0"/>
          </a:p>
        </p:txBody>
      </p:sp>
      <p:sp>
        <p:nvSpPr>
          <p:cNvPr id="4" name="Text 2"/>
          <p:cNvSpPr/>
          <p:nvPr/>
        </p:nvSpPr>
        <p:spPr>
          <a:xfrm>
            <a:off x="502920" y="384048"/>
            <a:ext cx="5486400" cy="274320"/>
          </a:xfrm>
          <a:prstGeom prst="rect">
            <a:avLst/>
          </a:prstGeom>
          <a:noFill/>
          <a:ln/>
        </p:spPr>
        <p:txBody>
          <a:bodyPr wrap="square" rtlCol="0" anchor="ctr"/>
          <a:lstStyle/>
          <a:p>
            <a:pPr algn="l" indent="0" marL="0">
              <a:buNone/>
            </a:pPr>
            <a:r>
              <a:rPr lang="en-US" sz="1050" b="1" spc="220" kern="0" dirty="0">
                <a:solidFill>
                  <a:srgbClr val="0E7C86"/>
                </a:solidFill>
                <a:latin typeface="Arial" pitchFamily="34" charset="0"/>
                <a:ea typeface="Arial" pitchFamily="34" charset="-122"/>
                <a:cs typeface="Arial" pitchFamily="34" charset="-120"/>
              </a:rPr>
              <a:t>DE-RISKING THE SUPPLY CHAIN</a:t>
            </a:r>
            <a:endParaRPr lang="en-US" sz="1050" dirty="0"/>
          </a:p>
        </p:txBody>
      </p:sp>
      <p:sp>
        <p:nvSpPr>
          <p:cNvPr id="5" name="Text 3"/>
          <p:cNvSpPr/>
          <p:nvPr/>
        </p:nvSpPr>
        <p:spPr>
          <a:xfrm>
            <a:off x="502920" y="658368"/>
            <a:ext cx="11183112" cy="457200"/>
          </a:xfrm>
          <a:prstGeom prst="rect">
            <a:avLst/>
          </a:prstGeom>
          <a:noFill/>
          <a:ln/>
        </p:spPr>
        <p:txBody>
          <a:bodyPr wrap="square" rtlCol="0" anchor="ctr"/>
          <a:lstStyle/>
          <a:p>
            <a:pPr algn="l" indent="0" marL="0">
              <a:lnSpc>
                <a:spcPct val="108000"/>
              </a:lnSpc>
              <a:buNone/>
            </a:pPr>
            <a:r>
              <a:rPr lang="en-US" sz="1950" b="1" spc="20" kern="0" dirty="0">
                <a:solidFill>
                  <a:srgbClr val="0B132B"/>
                </a:solidFill>
                <a:latin typeface="Arial" pitchFamily="34" charset="0"/>
                <a:ea typeface="Arial" pitchFamily="34" charset="-122"/>
                <a:cs typeface="Arial" pitchFamily="34" charset="-120"/>
              </a:rPr>
              <a:t>INTELLECTUAL PROPERTY &amp; DE-RISKING THE SUPPLY CHAIN</a:t>
            </a:r>
            <a:endParaRPr lang="en-US" sz="1950" dirty="0"/>
          </a:p>
        </p:txBody>
      </p:sp>
      <p:sp>
        <p:nvSpPr>
          <p:cNvPr id="6" name="Text 4"/>
          <p:cNvSpPr/>
          <p:nvPr/>
        </p:nvSpPr>
        <p:spPr>
          <a:xfrm>
            <a:off x="502920" y="1097280"/>
            <a:ext cx="11183112" cy="292608"/>
          </a:xfrm>
          <a:prstGeom prst="rect">
            <a:avLst/>
          </a:prstGeom>
          <a:noFill/>
          <a:ln/>
        </p:spPr>
        <p:txBody>
          <a:bodyPr wrap="square" rtlCol="0" anchor="ctr"/>
          <a:lstStyle/>
          <a:p>
            <a:pPr algn="l" indent="0" marL="0">
              <a:buNone/>
            </a:pPr>
            <a:r>
              <a:rPr lang="en-US" sz="1300" b="1" dirty="0">
                <a:solidFill>
                  <a:srgbClr val="0E7C86"/>
                </a:solidFill>
                <a:latin typeface="Arial" pitchFamily="34" charset="0"/>
                <a:ea typeface="Arial" pitchFamily="34" charset="-122"/>
                <a:cs typeface="Arial" pitchFamily="34" charset="-120"/>
              </a:rPr>
              <a:t>True Aatmanirbharta for the Indian Mobility Sector</a:t>
            </a:r>
            <a:endParaRPr lang="en-US" sz="1300" dirty="0"/>
          </a:p>
        </p:txBody>
      </p:sp>
      <p:sp>
        <p:nvSpPr>
          <p:cNvPr id="7" name="Text 5"/>
          <p:cNvSpPr/>
          <p:nvPr/>
        </p:nvSpPr>
        <p:spPr>
          <a:xfrm>
            <a:off x="502920" y="1444752"/>
            <a:ext cx="11183112" cy="502920"/>
          </a:xfrm>
          <a:prstGeom prst="rect">
            <a:avLst/>
          </a:prstGeom>
          <a:noFill/>
          <a:ln/>
        </p:spPr>
        <p:txBody>
          <a:bodyPr wrap="square" rtlCol="0" anchor="ctr"/>
          <a:lstStyle/>
          <a:p>
            <a:pPr algn="l" indent="0" marL="0">
              <a:lnSpc>
                <a:spcPct val="124000"/>
              </a:lnSpc>
              <a:buNone/>
            </a:pPr>
            <a:r>
              <a:rPr lang="en-US" sz="1250" dirty="0">
                <a:solidFill>
                  <a:srgbClr val="5B6B8C"/>
                </a:solidFill>
                <a:latin typeface="Calibri" pitchFamily="34" charset="0"/>
                <a:ea typeface="Calibri" pitchFamily="34" charset="-122"/>
                <a:cs typeface="Calibri" pitchFamily="34" charset="-120"/>
              </a:rPr>
              <a:t>Sona Comstar's strategic reliance on rare-earth elements for EV motors is a massive supply chain vulnerability. Crystal Paradigm offers a computational pathway to complete import substitution.</a:t>
            </a:r>
            <a:endParaRPr lang="en-US" sz="1250" dirty="0"/>
          </a:p>
        </p:txBody>
      </p:sp>
      <p:sp>
        <p:nvSpPr>
          <p:cNvPr id="8" name="Shape 6"/>
          <p:cNvSpPr/>
          <p:nvPr/>
        </p:nvSpPr>
        <p:spPr>
          <a:xfrm>
            <a:off x="502920" y="2194560"/>
            <a:ext cx="11183112" cy="1234440"/>
          </a:xfrm>
          <a:prstGeom prst="roundRect">
            <a:avLst>
              <a:gd name="adj" fmla="val 10370"/>
            </a:avLst>
          </a:prstGeom>
          <a:solidFill>
            <a:srgbClr val="EEF1F5"/>
          </a:solidFill>
          <a:ln w="15875">
            <a:solidFill>
              <a:srgbClr val="0B132B"/>
            </a:solidFill>
            <a:prstDash val="dash"/>
          </a:ln>
        </p:spPr>
      </p:sp>
      <p:sp>
        <p:nvSpPr>
          <p:cNvPr id="9" name="Text 7"/>
          <p:cNvSpPr/>
          <p:nvPr/>
        </p:nvSpPr>
        <p:spPr>
          <a:xfrm>
            <a:off x="731520" y="2359152"/>
            <a:ext cx="10725912" cy="237744"/>
          </a:xfrm>
          <a:prstGeom prst="rect">
            <a:avLst/>
          </a:prstGeom>
          <a:noFill/>
          <a:ln/>
        </p:spPr>
        <p:txBody>
          <a:bodyPr wrap="square" rtlCol="0" anchor="ctr"/>
          <a:lstStyle/>
          <a:p>
            <a:pPr indent="0" marL="0">
              <a:buNone/>
            </a:pPr>
            <a:r>
              <a:rPr lang="en-US" sz="900" b="1" spc="180" kern="0" dirty="0">
                <a:solidFill>
                  <a:srgbClr val="7C879C"/>
                </a:solidFill>
                <a:latin typeface="Arial" pitchFamily="34" charset="0"/>
                <a:ea typeface="Arial" pitchFamily="34" charset="-122"/>
                <a:cs typeface="Arial" pitchFamily="34" charset="-120"/>
              </a:rPr>
              <a:t>VISUAL PLACEHOLDER</a:t>
            </a:r>
            <a:endParaRPr lang="en-US" sz="900" dirty="0"/>
          </a:p>
        </p:txBody>
      </p:sp>
      <p:sp>
        <p:nvSpPr>
          <p:cNvPr id="10" name="Text 8"/>
          <p:cNvSpPr/>
          <p:nvPr/>
        </p:nvSpPr>
        <p:spPr>
          <a:xfrm>
            <a:off x="822960" y="2651760"/>
            <a:ext cx="10543032" cy="548640"/>
          </a:xfrm>
          <a:prstGeom prst="rect">
            <a:avLst/>
          </a:prstGeom>
          <a:noFill/>
          <a:ln/>
        </p:spPr>
        <p:txBody>
          <a:bodyPr wrap="square" rtlCol="0" anchor="ctr"/>
          <a:lstStyle/>
          <a:p>
            <a:pPr algn="ctr" indent="0" marL="0">
              <a:lnSpc>
                <a:spcPct val="125000"/>
              </a:lnSpc>
              <a:buNone/>
            </a:pPr>
            <a:r>
              <a:rPr lang="en-US" sz="1100" i="1" dirty="0">
                <a:solidFill>
                  <a:srgbClr val="7C879C"/>
                </a:solidFill>
                <a:latin typeface="Calibri" pitchFamily="34" charset="0"/>
                <a:ea typeface="Calibri" pitchFamily="34" charset="-122"/>
                <a:cs typeface="Calibri" pitchFamily="34" charset="-120"/>
              </a:rPr>
              <a:t>INSERT VISUALIZATION: world map graphic — current reliance on Chinese Neodymium / Rare Earths replaced by an "Indigenous Indian Innovation" node powered by Crystal Paradigm and IIT Delhi</a:t>
            </a:r>
            <a:endParaRPr lang="en-US" sz="1100" dirty="0"/>
          </a:p>
        </p:txBody>
      </p:sp>
      <p:sp>
        <p:nvSpPr>
          <p:cNvPr id="11" name="Shape 9"/>
          <p:cNvSpPr/>
          <p:nvPr/>
        </p:nvSpPr>
        <p:spPr>
          <a:xfrm>
            <a:off x="502920" y="3611880"/>
            <a:ext cx="3593592" cy="2514600"/>
          </a:xfrm>
          <a:prstGeom prst="roundRect">
            <a:avLst>
              <a:gd name="adj" fmla="val 5091"/>
            </a:avLst>
          </a:prstGeom>
          <a:solidFill>
            <a:srgbClr val="0B132B"/>
          </a:solidFill>
          <a:ln w="9525">
            <a:solidFill>
              <a:srgbClr val="2A3B63"/>
            </a:solidFill>
            <a:prstDash val="solid"/>
          </a:ln>
          <a:effectLst>
            <a:outerShdw sx="100000" sy="100000" kx="0" ky="0" algn="bl" rotWithShape="0" blurRad="127000" dist="38100" dir="5400000">
              <a:srgbClr val="1A2138">
                <a:alpha val="28000"/>
              </a:srgbClr>
            </a:outerShdw>
          </a:effectLst>
        </p:spPr>
      </p:sp>
      <p:sp>
        <p:nvSpPr>
          <p:cNvPr id="12" name="Shape 10"/>
          <p:cNvSpPr/>
          <p:nvPr/>
        </p:nvSpPr>
        <p:spPr>
          <a:xfrm>
            <a:off x="722376" y="3813048"/>
            <a:ext cx="365760" cy="365760"/>
          </a:xfrm>
          <a:prstGeom prst="roundRect">
            <a:avLst>
              <a:gd name="adj" fmla="val 15000"/>
            </a:avLst>
          </a:prstGeom>
          <a:solidFill>
            <a:srgbClr val="F8F9FA"/>
          </a:solidFill>
          <a:ln/>
        </p:spPr>
      </p:sp>
      <p:sp>
        <p:nvSpPr>
          <p:cNvPr id="13" name="Text 11"/>
          <p:cNvSpPr/>
          <p:nvPr/>
        </p:nvSpPr>
        <p:spPr>
          <a:xfrm>
            <a:off x="722376" y="3813048"/>
            <a:ext cx="365760" cy="365760"/>
          </a:xfrm>
          <a:prstGeom prst="rect">
            <a:avLst/>
          </a:prstGeom>
          <a:noFill/>
          <a:ln/>
        </p:spPr>
        <p:txBody>
          <a:bodyPr wrap="square" rtlCol="0" anchor="ctr"/>
          <a:lstStyle/>
          <a:p>
            <a:pPr algn="ctr" indent="0" marL="0">
              <a:buNone/>
            </a:pPr>
            <a:r>
              <a:rPr lang="en-US" sz="1200" b="1" dirty="0">
                <a:solidFill>
                  <a:srgbClr val="0B132B"/>
                </a:solidFill>
                <a:latin typeface="Arial" pitchFamily="34" charset="0"/>
                <a:ea typeface="Arial" pitchFamily="34" charset="-122"/>
                <a:cs typeface="Arial" pitchFamily="34" charset="-120"/>
              </a:rPr>
              <a:t>1</a:t>
            </a:r>
            <a:endParaRPr lang="en-US" sz="1200" dirty="0"/>
          </a:p>
        </p:txBody>
      </p:sp>
      <p:sp>
        <p:nvSpPr>
          <p:cNvPr id="14" name="Text 12"/>
          <p:cNvSpPr/>
          <p:nvPr/>
        </p:nvSpPr>
        <p:spPr>
          <a:xfrm>
            <a:off x="1234440" y="3831336"/>
            <a:ext cx="2633472" cy="502920"/>
          </a:xfrm>
          <a:prstGeom prst="rect">
            <a:avLst/>
          </a:prstGeom>
          <a:noFill/>
          <a:ln/>
        </p:spPr>
        <p:txBody>
          <a:bodyPr wrap="square" rtlCol="0" anchor="t"/>
          <a:lstStyle/>
          <a:p>
            <a:pPr indent="0" marL="0">
              <a:lnSpc>
                <a:spcPct val="110000"/>
              </a:lnSpc>
              <a:buNone/>
            </a:pPr>
            <a:r>
              <a:rPr lang="en-US" sz="1250" b="1" dirty="0">
                <a:solidFill>
                  <a:srgbClr val="F8F9FA"/>
                </a:solidFill>
                <a:latin typeface="Arial" pitchFamily="34" charset="0"/>
                <a:ea typeface="Arial" pitchFamily="34" charset="-122"/>
                <a:cs typeface="Arial" pitchFamily="34" charset="-120"/>
              </a:rPr>
              <a:t>The IP Moat</a:t>
            </a:r>
            <a:endParaRPr lang="en-US" sz="1250" dirty="0"/>
          </a:p>
        </p:txBody>
      </p:sp>
      <p:sp>
        <p:nvSpPr>
          <p:cNvPr id="15" name="Text 13"/>
          <p:cNvSpPr/>
          <p:nvPr/>
        </p:nvSpPr>
        <p:spPr>
          <a:xfrm>
            <a:off x="722376" y="4434840"/>
            <a:ext cx="3154680" cy="1554480"/>
          </a:xfrm>
          <a:prstGeom prst="rect">
            <a:avLst/>
          </a:prstGeom>
          <a:noFill/>
          <a:ln/>
        </p:spPr>
        <p:txBody>
          <a:bodyPr wrap="square" rtlCol="0" anchor="t"/>
          <a:lstStyle/>
          <a:p>
            <a:pPr algn="l" indent="0" marL="0">
              <a:lnSpc>
                <a:spcPct val="124000"/>
              </a:lnSpc>
              <a:buNone/>
            </a:pPr>
            <a:r>
              <a:rPr lang="en-US" sz="1030" dirty="0">
                <a:solidFill>
                  <a:srgbClr val="AAB6CC"/>
                </a:solidFill>
                <a:latin typeface="Calibri" pitchFamily="34" charset="0"/>
                <a:ea typeface="Calibri" pitchFamily="34" charset="-122"/>
                <a:cs typeface="Calibri" pitchFamily="34" charset="-120"/>
              </a:rPr>
              <a:t>Our proprietary </a:t>
            </a:r>
            <a:pPr algn="l" indent="0" marL="0">
              <a:lnSpc>
                <a:spcPct val="124000"/>
              </a:lnSpc>
              <a:buNone/>
            </a:pPr>
            <a:r>
              <a:rPr lang="en-US" sz="1030" b="1" dirty="0">
                <a:solidFill>
                  <a:srgbClr val="4FD1C5"/>
                </a:solidFill>
                <a:latin typeface="Calibri" pitchFamily="34" charset="0"/>
                <a:ea typeface="Calibri" pitchFamily="34" charset="-122"/>
                <a:cs typeface="Calibri" pitchFamily="34" charset="-120"/>
              </a:rPr>
              <a:t>11-phase AI architecture</a:t>
            </a:r>
            <a:pPr algn="l" indent="0" marL="0">
              <a:lnSpc>
                <a:spcPct val="124000"/>
              </a:lnSpc>
              <a:buNone/>
            </a:pPr>
            <a:r>
              <a:rPr lang="en-US" sz="1030" dirty="0">
                <a:solidFill>
                  <a:srgbClr val="AAB6CC"/>
                </a:solidFill>
                <a:latin typeface="Calibri" pitchFamily="34" charset="0"/>
                <a:ea typeface="Calibri" pitchFamily="34" charset="-122"/>
                <a:cs typeface="Calibri" pitchFamily="34" charset="-120"/>
              </a:rPr>
              <a:t> is a continuous IP generation engine. Candidate C is merely our first output; we can computationally generate bespoke materials for any thermal bottleneck Sona Comstar faces.</a:t>
            </a:r>
            <a:endParaRPr lang="en-US" sz="1030" dirty="0"/>
          </a:p>
        </p:txBody>
      </p:sp>
      <p:sp>
        <p:nvSpPr>
          <p:cNvPr id="16" name="Shape 14"/>
          <p:cNvSpPr/>
          <p:nvPr/>
        </p:nvSpPr>
        <p:spPr>
          <a:xfrm>
            <a:off x="4297680" y="3611880"/>
            <a:ext cx="3593592" cy="2514600"/>
          </a:xfrm>
          <a:prstGeom prst="roundRect">
            <a:avLst>
              <a:gd name="adj" fmla="val 5091"/>
            </a:avLst>
          </a:prstGeom>
          <a:solidFill>
            <a:srgbClr val="0B132B"/>
          </a:solidFill>
          <a:ln w="9525">
            <a:solidFill>
              <a:srgbClr val="2A3B63"/>
            </a:solidFill>
            <a:prstDash val="solid"/>
          </a:ln>
          <a:effectLst>
            <a:outerShdw sx="100000" sy="100000" kx="0" ky="0" algn="bl" rotWithShape="0" blurRad="127000" dist="38100" dir="5400000">
              <a:srgbClr val="1A2138">
                <a:alpha val="28000"/>
              </a:srgbClr>
            </a:outerShdw>
          </a:effectLst>
        </p:spPr>
      </p:sp>
      <p:sp>
        <p:nvSpPr>
          <p:cNvPr id="17" name="Shape 15"/>
          <p:cNvSpPr/>
          <p:nvPr/>
        </p:nvSpPr>
        <p:spPr>
          <a:xfrm>
            <a:off x="4517136" y="3813048"/>
            <a:ext cx="365760" cy="365760"/>
          </a:xfrm>
          <a:prstGeom prst="roundRect">
            <a:avLst>
              <a:gd name="adj" fmla="val 15000"/>
            </a:avLst>
          </a:prstGeom>
          <a:solidFill>
            <a:srgbClr val="F8F9FA"/>
          </a:solidFill>
          <a:ln/>
        </p:spPr>
      </p:sp>
      <p:sp>
        <p:nvSpPr>
          <p:cNvPr id="18" name="Text 16"/>
          <p:cNvSpPr/>
          <p:nvPr/>
        </p:nvSpPr>
        <p:spPr>
          <a:xfrm>
            <a:off x="4517136" y="3813048"/>
            <a:ext cx="365760" cy="365760"/>
          </a:xfrm>
          <a:prstGeom prst="rect">
            <a:avLst/>
          </a:prstGeom>
          <a:noFill/>
          <a:ln/>
        </p:spPr>
        <p:txBody>
          <a:bodyPr wrap="square" rtlCol="0" anchor="ctr"/>
          <a:lstStyle/>
          <a:p>
            <a:pPr algn="ctr" indent="0" marL="0">
              <a:buNone/>
            </a:pPr>
            <a:r>
              <a:rPr lang="en-US" sz="1200" b="1" dirty="0">
                <a:solidFill>
                  <a:srgbClr val="0B132B"/>
                </a:solidFill>
                <a:latin typeface="Arial" pitchFamily="34" charset="0"/>
                <a:ea typeface="Arial" pitchFamily="34" charset="-122"/>
                <a:cs typeface="Arial" pitchFamily="34" charset="-120"/>
              </a:rPr>
              <a:t>2</a:t>
            </a:r>
            <a:endParaRPr lang="en-US" sz="1200" dirty="0"/>
          </a:p>
        </p:txBody>
      </p:sp>
      <p:sp>
        <p:nvSpPr>
          <p:cNvPr id="19" name="Text 17"/>
          <p:cNvSpPr/>
          <p:nvPr/>
        </p:nvSpPr>
        <p:spPr>
          <a:xfrm>
            <a:off x="5029200" y="3831336"/>
            <a:ext cx="2633472" cy="502920"/>
          </a:xfrm>
          <a:prstGeom prst="rect">
            <a:avLst/>
          </a:prstGeom>
          <a:noFill/>
          <a:ln/>
        </p:spPr>
        <p:txBody>
          <a:bodyPr wrap="square" rtlCol="0" anchor="t"/>
          <a:lstStyle/>
          <a:p>
            <a:pPr indent="0" marL="0">
              <a:lnSpc>
                <a:spcPct val="110000"/>
              </a:lnSpc>
              <a:buNone/>
            </a:pPr>
            <a:r>
              <a:rPr lang="en-US" sz="1250" b="1" dirty="0">
                <a:solidFill>
                  <a:srgbClr val="F8F9FA"/>
                </a:solidFill>
                <a:latin typeface="Arial" pitchFamily="34" charset="0"/>
                <a:ea typeface="Arial" pitchFamily="34" charset="-122"/>
                <a:cs typeface="Arial" pitchFamily="34" charset="-120"/>
              </a:rPr>
              <a:t>Make-in-India Reality</a:t>
            </a:r>
            <a:endParaRPr lang="en-US" sz="1250" dirty="0"/>
          </a:p>
        </p:txBody>
      </p:sp>
      <p:sp>
        <p:nvSpPr>
          <p:cNvPr id="20" name="Text 18"/>
          <p:cNvSpPr/>
          <p:nvPr/>
        </p:nvSpPr>
        <p:spPr>
          <a:xfrm>
            <a:off x="4517136" y="4434840"/>
            <a:ext cx="3154680" cy="1554480"/>
          </a:xfrm>
          <a:prstGeom prst="rect">
            <a:avLst/>
          </a:prstGeom>
          <a:noFill/>
          <a:ln/>
        </p:spPr>
        <p:txBody>
          <a:bodyPr wrap="square" rtlCol="0" anchor="t"/>
          <a:lstStyle/>
          <a:p>
            <a:pPr algn="l" indent="0" marL="0">
              <a:lnSpc>
                <a:spcPct val="124000"/>
              </a:lnSpc>
              <a:buNone/>
            </a:pPr>
            <a:r>
              <a:rPr lang="en-US" sz="1030" dirty="0">
                <a:solidFill>
                  <a:srgbClr val="AAB6CC"/>
                </a:solidFill>
                <a:latin typeface="Calibri" pitchFamily="34" charset="0"/>
                <a:ea typeface="Calibri" pitchFamily="34" charset="-122"/>
                <a:cs typeface="Calibri" pitchFamily="34" charset="-120"/>
              </a:rPr>
              <a:t>By engineering out exotic, foreign-controlled minerals and optimizing around globally abundant </a:t>
            </a:r>
            <a:pPr algn="l" indent="0" marL="0">
              <a:lnSpc>
                <a:spcPct val="124000"/>
              </a:lnSpc>
              <a:buNone/>
            </a:pPr>
            <a:r>
              <a:rPr lang="en-US" sz="1030" b="1" dirty="0">
                <a:solidFill>
                  <a:srgbClr val="4FD1C5"/>
                </a:solidFill>
                <a:latin typeface="Calibri" pitchFamily="34" charset="0"/>
                <a:ea typeface="Calibri" pitchFamily="34" charset="-122"/>
                <a:cs typeface="Calibri" pitchFamily="34" charset="-120"/>
              </a:rPr>
              <a:t>Titanium and Chromium</a:t>
            </a:r>
            <a:pPr algn="l" indent="0" marL="0">
              <a:lnSpc>
                <a:spcPct val="124000"/>
              </a:lnSpc>
              <a:buNone/>
            </a:pPr>
            <a:r>
              <a:rPr lang="en-US" sz="1030" dirty="0">
                <a:solidFill>
                  <a:srgbClr val="AAB6CC"/>
                </a:solidFill>
                <a:latin typeface="Calibri" pitchFamily="34" charset="0"/>
                <a:ea typeface="Calibri" pitchFamily="34" charset="-122"/>
                <a:cs typeface="Calibri" pitchFamily="34" charset="-120"/>
              </a:rPr>
              <a:t>, we guarantee a secure, indigenous supply chain for Sona Comstar's next-gen components.</a:t>
            </a:r>
            <a:endParaRPr lang="en-US" sz="1030" dirty="0"/>
          </a:p>
        </p:txBody>
      </p:sp>
      <p:sp>
        <p:nvSpPr>
          <p:cNvPr id="21" name="Shape 19"/>
          <p:cNvSpPr/>
          <p:nvPr/>
        </p:nvSpPr>
        <p:spPr>
          <a:xfrm>
            <a:off x="8092440" y="3611880"/>
            <a:ext cx="3593592" cy="2514600"/>
          </a:xfrm>
          <a:prstGeom prst="roundRect">
            <a:avLst>
              <a:gd name="adj" fmla="val 5091"/>
            </a:avLst>
          </a:prstGeom>
          <a:solidFill>
            <a:srgbClr val="0B132B"/>
          </a:solidFill>
          <a:ln w="9525">
            <a:solidFill>
              <a:srgbClr val="2A3B63"/>
            </a:solidFill>
            <a:prstDash val="solid"/>
          </a:ln>
          <a:effectLst>
            <a:outerShdw sx="100000" sy="100000" kx="0" ky="0" algn="bl" rotWithShape="0" blurRad="127000" dist="38100" dir="5400000">
              <a:srgbClr val="1A2138">
                <a:alpha val="28000"/>
              </a:srgbClr>
            </a:outerShdw>
          </a:effectLst>
        </p:spPr>
      </p:sp>
      <p:sp>
        <p:nvSpPr>
          <p:cNvPr id="22" name="Shape 20"/>
          <p:cNvSpPr/>
          <p:nvPr/>
        </p:nvSpPr>
        <p:spPr>
          <a:xfrm>
            <a:off x="8311896" y="3813048"/>
            <a:ext cx="365760" cy="365760"/>
          </a:xfrm>
          <a:prstGeom prst="roundRect">
            <a:avLst>
              <a:gd name="adj" fmla="val 15000"/>
            </a:avLst>
          </a:prstGeom>
          <a:solidFill>
            <a:srgbClr val="F8F9FA"/>
          </a:solidFill>
          <a:ln/>
        </p:spPr>
      </p:sp>
      <p:sp>
        <p:nvSpPr>
          <p:cNvPr id="23" name="Text 21"/>
          <p:cNvSpPr/>
          <p:nvPr/>
        </p:nvSpPr>
        <p:spPr>
          <a:xfrm>
            <a:off x="8311896" y="3813048"/>
            <a:ext cx="365760" cy="365760"/>
          </a:xfrm>
          <a:prstGeom prst="rect">
            <a:avLst/>
          </a:prstGeom>
          <a:noFill/>
          <a:ln/>
        </p:spPr>
        <p:txBody>
          <a:bodyPr wrap="square" rtlCol="0" anchor="ctr"/>
          <a:lstStyle/>
          <a:p>
            <a:pPr algn="ctr" indent="0" marL="0">
              <a:buNone/>
            </a:pPr>
            <a:r>
              <a:rPr lang="en-US" sz="1200" b="1" dirty="0">
                <a:solidFill>
                  <a:srgbClr val="0B132B"/>
                </a:solidFill>
                <a:latin typeface="Arial" pitchFamily="34" charset="0"/>
                <a:ea typeface="Arial" pitchFamily="34" charset="-122"/>
                <a:cs typeface="Arial" pitchFamily="34" charset="-120"/>
              </a:rPr>
              <a:t>3</a:t>
            </a:r>
            <a:endParaRPr lang="en-US" sz="1200" dirty="0"/>
          </a:p>
        </p:txBody>
      </p:sp>
      <p:sp>
        <p:nvSpPr>
          <p:cNvPr id="24" name="Text 22"/>
          <p:cNvSpPr/>
          <p:nvPr/>
        </p:nvSpPr>
        <p:spPr>
          <a:xfrm>
            <a:off x="8823960" y="3831336"/>
            <a:ext cx="2633472" cy="502920"/>
          </a:xfrm>
          <a:prstGeom prst="rect">
            <a:avLst/>
          </a:prstGeom>
          <a:noFill/>
          <a:ln/>
        </p:spPr>
        <p:txBody>
          <a:bodyPr wrap="square" rtlCol="0" anchor="t"/>
          <a:lstStyle/>
          <a:p>
            <a:pPr indent="0" marL="0">
              <a:lnSpc>
                <a:spcPct val="110000"/>
              </a:lnSpc>
              <a:buNone/>
            </a:pPr>
            <a:r>
              <a:rPr lang="en-US" sz="1250" b="1" dirty="0">
                <a:solidFill>
                  <a:srgbClr val="F8F9FA"/>
                </a:solidFill>
                <a:latin typeface="Arial" pitchFamily="34" charset="0"/>
                <a:ea typeface="Arial" pitchFamily="34" charset="-122"/>
                <a:cs typeface="Arial" pitchFamily="34" charset="-120"/>
              </a:rPr>
              <a:t>The IIT Delhi IP Framework</a:t>
            </a:r>
            <a:endParaRPr lang="en-US" sz="1250" dirty="0"/>
          </a:p>
        </p:txBody>
      </p:sp>
      <p:sp>
        <p:nvSpPr>
          <p:cNvPr id="25" name="Text 23"/>
          <p:cNvSpPr/>
          <p:nvPr/>
        </p:nvSpPr>
        <p:spPr>
          <a:xfrm>
            <a:off x="8311896" y="4434840"/>
            <a:ext cx="3154680" cy="1554480"/>
          </a:xfrm>
          <a:prstGeom prst="rect">
            <a:avLst/>
          </a:prstGeom>
          <a:noFill/>
          <a:ln/>
        </p:spPr>
        <p:txBody>
          <a:bodyPr wrap="square" rtlCol="0" anchor="t"/>
          <a:lstStyle/>
          <a:p>
            <a:pPr algn="l" indent="0" marL="0">
              <a:lnSpc>
                <a:spcPct val="124000"/>
              </a:lnSpc>
              <a:buNone/>
            </a:pPr>
            <a:r>
              <a:rPr lang="en-US" sz="1030" dirty="0">
                <a:solidFill>
                  <a:srgbClr val="AAB6CC"/>
                </a:solidFill>
                <a:latin typeface="Calibri" pitchFamily="34" charset="0"/>
                <a:ea typeface="Calibri" pitchFamily="34" charset="-122"/>
                <a:cs typeface="Calibri" pitchFamily="34" charset="-120"/>
              </a:rPr>
              <a:t>We are prepared to navigate the </a:t>
            </a:r>
            <a:pPr algn="l" indent="0" marL="0">
              <a:lnSpc>
                <a:spcPct val="124000"/>
              </a:lnSpc>
              <a:buNone/>
            </a:pPr>
            <a:r>
              <a:rPr lang="en-US" sz="1030" b="1" dirty="0">
                <a:solidFill>
                  <a:srgbClr val="4FD1C5"/>
                </a:solidFill>
                <a:latin typeface="Calibri" pitchFamily="34" charset="0"/>
                <a:ea typeface="Calibri" pitchFamily="34" charset="-122"/>
                <a:cs typeface="Calibri" pitchFamily="34" charset="-120"/>
              </a:rPr>
              <a:t>FITT incubation framework</a:t>
            </a:r>
            <a:pPr algn="l" indent="0" marL="0">
              <a:lnSpc>
                <a:spcPct val="124000"/>
              </a:lnSpc>
              <a:buNone/>
            </a:pPr>
            <a:r>
              <a:rPr lang="en-US" sz="1030" dirty="0">
                <a:solidFill>
                  <a:srgbClr val="AAB6CC"/>
                </a:solidFill>
                <a:latin typeface="Calibri" pitchFamily="34" charset="0"/>
                <a:ea typeface="Calibri" pitchFamily="34" charset="-122"/>
                <a:cs typeface="Calibri" pitchFamily="34" charset="-120"/>
              </a:rPr>
              <a:t> to jointly patent physical material formulations developed within the Central Research Facility (CRF).</a:t>
            </a:r>
            <a:endParaRPr lang="en-US" sz="103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9125712" y="274320"/>
            <a:ext cx="2560320" cy="219456"/>
          </a:xfrm>
          <a:prstGeom prst="rect">
            <a:avLst/>
          </a:prstGeom>
          <a:noFill/>
          <a:ln/>
        </p:spPr>
        <p:txBody>
          <a:bodyPr wrap="square" rtlCol="0" anchor="ctr"/>
          <a:lstStyle/>
          <a:p>
            <a:pPr algn="r" indent="0" marL="0">
              <a:buNone/>
            </a:pPr>
            <a:r>
              <a:rPr lang="en-US" sz="950" b="1" spc="140" kern="0" dirty="0">
                <a:solidFill>
                  <a:srgbClr val="0B132B"/>
                </a:solidFill>
                <a:latin typeface="Arial" pitchFamily="34" charset="0"/>
                <a:ea typeface="Arial" pitchFamily="34" charset="-122"/>
                <a:cs typeface="Arial" pitchFamily="34" charset="-120"/>
              </a:rPr>
              <a:t>CRYSTAL </a:t>
            </a:r>
            <a:pPr algn="r" indent="0" marL="0">
              <a:buNone/>
            </a:pPr>
            <a:r>
              <a:rPr lang="en-US" sz="950" b="1" spc="140" kern="0" dirty="0">
                <a:solidFill>
                  <a:srgbClr val="0E7C86"/>
                </a:solidFill>
                <a:latin typeface="Arial" pitchFamily="34" charset="0"/>
                <a:ea typeface="Arial" pitchFamily="34" charset="-122"/>
                <a:cs typeface="Arial" pitchFamily="34" charset="-120"/>
              </a:rPr>
              <a:t>PARADIGM</a:t>
            </a:r>
            <a:endParaRPr lang="en-US" sz="950" dirty="0"/>
          </a:p>
        </p:txBody>
      </p:sp>
      <p:sp>
        <p:nvSpPr>
          <p:cNvPr id="3" name="Text 1"/>
          <p:cNvSpPr/>
          <p:nvPr/>
        </p:nvSpPr>
        <p:spPr>
          <a:xfrm>
            <a:off x="11384280" y="6510528"/>
            <a:ext cx="594360" cy="256032"/>
          </a:xfrm>
          <a:prstGeom prst="rect">
            <a:avLst/>
          </a:prstGeom>
          <a:noFill/>
          <a:ln/>
        </p:spPr>
        <p:txBody>
          <a:bodyPr wrap="square" rtlCol="0" anchor="ctr"/>
          <a:lstStyle/>
          <a:p>
            <a:pPr algn="r" indent="0" marL="0">
              <a:buNone/>
            </a:pPr>
            <a:r>
              <a:rPr lang="en-US" sz="850" dirty="0">
                <a:solidFill>
                  <a:srgbClr val="5B6B8C"/>
                </a:solidFill>
                <a:latin typeface="Calibri" pitchFamily="34" charset="0"/>
                <a:ea typeface="Calibri" pitchFamily="34" charset="-122"/>
                <a:cs typeface="Calibri" pitchFamily="34" charset="-120"/>
              </a:rPr>
              <a:t>14 / 18</a:t>
            </a:r>
            <a:endParaRPr lang="en-US" sz="850" dirty="0"/>
          </a:p>
        </p:txBody>
      </p:sp>
      <p:sp>
        <p:nvSpPr>
          <p:cNvPr id="4" name="Text 2"/>
          <p:cNvSpPr/>
          <p:nvPr/>
        </p:nvSpPr>
        <p:spPr>
          <a:xfrm>
            <a:off x="502920" y="384048"/>
            <a:ext cx="5486400" cy="274320"/>
          </a:xfrm>
          <a:prstGeom prst="rect">
            <a:avLst/>
          </a:prstGeom>
          <a:noFill/>
          <a:ln/>
        </p:spPr>
        <p:txBody>
          <a:bodyPr wrap="square" rtlCol="0" anchor="ctr"/>
          <a:lstStyle/>
          <a:p>
            <a:pPr algn="l" indent="0" marL="0">
              <a:buNone/>
            </a:pPr>
            <a:r>
              <a:rPr lang="en-US" sz="1050" b="1" spc="220" kern="0" dirty="0">
                <a:solidFill>
                  <a:srgbClr val="0E7C86"/>
                </a:solidFill>
                <a:latin typeface="Arial" pitchFamily="34" charset="0"/>
                <a:ea typeface="Arial" pitchFamily="34" charset="-122"/>
                <a:cs typeface="Arial" pitchFamily="34" charset="-120"/>
              </a:rPr>
              <a:t>THE CORPORATE ASK</a:t>
            </a:r>
            <a:endParaRPr lang="en-US" sz="1050" dirty="0"/>
          </a:p>
        </p:txBody>
      </p:sp>
      <p:sp>
        <p:nvSpPr>
          <p:cNvPr id="5" name="Text 3"/>
          <p:cNvSpPr/>
          <p:nvPr/>
        </p:nvSpPr>
        <p:spPr>
          <a:xfrm>
            <a:off x="502920" y="658368"/>
            <a:ext cx="11183112" cy="457200"/>
          </a:xfrm>
          <a:prstGeom prst="rect">
            <a:avLst/>
          </a:prstGeom>
          <a:noFill/>
          <a:ln/>
        </p:spPr>
        <p:txBody>
          <a:bodyPr wrap="square" rtlCol="0" anchor="ctr"/>
          <a:lstStyle/>
          <a:p>
            <a:pPr algn="l" indent="0" marL="0">
              <a:lnSpc>
                <a:spcPct val="108000"/>
              </a:lnSpc>
              <a:buNone/>
            </a:pPr>
            <a:r>
              <a:rPr lang="en-US" sz="2200" b="1" spc="20" kern="0" dirty="0">
                <a:solidFill>
                  <a:srgbClr val="0B132B"/>
                </a:solidFill>
                <a:latin typeface="Arial" pitchFamily="34" charset="0"/>
                <a:ea typeface="Arial" pitchFamily="34" charset="-122"/>
                <a:cs typeface="Arial" pitchFamily="34" charset="-120"/>
              </a:rPr>
              <a:t>THE CRYSTAL PARADIGM CORPORATE ASK</a:t>
            </a:r>
            <a:endParaRPr lang="en-US" sz="2200" dirty="0"/>
          </a:p>
        </p:txBody>
      </p:sp>
      <p:sp>
        <p:nvSpPr>
          <p:cNvPr id="6" name="Text 4"/>
          <p:cNvSpPr/>
          <p:nvPr/>
        </p:nvSpPr>
        <p:spPr>
          <a:xfrm>
            <a:off x="502920" y="1097280"/>
            <a:ext cx="11183112" cy="292608"/>
          </a:xfrm>
          <a:prstGeom prst="rect">
            <a:avLst/>
          </a:prstGeom>
          <a:noFill/>
          <a:ln/>
        </p:spPr>
        <p:txBody>
          <a:bodyPr wrap="square" rtlCol="0" anchor="ctr"/>
          <a:lstStyle/>
          <a:p>
            <a:pPr algn="l" indent="0" marL="0">
              <a:buNone/>
            </a:pPr>
            <a:r>
              <a:rPr lang="en-US" sz="1300" b="1" dirty="0">
                <a:solidFill>
                  <a:srgbClr val="0E7C86"/>
                </a:solidFill>
                <a:latin typeface="Arial" pitchFamily="34" charset="0"/>
                <a:ea typeface="Arial" pitchFamily="34" charset="-122"/>
                <a:cs typeface="Arial" pitchFamily="34" charset="-120"/>
              </a:rPr>
              <a:t>Bridging the Gap Between Informatics and the Factory Floor</a:t>
            </a:r>
            <a:endParaRPr lang="en-US" sz="1300" dirty="0"/>
          </a:p>
        </p:txBody>
      </p:sp>
      <p:sp>
        <p:nvSpPr>
          <p:cNvPr id="7" name="Text 5"/>
          <p:cNvSpPr/>
          <p:nvPr/>
        </p:nvSpPr>
        <p:spPr>
          <a:xfrm>
            <a:off x="502920" y="1444752"/>
            <a:ext cx="11183112" cy="548640"/>
          </a:xfrm>
          <a:prstGeom prst="rect">
            <a:avLst/>
          </a:prstGeom>
          <a:noFill/>
          <a:ln/>
        </p:spPr>
        <p:txBody>
          <a:bodyPr wrap="square" rtlCol="0" anchor="ctr"/>
          <a:lstStyle/>
          <a:p>
            <a:pPr algn="l" indent="0" marL="0">
              <a:lnSpc>
                <a:spcPct val="124000"/>
              </a:lnSpc>
              <a:buNone/>
            </a:pPr>
            <a:r>
              <a:rPr lang="en-US" sz="1250" dirty="0">
                <a:solidFill>
                  <a:srgbClr val="5B6B8C"/>
                </a:solidFill>
                <a:latin typeface="Calibri" pitchFamily="34" charset="0"/>
                <a:ea typeface="Calibri" pitchFamily="34" charset="-122"/>
                <a:cs typeface="Calibri" pitchFamily="34" charset="-120"/>
              </a:rPr>
              <a:t>Crystal Paradigm is completely computationally validated (</a:t>
            </a:r>
            <a:pPr algn="l" indent="0" marL="0">
              <a:lnSpc>
                <a:spcPct val="124000"/>
              </a:lnSpc>
              <a:buNone/>
            </a:pPr>
            <a:r>
              <a:rPr lang="en-US" sz="1250" b="1" dirty="0">
                <a:solidFill>
                  <a:srgbClr val="0E7C86"/>
                </a:solidFill>
                <a:latin typeface="Calibri" pitchFamily="34" charset="0"/>
                <a:ea typeface="Calibri" pitchFamily="34" charset="-122"/>
                <a:cs typeface="Calibri" pitchFamily="34" charset="-120"/>
              </a:rPr>
              <a:t>TRL 3+</a:t>
            </a:r>
            <a:pPr algn="l" indent="0" marL="0">
              <a:lnSpc>
                <a:spcPct val="124000"/>
              </a:lnSpc>
              <a:buNone/>
            </a:pPr>
            <a:r>
              <a:rPr lang="en-US" sz="1250" dirty="0">
                <a:solidFill>
                  <a:srgbClr val="5B6B8C"/>
                </a:solidFill>
                <a:latin typeface="Calibri" pitchFamily="34" charset="0"/>
                <a:ea typeface="Calibri" pitchFamily="34" charset="-122"/>
                <a:cs typeface="Calibri" pitchFamily="34" charset="-120"/>
              </a:rPr>
              <a:t>). We are applying to the </a:t>
            </a:r>
            <a:pPr algn="l" indent="0" marL="0">
              <a:lnSpc>
                <a:spcPct val="124000"/>
              </a:lnSpc>
              <a:buNone/>
            </a:pPr>
            <a:r>
              <a:rPr lang="en-US" sz="1250" b="1" dirty="0">
                <a:solidFill>
                  <a:srgbClr val="0E7C86"/>
                </a:solidFill>
                <a:latin typeface="Calibri" pitchFamily="34" charset="0"/>
                <a:ea typeface="Calibri" pitchFamily="34" charset="-122"/>
                <a:cs typeface="Calibri" pitchFamily="34" charset="-120"/>
              </a:rPr>
              <a:t>Advanced Materials</a:t>
            </a:r>
            <a:pPr algn="l" indent="0" marL="0">
              <a:lnSpc>
                <a:spcPct val="124000"/>
              </a:lnSpc>
              <a:buNone/>
            </a:pPr>
            <a:r>
              <a:rPr lang="en-US" sz="1250" dirty="0">
                <a:solidFill>
                  <a:srgbClr val="5B6B8C"/>
                </a:solidFill>
                <a:latin typeface="Calibri" pitchFamily="34" charset="0"/>
                <a:ea typeface="Calibri" pitchFamily="34" charset="-122"/>
                <a:cs typeface="Calibri" pitchFamily="34" charset="-120"/>
              </a:rPr>
              <a:t> track of the SCIDIP program to access the precise ecosystem required to cross the "valley of death".</a:t>
            </a:r>
            <a:endParaRPr lang="en-US" sz="1250" dirty="0"/>
          </a:p>
        </p:txBody>
      </p:sp>
      <p:sp>
        <p:nvSpPr>
          <p:cNvPr id="8" name="Shape 6"/>
          <p:cNvSpPr/>
          <p:nvPr/>
        </p:nvSpPr>
        <p:spPr>
          <a:xfrm>
            <a:off x="502920" y="2148840"/>
            <a:ext cx="11183112" cy="960120"/>
          </a:xfrm>
          <a:prstGeom prst="roundRect">
            <a:avLst>
              <a:gd name="adj" fmla="val 13333"/>
            </a:avLst>
          </a:prstGeom>
          <a:solidFill>
            <a:srgbClr val="EEF1F5"/>
          </a:solidFill>
          <a:ln w="15875">
            <a:solidFill>
              <a:srgbClr val="0B132B"/>
            </a:solidFill>
            <a:prstDash val="dash"/>
          </a:ln>
        </p:spPr>
      </p:sp>
      <p:sp>
        <p:nvSpPr>
          <p:cNvPr id="9" name="Text 7"/>
          <p:cNvSpPr/>
          <p:nvPr/>
        </p:nvSpPr>
        <p:spPr>
          <a:xfrm>
            <a:off x="731520" y="2313432"/>
            <a:ext cx="10725912" cy="237744"/>
          </a:xfrm>
          <a:prstGeom prst="rect">
            <a:avLst/>
          </a:prstGeom>
          <a:noFill/>
          <a:ln/>
        </p:spPr>
        <p:txBody>
          <a:bodyPr wrap="square" rtlCol="0" anchor="ctr"/>
          <a:lstStyle/>
          <a:p>
            <a:pPr indent="0" marL="0">
              <a:buNone/>
            </a:pPr>
            <a:r>
              <a:rPr lang="en-US" sz="900" b="1" spc="180" kern="0" dirty="0">
                <a:solidFill>
                  <a:srgbClr val="7C879C"/>
                </a:solidFill>
                <a:latin typeface="Arial" pitchFamily="34" charset="0"/>
                <a:ea typeface="Arial" pitchFamily="34" charset="-122"/>
                <a:cs typeface="Arial" pitchFamily="34" charset="-120"/>
              </a:rPr>
              <a:t>VISUAL PLACEHOLDER</a:t>
            </a:r>
            <a:endParaRPr lang="en-US" sz="900" dirty="0"/>
          </a:p>
        </p:txBody>
      </p:sp>
      <p:sp>
        <p:nvSpPr>
          <p:cNvPr id="10" name="Text 8"/>
          <p:cNvSpPr/>
          <p:nvPr/>
        </p:nvSpPr>
        <p:spPr>
          <a:xfrm>
            <a:off x="822960" y="2606040"/>
            <a:ext cx="10543032" cy="274320"/>
          </a:xfrm>
          <a:prstGeom prst="rect">
            <a:avLst/>
          </a:prstGeom>
          <a:noFill/>
          <a:ln/>
        </p:spPr>
        <p:txBody>
          <a:bodyPr wrap="square" rtlCol="0" anchor="ctr"/>
          <a:lstStyle/>
          <a:p>
            <a:pPr algn="ctr" indent="0" marL="0">
              <a:lnSpc>
                <a:spcPct val="125000"/>
              </a:lnSpc>
              <a:buNone/>
            </a:pPr>
            <a:r>
              <a:rPr lang="en-US" sz="1100" i="1" dirty="0">
                <a:solidFill>
                  <a:srgbClr val="7C879C"/>
                </a:solidFill>
                <a:latin typeface="Calibri" pitchFamily="34" charset="0"/>
                <a:ea typeface="Calibri" pitchFamily="34" charset="-122"/>
                <a:cs typeface="Calibri" pitchFamily="34" charset="-120"/>
              </a:rPr>
              <a:t>INSERT VISUALIZATION: 4-pillar architectural diagram — Mentorship, Lab Support, Funding, Market Connect pillars supporting a "TRL 6 Commercialization" roof</a:t>
            </a:r>
            <a:endParaRPr lang="en-US" sz="1100" dirty="0"/>
          </a:p>
        </p:txBody>
      </p:sp>
      <p:sp>
        <p:nvSpPr>
          <p:cNvPr id="11" name="Shape 9"/>
          <p:cNvSpPr/>
          <p:nvPr/>
        </p:nvSpPr>
        <p:spPr>
          <a:xfrm>
            <a:off x="502920" y="3291840"/>
            <a:ext cx="2697480" cy="2880360"/>
          </a:xfrm>
          <a:prstGeom prst="roundRect">
            <a:avLst>
              <a:gd name="adj" fmla="val 4746"/>
            </a:avLst>
          </a:prstGeom>
          <a:solidFill>
            <a:srgbClr val="0B132B"/>
          </a:solidFill>
          <a:ln w="9525">
            <a:solidFill>
              <a:srgbClr val="2A3B63"/>
            </a:solidFill>
            <a:prstDash val="solid"/>
          </a:ln>
          <a:effectLst>
            <a:outerShdw sx="100000" sy="100000" kx="0" ky="0" algn="bl" rotWithShape="0" blurRad="127000" dist="38100" dir="5400000">
              <a:srgbClr val="1A2138">
                <a:alpha val="28000"/>
              </a:srgbClr>
            </a:outerShdw>
          </a:effectLst>
        </p:spPr>
      </p:sp>
      <p:sp>
        <p:nvSpPr>
          <p:cNvPr id="12" name="Shape 10"/>
          <p:cNvSpPr/>
          <p:nvPr/>
        </p:nvSpPr>
        <p:spPr>
          <a:xfrm>
            <a:off x="1668780" y="3493008"/>
            <a:ext cx="365760" cy="365760"/>
          </a:xfrm>
          <a:prstGeom prst="roundRect">
            <a:avLst>
              <a:gd name="adj" fmla="val 15000"/>
            </a:avLst>
          </a:prstGeom>
          <a:solidFill>
            <a:srgbClr val="F8F9FA"/>
          </a:solidFill>
          <a:ln/>
        </p:spPr>
      </p:sp>
      <p:sp>
        <p:nvSpPr>
          <p:cNvPr id="13" name="Text 11"/>
          <p:cNvSpPr/>
          <p:nvPr/>
        </p:nvSpPr>
        <p:spPr>
          <a:xfrm>
            <a:off x="1668780" y="3493008"/>
            <a:ext cx="365760" cy="365760"/>
          </a:xfrm>
          <a:prstGeom prst="rect">
            <a:avLst/>
          </a:prstGeom>
          <a:noFill/>
          <a:ln/>
        </p:spPr>
        <p:txBody>
          <a:bodyPr wrap="square" rtlCol="0" anchor="ctr"/>
          <a:lstStyle/>
          <a:p>
            <a:pPr algn="ctr" indent="0" marL="0">
              <a:buNone/>
            </a:pPr>
            <a:r>
              <a:rPr lang="en-US" sz="1200" b="1" dirty="0">
                <a:solidFill>
                  <a:srgbClr val="0B132B"/>
                </a:solidFill>
                <a:latin typeface="Arial" pitchFamily="34" charset="0"/>
                <a:ea typeface="Arial" pitchFamily="34" charset="-122"/>
                <a:cs typeface="Arial" pitchFamily="34" charset="-120"/>
              </a:rPr>
              <a:t>1</a:t>
            </a:r>
            <a:endParaRPr lang="en-US" sz="1200" dirty="0"/>
          </a:p>
        </p:txBody>
      </p:sp>
      <p:sp>
        <p:nvSpPr>
          <p:cNvPr id="14" name="Text 12"/>
          <p:cNvSpPr/>
          <p:nvPr/>
        </p:nvSpPr>
        <p:spPr>
          <a:xfrm>
            <a:off x="640080" y="4005072"/>
            <a:ext cx="2423160" cy="566928"/>
          </a:xfrm>
          <a:prstGeom prst="rect">
            <a:avLst/>
          </a:prstGeom>
          <a:noFill/>
          <a:ln/>
        </p:spPr>
        <p:txBody>
          <a:bodyPr wrap="square" rtlCol="0" anchor="ctr"/>
          <a:lstStyle/>
          <a:p>
            <a:pPr algn="ctr" indent="0" marL="0">
              <a:lnSpc>
                <a:spcPct val="112000"/>
              </a:lnSpc>
              <a:buNone/>
            </a:pPr>
            <a:r>
              <a:rPr lang="en-US" sz="1100" b="1" dirty="0">
                <a:solidFill>
                  <a:srgbClr val="F8F9FA"/>
                </a:solidFill>
                <a:latin typeface="Arial" pitchFamily="34" charset="0"/>
                <a:ea typeface="Arial" pitchFamily="34" charset="-122"/>
                <a:cs typeface="Arial" pitchFamily="34" charset="-120"/>
              </a:rPr>
              <a:t>Technology &amp; Lab Support</a:t>
            </a:r>
            <a:endParaRPr lang="en-US" sz="1100" dirty="0"/>
          </a:p>
        </p:txBody>
      </p:sp>
      <p:sp>
        <p:nvSpPr>
          <p:cNvPr id="15" name="Text 13"/>
          <p:cNvSpPr/>
          <p:nvPr/>
        </p:nvSpPr>
        <p:spPr>
          <a:xfrm>
            <a:off x="667512" y="4663440"/>
            <a:ext cx="2368296" cy="1417320"/>
          </a:xfrm>
          <a:prstGeom prst="rect">
            <a:avLst/>
          </a:prstGeom>
          <a:noFill/>
          <a:ln/>
        </p:spPr>
        <p:txBody>
          <a:bodyPr wrap="square" rtlCol="0" anchor="t"/>
          <a:lstStyle/>
          <a:p>
            <a:pPr algn="l" indent="0" marL="0">
              <a:lnSpc>
                <a:spcPct val="124000"/>
              </a:lnSpc>
              <a:buNone/>
            </a:pPr>
            <a:r>
              <a:rPr lang="en-US" sz="930" dirty="0">
                <a:solidFill>
                  <a:srgbClr val="AAB6CC"/>
                </a:solidFill>
                <a:latin typeface="Calibri" pitchFamily="34" charset="0"/>
                <a:ea typeface="Calibri" pitchFamily="34" charset="-122"/>
                <a:cs typeface="Calibri" pitchFamily="34" charset="-120"/>
              </a:rPr>
              <a:t>Immediate access to the </a:t>
            </a:r>
            <a:pPr algn="l" indent="0" marL="0">
              <a:lnSpc>
                <a:spcPct val="124000"/>
              </a:lnSpc>
              <a:buNone/>
            </a:pPr>
            <a:r>
              <a:rPr lang="en-US" sz="930" b="1" dirty="0">
                <a:solidFill>
                  <a:srgbClr val="4FD1C5"/>
                </a:solidFill>
                <a:latin typeface="Calibri" pitchFamily="34" charset="0"/>
                <a:ea typeface="Calibri" pitchFamily="34" charset="-122"/>
                <a:cs typeface="Calibri" pitchFamily="34" charset="-120"/>
              </a:rPr>
              <a:t>NIDHI-CoE and CRF</a:t>
            </a:r>
            <a:pPr algn="l" indent="0" marL="0">
              <a:lnSpc>
                <a:spcPct val="124000"/>
              </a:lnSpc>
              <a:buNone/>
            </a:pPr>
            <a:r>
              <a:rPr lang="en-US" sz="930" dirty="0">
                <a:solidFill>
                  <a:srgbClr val="AAB6CC"/>
                </a:solidFill>
                <a:latin typeface="Calibri" pitchFamily="34" charset="0"/>
                <a:ea typeface="Calibri" pitchFamily="34" charset="-122"/>
                <a:cs typeface="Calibri" pitchFamily="34" charset="-120"/>
              </a:rPr>
              <a:t> to execute High-Temperature XRD, SEM, and Simultaneous Thermal Analysis (STA) on physical witness coupons.</a:t>
            </a:r>
            <a:endParaRPr lang="en-US" sz="930" dirty="0"/>
          </a:p>
        </p:txBody>
      </p:sp>
      <p:sp>
        <p:nvSpPr>
          <p:cNvPr id="16" name="Shape 14"/>
          <p:cNvSpPr/>
          <p:nvPr/>
        </p:nvSpPr>
        <p:spPr>
          <a:xfrm>
            <a:off x="3319272" y="3291840"/>
            <a:ext cx="2697480" cy="2880360"/>
          </a:xfrm>
          <a:prstGeom prst="roundRect">
            <a:avLst>
              <a:gd name="adj" fmla="val 4746"/>
            </a:avLst>
          </a:prstGeom>
          <a:solidFill>
            <a:srgbClr val="0B132B"/>
          </a:solidFill>
          <a:ln w="9525">
            <a:solidFill>
              <a:srgbClr val="2A3B63"/>
            </a:solidFill>
            <a:prstDash val="solid"/>
          </a:ln>
          <a:effectLst>
            <a:outerShdw sx="100000" sy="100000" kx="0" ky="0" algn="bl" rotWithShape="0" blurRad="127000" dist="38100" dir="5400000">
              <a:srgbClr val="1A2138">
                <a:alpha val="28000"/>
              </a:srgbClr>
            </a:outerShdw>
          </a:effectLst>
        </p:spPr>
      </p:sp>
      <p:sp>
        <p:nvSpPr>
          <p:cNvPr id="17" name="Shape 15"/>
          <p:cNvSpPr/>
          <p:nvPr/>
        </p:nvSpPr>
        <p:spPr>
          <a:xfrm>
            <a:off x="4485132" y="3493008"/>
            <a:ext cx="365760" cy="365760"/>
          </a:xfrm>
          <a:prstGeom prst="roundRect">
            <a:avLst>
              <a:gd name="adj" fmla="val 15000"/>
            </a:avLst>
          </a:prstGeom>
          <a:solidFill>
            <a:srgbClr val="F8F9FA"/>
          </a:solidFill>
          <a:ln/>
        </p:spPr>
      </p:sp>
      <p:sp>
        <p:nvSpPr>
          <p:cNvPr id="18" name="Text 16"/>
          <p:cNvSpPr/>
          <p:nvPr/>
        </p:nvSpPr>
        <p:spPr>
          <a:xfrm>
            <a:off x="4485132" y="3493008"/>
            <a:ext cx="365760" cy="365760"/>
          </a:xfrm>
          <a:prstGeom prst="rect">
            <a:avLst/>
          </a:prstGeom>
          <a:noFill/>
          <a:ln/>
        </p:spPr>
        <p:txBody>
          <a:bodyPr wrap="square" rtlCol="0" anchor="ctr"/>
          <a:lstStyle/>
          <a:p>
            <a:pPr algn="ctr" indent="0" marL="0">
              <a:buNone/>
            </a:pPr>
            <a:r>
              <a:rPr lang="en-US" sz="1200" b="1" dirty="0">
                <a:solidFill>
                  <a:srgbClr val="0B132B"/>
                </a:solidFill>
                <a:latin typeface="Arial" pitchFamily="34" charset="0"/>
                <a:ea typeface="Arial" pitchFamily="34" charset="-122"/>
                <a:cs typeface="Arial" pitchFamily="34" charset="-120"/>
              </a:rPr>
              <a:t>2</a:t>
            </a:r>
            <a:endParaRPr lang="en-US" sz="1200" dirty="0"/>
          </a:p>
        </p:txBody>
      </p:sp>
      <p:sp>
        <p:nvSpPr>
          <p:cNvPr id="19" name="Text 17"/>
          <p:cNvSpPr/>
          <p:nvPr/>
        </p:nvSpPr>
        <p:spPr>
          <a:xfrm>
            <a:off x="3456432" y="4005072"/>
            <a:ext cx="2423160" cy="566928"/>
          </a:xfrm>
          <a:prstGeom prst="rect">
            <a:avLst/>
          </a:prstGeom>
          <a:noFill/>
          <a:ln/>
        </p:spPr>
        <p:txBody>
          <a:bodyPr wrap="square" rtlCol="0" anchor="ctr"/>
          <a:lstStyle/>
          <a:p>
            <a:pPr algn="ctr" indent="0" marL="0">
              <a:lnSpc>
                <a:spcPct val="112000"/>
              </a:lnSpc>
              <a:buNone/>
            </a:pPr>
            <a:r>
              <a:rPr lang="en-US" sz="1100" b="1" dirty="0">
                <a:solidFill>
                  <a:srgbClr val="F8F9FA"/>
                </a:solidFill>
                <a:latin typeface="Arial" pitchFamily="34" charset="0"/>
                <a:ea typeface="Arial" pitchFamily="34" charset="-122"/>
                <a:cs typeface="Arial" pitchFamily="34" charset="-120"/>
              </a:rPr>
              <a:t>Sona Comstar Mentorship</a:t>
            </a:r>
            <a:endParaRPr lang="en-US" sz="1100" dirty="0"/>
          </a:p>
        </p:txBody>
      </p:sp>
      <p:sp>
        <p:nvSpPr>
          <p:cNvPr id="20" name="Text 18"/>
          <p:cNvSpPr/>
          <p:nvPr/>
        </p:nvSpPr>
        <p:spPr>
          <a:xfrm>
            <a:off x="3483864" y="4663440"/>
            <a:ext cx="2368296" cy="1417320"/>
          </a:xfrm>
          <a:prstGeom prst="rect">
            <a:avLst/>
          </a:prstGeom>
          <a:noFill/>
          <a:ln/>
        </p:spPr>
        <p:txBody>
          <a:bodyPr wrap="square" rtlCol="0" anchor="t"/>
          <a:lstStyle/>
          <a:p>
            <a:pPr algn="l" indent="0" marL="0">
              <a:lnSpc>
                <a:spcPct val="124000"/>
              </a:lnSpc>
              <a:buNone/>
            </a:pPr>
            <a:r>
              <a:rPr lang="en-US" sz="930" dirty="0">
                <a:solidFill>
                  <a:srgbClr val="AAB6CC"/>
                </a:solidFill>
                <a:latin typeface="Calibri" pitchFamily="34" charset="0"/>
                <a:ea typeface="Calibri" pitchFamily="34" charset="-122"/>
                <a:cs typeface="Calibri" pitchFamily="34" charset="-120"/>
              </a:rPr>
              <a:t>Direct engineering alignment with Sona Comstar's precision forging division to ensure our 11-layer print matrices match factory-floor DED manufacturing tolerances.</a:t>
            </a:r>
            <a:endParaRPr lang="en-US" sz="930" dirty="0"/>
          </a:p>
        </p:txBody>
      </p:sp>
      <p:sp>
        <p:nvSpPr>
          <p:cNvPr id="21" name="Shape 19"/>
          <p:cNvSpPr/>
          <p:nvPr/>
        </p:nvSpPr>
        <p:spPr>
          <a:xfrm>
            <a:off x="6135624" y="3291840"/>
            <a:ext cx="2697480" cy="2880360"/>
          </a:xfrm>
          <a:prstGeom prst="roundRect">
            <a:avLst>
              <a:gd name="adj" fmla="val 4746"/>
            </a:avLst>
          </a:prstGeom>
          <a:solidFill>
            <a:srgbClr val="0B132B"/>
          </a:solidFill>
          <a:ln w="9525">
            <a:solidFill>
              <a:srgbClr val="2A3B63"/>
            </a:solidFill>
            <a:prstDash val="solid"/>
          </a:ln>
          <a:effectLst>
            <a:outerShdw sx="100000" sy="100000" kx="0" ky="0" algn="bl" rotWithShape="0" blurRad="127000" dist="38100" dir="5400000">
              <a:srgbClr val="1A2138">
                <a:alpha val="28000"/>
              </a:srgbClr>
            </a:outerShdw>
          </a:effectLst>
        </p:spPr>
      </p:sp>
      <p:sp>
        <p:nvSpPr>
          <p:cNvPr id="22" name="Shape 20"/>
          <p:cNvSpPr/>
          <p:nvPr/>
        </p:nvSpPr>
        <p:spPr>
          <a:xfrm>
            <a:off x="7301484" y="3493008"/>
            <a:ext cx="365760" cy="365760"/>
          </a:xfrm>
          <a:prstGeom prst="roundRect">
            <a:avLst>
              <a:gd name="adj" fmla="val 15000"/>
            </a:avLst>
          </a:prstGeom>
          <a:solidFill>
            <a:srgbClr val="F8F9FA"/>
          </a:solidFill>
          <a:ln/>
        </p:spPr>
      </p:sp>
      <p:sp>
        <p:nvSpPr>
          <p:cNvPr id="23" name="Text 21"/>
          <p:cNvSpPr/>
          <p:nvPr/>
        </p:nvSpPr>
        <p:spPr>
          <a:xfrm>
            <a:off x="7301484" y="3493008"/>
            <a:ext cx="365760" cy="365760"/>
          </a:xfrm>
          <a:prstGeom prst="rect">
            <a:avLst/>
          </a:prstGeom>
          <a:noFill/>
          <a:ln/>
        </p:spPr>
        <p:txBody>
          <a:bodyPr wrap="square" rtlCol="0" anchor="ctr"/>
          <a:lstStyle/>
          <a:p>
            <a:pPr algn="ctr" indent="0" marL="0">
              <a:buNone/>
            </a:pPr>
            <a:r>
              <a:rPr lang="en-US" sz="1200" b="1" dirty="0">
                <a:solidFill>
                  <a:srgbClr val="0B132B"/>
                </a:solidFill>
                <a:latin typeface="Arial" pitchFamily="34" charset="0"/>
                <a:ea typeface="Arial" pitchFamily="34" charset="-122"/>
                <a:cs typeface="Arial" pitchFamily="34" charset="-120"/>
              </a:rPr>
              <a:t>3</a:t>
            </a:r>
            <a:endParaRPr lang="en-US" sz="1200" dirty="0"/>
          </a:p>
        </p:txBody>
      </p:sp>
      <p:sp>
        <p:nvSpPr>
          <p:cNvPr id="24" name="Text 22"/>
          <p:cNvSpPr/>
          <p:nvPr/>
        </p:nvSpPr>
        <p:spPr>
          <a:xfrm>
            <a:off x="6272784" y="4005072"/>
            <a:ext cx="2423160" cy="566928"/>
          </a:xfrm>
          <a:prstGeom prst="rect">
            <a:avLst/>
          </a:prstGeom>
          <a:noFill/>
          <a:ln/>
        </p:spPr>
        <p:txBody>
          <a:bodyPr wrap="square" rtlCol="0" anchor="ctr"/>
          <a:lstStyle/>
          <a:p>
            <a:pPr algn="ctr" indent="0" marL="0">
              <a:lnSpc>
                <a:spcPct val="112000"/>
              </a:lnSpc>
              <a:buNone/>
            </a:pPr>
            <a:r>
              <a:rPr lang="en-US" sz="1100" b="1" dirty="0">
                <a:solidFill>
                  <a:srgbClr val="F8F9FA"/>
                </a:solidFill>
                <a:latin typeface="Arial" pitchFamily="34" charset="0"/>
                <a:ea typeface="Arial" pitchFamily="34" charset="-122"/>
                <a:cs typeface="Arial" pitchFamily="34" charset="-120"/>
              </a:rPr>
              <a:t>SCIDIP Seed Ecosystem</a:t>
            </a:r>
            <a:endParaRPr lang="en-US" sz="1100" dirty="0"/>
          </a:p>
        </p:txBody>
      </p:sp>
      <p:sp>
        <p:nvSpPr>
          <p:cNvPr id="25" name="Text 23"/>
          <p:cNvSpPr/>
          <p:nvPr/>
        </p:nvSpPr>
        <p:spPr>
          <a:xfrm>
            <a:off x="6300216" y="4663440"/>
            <a:ext cx="2368296" cy="1417320"/>
          </a:xfrm>
          <a:prstGeom prst="rect">
            <a:avLst/>
          </a:prstGeom>
          <a:noFill/>
          <a:ln/>
        </p:spPr>
        <p:txBody>
          <a:bodyPr wrap="square" rtlCol="0" anchor="t"/>
          <a:lstStyle/>
          <a:p>
            <a:pPr algn="l" indent="0" marL="0">
              <a:lnSpc>
                <a:spcPct val="124000"/>
              </a:lnSpc>
              <a:buNone/>
            </a:pPr>
            <a:r>
              <a:rPr lang="en-US" sz="930" dirty="0">
                <a:solidFill>
                  <a:srgbClr val="AAB6CC"/>
                </a:solidFill>
                <a:latin typeface="Calibri" pitchFamily="34" charset="0"/>
                <a:ea typeface="Calibri" pitchFamily="34" charset="-122"/>
                <a:cs typeface="Calibri" pitchFamily="34" charset="-120"/>
              </a:rPr>
              <a:t>Integration into the SCIDIP funding and incubation framework to finance raw material atomization and multi-hopper 3D printing of the physical prototypes.</a:t>
            </a:r>
            <a:endParaRPr lang="en-US" sz="930" dirty="0"/>
          </a:p>
        </p:txBody>
      </p:sp>
      <p:sp>
        <p:nvSpPr>
          <p:cNvPr id="26" name="Shape 24"/>
          <p:cNvSpPr/>
          <p:nvPr/>
        </p:nvSpPr>
        <p:spPr>
          <a:xfrm>
            <a:off x="8951976" y="3291840"/>
            <a:ext cx="2697480" cy="2880360"/>
          </a:xfrm>
          <a:prstGeom prst="roundRect">
            <a:avLst>
              <a:gd name="adj" fmla="val 4746"/>
            </a:avLst>
          </a:prstGeom>
          <a:solidFill>
            <a:srgbClr val="0B132B"/>
          </a:solidFill>
          <a:ln w="9525">
            <a:solidFill>
              <a:srgbClr val="2A3B63"/>
            </a:solidFill>
            <a:prstDash val="solid"/>
          </a:ln>
          <a:effectLst>
            <a:outerShdw sx="100000" sy="100000" kx="0" ky="0" algn="bl" rotWithShape="0" blurRad="127000" dist="38100" dir="5400000">
              <a:srgbClr val="1A2138">
                <a:alpha val="28000"/>
              </a:srgbClr>
            </a:outerShdw>
          </a:effectLst>
        </p:spPr>
      </p:sp>
      <p:sp>
        <p:nvSpPr>
          <p:cNvPr id="27" name="Shape 25"/>
          <p:cNvSpPr/>
          <p:nvPr/>
        </p:nvSpPr>
        <p:spPr>
          <a:xfrm>
            <a:off x="10117836" y="3493008"/>
            <a:ext cx="365760" cy="365760"/>
          </a:xfrm>
          <a:prstGeom prst="roundRect">
            <a:avLst>
              <a:gd name="adj" fmla="val 15000"/>
            </a:avLst>
          </a:prstGeom>
          <a:solidFill>
            <a:srgbClr val="F8F9FA"/>
          </a:solidFill>
          <a:ln/>
        </p:spPr>
      </p:sp>
      <p:sp>
        <p:nvSpPr>
          <p:cNvPr id="28" name="Text 26"/>
          <p:cNvSpPr/>
          <p:nvPr/>
        </p:nvSpPr>
        <p:spPr>
          <a:xfrm>
            <a:off x="10117836" y="3493008"/>
            <a:ext cx="365760" cy="365760"/>
          </a:xfrm>
          <a:prstGeom prst="rect">
            <a:avLst/>
          </a:prstGeom>
          <a:noFill/>
          <a:ln/>
        </p:spPr>
        <p:txBody>
          <a:bodyPr wrap="square" rtlCol="0" anchor="ctr"/>
          <a:lstStyle/>
          <a:p>
            <a:pPr algn="ctr" indent="0" marL="0">
              <a:buNone/>
            </a:pPr>
            <a:r>
              <a:rPr lang="en-US" sz="1200" b="1" dirty="0">
                <a:solidFill>
                  <a:srgbClr val="0B132B"/>
                </a:solidFill>
                <a:latin typeface="Arial" pitchFamily="34" charset="0"/>
                <a:ea typeface="Arial" pitchFamily="34" charset="-122"/>
                <a:cs typeface="Arial" pitchFamily="34" charset="-120"/>
              </a:rPr>
              <a:t>4</a:t>
            </a:r>
            <a:endParaRPr lang="en-US" sz="1200" dirty="0"/>
          </a:p>
        </p:txBody>
      </p:sp>
      <p:sp>
        <p:nvSpPr>
          <p:cNvPr id="29" name="Text 27"/>
          <p:cNvSpPr/>
          <p:nvPr/>
        </p:nvSpPr>
        <p:spPr>
          <a:xfrm>
            <a:off x="9089136" y="4005072"/>
            <a:ext cx="2423160" cy="566928"/>
          </a:xfrm>
          <a:prstGeom prst="rect">
            <a:avLst/>
          </a:prstGeom>
          <a:noFill/>
          <a:ln/>
        </p:spPr>
        <p:txBody>
          <a:bodyPr wrap="square" rtlCol="0" anchor="ctr"/>
          <a:lstStyle/>
          <a:p>
            <a:pPr algn="ctr" indent="0" marL="0">
              <a:lnSpc>
                <a:spcPct val="112000"/>
              </a:lnSpc>
              <a:buNone/>
            </a:pPr>
            <a:r>
              <a:rPr lang="en-US" sz="1100" b="1" dirty="0">
                <a:solidFill>
                  <a:srgbClr val="F8F9FA"/>
                </a:solidFill>
                <a:latin typeface="Arial" pitchFamily="34" charset="0"/>
                <a:ea typeface="Arial" pitchFamily="34" charset="-122"/>
                <a:cs typeface="Arial" pitchFamily="34" charset="-120"/>
              </a:rPr>
              <a:t>Corporate Market Connect</a:t>
            </a:r>
            <a:endParaRPr lang="en-US" sz="1100" dirty="0"/>
          </a:p>
        </p:txBody>
      </p:sp>
      <p:sp>
        <p:nvSpPr>
          <p:cNvPr id="30" name="Text 28"/>
          <p:cNvSpPr/>
          <p:nvPr/>
        </p:nvSpPr>
        <p:spPr>
          <a:xfrm>
            <a:off x="9116568" y="4663440"/>
            <a:ext cx="2368296" cy="1417320"/>
          </a:xfrm>
          <a:prstGeom prst="rect">
            <a:avLst/>
          </a:prstGeom>
          <a:noFill/>
          <a:ln/>
        </p:spPr>
        <p:txBody>
          <a:bodyPr wrap="square" rtlCol="0" anchor="t"/>
          <a:lstStyle/>
          <a:p>
            <a:pPr algn="l" indent="0" marL="0">
              <a:lnSpc>
                <a:spcPct val="124000"/>
              </a:lnSpc>
              <a:buNone/>
            </a:pPr>
            <a:r>
              <a:rPr lang="en-US" sz="930" dirty="0">
                <a:solidFill>
                  <a:srgbClr val="AAB6CC"/>
                </a:solidFill>
                <a:latin typeface="Calibri" pitchFamily="34" charset="0"/>
                <a:ea typeface="Calibri" pitchFamily="34" charset="-122"/>
                <a:cs typeface="Calibri" pitchFamily="34" charset="-120"/>
              </a:rPr>
              <a:t>Joint integration of the physical prototypes into Sona Comstar's downstream EV supply chain.</a:t>
            </a:r>
            <a:endParaRPr lang="en-US" sz="93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9125712" y="274320"/>
            <a:ext cx="2560320" cy="219456"/>
          </a:xfrm>
          <a:prstGeom prst="rect">
            <a:avLst/>
          </a:prstGeom>
          <a:noFill/>
          <a:ln/>
        </p:spPr>
        <p:txBody>
          <a:bodyPr wrap="square" rtlCol="0" anchor="ctr"/>
          <a:lstStyle/>
          <a:p>
            <a:pPr algn="r" indent="0" marL="0">
              <a:buNone/>
            </a:pPr>
            <a:r>
              <a:rPr lang="en-US" sz="950" b="1" spc="140" kern="0" dirty="0">
                <a:solidFill>
                  <a:srgbClr val="0B132B"/>
                </a:solidFill>
                <a:latin typeface="Arial" pitchFamily="34" charset="0"/>
                <a:ea typeface="Arial" pitchFamily="34" charset="-122"/>
                <a:cs typeface="Arial" pitchFamily="34" charset="-120"/>
              </a:rPr>
              <a:t>CRYSTAL </a:t>
            </a:r>
            <a:pPr algn="r" indent="0" marL="0">
              <a:buNone/>
            </a:pPr>
            <a:r>
              <a:rPr lang="en-US" sz="950" b="1" spc="140" kern="0" dirty="0">
                <a:solidFill>
                  <a:srgbClr val="0E7C86"/>
                </a:solidFill>
                <a:latin typeface="Arial" pitchFamily="34" charset="0"/>
                <a:ea typeface="Arial" pitchFamily="34" charset="-122"/>
                <a:cs typeface="Arial" pitchFamily="34" charset="-120"/>
              </a:rPr>
              <a:t>PARADIGM</a:t>
            </a:r>
            <a:endParaRPr lang="en-US" sz="950" dirty="0"/>
          </a:p>
        </p:txBody>
      </p:sp>
      <p:sp>
        <p:nvSpPr>
          <p:cNvPr id="3" name="Text 1"/>
          <p:cNvSpPr/>
          <p:nvPr/>
        </p:nvSpPr>
        <p:spPr>
          <a:xfrm>
            <a:off x="11384280" y="6510528"/>
            <a:ext cx="594360" cy="256032"/>
          </a:xfrm>
          <a:prstGeom prst="rect">
            <a:avLst/>
          </a:prstGeom>
          <a:noFill/>
          <a:ln/>
        </p:spPr>
        <p:txBody>
          <a:bodyPr wrap="square" rtlCol="0" anchor="ctr"/>
          <a:lstStyle/>
          <a:p>
            <a:pPr algn="r" indent="0" marL="0">
              <a:buNone/>
            </a:pPr>
            <a:r>
              <a:rPr lang="en-US" sz="850" dirty="0">
                <a:solidFill>
                  <a:srgbClr val="5B6B8C"/>
                </a:solidFill>
                <a:latin typeface="Calibri" pitchFamily="34" charset="0"/>
                <a:ea typeface="Calibri" pitchFamily="34" charset="-122"/>
                <a:cs typeface="Calibri" pitchFamily="34" charset="-120"/>
              </a:rPr>
              <a:t>15 / 18</a:t>
            </a:r>
            <a:endParaRPr lang="en-US" sz="850" dirty="0"/>
          </a:p>
        </p:txBody>
      </p:sp>
      <p:sp>
        <p:nvSpPr>
          <p:cNvPr id="4" name="Text 2"/>
          <p:cNvSpPr/>
          <p:nvPr/>
        </p:nvSpPr>
        <p:spPr>
          <a:xfrm>
            <a:off x="502920" y="384048"/>
            <a:ext cx="5486400" cy="274320"/>
          </a:xfrm>
          <a:prstGeom prst="rect">
            <a:avLst/>
          </a:prstGeom>
          <a:noFill/>
          <a:ln/>
        </p:spPr>
        <p:txBody>
          <a:bodyPr wrap="square" rtlCol="0" anchor="ctr"/>
          <a:lstStyle/>
          <a:p>
            <a:pPr algn="l" indent="0" marL="0">
              <a:buNone/>
            </a:pPr>
            <a:r>
              <a:rPr lang="en-US" sz="1050" b="1" spc="220" kern="0" dirty="0">
                <a:solidFill>
                  <a:srgbClr val="0E7C86"/>
                </a:solidFill>
                <a:latin typeface="Arial" pitchFamily="34" charset="0"/>
                <a:ea typeface="Arial" pitchFamily="34" charset="-122"/>
                <a:cs typeface="Arial" pitchFamily="34" charset="-120"/>
              </a:rPr>
              <a:t>EXECUTION ROADMAP</a:t>
            </a:r>
            <a:endParaRPr lang="en-US" sz="1050" dirty="0"/>
          </a:p>
        </p:txBody>
      </p:sp>
      <p:sp>
        <p:nvSpPr>
          <p:cNvPr id="5" name="Text 3"/>
          <p:cNvSpPr/>
          <p:nvPr/>
        </p:nvSpPr>
        <p:spPr>
          <a:xfrm>
            <a:off x="502920" y="658368"/>
            <a:ext cx="11183112" cy="457200"/>
          </a:xfrm>
          <a:prstGeom prst="rect">
            <a:avLst/>
          </a:prstGeom>
          <a:noFill/>
          <a:ln/>
        </p:spPr>
        <p:txBody>
          <a:bodyPr wrap="square" rtlCol="0" anchor="ctr"/>
          <a:lstStyle/>
          <a:p>
            <a:pPr algn="l" indent="0" marL="0">
              <a:lnSpc>
                <a:spcPct val="108000"/>
              </a:lnSpc>
              <a:buNone/>
            </a:pPr>
            <a:r>
              <a:rPr lang="en-US" sz="2300" b="1" spc="20" kern="0" dirty="0">
                <a:solidFill>
                  <a:srgbClr val="0B132B"/>
                </a:solidFill>
                <a:latin typeface="Arial" pitchFamily="34" charset="0"/>
                <a:ea typeface="Arial" pitchFamily="34" charset="-122"/>
                <a:cs typeface="Arial" pitchFamily="34" charset="-120"/>
              </a:rPr>
              <a:t>THE 24-MONTH INCUBATION ROADMAP</a:t>
            </a:r>
            <a:endParaRPr lang="en-US" sz="2300" dirty="0"/>
          </a:p>
        </p:txBody>
      </p:sp>
      <p:sp>
        <p:nvSpPr>
          <p:cNvPr id="6" name="Text 4"/>
          <p:cNvSpPr/>
          <p:nvPr/>
        </p:nvSpPr>
        <p:spPr>
          <a:xfrm>
            <a:off x="502920" y="1097280"/>
            <a:ext cx="11183112" cy="292608"/>
          </a:xfrm>
          <a:prstGeom prst="rect">
            <a:avLst/>
          </a:prstGeom>
          <a:noFill/>
          <a:ln/>
        </p:spPr>
        <p:txBody>
          <a:bodyPr wrap="square" rtlCol="0" anchor="ctr"/>
          <a:lstStyle/>
          <a:p>
            <a:pPr algn="l" indent="0" marL="0">
              <a:buNone/>
            </a:pPr>
            <a:r>
              <a:rPr lang="en-US" sz="1300" b="1" dirty="0">
                <a:solidFill>
                  <a:srgbClr val="0E7C86"/>
                </a:solidFill>
                <a:latin typeface="Arial" pitchFamily="34" charset="0"/>
                <a:ea typeface="Arial" pitchFamily="34" charset="-122"/>
                <a:cs typeface="Arial" pitchFamily="34" charset="-120"/>
              </a:rPr>
              <a:t>From Computational Validation to Sona Comstar Integration</a:t>
            </a:r>
            <a:endParaRPr lang="en-US" sz="1300" dirty="0"/>
          </a:p>
        </p:txBody>
      </p:sp>
      <p:sp>
        <p:nvSpPr>
          <p:cNvPr id="7" name="Text 5"/>
          <p:cNvSpPr/>
          <p:nvPr/>
        </p:nvSpPr>
        <p:spPr>
          <a:xfrm>
            <a:off x="502920" y="1444752"/>
            <a:ext cx="11183112" cy="365760"/>
          </a:xfrm>
          <a:prstGeom prst="rect">
            <a:avLst/>
          </a:prstGeom>
          <a:noFill/>
          <a:ln/>
        </p:spPr>
        <p:txBody>
          <a:bodyPr wrap="square" rtlCol="0" anchor="ctr"/>
          <a:lstStyle/>
          <a:p>
            <a:pPr algn="l" indent="0" marL="0">
              <a:lnSpc>
                <a:spcPct val="124000"/>
              </a:lnSpc>
              <a:buNone/>
            </a:pPr>
            <a:r>
              <a:rPr lang="en-US" sz="1250" dirty="0">
                <a:solidFill>
                  <a:srgbClr val="5B6B8C"/>
                </a:solidFill>
                <a:latin typeface="Calibri" pitchFamily="34" charset="0"/>
                <a:ea typeface="Calibri" pitchFamily="34" charset="-122"/>
                <a:cs typeface="Calibri" pitchFamily="34" charset="-120"/>
              </a:rPr>
              <a:t>Our execution strategy is strictly mapped to the 24-month SCIDIP incubation cycle at </a:t>
            </a:r>
            <a:pPr algn="l" indent="0" marL="0">
              <a:lnSpc>
                <a:spcPct val="124000"/>
              </a:lnSpc>
              <a:buNone/>
            </a:pPr>
            <a:r>
              <a:rPr lang="en-US" sz="1250" b="1" dirty="0">
                <a:solidFill>
                  <a:srgbClr val="0E7C86"/>
                </a:solidFill>
                <a:latin typeface="Calibri" pitchFamily="34" charset="0"/>
                <a:ea typeface="Calibri" pitchFamily="34" charset="-122"/>
                <a:cs typeface="Calibri" pitchFamily="34" charset="-120"/>
              </a:rPr>
              <a:t>Atal Incubation Centre (AIC)</a:t>
            </a:r>
            <a:pPr algn="l" indent="0" marL="0">
              <a:lnSpc>
                <a:spcPct val="124000"/>
              </a:lnSpc>
              <a:buNone/>
            </a:pPr>
            <a:r>
              <a:rPr lang="en-US" sz="1250" dirty="0">
                <a:solidFill>
                  <a:srgbClr val="5B6B8C"/>
                </a:solidFill>
                <a:latin typeface="Calibri" pitchFamily="34" charset="0"/>
                <a:ea typeface="Calibri" pitchFamily="34" charset="-122"/>
                <a:cs typeface="Calibri" pitchFamily="34" charset="-120"/>
              </a:rPr>
              <a:t>.</a:t>
            </a:r>
            <a:endParaRPr lang="en-US" sz="1250" dirty="0"/>
          </a:p>
        </p:txBody>
      </p:sp>
      <p:sp>
        <p:nvSpPr>
          <p:cNvPr id="8" name="Shape 6"/>
          <p:cNvSpPr/>
          <p:nvPr/>
        </p:nvSpPr>
        <p:spPr>
          <a:xfrm>
            <a:off x="502920" y="1965960"/>
            <a:ext cx="11183112" cy="914400"/>
          </a:xfrm>
          <a:prstGeom prst="roundRect">
            <a:avLst>
              <a:gd name="adj" fmla="val 14000"/>
            </a:avLst>
          </a:prstGeom>
          <a:solidFill>
            <a:srgbClr val="EEF1F5"/>
          </a:solidFill>
          <a:ln w="15875">
            <a:solidFill>
              <a:srgbClr val="0B132B"/>
            </a:solidFill>
            <a:prstDash val="dash"/>
          </a:ln>
        </p:spPr>
      </p:sp>
      <p:sp>
        <p:nvSpPr>
          <p:cNvPr id="9" name="Text 7"/>
          <p:cNvSpPr/>
          <p:nvPr/>
        </p:nvSpPr>
        <p:spPr>
          <a:xfrm>
            <a:off x="731520" y="2130552"/>
            <a:ext cx="10725912" cy="237744"/>
          </a:xfrm>
          <a:prstGeom prst="rect">
            <a:avLst/>
          </a:prstGeom>
          <a:noFill/>
          <a:ln/>
        </p:spPr>
        <p:txBody>
          <a:bodyPr wrap="square" rtlCol="0" anchor="ctr"/>
          <a:lstStyle/>
          <a:p>
            <a:pPr indent="0" marL="0">
              <a:buNone/>
            </a:pPr>
            <a:r>
              <a:rPr lang="en-US" sz="900" b="1" spc="180" kern="0" dirty="0">
                <a:solidFill>
                  <a:srgbClr val="7C879C"/>
                </a:solidFill>
                <a:latin typeface="Arial" pitchFamily="34" charset="0"/>
                <a:ea typeface="Arial" pitchFamily="34" charset="-122"/>
                <a:cs typeface="Arial" pitchFamily="34" charset="-120"/>
              </a:rPr>
              <a:t>VISUAL PLACEHOLDER</a:t>
            </a:r>
            <a:endParaRPr lang="en-US" sz="900" dirty="0"/>
          </a:p>
        </p:txBody>
      </p:sp>
      <p:sp>
        <p:nvSpPr>
          <p:cNvPr id="10" name="Text 8"/>
          <p:cNvSpPr/>
          <p:nvPr/>
        </p:nvSpPr>
        <p:spPr>
          <a:xfrm>
            <a:off x="822960" y="2423160"/>
            <a:ext cx="10543032" cy="228600"/>
          </a:xfrm>
          <a:prstGeom prst="rect">
            <a:avLst/>
          </a:prstGeom>
          <a:noFill/>
          <a:ln/>
        </p:spPr>
        <p:txBody>
          <a:bodyPr wrap="square" rtlCol="0" anchor="ctr"/>
          <a:lstStyle/>
          <a:p>
            <a:pPr algn="ctr" indent="0" marL="0">
              <a:lnSpc>
                <a:spcPct val="125000"/>
              </a:lnSpc>
              <a:buNone/>
            </a:pPr>
            <a:r>
              <a:rPr lang="en-US" sz="1100" i="1" dirty="0">
                <a:solidFill>
                  <a:srgbClr val="7C879C"/>
                </a:solidFill>
                <a:latin typeface="Calibri" pitchFamily="34" charset="0"/>
                <a:ea typeface="Calibri" pitchFamily="34" charset="-122"/>
                <a:cs typeface="Calibri" pitchFamily="34" charset="-120"/>
              </a:rPr>
              <a:t>INSERT VISUALIZATION: Gantt-style timeline graphic — arrow moving left to right across 24 months, punctuated by milestone nodes M1 to M4</a:t>
            </a:r>
            <a:endParaRPr lang="en-US" sz="1100" dirty="0"/>
          </a:p>
        </p:txBody>
      </p:sp>
      <p:sp>
        <p:nvSpPr>
          <p:cNvPr id="11" name="Shape 9"/>
          <p:cNvSpPr/>
          <p:nvPr/>
        </p:nvSpPr>
        <p:spPr>
          <a:xfrm>
            <a:off x="502920" y="3017520"/>
            <a:ext cx="2697480" cy="3063240"/>
          </a:xfrm>
          <a:prstGeom prst="roundRect">
            <a:avLst>
              <a:gd name="adj" fmla="val 4746"/>
            </a:avLst>
          </a:prstGeom>
          <a:solidFill>
            <a:srgbClr val="0B132B"/>
          </a:solidFill>
          <a:ln w="9525">
            <a:solidFill>
              <a:srgbClr val="2A3B63"/>
            </a:solidFill>
            <a:prstDash val="solid"/>
          </a:ln>
          <a:effectLst>
            <a:outerShdw sx="100000" sy="100000" kx="0" ky="0" algn="bl" rotWithShape="0" blurRad="127000" dist="38100" dir="5400000">
              <a:srgbClr val="1A2138">
                <a:alpha val="28000"/>
              </a:srgbClr>
            </a:outerShdw>
          </a:effectLst>
        </p:spPr>
      </p:sp>
      <p:sp>
        <p:nvSpPr>
          <p:cNvPr id="12" name="Shape 10"/>
          <p:cNvSpPr/>
          <p:nvPr/>
        </p:nvSpPr>
        <p:spPr>
          <a:xfrm>
            <a:off x="685800" y="3200400"/>
            <a:ext cx="384048" cy="384048"/>
          </a:xfrm>
          <a:prstGeom prst="roundRect">
            <a:avLst>
              <a:gd name="adj" fmla="val 14286"/>
            </a:avLst>
          </a:prstGeom>
          <a:solidFill>
            <a:srgbClr val="F8F9FA"/>
          </a:solidFill>
          <a:ln/>
        </p:spPr>
      </p:sp>
      <p:sp>
        <p:nvSpPr>
          <p:cNvPr id="13" name="Text 11"/>
          <p:cNvSpPr/>
          <p:nvPr/>
        </p:nvSpPr>
        <p:spPr>
          <a:xfrm>
            <a:off x="685800" y="3200400"/>
            <a:ext cx="384048" cy="384048"/>
          </a:xfrm>
          <a:prstGeom prst="rect">
            <a:avLst/>
          </a:prstGeom>
          <a:noFill/>
          <a:ln/>
        </p:spPr>
        <p:txBody>
          <a:bodyPr wrap="square" rtlCol="0" anchor="ctr"/>
          <a:lstStyle/>
          <a:p>
            <a:pPr algn="ctr" indent="0" marL="0">
              <a:buNone/>
            </a:pPr>
            <a:r>
              <a:rPr lang="en-US" sz="1200" b="1" dirty="0">
                <a:solidFill>
                  <a:srgbClr val="0B132B"/>
                </a:solidFill>
                <a:latin typeface="Arial" pitchFamily="34" charset="0"/>
                <a:ea typeface="Arial" pitchFamily="34" charset="-122"/>
                <a:cs typeface="Arial" pitchFamily="34" charset="-120"/>
              </a:rPr>
              <a:t>M1</a:t>
            </a:r>
            <a:endParaRPr lang="en-US" sz="1200" dirty="0"/>
          </a:p>
        </p:txBody>
      </p:sp>
      <p:sp>
        <p:nvSpPr>
          <p:cNvPr id="14" name="Text 12"/>
          <p:cNvSpPr/>
          <p:nvPr/>
        </p:nvSpPr>
        <p:spPr>
          <a:xfrm>
            <a:off x="1161288" y="3236976"/>
            <a:ext cx="1874520" cy="219456"/>
          </a:xfrm>
          <a:prstGeom prst="rect">
            <a:avLst/>
          </a:prstGeom>
          <a:noFill/>
          <a:ln/>
        </p:spPr>
        <p:txBody>
          <a:bodyPr wrap="square" rtlCol="0" anchor="ctr"/>
          <a:lstStyle/>
          <a:p>
            <a:pPr indent="0" marL="0">
              <a:buNone/>
            </a:pPr>
            <a:r>
              <a:rPr lang="en-US" sz="850" b="1" spc="50" kern="0" dirty="0">
                <a:solidFill>
                  <a:srgbClr val="4FD1C5"/>
                </a:solidFill>
                <a:latin typeface="Arial" pitchFamily="34" charset="0"/>
                <a:ea typeface="Arial" pitchFamily="34" charset="-122"/>
                <a:cs typeface="Arial" pitchFamily="34" charset="-120"/>
              </a:rPr>
              <a:t>MONTHS 1–6</a:t>
            </a:r>
            <a:endParaRPr lang="en-US" sz="850" dirty="0"/>
          </a:p>
        </p:txBody>
      </p:sp>
      <p:sp>
        <p:nvSpPr>
          <p:cNvPr id="15" name="Text 13"/>
          <p:cNvSpPr/>
          <p:nvPr/>
        </p:nvSpPr>
        <p:spPr>
          <a:xfrm>
            <a:off x="685800" y="3639312"/>
            <a:ext cx="2331720" cy="457200"/>
          </a:xfrm>
          <a:prstGeom prst="rect">
            <a:avLst/>
          </a:prstGeom>
          <a:noFill/>
          <a:ln/>
        </p:spPr>
        <p:txBody>
          <a:bodyPr wrap="square" rtlCol="0" anchor="ctr"/>
          <a:lstStyle/>
          <a:p>
            <a:pPr indent="0" marL="0">
              <a:lnSpc>
                <a:spcPct val="110000"/>
              </a:lnSpc>
              <a:buNone/>
            </a:pPr>
            <a:r>
              <a:rPr lang="en-US" sz="1200" b="1" dirty="0">
                <a:solidFill>
                  <a:srgbClr val="F8F9FA"/>
                </a:solidFill>
                <a:latin typeface="Arial" pitchFamily="34" charset="0"/>
                <a:ea typeface="Arial" pitchFamily="34" charset="-122"/>
                <a:cs typeface="Arial" pitchFamily="34" charset="-120"/>
              </a:rPr>
              <a:t>Powder Synthesis</a:t>
            </a:r>
            <a:endParaRPr lang="en-US" sz="1200" dirty="0"/>
          </a:p>
        </p:txBody>
      </p:sp>
      <p:sp>
        <p:nvSpPr>
          <p:cNvPr id="16" name="Text 14"/>
          <p:cNvSpPr/>
          <p:nvPr/>
        </p:nvSpPr>
        <p:spPr>
          <a:xfrm>
            <a:off x="685800" y="4160520"/>
            <a:ext cx="2331720" cy="1783080"/>
          </a:xfrm>
          <a:prstGeom prst="rect">
            <a:avLst/>
          </a:prstGeom>
          <a:noFill/>
          <a:ln/>
        </p:spPr>
        <p:txBody>
          <a:bodyPr wrap="square" rtlCol="0" anchor="t"/>
          <a:lstStyle/>
          <a:p>
            <a:pPr algn="l" indent="0" marL="0">
              <a:lnSpc>
                <a:spcPct val="124000"/>
              </a:lnSpc>
              <a:buNone/>
            </a:pPr>
            <a:r>
              <a:rPr lang="en-US" sz="930" dirty="0">
                <a:solidFill>
                  <a:srgbClr val="AAB6CC"/>
                </a:solidFill>
                <a:latin typeface="Calibri" pitchFamily="34" charset="0"/>
                <a:ea typeface="Calibri" pitchFamily="34" charset="-122"/>
                <a:cs typeface="Calibri" pitchFamily="34" charset="-120"/>
              </a:rPr>
              <a:t>Procure raw metal powders (</a:t>
            </a:r>
            <a:pPr algn="l" indent="0" marL="0">
              <a:lnSpc>
                <a:spcPct val="124000"/>
              </a:lnSpc>
              <a:buNone/>
            </a:pPr>
            <a:r>
              <a:rPr lang="en-US" sz="930" b="1" dirty="0">
                <a:solidFill>
                  <a:srgbClr val="4FD1C5"/>
                </a:solidFill>
                <a:latin typeface="Calibri" pitchFamily="34" charset="0"/>
                <a:ea typeface="Calibri" pitchFamily="34" charset="-122"/>
                <a:cs typeface="Calibri" pitchFamily="34" charset="-120"/>
              </a:rPr>
              <a:t>Ta, W, Cr, V, Ti, Zr, Hf, Al</a:t>
            </a:r>
            <a:pPr algn="l" indent="0" marL="0">
              <a:lnSpc>
                <a:spcPct val="124000"/>
              </a:lnSpc>
              <a:buNone/>
            </a:pPr>
            <a:r>
              <a:rPr lang="en-US" sz="930" dirty="0">
                <a:solidFill>
                  <a:srgbClr val="AAB6CC"/>
                </a:solidFill>
                <a:latin typeface="Calibri" pitchFamily="34" charset="0"/>
                <a:ea typeface="Calibri" pitchFamily="34" charset="-122"/>
                <a:cs typeface="Calibri" pitchFamily="34" charset="-120"/>
              </a:rPr>
              <a:t>) and utilize IIT Delhi labs to verify composition purity and atomization quality.</a:t>
            </a:r>
            <a:endParaRPr lang="en-US" sz="930" dirty="0"/>
          </a:p>
        </p:txBody>
      </p:sp>
      <p:sp>
        <p:nvSpPr>
          <p:cNvPr id="17" name="Shape 15"/>
          <p:cNvSpPr/>
          <p:nvPr/>
        </p:nvSpPr>
        <p:spPr>
          <a:xfrm>
            <a:off x="3319272" y="3017520"/>
            <a:ext cx="2697480" cy="3063240"/>
          </a:xfrm>
          <a:prstGeom prst="roundRect">
            <a:avLst>
              <a:gd name="adj" fmla="val 4746"/>
            </a:avLst>
          </a:prstGeom>
          <a:solidFill>
            <a:srgbClr val="0B132B"/>
          </a:solidFill>
          <a:ln w="9525">
            <a:solidFill>
              <a:srgbClr val="2A3B63"/>
            </a:solidFill>
            <a:prstDash val="solid"/>
          </a:ln>
          <a:effectLst>
            <a:outerShdw sx="100000" sy="100000" kx="0" ky="0" algn="bl" rotWithShape="0" blurRad="127000" dist="38100" dir="5400000">
              <a:srgbClr val="1A2138">
                <a:alpha val="28000"/>
              </a:srgbClr>
            </a:outerShdw>
          </a:effectLst>
        </p:spPr>
      </p:sp>
      <p:sp>
        <p:nvSpPr>
          <p:cNvPr id="18" name="Shape 16"/>
          <p:cNvSpPr/>
          <p:nvPr/>
        </p:nvSpPr>
        <p:spPr>
          <a:xfrm>
            <a:off x="3502152" y="3200400"/>
            <a:ext cx="384048" cy="384048"/>
          </a:xfrm>
          <a:prstGeom prst="roundRect">
            <a:avLst>
              <a:gd name="adj" fmla="val 14286"/>
            </a:avLst>
          </a:prstGeom>
          <a:solidFill>
            <a:srgbClr val="F8F9FA"/>
          </a:solidFill>
          <a:ln/>
        </p:spPr>
      </p:sp>
      <p:sp>
        <p:nvSpPr>
          <p:cNvPr id="19" name="Text 17"/>
          <p:cNvSpPr/>
          <p:nvPr/>
        </p:nvSpPr>
        <p:spPr>
          <a:xfrm>
            <a:off x="3502152" y="3200400"/>
            <a:ext cx="384048" cy="384048"/>
          </a:xfrm>
          <a:prstGeom prst="rect">
            <a:avLst/>
          </a:prstGeom>
          <a:noFill/>
          <a:ln/>
        </p:spPr>
        <p:txBody>
          <a:bodyPr wrap="square" rtlCol="0" anchor="ctr"/>
          <a:lstStyle/>
          <a:p>
            <a:pPr algn="ctr" indent="0" marL="0">
              <a:buNone/>
            </a:pPr>
            <a:r>
              <a:rPr lang="en-US" sz="1200" b="1" dirty="0">
                <a:solidFill>
                  <a:srgbClr val="0B132B"/>
                </a:solidFill>
                <a:latin typeface="Arial" pitchFamily="34" charset="0"/>
                <a:ea typeface="Arial" pitchFamily="34" charset="-122"/>
                <a:cs typeface="Arial" pitchFamily="34" charset="-120"/>
              </a:rPr>
              <a:t>M2</a:t>
            </a:r>
            <a:endParaRPr lang="en-US" sz="1200" dirty="0"/>
          </a:p>
        </p:txBody>
      </p:sp>
      <p:sp>
        <p:nvSpPr>
          <p:cNvPr id="20" name="Text 18"/>
          <p:cNvSpPr/>
          <p:nvPr/>
        </p:nvSpPr>
        <p:spPr>
          <a:xfrm>
            <a:off x="3977640" y="3236976"/>
            <a:ext cx="1874520" cy="219456"/>
          </a:xfrm>
          <a:prstGeom prst="rect">
            <a:avLst/>
          </a:prstGeom>
          <a:noFill/>
          <a:ln/>
        </p:spPr>
        <p:txBody>
          <a:bodyPr wrap="square" rtlCol="0" anchor="ctr"/>
          <a:lstStyle/>
          <a:p>
            <a:pPr indent="0" marL="0">
              <a:buNone/>
            </a:pPr>
            <a:r>
              <a:rPr lang="en-US" sz="850" b="1" spc="50" kern="0" dirty="0">
                <a:solidFill>
                  <a:srgbClr val="4FD1C5"/>
                </a:solidFill>
                <a:latin typeface="Arial" pitchFamily="34" charset="0"/>
                <a:ea typeface="Arial" pitchFamily="34" charset="-122"/>
                <a:cs typeface="Arial" pitchFamily="34" charset="-120"/>
              </a:rPr>
              <a:t>MONTHS 6–12</a:t>
            </a:r>
            <a:endParaRPr lang="en-US" sz="850" dirty="0"/>
          </a:p>
        </p:txBody>
      </p:sp>
      <p:sp>
        <p:nvSpPr>
          <p:cNvPr id="21" name="Text 19"/>
          <p:cNvSpPr/>
          <p:nvPr/>
        </p:nvSpPr>
        <p:spPr>
          <a:xfrm>
            <a:off x="3502152" y="3639312"/>
            <a:ext cx="2331720" cy="457200"/>
          </a:xfrm>
          <a:prstGeom prst="rect">
            <a:avLst/>
          </a:prstGeom>
          <a:noFill/>
          <a:ln/>
        </p:spPr>
        <p:txBody>
          <a:bodyPr wrap="square" rtlCol="0" anchor="ctr"/>
          <a:lstStyle/>
          <a:p>
            <a:pPr indent="0" marL="0">
              <a:lnSpc>
                <a:spcPct val="110000"/>
              </a:lnSpc>
              <a:buNone/>
            </a:pPr>
            <a:r>
              <a:rPr lang="en-US" sz="1200" b="1" dirty="0">
                <a:solidFill>
                  <a:srgbClr val="F8F9FA"/>
                </a:solidFill>
                <a:latin typeface="Arial" pitchFamily="34" charset="0"/>
                <a:ea typeface="Arial" pitchFamily="34" charset="-122"/>
                <a:cs typeface="Arial" pitchFamily="34" charset="-120"/>
              </a:rPr>
              <a:t>Additive Manufacturing</a:t>
            </a:r>
            <a:endParaRPr lang="en-US" sz="1200" dirty="0"/>
          </a:p>
        </p:txBody>
      </p:sp>
      <p:sp>
        <p:nvSpPr>
          <p:cNvPr id="22" name="Text 20"/>
          <p:cNvSpPr/>
          <p:nvPr/>
        </p:nvSpPr>
        <p:spPr>
          <a:xfrm>
            <a:off x="3502152" y="4160520"/>
            <a:ext cx="2331720" cy="1783080"/>
          </a:xfrm>
          <a:prstGeom prst="rect">
            <a:avLst/>
          </a:prstGeom>
          <a:noFill/>
          <a:ln/>
        </p:spPr>
        <p:txBody>
          <a:bodyPr wrap="square" rtlCol="0" anchor="t"/>
          <a:lstStyle/>
          <a:p>
            <a:pPr algn="l" indent="0" marL="0">
              <a:lnSpc>
                <a:spcPct val="124000"/>
              </a:lnSpc>
              <a:buNone/>
            </a:pPr>
            <a:r>
              <a:rPr lang="en-US" sz="930" dirty="0">
                <a:solidFill>
                  <a:srgbClr val="AAB6CC"/>
                </a:solidFill>
                <a:latin typeface="Calibri" pitchFamily="34" charset="0"/>
                <a:ea typeface="Calibri" pitchFamily="34" charset="-122"/>
                <a:cs typeface="Calibri" pitchFamily="34" charset="-120"/>
              </a:rPr>
              <a:t>Execute the 11-layer </a:t>
            </a:r>
            <a:pPr algn="l" indent="0" marL="0">
              <a:lnSpc>
                <a:spcPct val="124000"/>
              </a:lnSpc>
              <a:buNone/>
            </a:pPr>
            <a:r>
              <a:rPr lang="en-US" sz="930" dirty="0">
                <a:solidFill>
                  <a:srgbClr val="AAB6CC"/>
                </a:solidFill>
                <a:latin typeface="Courier New" pitchFamily="34" charset="0"/>
                <a:ea typeface="Courier New" pitchFamily="34" charset="-122"/>
                <a:cs typeface="Courier New" pitchFamily="34" charset="-120"/>
              </a:rPr>
              <a:t>manufacturing_recipe.csv</a:t>
            </a:r>
            <a:pPr algn="l" indent="0" marL="0">
              <a:lnSpc>
                <a:spcPct val="124000"/>
              </a:lnSpc>
              <a:buNone/>
            </a:pPr>
            <a:r>
              <a:rPr lang="en-US" sz="930" dirty="0">
                <a:solidFill>
                  <a:srgbClr val="AAB6CC"/>
                </a:solidFill>
                <a:latin typeface="Calibri" pitchFamily="34" charset="0"/>
                <a:ea typeface="Calibri" pitchFamily="34" charset="-122"/>
                <a:cs typeface="Calibri" pitchFamily="34" charset="-120"/>
              </a:rPr>
              <a:t> via </a:t>
            </a:r>
            <a:pPr algn="l" indent="0" marL="0">
              <a:lnSpc>
                <a:spcPct val="124000"/>
              </a:lnSpc>
              <a:buNone/>
            </a:pPr>
            <a:r>
              <a:rPr lang="en-US" sz="930" b="1" dirty="0">
                <a:solidFill>
                  <a:srgbClr val="4FD1C5"/>
                </a:solidFill>
                <a:latin typeface="Calibri" pitchFamily="34" charset="0"/>
                <a:ea typeface="Calibri" pitchFamily="34" charset="-122"/>
                <a:cs typeface="Calibri" pitchFamily="34" charset="-120"/>
              </a:rPr>
              <a:t>DED</a:t>
            </a:r>
            <a:pPr algn="l" indent="0" marL="0">
              <a:lnSpc>
                <a:spcPct val="124000"/>
              </a:lnSpc>
              <a:buNone/>
            </a:pPr>
            <a:r>
              <a:rPr lang="en-US" sz="930" dirty="0">
                <a:solidFill>
                  <a:srgbClr val="AAB6CC"/>
                </a:solidFill>
                <a:latin typeface="Calibri" pitchFamily="34" charset="0"/>
                <a:ea typeface="Calibri" pitchFamily="34" charset="-122"/>
                <a:cs typeface="Calibri" pitchFamily="34" charset="-120"/>
              </a:rPr>
              <a:t> (Directed Energy Deposition) to print physical witness coupons.</a:t>
            </a:r>
            <a:endParaRPr lang="en-US" sz="930" dirty="0"/>
          </a:p>
        </p:txBody>
      </p:sp>
      <p:sp>
        <p:nvSpPr>
          <p:cNvPr id="23" name="Shape 21"/>
          <p:cNvSpPr/>
          <p:nvPr/>
        </p:nvSpPr>
        <p:spPr>
          <a:xfrm>
            <a:off x="6135624" y="3017520"/>
            <a:ext cx="2697480" cy="3063240"/>
          </a:xfrm>
          <a:prstGeom prst="roundRect">
            <a:avLst>
              <a:gd name="adj" fmla="val 4746"/>
            </a:avLst>
          </a:prstGeom>
          <a:solidFill>
            <a:srgbClr val="0B132B"/>
          </a:solidFill>
          <a:ln w="9525">
            <a:solidFill>
              <a:srgbClr val="2A3B63"/>
            </a:solidFill>
            <a:prstDash val="solid"/>
          </a:ln>
          <a:effectLst>
            <a:outerShdw sx="100000" sy="100000" kx="0" ky="0" algn="bl" rotWithShape="0" blurRad="127000" dist="38100" dir="5400000">
              <a:srgbClr val="1A2138">
                <a:alpha val="28000"/>
              </a:srgbClr>
            </a:outerShdw>
          </a:effectLst>
        </p:spPr>
      </p:sp>
      <p:sp>
        <p:nvSpPr>
          <p:cNvPr id="24" name="Shape 22"/>
          <p:cNvSpPr/>
          <p:nvPr/>
        </p:nvSpPr>
        <p:spPr>
          <a:xfrm>
            <a:off x="6318504" y="3200400"/>
            <a:ext cx="384048" cy="384048"/>
          </a:xfrm>
          <a:prstGeom prst="roundRect">
            <a:avLst>
              <a:gd name="adj" fmla="val 14286"/>
            </a:avLst>
          </a:prstGeom>
          <a:solidFill>
            <a:srgbClr val="F8F9FA"/>
          </a:solidFill>
          <a:ln/>
        </p:spPr>
      </p:sp>
      <p:sp>
        <p:nvSpPr>
          <p:cNvPr id="25" name="Text 23"/>
          <p:cNvSpPr/>
          <p:nvPr/>
        </p:nvSpPr>
        <p:spPr>
          <a:xfrm>
            <a:off x="6318504" y="3200400"/>
            <a:ext cx="384048" cy="384048"/>
          </a:xfrm>
          <a:prstGeom prst="rect">
            <a:avLst/>
          </a:prstGeom>
          <a:noFill/>
          <a:ln/>
        </p:spPr>
        <p:txBody>
          <a:bodyPr wrap="square" rtlCol="0" anchor="ctr"/>
          <a:lstStyle/>
          <a:p>
            <a:pPr algn="ctr" indent="0" marL="0">
              <a:buNone/>
            </a:pPr>
            <a:r>
              <a:rPr lang="en-US" sz="1200" b="1" dirty="0">
                <a:solidFill>
                  <a:srgbClr val="0B132B"/>
                </a:solidFill>
                <a:latin typeface="Arial" pitchFamily="34" charset="0"/>
                <a:ea typeface="Arial" pitchFamily="34" charset="-122"/>
                <a:cs typeface="Arial" pitchFamily="34" charset="-120"/>
              </a:rPr>
              <a:t>M3</a:t>
            </a:r>
            <a:endParaRPr lang="en-US" sz="1200" dirty="0"/>
          </a:p>
        </p:txBody>
      </p:sp>
      <p:sp>
        <p:nvSpPr>
          <p:cNvPr id="26" name="Text 24"/>
          <p:cNvSpPr/>
          <p:nvPr/>
        </p:nvSpPr>
        <p:spPr>
          <a:xfrm>
            <a:off x="6793992" y="3236976"/>
            <a:ext cx="1874520" cy="219456"/>
          </a:xfrm>
          <a:prstGeom prst="rect">
            <a:avLst/>
          </a:prstGeom>
          <a:noFill/>
          <a:ln/>
        </p:spPr>
        <p:txBody>
          <a:bodyPr wrap="square" rtlCol="0" anchor="ctr"/>
          <a:lstStyle/>
          <a:p>
            <a:pPr indent="0" marL="0">
              <a:buNone/>
            </a:pPr>
            <a:r>
              <a:rPr lang="en-US" sz="850" b="1" spc="50" kern="0" dirty="0">
                <a:solidFill>
                  <a:srgbClr val="4FD1C5"/>
                </a:solidFill>
                <a:latin typeface="Arial" pitchFamily="34" charset="0"/>
                <a:ea typeface="Arial" pitchFamily="34" charset="-122"/>
                <a:cs typeface="Arial" pitchFamily="34" charset="-120"/>
              </a:rPr>
              <a:t>MONTHS 12–18</a:t>
            </a:r>
            <a:endParaRPr lang="en-US" sz="850" dirty="0"/>
          </a:p>
        </p:txBody>
      </p:sp>
      <p:sp>
        <p:nvSpPr>
          <p:cNvPr id="27" name="Text 25"/>
          <p:cNvSpPr/>
          <p:nvPr/>
        </p:nvSpPr>
        <p:spPr>
          <a:xfrm>
            <a:off x="6318504" y="3639312"/>
            <a:ext cx="2331720" cy="457200"/>
          </a:xfrm>
          <a:prstGeom prst="rect">
            <a:avLst/>
          </a:prstGeom>
          <a:noFill/>
          <a:ln/>
        </p:spPr>
        <p:txBody>
          <a:bodyPr wrap="square" rtlCol="0" anchor="ctr"/>
          <a:lstStyle/>
          <a:p>
            <a:pPr indent="0" marL="0">
              <a:lnSpc>
                <a:spcPct val="110000"/>
              </a:lnSpc>
              <a:buNone/>
            </a:pPr>
            <a:r>
              <a:rPr lang="en-US" sz="1200" b="1" dirty="0">
                <a:solidFill>
                  <a:srgbClr val="F8F9FA"/>
                </a:solidFill>
                <a:latin typeface="Arial" pitchFamily="34" charset="0"/>
                <a:ea typeface="Arial" pitchFamily="34" charset="-122"/>
                <a:cs typeface="Arial" pitchFamily="34" charset="-120"/>
              </a:rPr>
              <a:t>NIDHI-CoE &amp; CRF Testing</a:t>
            </a:r>
            <a:endParaRPr lang="en-US" sz="1200" dirty="0"/>
          </a:p>
        </p:txBody>
      </p:sp>
      <p:sp>
        <p:nvSpPr>
          <p:cNvPr id="28" name="Text 26"/>
          <p:cNvSpPr/>
          <p:nvPr/>
        </p:nvSpPr>
        <p:spPr>
          <a:xfrm>
            <a:off x="6318504" y="4160520"/>
            <a:ext cx="2331720" cy="1783080"/>
          </a:xfrm>
          <a:prstGeom prst="rect">
            <a:avLst/>
          </a:prstGeom>
          <a:noFill/>
          <a:ln/>
        </p:spPr>
        <p:txBody>
          <a:bodyPr wrap="square" rtlCol="0" anchor="t"/>
          <a:lstStyle/>
          <a:p>
            <a:pPr algn="l" indent="0" marL="0">
              <a:lnSpc>
                <a:spcPct val="124000"/>
              </a:lnSpc>
              <a:buNone/>
            </a:pPr>
            <a:r>
              <a:rPr lang="en-US" sz="930" dirty="0">
                <a:solidFill>
                  <a:srgbClr val="AAB6CC"/>
                </a:solidFill>
                <a:latin typeface="Calibri" pitchFamily="34" charset="0"/>
                <a:ea typeface="Calibri" pitchFamily="34" charset="-122"/>
                <a:cs typeface="Calibri" pitchFamily="34" charset="-120"/>
              </a:rPr>
              <a:t>Conduct physical yield strength testing and execute </a:t>
            </a:r>
            <a:pPr algn="l" indent="0" marL="0">
              <a:lnSpc>
                <a:spcPct val="124000"/>
              </a:lnSpc>
              <a:buNone/>
            </a:pPr>
            <a:r>
              <a:rPr lang="en-US" sz="930" b="1" dirty="0">
                <a:solidFill>
                  <a:srgbClr val="4FD1C5"/>
                </a:solidFill>
                <a:latin typeface="Calibri" pitchFamily="34" charset="0"/>
                <a:ea typeface="Calibri" pitchFamily="34" charset="-122"/>
                <a:cs typeface="Calibri" pitchFamily="34" charset="-120"/>
              </a:rPr>
              <a:t>High-Temp XRD / STA</a:t>
            </a:r>
            <a:pPr algn="l" indent="0" marL="0">
              <a:lnSpc>
                <a:spcPct val="124000"/>
              </a:lnSpc>
              <a:buNone/>
            </a:pPr>
            <a:r>
              <a:rPr lang="en-US" sz="930" dirty="0">
                <a:solidFill>
                  <a:srgbClr val="AAB6CC"/>
                </a:solidFill>
                <a:latin typeface="Calibri" pitchFamily="34" charset="0"/>
                <a:ea typeface="Calibri" pitchFamily="34" charset="-122"/>
                <a:cs typeface="Calibri" pitchFamily="34" charset="-120"/>
              </a:rPr>
              <a:t> (Simultaneous Thermal Analysis) thermal shock validation at IIT Delhi to physically validate the </a:t>
            </a:r>
            <a:pPr algn="l" indent="0" marL="0">
              <a:lnSpc>
                <a:spcPct val="124000"/>
              </a:lnSpc>
              <a:buNone/>
            </a:pPr>
            <a:r>
              <a:rPr lang="en-US" sz="930" b="1" dirty="0">
                <a:solidFill>
                  <a:srgbClr val="4FD1C5"/>
                </a:solidFill>
                <a:latin typeface="Calibri" pitchFamily="34" charset="0"/>
                <a:ea typeface="Calibri" pitchFamily="34" charset="-122"/>
                <a:cs typeface="Calibri" pitchFamily="34" charset="-120"/>
              </a:rPr>
              <a:t>1.50 Safety Factor</a:t>
            </a:r>
            <a:pPr algn="l" indent="0" marL="0">
              <a:lnSpc>
                <a:spcPct val="124000"/>
              </a:lnSpc>
              <a:buNone/>
            </a:pPr>
            <a:r>
              <a:rPr lang="en-US" sz="930" dirty="0">
                <a:solidFill>
                  <a:srgbClr val="AAB6CC"/>
                </a:solidFill>
                <a:latin typeface="Calibri" pitchFamily="34" charset="0"/>
                <a:ea typeface="Calibri" pitchFamily="34" charset="-122"/>
                <a:cs typeface="Calibri" pitchFamily="34" charset="-120"/>
              </a:rPr>
              <a:t>.</a:t>
            </a:r>
            <a:endParaRPr lang="en-US" sz="930" dirty="0"/>
          </a:p>
        </p:txBody>
      </p:sp>
      <p:sp>
        <p:nvSpPr>
          <p:cNvPr id="29" name="Shape 27"/>
          <p:cNvSpPr/>
          <p:nvPr/>
        </p:nvSpPr>
        <p:spPr>
          <a:xfrm>
            <a:off x="8951976" y="3017520"/>
            <a:ext cx="2697480" cy="3063240"/>
          </a:xfrm>
          <a:prstGeom prst="roundRect">
            <a:avLst>
              <a:gd name="adj" fmla="val 4746"/>
            </a:avLst>
          </a:prstGeom>
          <a:solidFill>
            <a:srgbClr val="0B132B"/>
          </a:solidFill>
          <a:ln w="9525">
            <a:solidFill>
              <a:srgbClr val="2A3B63"/>
            </a:solidFill>
            <a:prstDash val="solid"/>
          </a:ln>
          <a:effectLst>
            <a:outerShdw sx="100000" sy="100000" kx="0" ky="0" algn="bl" rotWithShape="0" blurRad="127000" dist="38100" dir="5400000">
              <a:srgbClr val="1A2138">
                <a:alpha val="28000"/>
              </a:srgbClr>
            </a:outerShdw>
          </a:effectLst>
        </p:spPr>
      </p:sp>
      <p:sp>
        <p:nvSpPr>
          <p:cNvPr id="30" name="Shape 28"/>
          <p:cNvSpPr/>
          <p:nvPr/>
        </p:nvSpPr>
        <p:spPr>
          <a:xfrm>
            <a:off x="9134856" y="3200400"/>
            <a:ext cx="384048" cy="384048"/>
          </a:xfrm>
          <a:prstGeom prst="roundRect">
            <a:avLst>
              <a:gd name="adj" fmla="val 14286"/>
            </a:avLst>
          </a:prstGeom>
          <a:solidFill>
            <a:srgbClr val="F8F9FA"/>
          </a:solidFill>
          <a:ln/>
        </p:spPr>
      </p:sp>
      <p:sp>
        <p:nvSpPr>
          <p:cNvPr id="31" name="Text 29"/>
          <p:cNvSpPr/>
          <p:nvPr/>
        </p:nvSpPr>
        <p:spPr>
          <a:xfrm>
            <a:off x="9134856" y="3200400"/>
            <a:ext cx="384048" cy="384048"/>
          </a:xfrm>
          <a:prstGeom prst="rect">
            <a:avLst/>
          </a:prstGeom>
          <a:noFill/>
          <a:ln/>
        </p:spPr>
        <p:txBody>
          <a:bodyPr wrap="square" rtlCol="0" anchor="ctr"/>
          <a:lstStyle/>
          <a:p>
            <a:pPr algn="ctr" indent="0" marL="0">
              <a:buNone/>
            </a:pPr>
            <a:r>
              <a:rPr lang="en-US" sz="1200" b="1" dirty="0">
                <a:solidFill>
                  <a:srgbClr val="0B132B"/>
                </a:solidFill>
                <a:latin typeface="Arial" pitchFamily="34" charset="0"/>
                <a:ea typeface="Arial" pitchFamily="34" charset="-122"/>
                <a:cs typeface="Arial" pitchFamily="34" charset="-120"/>
              </a:rPr>
              <a:t>M4</a:t>
            </a:r>
            <a:endParaRPr lang="en-US" sz="1200" dirty="0"/>
          </a:p>
        </p:txBody>
      </p:sp>
      <p:sp>
        <p:nvSpPr>
          <p:cNvPr id="32" name="Text 30"/>
          <p:cNvSpPr/>
          <p:nvPr/>
        </p:nvSpPr>
        <p:spPr>
          <a:xfrm>
            <a:off x="9610344" y="3236976"/>
            <a:ext cx="1874520" cy="219456"/>
          </a:xfrm>
          <a:prstGeom prst="rect">
            <a:avLst/>
          </a:prstGeom>
          <a:noFill/>
          <a:ln/>
        </p:spPr>
        <p:txBody>
          <a:bodyPr wrap="square" rtlCol="0" anchor="ctr"/>
          <a:lstStyle/>
          <a:p>
            <a:pPr indent="0" marL="0">
              <a:buNone/>
            </a:pPr>
            <a:r>
              <a:rPr lang="en-US" sz="850" b="1" spc="50" kern="0" dirty="0">
                <a:solidFill>
                  <a:srgbClr val="4FD1C5"/>
                </a:solidFill>
                <a:latin typeface="Arial" pitchFamily="34" charset="0"/>
                <a:ea typeface="Arial" pitchFamily="34" charset="-122"/>
                <a:cs typeface="Arial" pitchFamily="34" charset="-120"/>
              </a:rPr>
              <a:t>MONTHS 18–24</a:t>
            </a:r>
            <a:endParaRPr lang="en-US" sz="850" dirty="0"/>
          </a:p>
        </p:txBody>
      </p:sp>
      <p:sp>
        <p:nvSpPr>
          <p:cNvPr id="33" name="Text 31"/>
          <p:cNvSpPr/>
          <p:nvPr/>
        </p:nvSpPr>
        <p:spPr>
          <a:xfrm>
            <a:off x="9134856" y="3639312"/>
            <a:ext cx="2331720" cy="457200"/>
          </a:xfrm>
          <a:prstGeom prst="rect">
            <a:avLst/>
          </a:prstGeom>
          <a:noFill/>
          <a:ln/>
        </p:spPr>
        <p:txBody>
          <a:bodyPr wrap="square" rtlCol="0" anchor="ctr"/>
          <a:lstStyle/>
          <a:p>
            <a:pPr indent="0" marL="0">
              <a:lnSpc>
                <a:spcPct val="110000"/>
              </a:lnSpc>
              <a:buNone/>
            </a:pPr>
            <a:r>
              <a:rPr lang="en-US" sz="1200" b="1" dirty="0">
                <a:solidFill>
                  <a:srgbClr val="F8F9FA"/>
                </a:solidFill>
                <a:latin typeface="Arial" pitchFamily="34" charset="0"/>
                <a:ea typeface="Arial" pitchFamily="34" charset="-122"/>
                <a:cs typeface="Arial" pitchFamily="34" charset="-120"/>
              </a:rPr>
              <a:t>Corporate Handover</a:t>
            </a:r>
            <a:endParaRPr lang="en-US" sz="1200" dirty="0"/>
          </a:p>
        </p:txBody>
      </p:sp>
      <p:sp>
        <p:nvSpPr>
          <p:cNvPr id="34" name="Text 32"/>
          <p:cNvSpPr/>
          <p:nvPr/>
        </p:nvSpPr>
        <p:spPr>
          <a:xfrm>
            <a:off x="9134856" y="4160520"/>
            <a:ext cx="2331720" cy="1783080"/>
          </a:xfrm>
          <a:prstGeom prst="rect">
            <a:avLst/>
          </a:prstGeom>
          <a:noFill/>
          <a:ln/>
        </p:spPr>
        <p:txBody>
          <a:bodyPr wrap="square" rtlCol="0" anchor="t"/>
          <a:lstStyle/>
          <a:p>
            <a:pPr algn="l" indent="0" marL="0">
              <a:lnSpc>
                <a:spcPct val="124000"/>
              </a:lnSpc>
              <a:buNone/>
            </a:pPr>
            <a:r>
              <a:rPr lang="en-US" sz="930" dirty="0">
                <a:solidFill>
                  <a:srgbClr val="AAB6CC"/>
                </a:solidFill>
                <a:latin typeface="Calibri" pitchFamily="34" charset="0"/>
                <a:ea typeface="Calibri" pitchFamily="34" charset="-122"/>
                <a:cs typeface="Calibri" pitchFamily="34" charset="-120"/>
              </a:rPr>
              <a:t>Present fully validated </a:t>
            </a:r>
            <a:pPr algn="l" indent="0" marL="0">
              <a:lnSpc>
                <a:spcPct val="124000"/>
              </a:lnSpc>
              <a:buNone/>
            </a:pPr>
            <a:r>
              <a:rPr lang="en-US" sz="930" b="1" dirty="0">
                <a:solidFill>
                  <a:srgbClr val="4FD1C5"/>
                </a:solidFill>
                <a:latin typeface="Calibri" pitchFamily="34" charset="0"/>
                <a:ea typeface="Calibri" pitchFamily="34" charset="-122"/>
                <a:cs typeface="Calibri" pitchFamily="34" charset="-120"/>
              </a:rPr>
              <a:t>TRL 5/6 hardware</a:t>
            </a:r>
            <a:pPr algn="l" indent="0" marL="0">
              <a:lnSpc>
                <a:spcPct val="124000"/>
              </a:lnSpc>
              <a:buNone/>
            </a:pPr>
            <a:r>
              <a:rPr lang="en-US" sz="930" dirty="0">
                <a:solidFill>
                  <a:srgbClr val="AAB6CC"/>
                </a:solidFill>
                <a:latin typeface="Calibri" pitchFamily="34" charset="0"/>
                <a:ea typeface="Calibri" pitchFamily="34" charset="-122"/>
                <a:cs typeface="Calibri" pitchFamily="34" charset="-120"/>
              </a:rPr>
              <a:t> to Sona Comstar for direct integration into H13 forging dies and SRM stator prototypes.</a:t>
            </a:r>
            <a:endParaRPr lang="en-US" sz="93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9125712" y="274320"/>
            <a:ext cx="2560320" cy="219456"/>
          </a:xfrm>
          <a:prstGeom prst="rect">
            <a:avLst/>
          </a:prstGeom>
          <a:noFill/>
          <a:ln/>
        </p:spPr>
        <p:txBody>
          <a:bodyPr wrap="square" rtlCol="0" anchor="ctr"/>
          <a:lstStyle/>
          <a:p>
            <a:pPr algn="r" indent="0" marL="0">
              <a:buNone/>
            </a:pPr>
            <a:r>
              <a:rPr lang="en-US" sz="950" b="1" spc="140" kern="0" dirty="0">
                <a:solidFill>
                  <a:srgbClr val="0B132B"/>
                </a:solidFill>
                <a:latin typeface="Arial" pitchFamily="34" charset="0"/>
                <a:ea typeface="Arial" pitchFamily="34" charset="-122"/>
                <a:cs typeface="Arial" pitchFamily="34" charset="-120"/>
              </a:rPr>
              <a:t>CRYSTAL </a:t>
            </a:r>
            <a:pPr algn="r" indent="0" marL="0">
              <a:buNone/>
            </a:pPr>
            <a:r>
              <a:rPr lang="en-US" sz="950" b="1" spc="140" kern="0" dirty="0">
                <a:solidFill>
                  <a:srgbClr val="0E7C86"/>
                </a:solidFill>
                <a:latin typeface="Arial" pitchFamily="34" charset="0"/>
                <a:ea typeface="Arial" pitchFamily="34" charset="-122"/>
                <a:cs typeface="Arial" pitchFamily="34" charset="-120"/>
              </a:rPr>
              <a:t>PARADIGM</a:t>
            </a:r>
            <a:endParaRPr lang="en-US" sz="950" dirty="0"/>
          </a:p>
        </p:txBody>
      </p:sp>
      <p:sp>
        <p:nvSpPr>
          <p:cNvPr id="3" name="Text 1"/>
          <p:cNvSpPr/>
          <p:nvPr/>
        </p:nvSpPr>
        <p:spPr>
          <a:xfrm>
            <a:off x="11384280" y="6510528"/>
            <a:ext cx="594360" cy="256032"/>
          </a:xfrm>
          <a:prstGeom prst="rect">
            <a:avLst/>
          </a:prstGeom>
          <a:noFill/>
          <a:ln/>
        </p:spPr>
        <p:txBody>
          <a:bodyPr wrap="square" rtlCol="0" anchor="ctr"/>
          <a:lstStyle/>
          <a:p>
            <a:pPr algn="r" indent="0" marL="0">
              <a:buNone/>
            </a:pPr>
            <a:r>
              <a:rPr lang="en-US" sz="850" dirty="0">
                <a:solidFill>
                  <a:srgbClr val="5B6B8C"/>
                </a:solidFill>
                <a:latin typeface="Calibri" pitchFamily="34" charset="0"/>
                <a:ea typeface="Calibri" pitchFamily="34" charset="-122"/>
                <a:cs typeface="Calibri" pitchFamily="34" charset="-120"/>
              </a:rPr>
              <a:t>16 / 18</a:t>
            </a:r>
            <a:endParaRPr lang="en-US" sz="850" dirty="0"/>
          </a:p>
        </p:txBody>
      </p:sp>
      <p:sp>
        <p:nvSpPr>
          <p:cNvPr id="4" name="Text 2"/>
          <p:cNvSpPr/>
          <p:nvPr/>
        </p:nvSpPr>
        <p:spPr>
          <a:xfrm>
            <a:off x="502920" y="384048"/>
            <a:ext cx="5486400" cy="274320"/>
          </a:xfrm>
          <a:prstGeom prst="rect">
            <a:avLst/>
          </a:prstGeom>
          <a:noFill/>
          <a:ln/>
        </p:spPr>
        <p:txBody>
          <a:bodyPr wrap="square" rtlCol="0" anchor="ctr"/>
          <a:lstStyle/>
          <a:p>
            <a:pPr algn="l" indent="0" marL="0">
              <a:buNone/>
            </a:pPr>
            <a:r>
              <a:rPr lang="en-US" sz="1050" b="1" spc="220" kern="0" dirty="0">
                <a:solidFill>
                  <a:srgbClr val="0E7C86"/>
                </a:solidFill>
                <a:latin typeface="Arial" pitchFamily="34" charset="0"/>
                <a:ea typeface="Arial" pitchFamily="34" charset="-122"/>
                <a:cs typeface="Arial" pitchFamily="34" charset="-120"/>
              </a:rPr>
              <a:t>THE RESEARCH LEADS</a:t>
            </a:r>
            <a:endParaRPr lang="en-US" sz="1050" dirty="0"/>
          </a:p>
        </p:txBody>
      </p:sp>
      <p:sp>
        <p:nvSpPr>
          <p:cNvPr id="5" name="Text 3"/>
          <p:cNvSpPr/>
          <p:nvPr/>
        </p:nvSpPr>
        <p:spPr>
          <a:xfrm>
            <a:off x="502920" y="658368"/>
            <a:ext cx="11183112" cy="457200"/>
          </a:xfrm>
          <a:prstGeom prst="rect">
            <a:avLst/>
          </a:prstGeom>
          <a:noFill/>
          <a:ln/>
        </p:spPr>
        <p:txBody>
          <a:bodyPr wrap="square" rtlCol="0" anchor="ctr"/>
          <a:lstStyle/>
          <a:p>
            <a:pPr algn="l" indent="0" marL="0">
              <a:lnSpc>
                <a:spcPct val="108000"/>
              </a:lnSpc>
              <a:buNone/>
            </a:pPr>
            <a:r>
              <a:rPr lang="en-US" sz="2400" b="1" spc="20" kern="0" dirty="0">
                <a:solidFill>
                  <a:srgbClr val="0B132B"/>
                </a:solidFill>
                <a:latin typeface="Arial" pitchFamily="34" charset="0"/>
                <a:ea typeface="Arial" pitchFamily="34" charset="-122"/>
                <a:cs typeface="Arial" pitchFamily="34" charset="-120"/>
              </a:rPr>
              <a:t>THE RESEARCH LEADS</a:t>
            </a:r>
            <a:endParaRPr lang="en-US" sz="2400" dirty="0"/>
          </a:p>
        </p:txBody>
      </p:sp>
      <p:sp>
        <p:nvSpPr>
          <p:cNvPr id="6" name="Text 4"/>
          <p:cNvSpPr/>
          <p:nvPr/>
        </p:nvSpPr>
        <p:spPr>
          <a:xfrm>
            <a:off x="502920" y="1097280"/>
            <a:ext cx="11183112" cy="292608"/>
          </a:xfrm>
          <a:prstGeom prst="rect">
            <a:avLst/>
          </a:prstGeom>
          <a:noFill/>
          <a:ln/>
        </p:spPr>
        <p:txBody>
          <a:bodyPr wrap="square" rtlCol="0" anchor="ctr"/>
          <a:lstStyle/>
          <a:p>
            <a:pPr algn="l" indent="0" marL="0">
              <a:buNone/>
            </a:pPr>
            <a:r>
              <a:rPr lang="en-US" sz="1300" b="1" dirty="0">
                <a:solidFill>
                  <a:srgbClr val="0E7C86"/>
                </a:solidFill>
                <a:latin typeface="Arial" pitchFamily="34" charset="0"/>
                <a:ea typeface="Arial" pitchFamily="34" charset="-122"/>
                <a:cs typeface="Arial" pitchFamily="34" charset="-120"/>
              </a:rPr>
              <a:t>Guided by Elite Academic and Scientific Expertise</a:t>
            </a:r>
            <a:endParaRPr lang="en-US" sz="1300" dirty="0"/>
          </a:p>
        </p:txBody>
      </p:sp>
      <p:sp>
        <p:nvSpPr>
          <p:cNvPr id="7" name="Shape 5"/>
          <p:cNvSpPr/>
          <p:nvPr/>
        </p:nvSpPr>
        <p:spPr>
          <a:xfrm>
            <a:off x="502920" y="1600200"/>
            <a:ext cx="5440680" cy="4892040"/>
          </a:xfrm>
          <a:prstGeom prst="roundRect">
            <a:avLst>
              <a:gd name="adj" fmla="val 2617"/>
            </a:avLst>
          </a:prstGeom>
          <a:solidFill>
            <a:srgbClr val="0B132B"/>
          </a:solidFill>
          <a:ln w="9525">
            <a:solidFill>
              <a:srgbClr val="2A3B63"/>
            </a:solidFill>
            <a:prstDash val="solid"/>
          </a:ln>
          <a:effectLst>
            <a:outerShdw sx="100000" sy="100000" kx="0" ky="0" algn="bl" rotWithShape="0" blurRad="127000" dist="38100" dir="5400000">
              <a:srgbClr val="1A2138">
                <a:alpha val="28000"/>
              </a:srgbClr>
            </a:outerShdw>
          </a:effectLst>
        </p:spPr>
      </p:sp>
      <p:sp>
        <p:nvSpPr>
          <p:cNvPr id="8" name="Shape 6"/>
          <p:cNvSpPr/>
          <p:nvPr/>
        </p:nvSpPr>
        <p:spPr>
          <a:xfrm>
            <a:off x="777240" y="1874520"/>
            <a:ext cx="914400" cy="914400"/>
          </a:xfrm>
          <a:prstGeom prst="roundRect">
            <a:avLst>
              <a:gd name="adj" fmla="val 12000"/>
            </a:avLst>
          </a:prstGeom>
          <a:solidFill>
            <a:srgbClr val="EEF1F5"/>
          </a:solidFill>
          <a:ln w="12700">
            <a:solidFill>
              <a:srgbClr val="2A3B63"/>
            </a:solidFill>
            <a:prstDash val="dash"/>
          </a:ln>
        </p:spPr>
      </p:sp>
      <p:sp>
        <p:nvSpPr>
          <p:cNvPr id="9" name="Text 7"/>
          <p:cNvSpPr/>
          <p:nvPr/>
        </p:nvSpPr>
        <p:spPr>
          <a:xfrm>
            <a:off x="850392" y="1874520"/>
            <a:ext cx="768096" cy="914400"/>
          </a:xfrm>
          <a:prstGeom prst="rect">
            <a:avLst/>
          </a:prstGeom>
          <a:noFill/>
          <a:ln/>
        </p:spPr>
        <p:txBody>
          <a:bodyPr wrap="square" rtlCol="0" anchor="ctr"/>
          <a:lstStyle/>
          <a:p>
            <a:pPr algn="ctr" indent="0" marL="0">
              <a:lnSpc>
                <a:spcPct val="115000"/>
              </a:lnSpc>
              <a:buNone/>
            </a:pPr>
            <a:r>
              <a:rPr lang="en-US" sz="750" i="1" dirty="0">
                <a:solidFill>
                  <a:srgbClr val="7C879C"/>
                </a:solidFill>
                <a:latin typeface="Calibri" pitchFamily="34" charset="0"/>
                <a:ea typeface="Calibri" pitchFamily="34" charset="-122"/>
                <a:cs typeface="Calibri" pitchFamily="34" charset="-120"/>
              </a:rPr>
              <a:t>PORTRAIT:</a:t>
            </a:r>
            <a:endParaRPr lang="en-US" sz="750" dirty="0"/>
          </a:p>
          <a:p>
            <a:pPr algn="ctr" indent="0" marL="0">
              <a:lnSpc>
                <a:spcPct val="115000"/>
              </a:lnSpc>
              <a:buNone/>
            </a:pPr>
            <a:r>
              <a:rPr lang="en-US" sz="750" i="1" dirty="0">
                <a:solidFill>
                  <a:srgbClr val="7C879C"/>
                </a:solidFill>
                <a:latin typeface="Calibri" pitchFamily="34" charset="0"/>
                <a:ea typeface="Calibri" pitchFamily="34" charset="-122"/>
                <a:cs typeface="Calibri" pitchFamily="34" charset="-120"/>
              </a:rPr>
              <a:t>Dr. Shilpa Choudhary</a:t>
            </a:r>
            <a:endParaRPr lang="en-US" sz="750" dirty="0"/>
          </a:p>
        </p:txBody>
      </p:sp>
      <p:sp>
        <p:nvSpPr>
          <p:cNvPr id="10" name="Text 8"/>
          <p:cNvSpPr/>
          <p:nvPr/>
        </p:nvSpPr>
        <p:spPr>
          <a:xfrm>
            <a:off x="1874520" y="1892808"/>
            <a:ext cx="3794760" cy="329184"/>
          </a:xfrm>
          <a:prstGeom prst="rect">
            <a:avLst/>
          </a:prstGeom>
          <a:noFill/>
          <a:ln/>
        </p:spPr>
        <p:txBody>
          <a:bodyPr wrap="square" rtlCol="0" anchor="ctr"/>
          <a:lstStyle/>
          <a:p>
            <a:pPr indent="0" marL="0">
              <a:buNone/>
            </a:pPr>
            <a:r>
              <a:rPr lang="en-US" sz="1450" b="1" dirty="0">
                <a:solidFill>
                  <a:srgbClr val="F8F9FA"/>
                </a:solidFill>
                <a:latin typeface="Arial" pitchFamily="34" charset="0"/>
                <a:ea typeface="Arial" pitchFamily="34" charset="-122"/>
                <a:cs typeface="Arial" pitchFamily="34" charset="-120"/>
              </a:rPr>
              <a:t>Dr. Shilpa Choudhary</a:t>
            </a:r>
            <a:endParaRPr lang="en-US" sz="1450" dirty="0"/>
          </a:p>
        </p:txBody>
      </p:sp>
      <p:sp>
        <p:nvSpPr>
          <p:cNvPr id="11" name="Text 9"/>
          <p:cNvSpPr/>
          <p:nvPr/>
        </p:nvSpPr>
        <p:spPr>
          <a:xfrm>
            <a:off x="1874520" y="2221992"/>
            <a:ext cx="3794760" cy="237744"/>
          </a:xfrm>
          <a:prstGeom prst="rect">
            <a:avLst/>
          </a:prstGeom>
          <a:noFill/>
          <a:ln/>
        </p:spPr>
        <p:txBody>
          <a:bodyPr wrap="square" rtlCol="0" anchor="ctr"/>
          <a:lstStyle/>
          <a:p>
            <a:pPr indent="0" marL="0">
              <a:buNone/>
            </a:pPr>
            <a:r>
              <a:rPr lang="en-US" sz="1000" i="1" dirty="0">
                <a:solidFill>
                  <a:srgbClr val="4FD1C5"/>
                </a:solidFill>
                <a:latin typeface="Calibri" pitchFamily="34" charset="0"/>
                <a:ea typeface="Calibri" pitchFamily="34" charset="-122"/>
                <a:cs typeface="Calibri" pitchFamily="34" charset="-120"/>
              </a:rPr>
              <a:t>AI / ML Lead</a:t>
            </a:r>
            <a:endParaRPr lang="en-US" sz="1000" dirty="0"/>
          </a:p>
        </p:txBody>
      </p:sp>
      <p:sp>
        <p:nvSpPr>
          <p:cNvPr id="12" name="Text 10"/>
          <p:cNvSpPr/>
          <p:nvPr/>
        </p:nvSpPr>
        <p:spPr>
          <a:xfrm>
            <a:off x="777240" y="2971800"/>
            <a:ext cx="4892040" cy="3291840"/>
          </a:xfrm>
          <a:prstGeom prst="rect">
            <a:avLst/>
          </a:prstGeom>
          <a:noFill/>
          <a:ln/>
        </p:spPr>
        <p:txBody>
          <a:bodyPr wrap="square" rtlCol="0" anchor="t"/>
          <a:lstStyle/>
          <a:p>
            <a:pPr algn="l" indent="0" marL="0">
              <a:lnSpc>
                <a:spcPct val="128000"/>
              </a:lnSpc>
              <a:buNone/>
            </a:pPr>
            <a:r>
              <a:rPr lang="en-US" sz="1030" dirty="0">
                <a:solidFill>
                  <a:srgbClr val="AAB6CC"/>
                </a:solidFill>
                <a:latin typeface="Calibri" pitchFamily="34" charset="0"/>
                <a:ea typeface="Calibri" pitchFamily="34" charset="-122"/>
                <a:cs typeface="Calibri" pitchFamily="34" charset="-120"/>
              </a:rPr>
              <a:t>Recognized among the </a:t>
            </a:r>
            <a:pPr algn="l" indent="0" marL="0">
              <a:lnSpc>
                <a:spcPct val="128000"/>
              </a:lnSpc>
              <a:buNone/>
            </a:pPr>
            <a:r>
              <a:rPr lang="en-US" sz="1030" b="1" dirty="0">
                <a:solidFill>
                  <a:srgbClr val="4FD1C5"/>
                </a:solidFill>
                <a:latin typeface="Calibri" pitchFamily="34" charset="0"/>
                <a:ea typeface="Calibri" pitchFamily="34" charset="-122"/>
                <a:cs typeface="Calibri" pitchFamily="34" charset="-120"/>
              </a:rPr>
              <a:t>Top 2% Scientists Worldwide by Stanford University (2024)</a:t>
            </a:r>
            <a:pPr algn="l" indent="0" marL="0">
              <a:lnSpc>
                <a:spcPct val="128000"/>
              </a:lnSpc>
              <a:buNone/>
            </a:pPr>
            <a:r>
              <a:rPr lang="en-US" sz="1030" dirty="0">
                <a:solidFill>
                  <a:srgbClr val="AAB6CC"/>
                </a:solidFill>
                <a:latin typeface="Calibri" pitchFamily="34" charset="0"/>
                <a:ea typeface="Calibri" pitchFamily="34" charset="-122"/>
                <a:cs typeface="Calibri" pitchFamily="34" charset="-120"/>
              </a:rPr>
              <a:t>, brings over </a:t>
            </a:r>
            <a:pPr algn="l" indent="0" marL="0">
              <a:lnSpc>
                <a:spcPct val="128000"/>
              </a:lnSpc>
              <a:buNone/>
            </a:pPr>
            <a:r>
              <a:rPr lang="en-US" sz="1030" b="1" dirty="0">
                <a:solidFill>
                  <a:srgbClr val="4FD1C5"/>
                </a:solidFill>
                <a:latin typeface="Calibri" pitchFamily="34" charset="0"/>
                <a:ea typeface="Calibri" pitchFamily="34" charset="-122"/>
                <a:cs typeface="Calibri" pitchFamily="34" charset="-120"/>
              </a:rPr>
              <a:t>16 years of research expertise in Artificial Intelligence, Deep Learning, and AI-driven scientific applications</a:t>
            </a:r>
            <a:pPr algn="l" indent="0" marL="0">
              <a:lnSpc>
                <a:spcPct val="128000"/>
              </a:lnSpc>
              <a:buNone/>
            </a:pPr>
            <a:r>
              <a:rPr lang="en-US" sz="1030" dirty="0">
                <a:solidFill>
                  <a:srgbClr val="AAB6CC"/>
                </a:solidFill>
                <a:latin typeface="Calibri" pitchFamily="34" charset="0"/>
                <a:ea typeface="Calibri" pitchFamily="34" charset="-122"/>
                <a:cs typeface="Calibri" pitchFamily="34" charset="-120"/>
              </a:rPr>
              <a:t>. With </a:t>
            </a:r>
            <a:pPr algn="l" indent="0" marL="0">
              <a:lnSpc>
                <a:spcPct val="128000"/>
              </a:lnSpc>
              <a:buNone/>
            </a:pPr>
            <a:r>
              <a:rPr lang="en-US" sz="1030" b="1" dirty="0">
                <a:solidFill>
                  <a:srgbClr val="4FD1C5"/>
                </a:solidFill>
                <a:latin typeface="Calibri" pitchFamily="34" charset="0"/>
                <a:ea typeface="Calibri" pitchFamily="34" charset="-122"/>
                <a:cs typeface="Calibri" pitchFamily="34" charset="-120"/>
              </a:rPr>
              <a:t>postdoctoral research experience at the Singapore Institute of Technology and the National Kaohsiung University of Science and Technology (Taiwan)</a:t>
            </a:r>
            <a:pPr algn="l" indent="0" marL="0">
              <a:lnSpc>
                <a:spcPct val="128000"/>
              </a:lnSpc>
              <a:buNone/>
            </a:pPr>
            <a:r>
              <a:rPr lang="en-US" sz="1030" dirty="0">
                <a:solidFill>
                  <a:srgbClr val="AAB6CC"/>
                </a:solidFill>
                <a:latin typeface="Calibri" pitchFamily="34" charset="0"/>
                <a:ea typeface="Calibri" pitchFamily="34" charset="-122"/>
                <a:cs typeface="Calibri" pitchFamily="34" charset="-120"/>
              </a:rPr>
              <a:t>, she has authored over </a:t>
            </a:r>
            <a:pPr algn="l" indent="0" marL="0">
              <a:lnSpc>
                <a:spcPct val="128000"/>
              </a:lnSpc>
              <a:buNone/>
            </a:pPr>
            <a:r>
              <a:rPr lang="en-US" sz="1030" b="1" dirty="0">
                <a:solidFill>
                  <a:srgbClr val="4FD1C5"/>
                </a:solidFill>
                <a:latin typeface="Calibri" pitchFamily="34" charset="0"/>
                <a:ea typeface="Calibri" pitchFamily="34" charset="-122"/>
                <a:cs typeface="Calibri" pitchFamily="34" charset="-120"/>
              </a:rPr>
              <a:t>100 research papers</a:t>
            </a:r>
            <a:pPr algn="l" indent="0" marL="0">
              <a:lnSpc>
                <a:spcPct val="128000"/>
              </a:lnSpc>
              <a:buNone/>
            </a:pPr>
            <a:r>
              <a:rPr lang="en-US" sz="1030" dirty="0">
                <a:solidFill>
                  <a:srgbClr val="AAB6CC"/>
                </a:solidFill>
                <a:latin typeface="Calibri" pitchFamily="34" charset="0"/>
                <a:ea typeface="Calibri" pitchFamily="34" charset="-122"/>
                <a:cs typeface="Calibri" pitchFamily="34" charset="-120"/>
              </a:rPr>
              <a:t> (1763 citations, H-index 22), </a:t>
            </a:r>
            <a:pPr algn="l" indent="0" marL="0">
              <a:lnSpc>
                <a:spcPct val="128000"/>
              </a:lnSpc>
              <a:buNone/>
            </a:pPr>
            <a:r>
              <a:rPr lang="en-US" sz="1030" b="1" dirty="0">
                <a:solidFill>
                  <a:srgbClr val="4FD1C5"/>
                </a:solidFill>
                <a:latin typeface="Calibri" pitchFamily="34" charset="0"/>
                <a:ea typeface="Calibri" pitchFamily="34" charset="-122"/>
                <a:cs typeface="Calibri" pitchFamily="34" charset="-120"/>
              </a:rPr>
              <a:t>12 academic books</a:t>
            </a:r>
            <a:pPr algn="l" indent="0" marL="0">
              <a:lnSpc>
                <a:spcPct val="128000"/>
              </a:lnSpc>
              <a:buNone/>
            </a:pPr>
            <a:r>
              <a:rPr lang="en-US" sz="1030" dirty="0">
                <a:solidFill>
                  <a:srgbClr val="AAB6CC"/>
                </a:solidFill>
                <a:latin typeface="Calibri" pitchFamily="34" charset="0"/>
                <a:ea typeface="Calibri" pitchFamily="34" charset="-122"/>
                <a:cs typeface="Calibri" pitchFamily="34" charset="-120"/>
              </a:rPr>
              <a:t>, and holds </a:t>
            </a:r>
            <a:pPr algn="l" indent="0" marL="0">
              <a:lnSpc>
                <a:spcPct val="128000"/>
              </a:lnSpc>
              <a:buNone/>
            </a:pPr>
            <a:r>
              <a:rPr lang="en-US" sz="1030" b="1" dirty="0">
                <a:solidFill>
                  <a:srgbClr val="4FD1C5"/>
                </a:solidFill>
                <a:latin typeface="Calibri" pitchFamily="34" charset="0"/>
                <a:ea typeface="Calibri" pitchFamily="34" charset="-122"/>
                <a:cs typeface="Calibri" pitchFamily="34" charset="-120"/>
              </a:rPr>
              <a:t>multiple patents</a:t>
            </a:r>
            <a:pPr algn="l" indent="0" marL="0">
              <a:lnSpc>
                <a:spcPct val="128000"/>
              </a:lnSpc>
              <a:buNone/>
            </a:pPr>
            <a:r>
              <a:rPr lang="en-US" sz="1030" dirty="0">
                <a:solidFill>
                  <a:srgbClr val="AAB6CC"/>
                </a:solidFill>
                <a:latin typeface="Calibri" pitchFamily="34" charset="0"/>
                <a:ea typeface="Calibri" pitchFamily="34" charset="-122"/>
                <a:cs typeface="Calibri" pitchFamily="34" charset="-120"/>
              </a:rPr>
              <a:t> in emerging technology domains. At Crystal Paradigm, she leads AI innovation, ML Architecture, Constrained Optimization, and Surrogate Model Design.</a:t>
            </a:r>
            <a:endParaRPr lang="en-US" sz="1030" dirty="0"/>
          </a:p>
        </p:txBody>
      </p:sp>
      <p:sp>
        <p:nvSpPr>
          <p:cNvPr id="13" name="Shape 11"/>
          <p:cNvSpPr/>
          <p:nvPr/>
        </p:nvSpPr>
        <p:spPr>
          <a:xfrm>
            <a:off x="6245352" y="1600200"/>
            <a:ext cx="5440680" cy="4892040"/>
          </a:xfrm>
          <a:prstGeom prst="roundRect">
            <a:avLst>
              <a:gd name="adj" fmla="val 2617"/>
            </a:avLst>
          </a:prstGeom>
          <a:solidFill>
            <a:srgbClr val="162447"/>
          </a:solidFill>
          <a:ln w="9525">
            <a:solidFill>
              <a:srgbClr val="2A3B63"/>
            </a:solidFill>
            <a:prstDash val="solid"/>
          </a:ln>
          <a:effectLst>
            <a:outerShdw sx="100000" sy="100000" kx="0" ky="0" algn="bl" rotWithShape="0" blurRad="127000" dist="38100" dir="5400000">
              <a:srgbClr val="1A2138">
                <a:alpha val="28000"/>
              </a:srgbClr>
            </a:outerShdw>
          </a:effectLst>
        </p:spPr>
      </p:sp>
      <p:sp>
        <p:nvSpPr>
          <p:cNvPr id="14" name="Shape 12"/>
          <p:cNvSpPr/>
          <p:nvPr/>
        </p:nvSpPr>
        <p:spPr>
          <a:xfrm>
            <a:off x="6519672" y="1874520"/>
            <a:ext cx="914400" cy="914400"/>
          </a:xfrm>
          <a:prstGeom prst="roundRect">
            <a:avLst>
              <a:gd name="adj" fmla="val 12000"/>
            </a:avLst>
          </a:prstGeom>
          <a:solidFill>
            <a:srgbClr val="EEF1F5"/>
          </a:solidFill>
          <a:ln w="12700">
            <a:solidFill>
              <a:srgbClr val="2A3B63"/>
            </a:solidFill>
            <a:prstDash val="dash"/>
          </a:ln>
        </p:spPr>
      </p:sp>
      <p:sp>
        <p:nvSpPr>
          <p:cNvPr id="15" name="Text 13"/>
          <p:cNvSpPr/>
          <p:nvPr/>
        </p:nvSpPr>
        <p:spPr>
          <a:xfrm>
            <a:off x="6592824" y="1874520"/>
            <a:ext cx="768096" cy="914400"/>
          </a:xfrm>
          <a:prstGeom prst="rect">
            <a:avLst/>
          </a:prstGeom>
          <a:noFill/>
          <a:ln/>
        </p:spPr>
        <p:txBody>
          <a:bodyPr wrap="square" rtlCol="0" anchor="ctr"/>
          <a:lstStyle/>
          <a:p>
            <a:pPr algn="ctr" indent="0" marL="0">
              <a:lnSpc>
                <a:spcPct val="115000"/>
              </a:lnSpc>
              <a:buNone/>
            </a:pPr>
            <a:r>
              <a:rPr lang="en-US" sz="750" i="1" dirty="0">
                <a:solidFill>
                  <a:srgbClr val="7C879C"/>
                </a:solidFill>
                <a:latin typeface="Calibri" pitchFamily="34" charset="0"/>
                <a:ea typeface="Calibri" pitchFamily="34" charset="-122"/>
                <a:cs typeface="Calibri" pitchFamily="34" charset="-120"/>
              </a:rPr>
              <a:t>PORTRAIT:</a:t>
            </a:r>
            <a:endParaRPr lang="en-US" sz="750" dirty="0"/>
          </a:p>
          <a:p>
            <a:pPr algn="ctr" indent="0" marL="0">
              <a:lnSpc>
                <a:spcPct val="115000"/>
              </a:lnSpc>
              <a:buNone/>
            </a:pPr>
            <a:r>
              <a:rPr lang="en-US" sz="750" i="1" dirty="0">
                <a:solidFill>
                  <a:srgbClr val="7C879C"/>
                </a:solidFill>
                <a:latin typeface="Calibri" pitchFamily="34" charset="0"/>
                <a:ea typeface="Calibri" pitchFamily="34" charset="-122"/>
                <a:cs typeface="Calibri" pitchFamily="34" charset="-120"/>
              </a:rPr>
              <a:t>Dr. Kasarapu Venkataramana</a:t>
            </a:r>
            <a:endParaRPr lang="en-US" sz="750" dirty="0"/>
          </a:p>
        </p:txBody>
      </p:sp>
      <p:sp>
        <p:nvSpPr>
          <p:cNvPr id="16" name="Text 14"/>
          <p:cNvSpPr/>
          <p:nvPr/>
        </p:nvSpPr>
        <p:spPr>
          <a:xfrm>
            <a:off x="7616952" y="1837944"/>
            <a:ext cx="3794760" cy="438912"/>
          </a:xfrm>
          <a:prstGeom prst="rect">
            <a:avLst/>
          </a:prstGeom>
          <a:noFill/>
          <a:ln/>
        </p:spPr>
        <p:txBody>
          <a:bodyPr wrap="square" rtlCol="0" anchor="ctr"/>
          <a:lstStyle/>
          <a:p>
            <a:pPr indent="0" marL="0">
              <a:lnSpc>
                <a:spcPct val="110000"/>
              </a:lnSpc>
              <a:buNone/>
            </a:pPr>
            <a:r>
              <a:rPr lang="en-US" sz="1300" b="1" dirty="0">
                <a:solidFill>
                  <a:srgbClr val="F8F9FA"/>
                </a:solidFill>
                <a:latin typeface="Arial" pitchFamily="34" charset="0"/>
                <a:ea typeface="Arial" pitchFamily="34" charset="-122"/>
                <a:cs typeface="Arial" pitchFamily="34" charset="-120"/>
              </a:rPr>
              <a:t>Dr. Kasarapu Venkataramana</a:t>
            </a:r>
            <a:endParaRPr lang="en-US" sz="1300" dirty="0"/>
          </a:p>
        </p:txBody>
      </p:sp>
      <p:sp>
        <p:nvSpPr>
          <p:cNvPr id="17" name="Text 15"/>
          <p:cNvSpPr/>
          <p:nvPr/>
        </p:nvSpPr>
        <p:spPr>
          <a:xfrm>
            <a:off x="7616952" y="2295144"/>
            <a:ext cx="3794760" cy="329184"/>
          </a:xfrm>
          <a:prstGeom prst="rect">
            <a:avLst/>
          </a:prstGeom>
          <a:noFill/>
          <a:ln/>
        </p:spPr>
        <p:txBody>
          <a:bodyPr wrap="square" rtlCol="0" anchor="ctr"/>
          <a:lstStyle/>
          <a:p>
            <a:pPr indent="0" marL="0">
              <a:lnSpc>
                <a:spcPct val="110000"/>
              </a:lnSpc>
              <a:buNone/>
            </a:pPr>
            <a:r>
              <a:rPr lang="en-US" sz="950" i="1" dirty="0">
                <a:solidFill>
                  <a:srgbClr val="4FD1C5"/>
                </a:solidFill>
                <a:latin typeface="Calibri" pitchFamily="34" charset="0"/>
                <a:ea typeface="Calibri" pitchFamily="34" charset="-122"/>
                <a:cs typeface="Calibri" pitchFamily="34" charset="-120"/>
              </a:rPr>
              <a:t>Materials Science &amp; Experimental Validation Lead</a:t>
            </a:r>
            <a:endParaRPr lang="en-US" sz="950" dirty="0"/>
          </a:p>
        </p:txBody>
      </p:sp>
      <p:sp>
        <p:nvSpPr>
          <p:cNvPr id="18" name="Text 16"/>
          <p:cNvSpPr/>
          <p:nvPr/>
        </p:nvSpPr>
        <p:spPr>
          <a:xfrm>
            <a:off x="6519672" y="2971800"/>
            <a:ext cx="4892040" cy="3291840"/>
          </a:xfrm>
          <a:prstGeom prst="rect">
            <a:avLst/>
          </a:prstGeom>
          <a:noFill/>
          <a:ln/>
        </p:spPr>
        <p:txBody>
          <a:bodyPr wrap="square" rtlCol="0" anchor="t"/>
          <a:lstStyle/>
          <a:p>
            <a:pPr algn="l" indent="0" marL="0">
              <a:lnSpc>
                <a:spcPct val="125000"/>
              </a:lnSpc>
              <a:buNone/>
            </a:pPr>
            <a:r>
              <a:rPr lang="en-US" sz="960" dirty="0">
                <a:solidFill>
                  <a:srgbClr val="AAB6CC"/>
                </a:solidFill>
                <a:latin typeface="Calibri" pitchFamily="34" charset="0"/>
                <a:ea typeface="Calibri" pitchFamily="34" charset="-122"/>
                <a:cs typeface="Calibri" pitchFamily="34" charset="-120"/>
              </a:rPr>
              <a:t>Dr. Venkataramana is currently a </a:t>
            </a:r>
            <a:pPr algn="l" indent="0" marL="0">
              <a:lnSpc>
                <a:spcPct val="125000"/>
              </a:lnSpc>
              <a:buNone/>
            </a:pPr>
            <a:r>
              <a:rPr lang="en-US" sz="960" b="1" dirty="0">
                <a:solidFill>
                  <a:srgbClr val="4FD1C5"/>
                </a:solidFill>
                <a:latin typeface="Calibri" pitchFamily="34" charset="0"/>
                <a:ea typeface="Calibri" pitchFamily="34" charset="-122"/>
                <a:cs typeface="Calibri" pitchFamily="34" charset="-120"/>
              </a:rPr>
              <a:t>Research Associate at CSIR-IICT</a:t>
            </a:r>
            <a:pPr algn="l" indent="0" marL="0">
              <a:lnSpc>
                <a:spcPct val="125000"/>
              </a:lnSpc>
              <a:buNone/>
            </a:pPr>
            <a:r>
              <a:rPr lang="en-US" sz="960" dirty="0">
                <a:solidFill>
                  <a:srgbClr val="AAB6CC"/>
                </a:solidFill>
                <a:latin typeface="Calibri" pitchFamily="34" charset="0"/>
                <a:ea typeface="Calibri" pitchFamily="34" charset="-122"/>
                <a:cs typeface="Calibri" pitchFamily="34" charset="-120"/>
              </a:rPr>
              <a:t> working on a </a:t>
            </a:r>
            <a:pPr algn="l" indent="0" marL="0">
              <a:lnSpc>
                <a:spcPct val="125000"/>
              </a:lnSpc>
              <a:buNone/>
            </a:pPr>
            <a:r>
              <a:rPr lang="en-US" sz="960" b="1" dirty="0">
                <a:solidFill>
                  <a:srgbClr val="4FD1C5"/>
                </a:solidFill>
                <a:latin typeface="Calibri" pitchFamily="34" charset="0"/>
                <a:ea typeface="Calibri" pitchFamily="34" charset="-122"/>
                <a:cs typeface="Calibri" pitchFamily="34" charset="-120"/>
              </a:rPr>
              <a:t>DRDO sponsored project</a:t>
            </a:r>
            <a:pPr algn="l" indent="0" marL="0">
              <a:lnSpc>
                <a:spcPct val="125000"/>
              </a:lnSpc>
              <a:buNone/>
            </a:pPr>
            <a:r>
              <a:rPr lang="en-US" sz="960" dirty="0">
                <a:solidFill>
                  <a:srgbClr val="AAB6CC"/>
                </a:solidFill>
                <a:latin typeface="Calibri" pitchFamily="34" charset="0"/>
                <a:ea typeface="Calibri" pitchFamily="34" charset="-122"/>
                <a:cs typeface="Calibri" pitchFamily="34" charset="-120"/>
              </a:rPr>
              <a:t>. He is an </a:t>
            </a:r>
            <a:pPr algn="l" indent="0" marL="0">
              <a:lnSpc>
                <a:spcPct val="125000"/>
              </a:lnSpc>
              <a:buNone/>
            </a:pPr>
            <a:r>
              <a:rPr lang="en-US" sz="960" b="1" dirty="0">
                <a:solidFill>
                  <a:srgbClr val="4FD1C5"/>
                </a:solidFill>
                <a:latin typeface="Calibri" pitchFamily="34" charset="0"/>
                <a:ea typeface="Calibri" pitchFamily="34" charset="-122"/>
                <a:cs typeface="Calibri" pitchFamily="34" charset="-120"/>
              </a:rPr>
              <a:t>Associate Fellow of the Telangana Academy of Sciences (2024)</a:t>
            </a:r>
            <a:pPr algn="l" indent="0" marL="0">
              <a:lnSpc>
                <a:spcPct val="125000"/>
              </a:lnSpc>
              <a:buNone/>
            </a:pPr>
            <a:r>
              <a:rPr lang="en-US" sz="960" dirty="0">
                <a:solidFill>
                  <a:srgbClr val="AAB6CC"/>
                </a:solidFill>
                <a:latin typeface="Calibri" pitchFamily="34" charset="0"/>
                <a:ea typeface="Calibri" pitchFamily="34" charset="-122"/>
                <a:cs typeface="Calibri" pitchFamily="34" charset="-120"/>
              </a:rPr>
              <a:t> and brings </a:t>
            </a:r>
            <a:pPr algn="l" indent="0" marL="0">
              <a:lnSpc>
                <a:spcPct val="125000"/>
              </a:lnSpc>
              <a:buNone/>
            </a:pPr>
            <a:r>
              <a:rPr lang="en-US" sz="960" b="1" dirty="0">
                <a:solidFill>
                  <a:srgbClr val="4FD1C5"/>
                </a:solidFill>
                <a:latin typeface="Calibri" pitchFamily="34" charset="0"/>
                <a:ea typeface="Calibri" pitchFamily="34" charset="-122"/>
                <a:cs typeface="Calibri" pitchFamily="34" charset="-120"/>
              </a:rPr>
              <a:t>12 years of research and 5 years of academic teaching experience</a:t>
            </a:r>
            <a:pPr algn="l" indent="0" marL="0">
              <a:lnSpc>
                <a:spcPct val="125000"/>
              </a:lnSpc>
              <a:buNone/>
            </a:pPr>
            <a:r>
              <a:rPr lang="en-US" sz="960" dirty="0">
                <a:solidFill>
                  <a:srgbClr val="AAB6CC"/>
                </a:solidFill>
                <a:latin typeface="Calibri" pitchFamily="34" charset="0"/>
                <a:ea typeface="Calibri" pitchFamily="34" charset="-122"/>
                <a:cs typeface="Calibri" pitchFamily="34" charset="-120"/>
              </a:rPr>
              <a:t> to the team. He has authored </a:t>
            </a:r>
            <a:pPr algn="l" indent="0" marL="0">
              <a:lnSpc>
                <a:spcPct val="125000"/>
              </a:lnSpc>
              <a:buNone/>
            </a:pPr>
            <a:r>
              <a:rPr lang="en-US" sz="960" b="1" dirty="0">
                <a:solidFill>
                  <a:srgbClr val="4FD1C5"/>
                </a:solidFill>
                <a:latin typeface="Calibri" pitchFamily="34" charset="0"/>
                <a:ea typeface="Calibri" pitchFamily="34" charset="-122"/>
                <a:cs typeface="Calibri" pitchFamily="34" charset="-120"/>
              </a:rPr>
              <a:t>38 research publications</a:t>
            </a:r>
            <a:pPr algn="l" indent="0" marL="0">
              <a:lnSpc>
                <a:spcPct val="125000"/>
              </a:lnSpc>
              <a:buNone/>
            </a:pPr>
            <a:r>
              <a:rPr lang="en-US" sz="960" dirty="0">
                <a:solidFill>
                  <a:srgbClr val="AAB6CC"/>
                </a:solidFill>
                <a:latin typeface="Calibri" pitchFamily="34" charset="0"/>
                <a:ea typeface="Calibri" pitchFamily="34" charset="-122"/>
                <a:cs typeface="Calibri" pitchFamily="34" charset="-120"/>
              </a:rPr>
              <a:t> (610+ citations, h-index 14) and </a:t>
            </a:r>
            <a:pPr algn="l" indent="0" marL="0">
              <a:lnSpc>
                <a:spcPct val="125000"/>
              </a:lnSpc>
              <a:buNone/>
            </a:pPr>
            <a:r>
              <a:rPr lang="en-US" sz="960" b="1" dirty="0">
                <a:solidFill>
                  <a:srgbClr val="4FD1C5"/>
                </a:solidFill>
                <a:latin typeface="Calibri" pitchFamily="34" charset="0"/>
                <a:ea typeface="Calibri" pitchFamily="34" charset="-122"/>
                <a:cs typeface="Calibri" pitchFamily="34" charset="-120"/>
              </a:rPr>
              <a:t>2 book chapters</a:t>
            </a:r>
            <a:pPr algn="l" indent="0" marL="0">
              <a:lnSpc>
                <a:spcPct val="125000"/>
              </a:lnSpc>
              <a:buNone/>
            </a:pPr>
            <a:r>
              <a:rPr lang="en-US" sz="960" dirty="0">
                <a:solidFill>
                  <a:srgbClr val="AAB6CC"/>
                </a:solidFill>
                <a:latin typeface="Calibri" pitchFamily="34" charset="0"/>
                <a:ea typeface="Calibri" pitchFamily="34" charset="-122"/>
                <a:cs typeface="Calibri" pitchFamily="34" charset="-120"/>
              </a:rPr>
              <a:t>, while serving as a recognized reviewer for prestigious scientific journals across Elsevier, Springer, and Taylor &amp; Francis. In his current role at CSIR-IICT, he is leading DRDO-sponsored pyrotechnic nanomaterial fabrication projects. He provides critical domain oversight on computational chemistry, thermodynamics, and physical experimental validation. He specializes in </a:t>
            </a:r>
            <a:pPr algn="l" indent="0" marL="0">
              <a:lnSpc>
                <a:spcPct val="125000"/>
              </a:lnSpc>
              <a:buNone/>
            </a:pPr>
            <a:r>
              <a:rPr lang="en-US" sz="960" b="1" dirty="0">
                <a:solidFill>
                  <a:srgbClr val="4FD1C5"/>
                </a:solidFill>
                <a:latin typeface="Calibri" pitchFamily="34" charset="0"/>
                <a:ea typeface="Calibri" pitchFamily="34" charset="-122"/>
                <a:cs typeface="Calibri" pitchFamily="34" charset="-120"/>
              </a:rPr>
              <a:t>High Entropy Oxides</a:t>
            </a:r>
            <a:pPr algn="l" indent="0" marL="0">
              <a:lnSpc>
                <a:spcPct val="125000"/>
              </a:lnSpc>
              <a:buNone/>
            </a:pPr>
            <a:r>
              <a:rPr lang="en-US" sz="960" dirty="0">
                <a:solidFill>
                  <a:srgbClr val="AAB6CC"/>
                </a:solidFill>
                <a:latin typeface="Calibri" pitchFamily="34" charset="0"/>
                <a:ea typeface="Calibri" pitchFamily="34" charset="-122"/>
                <a:cs typeface="Calibri" pitchFamily="34" charset="-120"/>
              </a:rPr>
              <a:t> and advanced materials characterization (XRD, SEM, EDS).</a:t>
            </a:r>
            <a:endParaRPr lang="en-US" sz="96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9125712" y="274320"/>
            <a:ext cx="2560320" cy="219456"/>
          </a:xfrm>
          <a:prstGeom prst="rect">
            <a:avLst/>
          </a:prstGeom>
          <a:noFill/>
          <a:ln/>
        </p:spPr>
        <p:txBody>
          <a:bodyPr wrap="square" rtlCol="0" anchor="ctr"/>
          <a:lstStyle/>
          <a:p>
            <a:pPr algn="r" indent="0" marL="0">
              <a:buNone/>
            </a:pPr>
            <a:r>
              <a:rPr lang="en-US" sz="950" b="1" spc="140" kern="0" dirty="0">
                <a:solidFill>
                  <a:srgbClr val="0B132B"/>
                </a:solidFill>
                <a:latin typeface="Arial" pitchFamily="34" charset="0"/>
                <a:ea typeface="Arial" pitchFamily="34" charset="-122"/>
                <a:cs typeface="Arial" pitchFamily="34" charset="-120"/>
              </a:rPr>
              <a:t>CRYSTAL </a:t>
            </a:r>
            <a:pPr algn="r" indent="0" marL="0">
              <a:buNone/>
            </a:pPr>
            <a:r>
              <a:rPr lang="en-US" sz="950" b="1" spc="140" kern="0" dirty="0">
                <a:solidFill>
                  <a:srgbClr val="0E7C86"/>
                </a:solidFill>
                <a:latin typeface="Arial" pitchFamily="34" charset="0"/>
                <a:ea typeface="Arial" pitchFamily="34" charset="-122"/>
                <a:cs typeface="Arial" pitchFamily="34" charset="-120"/>
              </a:rPr>
              <a:t>PARADIGM</a:t>
            </a:r>
            <a:endParaRPr lang="en-US" sz="950" dirty="0"/>
          </a:p>
        </p:txBody>
      </p:sp>
      <p:sp>
        <p:nvSpPr>
          <p:cNvPr id="3" name="Text 1"/>
          <p:cNvSpPr/>
          <p:nvPr/>
        </p:nvSpPr>
        <p:spPr>
          <a:xfrm>
            <a:off x="11384280" y="6510528"/>
            <a:ext cx="594360" cy="256032"/>
          </a:xfrm>
          <a:prstGeom prst="rect">
            <a:avLst/>
          </a:prstGeom>
          <a:noFill/>
          <a:ln/>
        </p:spPr>
        <p:txBody>
          <a:bodyPr wrap="square" rtlCol="0" anchor="ctr"/>
          <a:lstStyle/>
          <a:p>
            <a:pPr algn="r" indent="0" marL="0">
              <a:buNone/>
            </a:pPr>
            <a:r>
              <a:rPr lang="en-US" sz="850" dirty="0">
                <a:solidFill>
                  <a:srgbClr val="5B6B8C"/>
                </a:solidFill>
                <a:latin typeface="Calibri" pitchFamily="34" charset="0"/>
                <a:ea typeface="Calibri" pitchFamily="34" charset="-122"/>
                <a:cs typeface="Calibri" pitchFamily="34" charset="-120"/>
              </a:rPr>
              <a:t>17 / 18</a:t>
            </a:r>
            <a:endParaRPr lang="en-US" sz="850" dirty="0"/>
          </a:p>
        </p:txBody>
      </p:sp>
      <p:sp>
        <p:nvSpPr>
          <p:cNvPr id="4" name="Text 2"/>
          <p:cNvSpPr/>
          <p:nvPr/>
        </p:nvSpPr>
        <p:spPr>
          <a:xfrm>
            <a:off x="502920" y="384048"/>
            <a:ext cx="5486400" cy="274320"/>
          </a:xfrm>
          <a:prstGeom prst="rect">
            <a:avLst/>
          </a:prstGeom>
          <a:noFill/>
          <a:ln/>
        </p:spPr>
        <p:txBody>
          <a:bodyPr wrap="square" rtlCol="0" anchor="ctr"/>
          <a:lstStyle/>
          <a:p>
            <a:pPr algn="l" indent="0" marL="0">
              <a:buNone/>
            </a:pPr>
            <a:r>
              <a:rPr lang="en-US" sz="1050" b="1" spc="220" kern="0" dirty="0">
                <a:solidFill>
                  <a:srgbClr val="0E7C86"/>
                </a:solidFill>
                <a:latin typeface="Arial" pitchFamily="34" charset="0"/>
                <a:ea typeface="Arial" pitchFamily="34" charset="-122"/>
                <a:cs typeface="Arial" pitchFamily="34" charset="-120"/>
              </a:rPr>
              <a:t>THE AI ENGINEERING ENGINE</a:t>
            </a:r>
            <a:endParaRPr lang="en-US" sz="1050" dirty="0"/>
          </a:p>
        </p:txBody>
      </p:sp>
      <p:sp>
        <p:nvSpPr>
          <p:cNvPr id="5" name="Text 3"/>
          <p:cNvSpPr/>
          <p:nvPr/>
        </p:nvSpPr>
        <p:spPr>
          <a:xfrm>
            <a:off x="502920" y="658368"/>
            <a:ext cx="11183112" cy="457200"/>
          </a:xfrm>
          <a:prstGeom prst="rect">
            <a:avLst/>
          </a:prstGeom>
          <a:noFill/>
          <a:ln/>
        </p:spPr>
        <p:txBody>
          <a:bodyPr wrap="square" rtlCol="0" anchor="ctr"/>
          <a:lstStyle/>
          <a:p>
            <a:pPr algn="l" indent="0" marL="0">
              <a:lnSpc>
                <a:spcPct val="108000"/>
              </a:lnSpc>
              <a:buNone/>
            </a:pPr>
            <a:r>
              <a:rPr lang="en-US" sz="2400" b="1" spc="20" kern="0" dirty="0">
                <a:solidFill>
                  <a:srgbClr val="0B132B"/>
                </a:solidFill>
                <a:latin typeface="Arial" pitchFamily="34" charset="0"/>
                <a:ea typeface="Arial" pitchFamily="34" charset="-122"/>
                <a:cs typeface="Arial" pitchFamily="34" charset="-120"/>
              </a:rPr>
              <a:t>THE CORE AI ARCHITECTS</a:t>
            </a:r>
            <a:endParaRPr lang="en-US" sz="2400" dirty="0"/>
          </a:p>
        </p:txBody>
      </p:sp>
      <p:sp>
        <p:nvSpPr>
          <p:cNvPr id="6" name="Text 4"/>
          <p:cNvSpPr/>
          <p:nvPr/>
        </p:nvSpPr>
        <p:spPr>
          <a:xfrm>
            <a:off x="502920" y="1097280"/>
            <a:ext cx="11183112" cy="292608"/>
          </a:xfrm>
          <a:prstGeom prst="rect">
            <a:avLst/>
          </a:prstGeom>
          <a:noFill/>
          <a:ln/>
        </p:spPr>
        <p:txBody>
          <a:bodyPr wrap="square" rtlCol="0" anchor="ctr"/>
          <a:lstStyle/>
          <a:p>
            <a:pPr algn="l" indent="0" marL="0">
              <a:buNone/>
            </a:pPr>
            <a:r>
              <a:rPr lang="en-US" sz="1300" b="1" dirty="0">
                <a:solidFill>
                  <a:srgbClr val="0E7C86"/>
                </a:solidFill>
                <a:latin typeface="Arial" pitchFamily="34" charset="0"/>
                <a:ea typeface="Arial" pitchFamily="34" charset="-122"/>
                <a:cs typeface="Arial" pitchFamily="34" charset="-120"/>
              </a:rPr>
              <a:t>The Prodigious Engine Driving the Day-to-Day AI Innovation</a:t>
            </a:r>
            <a:endParaRPr lang="en-US" sz="1300" dirty="0"/>
          </a:p>
        </p:txBody>
      </p:sp>
      <p:sp>
        <p:nvSpPr>
          <p:cNvPr id="7" name="Shape 5"/>
          <p:cNvSpPr/>
          <p:nvPr/>
        </p:nvSpPr>
        <p:spPr>
          <a:xfrm>
            <a:off x="502920" y="1600200"/>
            <a:ext cx="5440680" cy="3703320"/>
          </a:xfrm>
          <a:prstGeom prst="roundRect">
            <a:avLst>
              <a:gd name="adj" fmla="val 3457"/>
            </a:avLst>
          </a:prstGeom>
          <a:solidFill>
            <a:srgbClr val="0B132B"/>
          </a:solidFill>
          <a:ln w="9525">
            <a:solidFill>
              <a:srgbClr val="2A3B63"/>
            </a:solidFill>
            <a:prstDash val="solid"/>
          </a:ln>
          <a:effectLst>
            <a:outerShdw sx="100000" sy="100000" kx="0" ky="0" algn="bl" rotWithShape="0" blurRad="127000" dist="38100" dir="5400000">
              <a:srgbClr val="1A2138">
                <a:alpha val="28000"/>
              </a:srgbClr>
            </a:outerShdw>
          </a:effectLst>
        </p:spPr>
      </p:sp>
      <p:sp>
        <p:nvSpPr>
          <p:cNvPr id="8" name="Shape 6"/>
          <p:cNvSpPr/>
          <p:nvPr/>
        </p:nvSpPr>
        <p:spPr>
          <a:xfrm>
            <a:off x="777240" y="1856232"/>
            <a:ext cx="868680" cy="868680"/>
          </a:xfrm>
          <a:prstGeom prst="roundRect">
            <a:avLst>
              <a:gd name="adj" fmla="val 12632"/>
            </a:avLst>
          </a:prstGeom>
          <a:solidFill>
            <a:srgbClr val="EEF1F5"/>
          </a:solidFill>
          <a:ln w="12700">
            <a:solidFill>
              <a:srgbClr val="2A3B63"/>
            </a:solidFill>
            <a:prstDash val="dash"/>
          </a:ln>
        </p:spPr>
      </p:sp>
      <p:sp>
        <p:nvSpPr>
          <p:cNvPr id="9" name="Text 7"/>
          <p:cNvSpPr/>
          <p:nvPr/>
        </p:nvSpPr>
        <p:spPr>
          <a:xfrm>
            <a:off x="850392" y="1856232"/>
            <a:ext cx="722376" cy="868680"/>
          </a:xfrm>
          <a:prstGeom prst="rect">
            <a:avLst/>
          </a:prstGeom>
          <a:noFill/>
          <a:ln/>
        </p:spPr>
        <p:txBody>
          <a:bodyPr wrap="square" rtlCol="0" anchor="ctr"/>
          <a:lstStyle/>
          <a:p>
            <a:pPr algn="ctr" indent="0" marL="0">
              <a:lnSpc>
                <a:spcPct val="115000"/>
              </a:lnSpc>
              <a:buNone/>
            </a:pPr>
            <a:r>
              <a:rPr lang="en-US" sz="750" i="1" dirty="0">
                <a:solidFill>
                  <a:srgbClr val="7C879C"/>
                </a:solidFill>
                <a:latin typeface="Calibri" pitchFamily="34" charset="0"/>
                <a:ea typeface="Calibri" pitchFamily="34" charset="-122"/>
                <a:cs typeface="Calibri" pitchFamily="34" charset="-120"/>
              </a:rPr>
              <a:t>PORTRAIT:</a:t>
            </a:r>
            <a:endParaRPr lang="en-US" sz="750" dirty="0"/>
          </a:p>
          <a:p>
            <a:pPr algn="ctr" indent="0" marL="0">
              <a:lnSpc>
                <a:spcPct val="115000"/>
              </a:lnSpc>
              <a:buNone/>
            </a:pPr>
            <a:r>
              <a:rPr lang="en-US" sz="750" i="1" dirty="0">
                <a:solidFill>
                  <a:srgbClr val="7C879C"/>
                </a:solidFill>
                <a:latin typeface="Calibri" pitchFamily="34" charset="0"/>
                <a:ea typeface="Calibri" pitchFamily="34" charset="-122"/>
                <a:cs typeface="Calibri" pitchFamily="34" charset="-120"/>
              </a:rPr>
              <a:t>Mohammed Ahmed Raza</a:t>
            </a:r>
            <a:endParaRPr lang="en-US" sz="750" dirty="0"/>
          </a:p>
        </p:txBody>
      </p:sp>
      <p:sp>
        <p:nvSpPr>
          <p:cNvPr id="10" name="Text 8"/>
          <p:cNvSpPr/>
          <p:nvPr/>
        </p:nvSpPr>
        <p:spPr>
          <a:xfrm>
            <a:off x="1801368" y="1837944"/>
            <a:ext cx="3886200" cy="329184"/>
          </a:xfrm>
          <a:prstGeom prst="rect">
            <a:avLst/>
          </a:prstGeom>
          <a:noFill/>
          <a:ln/>
        </p:spPr>
        <p:txBody>
          <a:bodyPr wrap="square" rtlCol="0" anchor="ctr"/>
          <a:lstStyle/>
          <a:p>
            <a:pPr indent="0" marL="0">
              <a:buNone/>
            </a:pPr>
            <a:r>
              <a:rPr lang="en-US" sz="1350" b="1" dirty="0">
                <a:solidFill>
                  <a:srgbClr val="F8F9FA"/>
                </a:solidFill>
                <a:latin typeface="Arial" pitchFamily="34" charset="0"/>
                <a:ea typeface="Arial" pitchFamily="34" charset="-122"/>
                <a:cs typeface="Arial" pitchFamily="34" charset="-120"/>
              </a:rPr>
              <a:t>Mohammed Ahmed Raza</a:t>
            </a:r>
            <a:endParaRPr lang="en-US" sz="1350" dirty="0"/>
          </a:p>
        </p:txBody>
      </p:sp>
      <p:sp>
        <p:nvSpPr>
          <p:cNvPr id="11" name="Text 9"/>
          <p:cNvSpPr/>
          <p:nvPr/>
        </p:nvSpPr>
        <p:spPr>
          <a:xfrm>
            <a:off x="1801368" y="2167128"/>
            <a:ext cx="3886200" cy="237744"/>
          </a:xfrm>
          <a:prstGeom prst="rect">
            <a:avLst/>
          </a:prstGeom>
          <a:noFill/>
          <a:ln/>
        </p:spPr>
        <p:txBody>
          <a:bodyPr wrap="square" rtlCol="0" anchor="ctr"/>
          <a:lstStyle/>
          <a:p>
            <a:pPr indent="0" marL="0">
              <a:buNone/>
            </a:pPr>
            <a:r>
              <a:rPr lang="en-US" sz="1000" i="1" dirty="0">
                <a:solidFill>
                  <a:srgbClr val="4FD1C5"/>
                </a:solidFill>
                <a:latin typeface="Calibri" pitchFamily="34" charset="0"/>
                <a:ea typeface="Calibri" pitchFamily="34" charset="-122"/>
                <a:cs typeface="Calibri" pitchFamily="34" charset="-120"/>
              </a:rPr>
              <a:t>AI Research Intern</a:t>
            </a:r>
            <a:endParaRPr lang="en-US" sz="1000" dirty="0"/>
          </a:p>
        </p:txBody>
      </p:sp>
      <p:sp>
        <p:nvSpPr>
          <p:cNvPr id="12" name="Text 10"/>
          <p:cNvSpPr/>
          <p:nvPr/>
        </p:nvSpPr>
        <p:spPr>
          <a:xfrm>
            <a:off x="777240" y="2834640"/>
            <a:ext cx="4892040" cy="2331720"/>
          </a:xfrm>
          <a:prstGeom prst="rect">
            <a:avLst/>
          </a:prstGeom>
          <a:noFill/>
          <a:ln/>
        </p:spPr>
        <p:txBody>
          <a:bodyPr wrap="square" rtlCol="0" anchor="t"/>
          <a:lstStyle/>
          <a:p>
            <a:pPr algn="l" indent="0" marL="0">
              <a:lnSpc>
                <a:spcPct val="122000"/>
              </a:lnSpc>
              <a:buNone/>
            </a:pPr>
            <a:r>
              <a:rPr lang="en-US" sz="900" dirty="0">
                <a:solidFill>
                  <a:srgbClr val="AAB6CC"/>
                </a:solidFill>
                <a:latin typeface="Calibri" pitchFamily="34" charset="0"/>
                <a:ea typeface="Calibri" pitchFamily="34" charset="-122"/>
                <a:cs typeface="Calibri" pitchFamily="34" charset="-120"/>
              </a:rPr>
              <a:t>Mohammed Ahmed Raza is a </a:t>
            </a:r>
            <a:pPr algn="l" indent="0" marL="0">
              <a:lnSpc>
                <a:spcPct val="122000"/>
              </a:lnSpc>
              <a:buNone/>
            </a:pPr>
            <a:r>
              <a:rPr lang="en-US" sz="900" b="1" dirty="0">
                <a:solidFill>
                  <a:srgbClr val="4FD1C5"/>
                </a:solidFill>
                <a:latin typeface="Calibri" pitchFamily="34" charset="0"/>
                <a:ea typeface="Calibri" pitchFamily="34" charset="-122"/>
                <a:cs typeface="Calibri" pitchFamily="34" charset="-120"/>
              </a:rPr>
              <a:t>Computer Science and Engineering</a:t>
            </a:r>
            <a:pPr algn="l" indent="0" marL="0">
              <a:lnSpc>
                <a:spcPct val="122000"/>
              </a:lnSpc>
              <a:buNone/>
            </a:pPr>
            <a:r>
              <a:rPr lang="en-US" sz="900" dirty="0">
                <a:solidFill>
                  <a:srgbClr val="AAB6CC"/>
                </a:solidFill>
                <a:latin typeface="Calibri" pitchFamily="34" charset="0"/>
                <a:ea typeface="Calibri" pitchFamily="34" charset="-122"/>
                <a:cs typeface="Calibri" pitchFamily="34" charset="-120"/>
              </a:rPr>
              <a:t> student at Neil Gogte Institute of Technology (NGIT) and a </a:t>
            </a:r>
            <a:pPr algn="l" indent="0" marL="0">
              <a:lnSpc>
                <a:spcPct val="122000"/>
              </a:lnSpc>
              <a:buNone/>
            </a:pPr>
            <a:r>
              <a:rPr lang="en-US" sz="900" b="1" dirty="0">
                <a:solidFill>
                  <a:srgbClr val="4FD1C5"/>
                </a:solidFill>
                <a:latin typeface="Calibri" pitchFamily="34" charset="0"/>
                <a:ea typeface="Calibri" pitchFamily="34" charset="-122"/>
                <a:cs typeface="Calibri" pitchFamily="34" charset="-120"/>
              </a:rPr>
              <a:t>Certified AI/ML Professional from iHub-Data, IIIT Hyderabad</a:t>
            </a:r>
            <a:pPr algn="l" indent="0" marL="0">
              <a:lnSpc>
                <a:spcPct val="122000"/>
              </a:lnSpc>
              <a:buNone/>
            </a:pPr>
            <a:r>
              <a:rPr lang="en-US" sz="900" dirty="0">
                <a:solidFill>
                  <a:srgbClr val="AAB6CC"/>
                </a:solidFill>
                <a:latin typeface="Calibri" pitchFamily="34" charset="0"/>
                <a:ea typeface="Calibri" pitchFamily="34" charset="-122"/>
                <a:cs typeface="Calibri" pitchFamily="34" charset="-120"/>
              </a:rPr>
              <a:t>. He previously served as a </a:t>
            </a:r>
            <a:pPr algn="l" indent="0" marL="0">
              <a:lnSpc>
                <a:spcPct val="122000"/>
              </a:lnSpc>
              <a:buNone/>
            </a:pPr>
            <a:r>
              <a:rPr lang="en-US" sz="900" b="1" dirty="0">
                <a:solidFill>
                  <a:srgbClr val="4FD1C5"/>
                </a:solidFill>
                <a:latin typeface="Calibri" pitchFamily="34" charset="0"/>
                <a:ea typeface="Calibri" pitchFamily="34" charset="-122"/>
                <a:cs typeface="Calibri" pitchFamily="34" charset="-120"/>
              </a:rPr>
              <a:t>Winter Research Intern at IIIT Hyderabad</a:t>
            </a:r>
            <a:pPr algn="l" indent="0" marL="0">
              <a:lnSpc>
                <a:spcPct val="122000"/>
              </a:lnSpc>
              <a:buNone/>
            </a:pPr>
            <a:r>
              <a:rPr lang="en-US" sz="900" dirty="0">
                <a:solidFill>
                  <a:srgbClr val="AAB6CC"/>
                </a:solidFill>
                <a:latin typeface="Calibri" pitchFamily="34" charset="0"/>
                <a:ea typeface="Calibri" pitchFamily="34" charset="-122"/>
                <a:cs typeface="Calibri" pitchFamily="34" charset="-120"/>
              </a:rPr>
              <a:t>, where he engineered advanced computer vision systems for UAV spatial awareness and obstacle detection. Currently, he advances materials science and deep learning innovations as an AI Research Intern at Crystal Paradigm, developing inverse design frameworks for HE-MCGA to computationally engineer next-generation superalloys for extreme aerospace applications. Most recently, he co-authored research introducing a breakthrough </a:t>
            </a:r>
            <a:pPr algn="l" indent="0" marL="0">
              <a:lnSpc>
                <a:spcPct val="122000"/>
              </a:lnSpc>
              <a:buNone/>
            </a:pPr>
            <a:r>
              <a:rPr lang="en-US" sz="900" b="1" dirty="0">
                <a:solidFill>
                  <a:srgbClr val="4FD1C5"/>
                </a:solidFill>
                <a:latin typeface="Calibri" pitchFamily="34" charset="0"/>
                <a:ea typeface="Calibri" pitchFamily="34" charset="-122"/>
                <a:cs typeface="Calibri" pitchFamily="34" charset="-120"/>
              </a:rPr>
              <a:t>Attention Graph Siamese Transformer (DPT-GNN)</a:t>
            </a:r>
            <a:pPr algn="l" indent="0" marL="0">
              <a:lnSpc>
                <a:spcPct val="122000"/>
              </a:lnSpc>
              <a:buNone/>
            </a:pPr>
            <a:r>
              <a:rPr lang="en-US" sz="900" dirty="0">
                <a:solidFill>
                  <a:srgbClr val="AAB6CC"/>
                </a:solidFill>
                <a:latin typeface="Calibri" pitchFamily="34" charset="0"/>
                <a:ea typeface="Calibri" pitchFamily="34" charset="-122"/>
                <a:cs typeface="Calibri" pitchFamily="34" charset="-120"/>
              </a:rPr>
              <a:t> that drastically optimizes lithium-ion battery capacity predictions through transition-aware learning.</a:t>
            </a:r>
            <a:endParaRPr lang="en-US" sz="900" dirty="0"/>
          </a:p>
        </p:txBody>
      </p:sp>
      <p:sp>
        <p:nvSpPr>
          <p:cNvPr id="13" name="Shape 11"/>
          <p:cNvSpPr/>
          <p:nvPr/>
        </p:nvSpPr>
        <p:spPr>
          <a:xfrm>
            <a:off x="6245352" y="1600200"/>
            <a:ext cx="5440680" cy="3703320"/>
          </a:xfrm>
          <a:prstGeom prst="roundRect">
            <a:avLst>
              <a:gd name="adj" fmla="val 3457"/>
            </a:avLst>
          </a:prstGeom>
          <a:solidFill>
            <a:srgbClr val="162447"/>
          </a:solidFill>
          <a:ln w="9525">
            <a:solidFill>
              <a:srgbClr val="2A3B63"/>
            </a:solidFill>
            <a:prstDash val="solid"/>
          </a:ln>
          <a:effectLst>
            <a:outerShdw sx="100000" sy="100000" kx="0" ky="0" algn="bl" rotWithShape="0" blurRad="127000" dist="38100" dir="5400000">
              <a:srgbClr val="1A2138">
                <a:alpha val="28000"/>
              </a:srgbClr>
            </a:outerShdw>
          </a:effectLst>
        </p:spPr>
      </p:sp>
      <p:sp>
        <p:nvSpPr>
          <p:cNvPr id="14" name="Shape 12"/>
          <p:cNvSpPr/>
          <p:nvPr/>
        </p:nvSpPr>
        <p:spPr>
          <a:xfrm>
            <a:off x="6519672" y="1856232"/>
            <a:ext cx="868680" cy="868680"/>
          </a:xfrm>
          <a:prstGeom prst="roundRect">
            <a:avLst>
              <a:gd name="adj" fmla="val 12632"/>
            </a:avLst>
          </a:prstGeom>
          <a:solidFill>
            <a:srgbClr val="EEF1F5"/>
          </a:solidFill>
          <a:ln w="12700">
            <a:solidFill>
              <a:srgbClr val="2A3B63"/>
            </a:solidFill>
            <a:prstDash val="dash"/>
          </a:ln>
        </p:spPr>
      </p:sp>
      <p:sp>
        <p:nvSpPr>
          <p:cNvPr id="15" name="Text 13"/>
          <p:cNvSpPr/>
          <p:nvPr/>
        </p:nvSpPr>
        <p:spPr>
          <a:xfrm>
            <a:off x="6592824" y="1856232"/>
            <a:ext cx="722376" cy="868680"/>
          </a:xfrm>
          <a:prstGeom prst="rect">
            <a:avLst/>
          </a:prstGeom>
          <a:noFill/>
          <a:ln/>
        </p:spPr>
        <p:txBody>
          <a:bodyPr wrap="square" rtlCol="0" anchor="ctr"/>
          <a:lstStyle/>
          <a:p>
            <a:pPr algn="ctr" indent="0" marL="0">
              <a:lnSpc>
                <a:spcPct val="115000"/>
              </a:lnSpc>
              <a:buNone/>
            </a:pPr>
            <a:r>
              <a:rPr lang="en-US" sz="750" i="1" dirty="0">
                <a:solidFill>
                  <a:srgbClr val="7C879C"/>
                </a:solidFill>
                <a:latin typeface="Calibri" pitchFamily="34" charset="0"/>
                <a:ea typeface="Calibri" pitchFamily="34" charset="-122"/>
                <a:cs typeface="Calibri" pitchFamily="34" charset="-120"/>
              </a:rPr>
              <a:t>PORTRAIT:</a:t>
            </a:r>
            <a:endParaRPr lang="en-US" sz="750" dirty="0"/>
          </a:p>
          <a:p>
            <a:pPr algn="ctr" indent="0" marL="0">
              <a:lnSpc>
                <a:spcPct val="115000"/>
              </a:lnSpc>
              <a:buNone/>
            </a:pPr>
            <a:r>
              <a:rPr lang="en-US" sz="750" i="1" dirty="0">
                <a:solidFill>
                  <a:srgbClr val="7C879C"/>
                </a:solidFill>
                <a:latin typeface="Calibri" pitchFamily="34" charset="0"/>
                <a:ea typeface="Calibri" pitchFamily="34" charset="-122"/>
                <a:cs typeface="Calibri" pitchFamily="34" charset="-120"/>
              </a:rPr>
              <a:t>K. Indrasena Reddy</a:t>
            </a:r>
            <a:endParaRPr lang="en-US" sz="750" dirty="0"/>
          </a:p>
        </p:txBody>
      </p:sp>
      <p:sp>
        <p:nvSpPr>
          <p:cNvPr id="16" name="Text 14"/>
          <p:cNvSpPr/>
          <p:nvPr/>
        </p:nvSpPr>
        <p:spPr>
          <a:xfrm>
            <a:off x="7543800" y="1837944"/>
            <a:ext cx="3886200" cy="329184"/>
          </a:xfrm>
          <a:prstGeom prst="rect">
            <a:avLst/>
          </a:prstGeom>
          <a:noFill/>
          <a:ln/>
        </p:spPr>
        <p:txBody>
          <a:bodyPr wrap="square" rtlCol="0" anchor="ctr"/>
          <a:lstStyle/>
          <a:p>
            <a:pPr indent="0" marL="0">
              <a:buNone/>
            </a:pPr>
            <a:r>
              <a:rPr lang="en-US" sz="1300" b="1" dirty="0">
                <a:solidFill>
                  <a:srgbClr val="F8F9FA"/>
                </a:solidFill>
                <a:latin typeface="Arial" pitchFamily="34" charset="0"/>
                <a:ea typeface="Arial" pitchFamily="34" charset="-122"/>
                <a:cs typeface="Arial" pitchFamily="34" charset="-120"/>
              </a:rPr>
              <a:t>K. Indrasena Reddy [Indra]</a:t>
            </a:r>
            <a:endParaRPr lang="en-US" sz="1300" dirty="0"/>
          </a:p>
        </p:txBody>
      </p:sp>
      <p:sp>
        <p:nvSpPr>
          <p:cNvPr id="17" name="Text 15"/>
          <p:cNvSpPr/>
          <p:nvPr/>
        </p:nvSpPr>
        <p:spPr>
          <a:xfrm>
            <a:off x="7543800" y="2167128"/>
            <a:ext cx="3886200" cy="237744"/>
          </a:xfrm>
          <a:prstGeom prst="rect">
            <a:avLst/>
          </a:prstGeom>
          <a:noFill/>
          <a:ln/>
        </p:spPr>
        <p:txBody>
          <a:bodyPr wrap="square" rtlCol="0" anchor="ctr"/>
          <a:lstStyle/>
          <a:p>
            <a:pPr indent="0" marL="0">
              <a:buNone/>
            </a:pPr>
            <a:r>
              <a:rPr lang="en-US" sz="1000" i="1" dirty="0">
                <a:solidFill>
                  <a:srgbClr val="4FD1C5"/>
                </a:solidFill>
                <a:latin typeface="Calibri" pitchFamily="34" charset="0"/>
                <a:ea typeface="Calibri" pitchFamily="34" charset="-122"/>
                <a:cs typeface="Calibri" pitchFamily="34" charset="-120"/>
              </a:rPr>
              <a:t>AI Research Intern</a:t>
            </a:r>
            <a:endParaRPr lang="en-US" sz="1000" dirty="0"/>
          </a:p>
        </p:txBody>
      </p:sp>
      <p:sp>
        <p:nvSpPr>
          <p:cNvPr id="18" name="Text 16"/>
          <p:cNvSpPr/>
          <p:nvPr/>
        </p:nvSpPr>
        <p:spPr>
          <a:xfrm>
            <a:off x="6519672" y="2834640"/>
            <a:ext cx="4892040" cy="2331720"/>
          </a:xfrm>
          <a:prstGeom prst="rect">
            <a:avLst/>
          </a:prstGeom>
          <a:noFill/>
          <a:ln/>
        </p:spPr>
        <p:txBody>
          <a:bodyPr wrap="square" rtlCol="0" anchor="t"/>
          <a:lstStyle/>
          <a:p>
            <a:pPr algn="l" indent="0" marL="0">
              <a:lnSpc>
                <a:spcPct val="128000"/>
              </a:lnSpc>
              <a:buNone/>
            </a:pPr>
            <a:r>
              <a:rPr lang="en-US" sz="1000" dirty="0">
                <a:solidFill>
                  <a:srgbClr val="AAB6CC"/>
                </a:solidFill>
                <a:latin typeface="Calibri" pitchFamily="34" charset="0"/>
                <a:ea typeface="Calibri" pitchFamily="34" charset="-122"/>
                <a:cs typeface="Calibri" pitchFamily="34" charset="-120"/>
              </a:rPr>
              <a:t>K. Indrasena Reddy is a </a:t>
            </a:r>
            <a:pPr algn="l" indent="0" marL="0">
              <a:lnSpc>
                <a:spcPct val="128000"/>
              </a:lnSpc>
              <a:buNone/>
            </a:pPr>
            <a:r>
              <a:rPr lang="en-US" sz="1000" b="1" dirty="0">
                <a:solidFill>
                  <a:srgbClr val="4FD1C5"/>
                </a:solidFill>
                <a:latin typeface="Calibri" pitchFamily="34" charset="0"/>
                <a:ea typeface="Calibri" pitchFamily="34" charset="-122"/>
                <a:cs typeface="Calibri" pitchFamily="34" charset="-120"/>
              </a:rPr>
              <a:t>Computer Science Engineering</a:t>
            </a:r>
            <a:pPr algn="l" indent="0" marL="0">
              <a:lnSpc>
                <a:spcPct val="128000"/>
              </a:lnSpc>
              <a:buNone/>
            </a:pPr>
            <a:r>
              <a:rPr lang="en-US" sz="1000" dirty="0">
                <a:solidFill>
                  <a:srgbClr val="AAB6CC"/>
                </a:solidFill>
                <a:latin typeface="Calibri" pitchFamily="34" charset="0"/>
                <a:ea typeface="Calibri" pitchFamily="34" charset="-122"/>
                <a:cs typeface="Calibri" pitchFamily="34" charset="-120"/>
              </a:rPr>
              <a:t> student at Neil Gogte Institute of Technology (NGIT). He previously served as an </a:t>
            </a:r>
            <a:pPr algn="l" indent="0" marL="0">
              <a:lnSpc>
                <a:spcPct val="128000"/>
              </a:lnSpc>
              <a:buNone/>
            </a:pPr>
            <a:r>
              <a:rPr lang="en-US" sz="1000" b="1" dirty="0">
                <a:solidFill>
                  <a:srgbClr val="4FD1C5"/>
                </a:solidFill>
                <a:latin typeface="Calibri" pitchFamily="34" charset="0"/>
                <a:ea typeface="Calibri" pitchFamily="34" charset="-122"/>
                <a:cs typeface="Calibri" pitchFamily="34" charset="-120"/>
              </a:rPr>
              <a:t>AI Developer Intern at Viswam.AI</a:t>
            </a:r>
            <a:pPr algn="l" indent="0" marL="0">
              <a:lnSpc>
                <a:spcPct val="128000"/>
              </a:lnSpc>
              <a:buNone/>
            </a:pPr>
            <a:r>
              <a:rPr lang="en-US" sz="1000" dirty="0">
                <a:solidFill>
                  <a:srgbClr val="AAB6CC"/>
                </a:solidFill>
                <a:latin typeface="Calibri" pitchFamily="34" charset="0"/>
                <a:ea typeface="Calibri" pitchFamily="34" charset="-122"/>
                <a:cs typeface="Calibri" pitchFamily="34" charset="-120"/>
              </a:rPr>
              <a:t>, where he built natural language processing applications and contributed to experimental language model research. Currently, he advances materials informatics and graph neural network modeling for large-scale property prediction as an AI Research Intern at Crystal Paradigm.</a:t>
            </a:r>
            <a:endParaRPr lang="en-US" sz="1000" dirty="0"/>
          </a:p>
        </p:txBody>
      </p:sp>
      <p:sp>
        <p:nvSpPr>
          <p:cNvPr id="19" name="Shape 17"/>
          <p:cNvSpPr/>
          <p:nvPr/>
        </p:nvSpPr>
        <p:spPr>
          <a:xfrm>
            <a:off x="502920" y="5440680"/>
            <a:ext cx="11183112" cy="960120"/>
          </a:xfrm>
          <a:prstGeom prst="roundRect">
            <a:avLst>
              <a:gd name="adj" fmla="val 13333"/>
            </a:avLst>
          </a:prstGeom>
          <a:solidFill>
            <a:srgbClr val="162447"/>
          </a:solidFill>
          <a:ln w="9525">
            <a:solidFill>
              <a:srgbClr val="A9822F"/>
            </a:solidFill>
            <a:prstDash val="solid"/>
          </a:ln>
          <a:effectLst>
            <a:outerShdw sx="100000" sy="100000" kx="0" ky="0" algn="bl" rotWithShape="0" blurRad="127000" dist="38100" dir="5400000">
              <a:srgbClr val="1A2138">
                <a:alpha val="28000"/>
              </a:srgbClr>
            </a:outerShdw>
          </a:effectLst>
        </p:spPr>
      </p:sp>
      <p:sp>
        <p:nvSpPr>
          <p:cNvPr id="20" name="Text 18"/>
          <p:cNvSpPr/>
          <p:nvPr/>
        </p:nvSpPr>
        <p:spPr>
          <a:xfrm>
            <a:off x="795528" y="5568696"/>
            <a:ext cx="10597896" cy="237744"/>
          </a:xfrm>
          <a:prstGeom prst="rect">
            <a:avLst/>
          </a:prstGeom>
          <a:noFill/>
          <a:ln/>
        </p:spPr>
        <p:txBody>
          <a:bodyPr wrap="square" rtlCol="0" anchor="ctr"/>
          <a:lstStyle/>
          <a:p>
            <a:pPr indent="0" marL="0">
              <a:buNone/>
            </a:pPr>
            <a:r>
              <a:rPr lang="en-US" sz="1050" b="1" spc="80" kern="0" dirty="0">
                <a:solidFill>
                  <a:srgbClr val="D9B872"/>
                </a:solidFill>
                <a:latin typeface="Arial" pitchFamily="34" charset="0"/>
                <a:ea typeface="Arial" pitchFamily="34" charset="-122"/>
                <a:cs typeface="Arial" pitchFamily="34" charset="-120"/>
              </a:rPr>
              <a:t>STRATEGIC SCALE CAPABILITY</a:t>
            </a:r>
            <a:endParaRPr lang="en-US" sz="1050" dirty="0"/>
          </a:p>
        </p:txBody>
      </p:sp>
      <p:sp>
        <p:nvSpPr>
          <p:cNvPr id="21" name="Text 19"/>
          <p:cNvSpPr/>
          <p:nvPr/>
        </p:nvSpPr>
        <p:spPr>
          <a:xfrm>
            <a:off x="795528" y="5824728"/>
            <a:ext cx="10597896" cy="530352"/>
          </a:xfrm>
          <a:prstGeom prst="rect">
            <a:avLst/>
          </a:prstGeom>
          <a:noFill/>
          <a:ln/>
        </p:spPr>
        <p:txBody>
          <a:bodyPr wrap="square" rtlCol="0" anchor="t"/>
          <a:lstStyle/>
          <a:p>
            <a:pPr algn="l" indent="0" marL="0">
              <a:lnSpc>
                <a:spcPct val="124000"/>
              </a:lnSpc>
              <a:buNone/>
            </a:pPr>
            <a:r>
              <a:rPr lang="en-US" sz="1030" b="1" dirty="0">
                <a:solidFill>
                  <a:srgbClr val="D9B872"/>
                </a:solidFill>
                <a:latin typeface="Calibri" pitchFamily="34" charset="0"/>
                <a:ea typeface="Calibri" pitchFamily="34" charset="-122"/>
                <a:cs typeface="Calibri" pitchFamily="34" charset="-120"/>
              </a:rPr>
              <a:t>The Extended Crystal Paradigm Engineering Team:</a:t>
            </a:r>
            <a:pPr algn="l" indent="0" marL="0">
              <a:lnSpc>
                <a:spcPct val="124000"/>
              </a:lnSpc>
              <a:buNone/>
            </a:pPr>
            <a:r>
              <a:rPr lang="en-US" sz="1030" dirty="0">
                <a:solidFill>
                  <a:srgbClr val="AAB6CC"/>
                </a:solidFill>
                <a:latin typeface="Calibri" pitchFamily="34" charset="0"/>
                <a:ea typeface="Calibri" pitchFamily="34" charset="-122"/>
                <a:cs typeface="Calibri" pitchFamily="34" charset="-120"/>
              </a:rPr>
              <a:t> The core architecture is rapidly scaled and supported by a dedicated extended team of </a:t>
            </a:r>
            <a:pPr algn="l" indent="0" marL="0">
              <a:lnSpc>
                <a:spcPct val="124000"/>
              </a:lnSpc>
              <a:buNone/>
            </a:pPr>
            <a:r>
              <a:rPr lang="en-US" sz="1030" b="1" dirty="0">
                <a:solidFill>
                  <a:srgbClr val="D9B872"/>
                </a:solidFill>
                <a:latin typeface="Calibri" pitchFamily="34" charset="0"/>
                <a:ea typeface="Calibri" pitchFamily="34" charset="-122"/>
                <a:cs typeface="Calibri" pitchFamily="34" charset="-120"/>
              </a:rPr>
              <a:t>18 specialized AI Research Interns</a:t>
            </a:r>
            <a:pPr algn="l" indent="0" marL="0">
              <a:lnSpc>
                <a:spcPct val="124000"/>
              </a:lnSpc>
              <a:buNone/>
            </a:pPr>
            <a:r>
              <a:rPr lang="en-US" sz="1030" dirty="0">
                <a:solidFill>
                  <a:srgbClr val="AAB6CC"/>
                </a:solidFill>
                <a:latin typeface="Calibri" pitchFamily="34" charset="0"/>
                <a:ea typeface="Calibri" pitchFamily="34" charset="-122"/>
                <a:cs typeface="Calibri" pitchFamily="34" charset="-120"/>
              </a:rPr>
              <a:t>, ensuring massive parallel execution bandwidth for complex multi-physics simulations and AI training pipelines.</a:t>
            </a:r>
            <a:endParaRPr lang="en-US" sz="103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5413248" y="777240"/>
            <a:ext cx="1371600" cy="1371600"/>
          </a:xfrm>
          <a:prstGeom prst="roundRect">
            <a:avLst>
              <a:gd name="adj" fmla="val 8000"/>
            </a:avLst>
          </a:prstGeom>
          <a:solidFill>
            <a:srgbClr val="EEF1F5"/>
          </a:solidFill>
          <a:ln w="12700">
            <a:solidFill>
              <a:srgbClr val="2A3B63"/>
            </a:solidFill>
            <a:prstDash val="dash"/>
          </a:ln>
        </p:spPr>
      </p:sp>
      <p:sp>
        <p:nvSpPr>
          <p:cNvPr id="3" name="Text 1"/>
          <p:cNvSpPr/>
          <p:nvPr/>
        </p:nvSpPr>
        <p:spPr>
          <a:xfrm>
            <a:off x="5486400" y="777240"/>
            <a:ext cx="1225296" cy="1371600"/>
          </a:xfrm>
          <a:prstGeom prst="rect">
            <a:avLst/>
          </a:prstGeom>
          <a:noFill/>
          <a:ln/>
        </p:spPr>
        <p:txBody>
          <a:bodyPr wrap="square" rtlCol="0" anchor="ctr"/>
          <a:lstStyle/>
          <a:p>
            <a:pPr algn="ctr" indent="0" marL="0">
              <a:lnSpc>
                <a:spcPct val="115000"/>
              </a:lnSpc>
              <a:buNone/>
            </a:pPr>
            <a:r>
              <a:rPr lang="en-US" sz="750" i="1" dirty="0">
                <a:solidFill>
                  <a:srgbClr val="7C879C"/>
                </a:solidFill>
                <a:latin typeface="Calibri" pitchFamily="34" charset="0"/>
                <a:ea typeface="Calibri" pitchFamily="34" charset="-122"/>
                <a:cs typeface="Calibri" pitchFamily="34" charset="-120"/>
              </a:rPr>
              <a:t>PORTRAIT:</a:t>
            </a:r>
            <a:endParaRPr lang="en-US" sz="750" dirty="0"/>
          </a:p>
          <a:p>
            <a:pPr algn="ctr" indent="0" marL="0">
              <a:lnSpc>
                <a:spcPct val="115000"/>
              </a:lnSpc>
              <a:buNone/>
            </a:pPr>
            <a:r>
              <a:rPr lang="en-US" sz="750" i="1" dirty="0">
                <a:solidFill>
                  <a:srgbClr val="7C879C"/>
                </a:solidFill>
                <a:latin typeface="Calibri" pitchFamily="34" charset="0"/>
                <a:ea typeface="Calibri" pitchFamily="34" charset="-122"/>
                <a:cs typeface="Calibri" pitchFamily="34" charset="-120"/>
              </a:rPr>
              <a:t>Crystal Paradigm Logo</a:t>
            </a:r>
            <a:endParaRPr lang="en-US" sz="750" dirty="0"/>
          </a:p>
        </p:txBody>
      </p:sp>
      <p:sp>
        <p:nvSpPr>
          <p:cNvPr id="4" name="Text 2"/>
          <p:cNvSpPr/>
          <p:nvPr/>
        </p:nvSpPr>
        <p:spPr>
          <a:xfrm>
            <a:off x="0" y="2468880"/>
            <a:ext cx="12188952" cy="548640"/>
          </a:xfrm>
          <a:prstGeom prst="rect">
            <a:avLst/>
          </a:prstGeom>
          <a:noFill/>
          <a:ln/>
        </p:spPr>
        <p:txBody>
          <a:bodyPr wrap="square" rtlCol="0" anchor="ctr"/>
          <a:lstStyle/>
          <a:p>
            <a:pPr algn="ctr" indent="0" marL="0">
              <a:buNone/>
            </a:pPr>
            <a:r>
              <a:rPr lang="en-US" sz="3000" b="1" spc="250" kern="0" dirty="0">
                <a:solidFill>
                  <a:srgbClr val="0B132B"/>
                </a:solidFill>
                <a:latin typeface="Arial" pitchFamily="34" charset="0"/>
                <a:ea typeface="Arial" pitchFamily="34" charset="-122"/>
                <a:cs typeface="Arial" pitchFamily="34" charset="-120"/>
              </a:rPr>
              <a:t>CRYSTAL </a:t>
            </a:r>
            <a:pPr algn="ctr" indent="0" marL="0">
              <a:buNone/>
            </a:pPr>
            <a:r>
              <a:rPr lang="en-US" sz="3000" b="1" spc="250" kern="0" dirty="0">
                <a:solidFill>
                  <a:srgbClr val="0E7C86"/>
                </a:solidFill>
                <a:latin typeface="Arial" pitchFamily="34" charset="0"/>
                <a:ea typeface="Arial" pitchFamily="34" charset="-122"/>
                <a:cs typeface="Arial" pitchFamily="34" charset="-120"/>
              </a:rPr>
              <a:t>PARADIGM</a:t>
            </a:r>
            <a:endParaRPr lang="en-US" sz="3000" dirty="0"/>
          </a:p>
        </p:txBody>
      </p:sp>
      <p:sp>
        <p:nvSpPr>
          <p:cNvPr id="5" name="Text 3"/>
          <p:cNvSpPr/>
          <p:nvPr/>
        </p:nvSpPr>
        <p:spPr>
          <a:xfrm>
            <a:off x="1371600" y="3063240"/>
            <a:ext cx="9445752" cy="411480"/>
          </a:xfrm>
          <a:prstGeom prst="rect">
            <a:avLst/>
          </a:prstGeom>
          <a:noFill/>
          <a:ln/>
        </p:spPr>
        <p:txBody>
          <a:bodyPr wrap="square" rtlCol="0" anchor="ctr"/>
          <a:lstStyle/>
          <a:p>
            <a:pPr algn="ctr" indent="0" marL="0">
              <a:buNone/>
            </a:pPr>
            <a:r>
              <a:rPr lang="en-US" sz="1450" b="1" i="1" dirty="0">
                <a:solidFill>
                  <a:srgbClr val="0E7C86"/>
                </a:solidFill>
                <a:latin typeface="Arial" pitchFamily="34" charset="0"/>
                <a:ea typeface="Arial" pitchFamily="34" charset="-122"/>
                <a:cs typeface="Arial" pitchFamily="34" charset="-120"/>
              </a:rPr>
              <a:t>Accelerating Deep-Tech Materials from 5 Years to 4 Weeks.</a:t>
            </a:r>
            <a:endParaRPr lang="en-US" sz="1450" dirty="0"/>
          </a:p>
        </p:txBody>
      </p:sp>
      <p:sp>
        <p:nvSpPr>
          <p:cNvPr id="6" name="Text 4"/>
          <p:cNvSpPr/>
          <p:nvPr/>
        </p:nvSpPr>
        <p:spPr>
          <a:xfrm>
            <a:off x="1371600" y="3611880"/>
            <a:ext cx="9445752" cy="640080"/>
          </a:xfrm>
          <a:prstGeom prst="rect">
            <a:avLst/>
          </a:prstGeom>
          <a:noFill/>
          <a:ln/>
        </p:spPr>
        <p:txBody>
          <a:bodyPr wrap="square" rtlCol="0" anchor="ctr"/>
          <a:lstStyle/>
          <a:p>
            <a:pPr algn="ctr" indent="0" marL="0">
              <a:lnSpc>
                <a:spcPct val="135000"/>
              </a:lnSpc>
              <a:buNone/>
            </a:pPr>
            <a:r>
              <a:rPr lang="en-US" sz="1300" dirty="0">
                <a:solidFill>
                  <a:srgbClr val="0B132B"/>
                </a:solidFill>
                <a:latin typeface="Calibri" pitchFamily="34" charset="0"/>
                <a:ea typeface="Calibri" pitchFamily="34" charset="-122"/>
                <a:cs typeface="Calibri" pitchFamily="34" charset="-120"/>
              </a:rPr>
              <a:t>We have completely solved the computational bottleneck.</a:t>
            </a:r>
            <a:endParaRPr lang="en-US" sz="1300" dirty="0"/>
          </a:p>
          <a:p>
            <a:pPr algn="ctr" indent="0" marL="0">
              <a:lnSpc>
                <a:spcPct val="135000"/>
              </a:lnSpc>
              <a:buNone/>
            </a:pPr>
            <a:r>
              <a:rPr lang="en-US" sz="1300" dirty="0">
                <a:solidFill>
                  <a:srgbClr val="0B132B"/>
                </a:solidFill>
                <a:latin typeface="Calibri" pitchFamily="34" charset="0"/>
                <a:ea typeface="Calibri" pitchFamily="34" charset="-122"/>
                <a:cs typeface="Calibri" pitchFamily="34" charset="-120"/>
              </a:rPr>
              <a:t>We are ready to build the physical reality.</a:t>
            </a:r>
            <a:endParaRPr lang="en-US" sz="1300" dirty="0"/>
          </a:p>
        </p:txBody>
      </p:sp>
      <p:sp>
        <p:nvSpPr>
          <p:cNvPr id="7" name="Shape 5"/>
          <p:cNvSpPr/>
          <p:nvPr/>
        </p:nvSpPr>
        <p:spPr>
          <a:xfrm>
            <a:off x="4270248" y="4389120"/>
            <a:ext cx="3657600" cy="502920"/>
          </a:xfrm>
          <a:prstGeom prst="roundRect">
            <a:avLst>
              <a:gd name="adj" fmla="val 50909"/>
            </a:avLst>
          </a:prstGeom>
          <a:solidFill>
            <a:srgbClr val="0B132B"/>
          </a:solidFill>
          <a:ln w="9525">
            <a:solidFill>
              <a:srgbClr val="2A3B63"/>
            </a:solidFill>
            <a:prstDash val="solid"/>
          </a:ln>
          <a:effectLst>
            <a:outerShdw sx="100000" sy="100000" kx="0" ky="0" algn="bl" rotWithShape="0" blurRad="127000" dist="38100" dir="5400000">
              <a:srgbClr val="1A2138">
                <a:alpha val="28000"/>
              </a:srgbClr>
            </a:outerShdw>
          </a:effectLst>
        </p:spPr>
      </p:sp>
      <p:sp>
        <p:nvSpPr>
          <p:cNvPr id="8" name="Text 6"/>
          <p:cNvSpPr/>
          <p:nvPr/>
        </p:nvSpPr>
        <p:spPr>
          <a:xfrm>
            <a:off x="4270248" y="4389120"/>
            <a:ext cx="3657600" cy="502920"/>
          </a:xfrm>
          <a:prstGeom prst="rect">
            <a:avLst/>
          </a:prstGeom>
          <a:noFill/>
          <a:ln/>
        </p:spPr>
        <p:txBody>
          <a:bodyPr wrap="square" rtlCol="0" anchor="ctr"/>
          <a:lstStyle/>
          <a:p>
            <a:pPr algn="ctr" indent="0" marL="0">
              <a:buNone/>
            </a:pPr>
            <a:r>
              <a:rPr lang="en-US" sz="1250" b="1" dirty="0">
                <a:solidFill>
                  <a:srgbClr val="F8F9FA"/>
                </a:solidFill>
                <a:latin typeface="Arial" pitchFamily="34" charset="0"/>
                <a:ea typeface="Arial" pitchFamily="34" charset="-122"/>
                <a:cs typeface="Arial" pitchFamily="34" charset="-120"/>
              </a:rPr>
              <a:t>Join us at the </a:t>
            </a:r>
            <a:pPr algn="ctr" indent="0" marL="0">
              <a:buNone/>
            </a:pPr>
            <a:r>
              <a:rPr lang="en-US" sz="1250" b="1" dirty="0">
                <a:solidFill>
                  <a:srgbClr val="4FD1C5"/>
                </a:solidFill>
                <a:latin typeface="Arial" pitchFamily="34" charset="0"/>
                <a:ea typeface="Arial" pitchFamily="34" charset="-122"/>
                <a:cs typeface="Arial" pitchFamily="34" charset="-120"/>
              </a:rPr>
              <a:t>SCIDIP Advanced Materials Track</a:t>
            </a:r>
            <a:pPr algn="ctr" indent="0" marL="0">
              <a:buNone/>
            </a:pPr>
            <a:r>
              <a:rPr lang="en-US" sz="1250" b="1" dirty="0">
                <a:solidFill>
                  <a:srgbClr val="F8F9FA"/>
                </a:solidFill>
                <a:latin typeface="Arial" pitchFamily="34" charset="0"/>
                <a:ea typeface="Arial" pitchFamily="34" charset="-122"/>
                <a:cs typeface="Arial" pitchFamily="34" charset="-120"/>
              </a:rPr>
              <a:t>.</a:t>
            </a:r>
            <a:endParaRPr lang="en-US" sz="1250" dirty="0"/>
          </a:p>
        </p:txBody>
      </p:sp>
      <p:pic>
        <p:nvPicPr>
          <p:cNvPr id="9" name="Image 0" descr="assets/qr_code.png">    </p:cNvPr>
          <p:cNvPicPr>
            <a:picLocks noChangeAspect="1"/>
          </p:cNvPicPr>
          <p:nvPr/>
        </p:nvPicPr>
        <p:blipFill>
          <a:blip r:embed="rId1"/>
          <a:stretch>
            <a:fillRect/>
          </a:stretch>
        </p:blipFill>
        <p:spPr>
          <a:xfrm>
            <a:off x="5413248" y="5166360"/>
            <a:ext cx="1371600" cy="1371600"/>
          </a:xfrm>
          <a:prstGeom prst="rect">
            <a:avLst/>
          </a:prstGeom>
        </p:spPr>
      </p:pic>
      <p:sp>
        <p:nvSpPr>
          <p:cNvPr id="10" name="Text 7"/>
          <p:cNvSpPr/>
          <p:nvPr/>
        </p:nvSpPr>
        <p:spPr>
          <a:xfrm>
            <a:off x="1097280" y="5166360"/>
            <a:ext cx="4114800" cy="1371600"/>
          </a:xfrm>
          <a:prstGeom prst="rect">
            <a:avLst/>
          </a:prstGeom>
          <a:noFill/>
          <a:ln/>
        </p:spPr>
        <p:txBody>
          <a:bodyPr wrap="square" rtlCol="0" anchor="ctr"/>
          <a:lstStyle/>
          <a:p>
            <a:pPr algn="r" indent="0" marL="0">
              <a:lnSpc>
                <a:spcPct val="140000"/>
              </a:lnSpc>
              <a:buNone/>
            </a:pPr>
            <a:r>
              <a:rPr lang="en-US" sz="1000" dirty="0">
                <a:solidFill>
                  <a:srgbClr val="5B6B8C"/>
                </a:solidFill>
                <a:latin typeface="Calibri" pitchFamily="34" charset="0"/>
                <a:ea typeface="Calibri" pitchFamily="34" charset="-122"/>
                <a:cs typeface="Calibri" pitchFamily="34" charset="-120"/>
              </a:rPr>
              <a:t>crystalparadigm.in</a:t>
            </a:r>
            <a:endParaRPr lang="en-US" sz="1000" dirty="0"/>
          </a:p>
          <a:p>
            <a:pPr algn="r" indent="0" marL="0">
              <a:lnSpc>
                <a:spcPct val="140000"/>
              </a:lnSpc>
              <a:buNone/>
            </a:pPr>
            <a:r>
              <a:rPr lang="en-US" sz="1000" dirty="0">
                <a:solidFill>
                  <a:srgbClr val="5B6B8C"/>
                </a:solidFill>
                <a:latin typeface="Calibri" pitchFamily="34" charset="0"/>
                <a:ea typeface="Calibri" pitchFamily="34" charset="-122"/>
                <a:cs typeface="Calibri" pitchFamily="34" charset="-120"/>
              </a:rPr>
              <a:t>khub.crystalparadigm@gmail.com</a:t>
            </a:r>
            <a:endParaRPr lang="en-US" sz="1000" dirty="0"/>
          </a:p>
        </p:txBody>
      </p:sp>
      <p:sp>
        <p:nvSpPr>
          <p:cNvPr id="11" name="Text 8"/>
          <p:cNvSpPr/>
          <p:nvPr/>
        </p:nvSpPr>
        <p:spPr>
          <a:xfrm>
            <a:off x="6976872" y="5166360"/>
            <a:ext cx="4114800" cy="1371600"/>
          </a:xfrm>
          <a:prstGeom prst="rect">
            <a:avLst/>
          </a:prstGeom>
          <a:noFill/>
          <a:ln/>
        </p:spPr>
        <p:txBody>
          <a:bodyPr wrap="square" rtlCol="0" anchor="ctr"/>
          <a:lstStyle/>
          <a:p>
            <a:pPr algn="l" indent="0" marL="0">
              <a:lnSpc>
                <a:spcPct val="140000"/>
              </a:lnSpc>
              <a:buNone/>
            </a:pPr>
            <a:r>
              <a:rPr lang="en-US" sz="1000" i="1" dirty="0">
                <a:solidFill>
                  <a:srgbClr val="5B6B8C"/>
                </a:solidFill>
                <a:latin typeface="Calibri" pitchFamily="34" charset="0"/>
                <a:ea typeface="Calibri" pitchFamily="34" charset="-122"/>
                <a:cs typeface="Calibri" pitchFamily="34" charset="-120"/>
              </a:rPr>
              <a:t>Scan QR Code to access the</a:t>
            </a:r>
            <a:endParaRPr lang="en-US" sz="1000" dirty="0"/>
          </a:p>
          <a:p>
            <a:pPr algn="l" indent="0" marL="0">
              <a:lnSpc>
                <a:spcPct val="140000"/>
              </a:lnSpc>
              <a:buNone/>
            </a:pPr>
            <a:r>
              <a:rPr lang="en-US" sz="1000" i="1" dirty="0">
                <a:solidFill>
                  <a:srgbClr val="5B6B8C"/>
                </a:solidFill>
                <a:latin typeface="Calibri" pitchFamily="34" charset="0"/>
                <a:ea typeface="Calibri" pitchFamily="34" charset="-122"/>
                <a:cs typeface="Calibri" pitchFamily="34" charset="-120"/>
              </a:rPr>
              <a:t>50+ Page Technical Appendix</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2026-08-02T20:48:40Z</dcterms:created>
  <dcterms:modified xsi:type="dcterms:W3CDTF">2026-08-02T20:48:40Z</dcterms:modified>
</cp:coreProperties>
</file>