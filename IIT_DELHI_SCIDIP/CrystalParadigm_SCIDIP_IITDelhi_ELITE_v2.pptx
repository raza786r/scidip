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71" r:id="rId34"/>
    <p:sldId id="272" r:id="rId33"/>
    <p:sldId id="259" r:id="rId6"/>
    <p:sldId id="260" r:id="rId7"/>
    <p:sldId id="261" r:id="rId8"/>
    <p:sldId id="262" r:id="rId9"/>
    <p:sldId id="263" r:id="rId10"/>
    <p:sldId id="264" r:id="rId11"/>
    <p:sldId id="265" r:id="rId12"/>
    <p:sldId id="266" r:id="rId13"/>
    <p:sldId id="267" r:id="rId14"/>
    <p:sldId id="268" r:id="rId15"/>
    <p:sldId id="273" r:id="rId40"/>
    <p:sldId id="274" r:id="rId41"/>
    <p:sldId id="275" r:id="rId42"/>
    <p:sldId id="276" r:id="rId43"/>
    <p:sldId id="277" r:id="rId44"/>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4.xml"/><Relationship Id="rId34" Type="http://schemas.openxmlformats.org/officeDocument/2006/relationships/slide" Target="slides/slide3.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2200" dirty="0" b="1">
                <a:solidFill>
                  <a:srgbClr val="1A365D"/>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2200" b="1" dirty="0">
                <a:solidFill>
                  <a:srgbClr val="1A365D"/>
                </a:solidFill>
                <a:latin typeface="Inter"/>
                <a:ea typeface="Inter"/>
                <a:cs typeface="Inter"/>
                <a:sym typeface="Inter"/>
              </a:rPr>
              <a:t>3D aerospace Safety Factor of 1.71</a:t>
            </a:r>
            <a:r>
              <a:rPr lang="en-US" sz="2200" dirty="0" b="1">
                <a:solidFill>
                  <a:srgbClr val="1A365D"/>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22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2200" dirty="0" b="1">
                <a:solidFill>
                  <a:srgbClr val="1A365D"/>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2200" dirty="0" b="1">
                <a:solidFill>
                  <a:srgbClr val="1A365D"/>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
        <p:nvSpPr>
          <p:cNvPr id="98" name="TextBox 97"/>
          <p:cNvSpPr txBox="1"/>
          <p:nvPr/>
        </p:nvSpPr>
        <p:spPr>
          <a:xfrm>
            <a:off x="475488" y="4224528"/>
            <a:ext cx="5120640" cy="237744"/>
          </a:xfrm>
          <a:prstGeom prst="rect">
            <a:avLst/>
          </a:prstGeom>
          <a:noFill/>
        </p:spPr>
        <p:txBody>
          <a:bodyPr wrap="square" lIns="0" rIns="0" tIns="25400" bIns="25400">
            <a:spAutoFit/>
          </a:bodyPr>
          <a:lstStyle/>
          <a:p>
            <a:pPr algn="l"/>
            <a:r>
              <a:rPr sz="900" b="0">
                <a:solidFill>
                  <a:srgbClr val="5580A0"/>
                </a:solidFill>
              </a:rPr>
              <a:t>Accelerating the Discovery of Tomorrow's Materials — at the Intersection of AI and Material Science</a:t>
            </a:r>
          </a:p>
        </p:txBody>
      </p:sp>
      <p:sp>
        <p:nvSpPr>
          <p:cNvPr id="99" name="TextBox 98"/>
          <p:cNvSpPr txBox="1"/>
          <p:nvPr/>
        </p:nvSpPr>
        <p:spPr>
          <a:xfrm>
            <a:off x="475488" y="4498848"/>
            <a:ext cx="5120640" cy="274320"/>
          </a:xfrm>
          <a:prstGeom prst="rect">
            <a:avLst/>
          </a:prstGeom>
          <a:noFill/>
        </p:spPr>
        <p:txBody>
          <a:bodyPr wrap="square" lIns="0" rIns="0" tIns="25400" bIns="25400">
            <a:spAutoFit/>
          </a:bodyPr>
          <a:lstStyle/>
          <a:p>
            <a:pPr algn="l"/>
            <a:r>
              <a:rPr sz="750" b="0">
                <a:solidFill>
                  <a:srgbClr val="00B4D8"/>
                </a:solidFill>
              </a:rPr>
              <a:t>Active Research Domains: Supercapacitors  ·  Li-ion &amp; Na-ion Battery Electrolytes  ·  Solid-State Cathodes  ·  Solar Materials  ·  Advanced Sensor Materials  ·  Extreme-Environment Alloys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850" i="1" dirty="0">
                <a:solidFill>
                  <a:srgbClr val="5580A0"/>
                </a:solidFill>
                <a:latin typeface="Calibri" pitchFamily="34" charset="0"/>
                <a:ea typeface="Calibri" pitchFamily="34" charset="-122"/>
                <a:cs typeface="Calibri" pitchFamily="34" charset="-120"/>
              </a:rPr>
              <a:t>Crystal Paradigm: Accelerating innovation at the intersection of AI and Material Science. Our mission — compress the discovery timeline from 5 years to 4 weeks across supercapacitors, battery electrolytes, solar materials, sensors, and extreme-environment alloys.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484632"/>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CHALLENGE WE WERE CALLED TO SOLVE</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How Crystal Paradigm Was Born: From an Aerospace Emergency to an Indian Mobility Revolution</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1645920" cy="164592"/>
          </a:xfrm>
          <a:prstGeom prst="rect">
            <a:avLst/>
          </a:prstGeom>
          <a:noFill/>
        </p:spPr>
        <p:txBody>
          <a:bodyPr wrap="square" lIns="0" rIns="0" tIns="25400" bIns="25400">
            <a:spAutoFit/>
          </a:bodyPr>
          <a:lstStyle/>
          <a:p>
            <a:pPr algn="l"/>
            <a:r>
              <a:rPr sz="800" b="1" i="0">
                <a:solidFill>
                  <a:srgbClr val="00B4D8"/>
                </a:solidFill>
              </a:rPr>
              <a:t>THE ORIGINATING PROBLEM</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The 1,400°C Thermal Fire Limit</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1938528"/>
            <a:ext cx="3840480" cy="2468880"/>
          </a:xfrm>
          <a:prstGeom prst="rect">
            <a:avLst/>
          </a:prstGeom>
          <a:noFill/>
        </p:spPr>
        <p:txBody>
          <a:bodyPr wrap="square">
            <a:spAutoFit/>
          </a:bodyPr>
          <a:lstStyle/>
          <a:p>
            <a:pPr>
              <a:spcAft>
                <a:spcPts val="400"/>
              </a:spcAft>
            </a:pPr>
            <a:r>
              <a:rPr sz="850" b="0">
                <a:solidFill>
                  <a:srgbClr val="111111"/>
                </a:solidFill>
              </a:rPr>
              <a:t>Modern gas turbine engines breach 1,400°C Turbine Entry Temperature (TET). This temperature exceeds the melting point of conventional nickel-based superalloys — the industry's gold standard for 60 years.</a:t>
            </a:r>
          </a:p>
          <a:p>
            <a:pPr>
              <a:spcAft>
                <a:spcPts val="400"/>
              </a:spcAft>
            </a:pPr>
            <a:r>
              <a:rPr sz="800" b="0">
                <a:solidFill>
                  <a:srgbClr val="111111"/>
                </a:solidFill>
              </a:rPr>
              <a:t/>
            </a:r>
          </a:p>
          <a:p>
            <a:pPr>
              <a:spcAft>
                <a:spcPts val="400"/>
              </a:spcAft>
            </a:pPr>
            <a:r>
              <a:rPr sz="850" b="0">
                <a:solidFill>
                  <a:srgbClr val="111111"/>
                </a:solidFill>
              </a:rPr>
              <a:t>Traditional ceramic thermal barrier coatings (TBCs) FAIL at these temperatures because the massive Coefficient of Thermal Expansion (CTE) mismatch between the metal substrate and the ceramic layer causes violent spallation — the protective armor literally shatters off the turbine blade.</a:t>
            </a:r>
          </a:p>
          <a:p>
            <a:pPr>
              <a:spcAft>
                <a:spcPts val="400"/>
              </a:spcAft>
            </a:pPr>
            <a:r>
              <a:rPr sz="800" b="0">
                <a:solidFill>
                  <a:srgbClr val="111111"/>
                </a:solidFill>
              </a:rPr>
              <a:t/>
            </a:r>
          </a:p>
          <a:p>
            <a:pPr>
              <a:spcAft>
                <a:spcPts val="400"/>
              </a:spcAft>
            </a:pPr>
            <a:r>
              <a:rPr sz="850" b="1">
                <a:solidFill>
                  <a:srgbClr val="0F203C"/>
                </a:solidFill>
              </a:rPr>
              <a:t>The industry had no computational solution for this. Trial-and-error lab experiments take 5+ years per alloy composition. This was the exact vacuum Crystal Paradigm was built to fill.</a:t>
            </a:r>
          </a:p>
        </p:txBody>
      </p:sp>
      <p:sp>
        <p:nvSpPr>
          <p:cNvPr id="12" name="Rectangle 11"/>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0016"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389888"/>
            <a:ext cx="3657600" cy="164592"/>
          </a:xfrm>
          <a:prstGeom prst="rect">
            <a:avLst/>
          </a:prstGeom>
          <a:noFill/>
        </p:spPr>
        <p:txBody>
          <a:bodyPr wrap="square" lIns="0" rIns="0" tIns="25400" bIns="25400">
            <a:spAutoFit/>
          </a:bodyPr>
          <a:lstStyle/>
          <a:p>
            <a:pPr algn="l"/>
            <a:r>
              <a:rPr sz="800" b="1" i="0">
                <a:solidFill>
                  <a:srgbClr val="00B4D8"/>
                </a:solidFill>
              </a:rPr>
              <a:t>THE TERRESTRIAL PIVOT — WHY SCIDIP</a:t>
            </a:r>
          </a:p>
        </p:txBody>
      </p:sp>
      <p:sp>
        <p:nvSpPr>
          <p:cNvPr id="15" name="TextBox 14"/>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Sona Comstar Faces the Same Physics</a:t>
            </a:r>
          </a:p>
        </p:txBody>
      </p:sp>
      <p:sp>
        <p:nvSpPr>
          <p:cNvPr id="16" name="Rectangle 15"/>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9933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2624" y="1965960"/>
            <a:ext cx="3474720" cy="164592"/>
          </a:xfrm>
          <a:prstGeom prst="rect">
            <a:avLst/>
          </a:prstGeom>
          <a:noFill/>
        </p:spPr>
        <p:txBody>
          <a:bodyPr wrap="square" lIns="0" rIns="0" tIns="25400" bIns="25400">
            <a:spAutoFit/>
          </a:bodyPr>
          <a:lstStyle/>
          <a:p>
            <a:pPr algn="l"/>
            <a:r>
              <a:rPr sz="800" b="1" i="0">
                <a:solidFill>
                  <a:srgbClr val="00B4D8"/>
                </a:solidFill>
              </a:rPr>
              <a:t>FORGING DIES</a:t>
            </a:r>
          </a:p>
        </p:txBody>
      </p:sp>
      <p:sp>
        <p:nvSpPr>
          <p:cNvPr id="19" name="TextBox 18"/>
          <p:cNvSpPr txBox="1"/>
          <p:nvPr/>
        </p:nvSpPr>
        <p:spPr>
          <a:xfrm>
            <a:off x="4992624" y="2148840"/>
            <a:ext cx="3474720" cy="502920"/>
          </a:xfrm>
          <a:prstGeom prst="rect">
            <a:avLst/>
          </a:prstGeom>
          <a:noFill/>
        </p:spPr>
        <p:txBody>
          <a:bodyPr wrap="square" lIns="0" rIns="0" tIns="25400" bIns="25400">
            <a:spAutoFit/>
          </a:bodyPr>
          <a:lstStyle/>
          <a:p>
            <a:pPr algn="l"/>
            <a:r>
              <a:rPr sz="750" b="0" i="0">
                <a:solidFill>
                  <a:srgbClr val="111111"/>
                </a:solidFill>
              </a:rPr>
              <a:t>H13 tool steel dies hit yield-strength collapse at 1,200°C during high-speed differential gear forging — Sona Comstar's core revenue product. Die failure = manufacturing downtime = cost overruns.</a:t>
            </a:r>
          </a:p>
        </p:txBody>
      </p:sp>
      <p:sp>
        <p:nvSpPr>
          <p:cNvPr id="20" name="Rectangle 19"/>
          <p:cNvSpPr/>
          <p:nvPr/>
        </p:nvSpPr>
        <p:spPr>
          <a:xfrm>
            <a:off x="4846320" y="2679191"/>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46320" y="281635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92624" y="2788920"/>
            <a:ext cx="3474720" cy="164592"/>
          </a:xfrm>
          <a:prstGeom prst="rect">
            <a:avLst/>
          </a:prstGeom>
          <a:noFill/>
        </p:spPr>
        <p:txBody>
          <a:bodyPr wrap="square" lIns="0" rIns="0" tIns="25400" bIns="25400">
            <a:spAutoFit/>
          </a:bodyPr>
          <a:lstStyle/>
          <a:p>
            <a:pPr algn="l"/>
            <a:r>
              <a:rPr sz="800" b="1" i="0">
                <a:solidFill>
                  <a:srgbClr val="1A365D"/>
                </a:solidFill>
              </a:rPr>
              <a:t>EV TRACTION MOTORS</a:t>
            </a:r>
          </a:p>
        </p:txBody>
      </p:sp>
      <p:sp>
        <p:nvSpPr>
          <p:cNvPr id="23" name="TextBox 22"/>
          <p:cNvSpPr txBox="1"/>
          <p:nvPr/>
        </p:nvSpPr>
        <p:spPr>
          <a:xfrm>
            <a:off x="4992624" y="2971800"/>
            <a:ext cx="3474720" cy="502920"/>
          </a:xfrm>
          <a:prstGeom prst="rect">
            <a:avLst/>
          </a:prstGeom>
          <a:noFill/>
        </p:spPr>
        <p:txBody>
          <a:bodyPr wrap="square" lIns="0" rIns="0" tIns="25400" bIns="25400">
            <a:spAutoFit/>
          </a:bodyPr>
          <a:lstStyle/>
          <a:p>
            <a:pPr algn="l"/>
            <a:r>
              <a:rPr sz="750" b="0" i="0">
                <a:solidFill>
                  <a:srgbClr val="111111"/>
                </a:solidFill>
              </a:rPr>
              <a:t>Sona Comstar's SRM (Switched Reluctance Motor) program eliminates Neodymium, but extreme localized thermal hotspots degrade rotor/stator metals — limiting power density and motor life.</a:t>
            </a:r>
          </a:p>
        </p:txBody>
      </p:sp>
      <p:sp>
        <p:nvSpPr>
          <p:cNvPr id="24" name="Rectangle 23"/>
          <p:cNvSpPr/>
          <p:nvPr/>
        </p:nvSpPr>
        <p:spPr>
          <a:xfrm>
            <a:off x="4846320" y="350215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363931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92624" y="3611879"/>
            <a:ext cx="3474720" cy="164592"/>
          </a:xfrm>
          <a:prstGeom prst="rect">
            <a:avLst/>
          </a:prstGeom>
          <a:noFill/>
        </p:spPr>
        <p:txBody>
          <a:bodyPr wrap="square" lIns="0" rIns="0" tIns="25400" bIns="25400">
            <a:spAutoFit/>
          </a:bodyPr>
          <a:lstStyle/>
          <a:p>
            <a:pPr algn="l"/>
            <a:r>
              <a:rPr sz="800" b="1" i="0">
                <a:solidFill>
                  <a:srgbClr val="059669"/>
                </a:solidFill>
              </a:rPr>
              <a:t>SUPPLY CHAIN RISK</a:t>
            </a:r>
          </a:p>
        </p:txBody>
      </p:sp>
      <p:sp>
        <p:nvSpPr>
          <p:cNvPr id="27" name="TextBox 26"/>
          <p:cNvSpPr txBox="1"/>
          <p:nvPr/>
        </p:nvSpPr>
        <p:spPr>
          <a:xfrm>
            <a:off x="4992624" y="3794759"/>
            <a:ext cx="3474720" cy="502920"/>
          </a:xfrm>
          <a:prstGeom prst="rect">
            <a:avLst/>
          </a:prstGeom>
          <a:noFill/>
        </p:spPr>
        <p:txBody>
          <a:bodyPr wrap="square" lIns="0" rIns="0" tIns="25400" bIns="25400">
            <a:spAutoFit/>
          </a:bodyPr>
          <a:lstStyle/>
          <a:p>
            <a:pPr algn="l"/>
            <a:r>
              <a:rPr sz="750" b="0" i="0">
                <a:solidFill>
                  <a:srgbClr val="111111"/>
                </a:solidFill>
              </a:rPr>
              <a:t>80%+ of global Neodymium and Hafnium is Chinese-controlled. One geopolitical shift collapses the supply chain for India's entire EV sector. True Aatmanirbharta demands an indigenous material solution.</a:t>
            </a:r>
          </a:p>
        </p:txBody>
      </p:sp>
      <p:sp>
        <p:nvSpPr>
          <p:cNvPr id="28" name="Rectangle 27"/>
          <p:cNvSpPr/>
          <p:nvPr/>
        </p:nvSpPr>
        <p:spPr>
          <a:xfrm>
            <a:off x="4846320" y="432511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Crystal Paradigm  ·  SCIDIP Program Application  ·  Advanced Materials Track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AI ENGINE: ONE SOLUTION, TWO MARKETS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If our AI can prevent a jet turbine from melting at 1,400°C — it can revolutionize Sona Comstar's EPIC roadmap</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98448"/>
            <a:ext cx="2267712" cy="6400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98448"/>
            <a:ext cx="2267712" cy="1874519"/>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89888"/>
            <a:ext cx="2066543" cy="347472"/>
          </a:xfrm>
          <a:prstGeom prst="rect">
            <a:avLst/>
          </a:prstGeom>
          <a:noFill/>
        </p:spPr>
        <p:txBody>
          <a:bodyPr wrap="square" lIns="0" rIns="0" tIns="25400" bIns="25400">
            <a:spAutoFit/>
          </a:bodyPr>
          <a:lstStyle/>
          <a:p>
            <a:pPr algn="ctr"/>
            <a:r>
              <a:rPr sz="900" b="1" i="0">
                <a:solidFill>
                  <a:srgbClr val="FFFFFF"/>
                </a:solidFill>
              </a:rPr>
              <a:t>AEROSPACE
EXTREMES</a:t>
            </a:r>
          </a:p>
        </p:txBody>
      </p:sp>
      <p:sp>
        <p:nvSpPr>
          <p:cNvPr id="10" name="Rectangle 9"/>
          <p:cNvSpPr/>
          <p:nvPr/>
        </p:nvSpPr>
        <p:spPr>
          <a:xfrm>
            <a:off x="438912"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2066543" cy="411480"/>
          </a:xfrm>
          <a:prstGeom prst="rect">
            <a:avLst/>
          </a:prstGeom>
          <a:noFill/>
        </p:spPr>
        <p:txBody>
          <a:bodyPr wrap="square" lIns="0" rIns="0" tIns="25400" bIns="25400">
            <a:spAutoFit/>
          </a:bodyPr>
          <a:lstStyle/>
          <a:p>
            <a:pPr algn="ctr"/>
            <a:r>
              <a:rPr sz="1400" b="1" i="0">
                <a:solidFill>
                  <a:srgbClr val="2BDEFD"/>
                </a:solidFill>
              </a:rPr>
              <a:t>1,400°C
Turbine TET</a:t>
            </a:r>
          </a:p>
        </p:txBody>
      </p:sp>
      <p:sp>
        <p:nvSpPr>
          <p:cNvPr id="12" name="TextBox 11"/>
          <p:cNvSpPr txBox="1"/>
          <p:nvPr/>
        </p:nvSpPr>
        <p:spPr>
          <a:xfrm>
            <a:off x="2615184"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13" name="Rectangle 12"/>
          <p:cNvSpPr/>
          <p:nvPr/>
        </p:nvSpPr>
        <p:spPr>
          <a:xfrm>
            <a:off x="3419856"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19856" y="1298448"/>
            <a:ext cx="226771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298448"/>
            <a:ext cx="2267712" cy="1874519"/>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1389888"/>
            <a:ext cx="2066543" cy="347472"/>
          </a:xfrm>
          <a:prstGeom prst="rect">
            <a:avLst/>
          </a:prstGeom>
          <a:noFill/>
        </p:spPr>
        <p:txBody>
          <a:bodyPr wrap="square" lIns="0" rIns="0" tIns="25400" bIns="25400">
            <a:spAutoFit/>
          </a:bodyPr>
          <a:lstStyle/>
          <a:p>
            <a:pPr algn="ctr"/>
            <a:r>
              <a:rPr sz="900" b="1" i="0">
                <a:solidFill>
                  <a:srgbClr val="0F203C"/>
                </a:solidFill>
              </a:rPr>
              <a:t>CRYSTAL PARADIGM
AI ENGINE</a:t>
            </a:r>
          </a:p>
        </p:txBody>
      </p:sp>
      <p:sp>
        <p:nvSpPr>
          <p:cNvPr id="17" name="Rectangle 16"/>
          <p:cNvSpPr/>
          <p:nvPr/>
        </p:nvSpPr>
        <p:spPr>
          <a:xfrm>
            <a:off x="3602736"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828800"/>
            <a:ext cx="2066543" cy="411480"/>
          </a:xfrm>
          <a:prstGeom prst="rect">
            <a:avLst/>
          </a:prstGeom>
          <a:noFill/>
        </p:spPr>
        <p:txBody>
          <a:bodyPr wrap="square" lIns="0" rIns="0" tIns="25400" bIns="25400">
            <a:spAutoFit/>
          </a:bodyPr>
          <a:lstStyle/>
          <a:p>
            <a:pPr algn="ctr"/>
            <a:r>
              <a:rPr sz="1400" b="1" i="0">
                <a:solidFill>
                  <a:srgbClr val="0F203C"/>
                </a:solidFill>
              </a:rPr>
              <a:t>11-Phase
Autonomous Pipeline</a:t>
            </a:r>
          </a:p>
        </p:txBody>
      </p:sp>
      <p:sp>
        <p:nvSpPr>
          <p:cNvPr id="19" name="TextBox 18"/>
          <p:cNvSpPr txBox="1"/>
          <p:nvPr/>
        </p:nvSpPr>
        <p:spPr>
          <a:xfrm>
            <a:off x="5779008"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20" name="Rectangle 19"/>
          <p:cNvSpPr/>
          <p:nvPr/>
        </p:nvSpPr>
        <p:spPr>
          <a:xfrm>
            <a:off x="6583680"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1298448"/>
            <a:ext cx="226771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0" y="1298448"/>
            <a:ext cx="2267712" cy="1874519"/>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8" y="1389888"/>
            <a:ext cx="2066543" cy="347472"/>
          </a:xfrm>
          <a:prstGeom prst="rect">
            <a:avLst/>
          </a:prstGeom>
          <a:noFill/>
        </p:spPr>
        <p:txBody>
          <a:bodyPr wrap="square" lIns="0" rIns="0" tIns="25400" bIns="25400">
            <a:spAutoFit/>
          </a:bodyPr>
          <a:lstStyle/>
          <a:p>
            <a:pPr algn="ctr"/>
            <a:r>
              <a:rPr sz="900" b="1" i="0">
                <a:solidFill>
                  <a:srgbClr val="FFFFFF"/>
                </a:solidFill>
              </a:rPr>
              <a:t>SONA COMSTAR
EPIC ROADMAP</a:t>
            </a:r>
          </a:p>
        </p:txBody>
      </p:sp>
      <p:sp>
        <p:nvSpPr>
          <p:cNvPr id="24" name="Rectangle 23"/>
          <p:cNvSpPr/>
          <p:nvPr/>
        </p:nvSpPr>
        <p:spPr>
          <a:xfrm>
            <a:off x="6766560"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8" y="1828800"/>
            <a:ext cx="2066543" cy="411480"/>
          </a:xfrm>
          <a:prstGeom prst="rect">
            <a:avLst/>
          </a:prstGeom>
          <a:noFill/>
        </p:spPr>
        <p:txBody>
          <a:bodyPr wrap="square" lIns="0" rIns="0" tIns="25400" bIns="25400">
            <a:spAutoFit/>
          </a:bodyPr>
          <a:lstStyle/>
          <a:p>
            <a:pPr algn="ctr"/>
            <a:r>
              <a:rPr sz="1400" b="1" i="0">
                <a:solidFill>
                  <a:srgbClr val="2BDEFD"/>
                </a:solidFill>
              </a:rPr>
              <a:t>H13 Dies + SRM
Motors + ESG</a:t>
            </a:r>
          </a:p>
        </p:txBody>
      </p:sp>
      <p:sp>
        <p:nvSpPr>
          <p:cNvPr id="26" name="TextBox 25"/>
          <p:cNvSpPr txBox="1"/>
          <p:nvPr/>
        </p:nvSpPr>
        <p:spPr>
          <a:xfrm>
            <a:off x="256032" y="3291840"/>
            <a:ext cx="8595360" cy="201168"/>
          </a:xfrm>
          <a:prstGeom prst="rect">
            <a:avLst/>
          </a:prstGeom>
          <a:noFill/>
        </p:spPr>
        <p:txBody>
          <a:bodyPr wrap="square" lIns="0" rIns="0" tIns="25400" bIns="25400">
            <a:spAutoFit/>
          </a:bodyPr>
          <a:lstStyle/>
          <a:p>
            <a:pPr algn="l"/>
            <a:r>
              <a:rPr sz="900" b="1" i="0">
                <a:solidFill>
                  <a:srgbClr val="1A365D"/>
                </a:solidFill>
              </a:rPr>
              <a:t>WHAT OUR AI PROVED — THE THREE VALIDATED OUTPUTS</a:t>
            </a:r>
          </a:p>
        </p:txBody>
      </p:sp>
      <p:sp>
        <p:nvSpPr>
          <p:cNvPr id="27" name="Rectangle 26"/>
          <p:cNvSpPr/>
          <p:nvPr/>
        </p:nvSpPr>
        <p:spPr>
          <a:xfrm>
            <a:off x="256032" y="3520440"/>
            <a:ext cx="859536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6032"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730752"/>
            <a:ext cx="2633472" cy="256032"/>
          </a:xfrm>
          <a:prstGeom prst="rect">
            <a:avLst/>
          </a:prstGeom>
          <a:noFill/>
        </p:spPr>
        <p:txBody>
          <a:bodyPr wrap="square" lIns="0" rIns="0" tIns="25400" bIns="25400">
            <a:spAutoFit/>
          </a:bodyPr>
          <a:lstStyle/>
          <a:p>
            <a:pPr algn="l"/>
            <a:r>
              <a:rPr sz="1300" b="1" i="0">
                <a:solidFill>
                  <a:srgbClr val="1A365D"/>
                </a:solidFill>
              </a:rPr>
              <a:t>R² = 0.977</a:t>
            </a:r>
          </a:p>
        </p:txBody>
      </p:sp>
      <p:sp>
        <p:nvSpPr>
          <p:cNvPr id="31" name="TextBox 30"/>
          <p:cNvSpPr txBox="1"/>
          <p:nvPr/>
        </p:nvSpPr>
        <p:spPr>
          <a:xfrm>
            <a:off x="365760" y="4005072"/>
            <a:ext cx="2633472" cy="749808"/>
          </a:xfrm>
          <a:prstGeom prst="rect">
            <a:avLst/>
          </a:prstGeom>
          <a:noFill/>
        </p:spPr>
        <p:txBody>
          <a:bodyPr wrap="square" lIns="0" rIns="0" tIns="25400" bIns="25400">
            <a:spAutoFit/>
          </a:bodyPr>
          <a:lstStyle/>
          <a:p>
            <a:pPr algn="l"/>
            <a:r>
              <a:rPr sz="800" b="0" i="0">
                <a:solidFill>
                  <a:srgbClr val="111111"/>
                </a:solidFill>
              </a:rPr>
              <a:t>Random Forest bulk modulus model. Test MAE of just 8.11 GPa. Independently audited computational performance.</a:t>
            </a:r>
          </a:p>
        </p:txBody>
      </p:sp>
      <p:sp>
        <p:nvSpPr>
          <p:cNvPr id="32" name="Rectangle 31"/>
          <p:cNvSpPr/>
          <p:nvPr/>
        </p:nvSpPr>
        <p:spPr>
          <a:xfrm>
            <a:off x="3291840"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91840"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01568" y="3730752"/>
            <a:ext cx="2633472" cy="256032"/>
          </a:xfrm>
          <a:prstGeom prst="rect">
            <a:avLst/>
          </a:prstGeom>
          <a:noFill/>
        </p:spPr>
        <p:txBody>
          <a:bodyPr wrap="square" lIns="0" rIns="0" tIns="25400" bIns="25400">
            <a:spAutoFit/>
          </a:bodyPr>
          <a:lstStyle/>
          <a:p>
            <a:pPr algn="l"/>
            <a:r>
              <a:rPr sz="1300" b="1" i="0">
                <a:solidFill>
                  <a:srgbClr val="1A365D"/>
                </a:solidFill>
              </a:rPr>
              <a:t>1.5981 Safety Factor</a:t>
            </a:r>
          </a:p>
        </p:txBody>
      </p:sp>
      <p:sp>
        <p:nvSpPr>
          <p:cNvPr id="35" name="TextBox 34"/>
          <p:cNvSpPr txBox="1"/>
          <p:nvPr/>
        </p:nvSpPr>
        <p:spPr>
          <a:xfrm>
            <a:off x="3401568" y="4005072"/>
            <a:ext cx="2633472" cy="749808"/>
          </a:xfrm>
          <a:prstGeom prst="rect">
            <a:avLst/>
          </a:prstGeom>
          <a:noFill/>
        </p:spPr>
        <p:txBody>
          <a:bodyPr wrap="square" lIns="0" rIns="0" tIns="25400" bIns="25400">
            <a:spAutoFit/>
          </a:bodyPr>
          <a:lstStyle/>
          <a:p>
            <a:pPr algn="l"/>
            <a:r>
              <a:rPr sz="800" b="0" i="0">
                <a:solidFill>
                  <a:srgbClr val="111111"/>
                </a:solidFill>
              </a:rPr>
              <a:t>Differential Evolution optimizer. Globally optimal alloy: Ti 21.7% — zero sigma phase, zero spallation.</a:t>
            </a:r>
          </a:p>
        </p:txBody>
      </p:sp>
      <p:sp>
        <p:nvSpPr>
          <p:cNvPr id="36" name="Rectangle 35"/>
          <p:cNvSpPr/>
          <p:nvPr/>
        </p:nvSpPr>
        <p:spPr>
          <a:xfrm>
            <a:off x="6016752"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16752"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730752"/>
            <a:ext cx="2633472" cy="256032"/>
          </a:xfrm>
          <a:prstGeom prst="rect">
            <a:avLst/>
          </a:prstGeom>
          <a:noFill/>
        </p:spPr>
        <p:txBody>
          <a:bodyPr wrap="square" lIns="0" rIns="0" tIns="25400" bIns="25400">
            <a:spAutoFit/>
          </a:bodyPr>
          <a:lstStyle/>
          <a:p>
            <a:pPr algn="l"/>
            <a:r>
              <a:rPr sz="1300" b="1" i="0">
                <a:solidFill>
                  <a:srgbClr val="1A365D"/>
                </a:solidFill>
              </a:rPr>
              <a:t>15.95 MPa Interface Stress</a:t>
            </a:r>
          </a:p>
        </p:txBody>
      </p:sp>
      <p:sp>
        <p:nvSpPr>
          <p:cNvPr id="39" name="TextBox 38"/>
          <p:cNvSpPr txBox="1"/>
          <p:nvPr/>
        </p:nvSpPr>
        <p:spPr>
          <a:xfrm>
            <a:off x="6126480" y="4005072"/>
            <a:ext cx="2633472" cy="749808"/>
          </a:xfrm>
          <a:prstGeom prst="rect">
            <a:avLst/>
          </a:prstGeom>
          <a:noFill/>
        </p:spPr>
        <p:txBody>
          <a:bodyPr wrap="square" lIns="0" rIns="0" tIns="25400" bIns="25400">
            <a:spAutoFit/>
          </a:bodyPr>
          <a:lstStyle/>
          <a:p>
            <a:pPr algn="l"/>
            <a:r>
              <a:rPr sz="800" b="0" i="0">
                <a:solidFill>
                  <a:srgbClr val="111111"/>
                </a:solidFill>
              </a:rPr>
              <a:t>11-layer FGM power-law gradient (n=1.1). CTE gap dropped to 2.66 μm/mK. Ready for DED 3D printing.</a:t>
            </a:r>
          </a:p>
        </p:txBody>
      </p:sp>
      <p:sp>
        <p:nvSpPr>
          <p:cNvPr id="40" name="TextBox 39"/>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Crystal Paradigm  ·  SCIDIP Program Application  ·  Advanced Materials Track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8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8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8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477331"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80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800" b="1"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8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00" b="1"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00" b="1"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00" b="1"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8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00" b="1"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00" b="1"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800" b="1"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800" b="1"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800" b="1"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800" b="1"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800" b="1"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800" b="1">
                <a:solidFill>
                  <a:srgbClr val="059669"/>
                </a:solidFill>
                <a:latin typeface="Inter"/>
                <a:ea typeface="Inter"/>
                <a:cs typeface="Inter"/>
                <a:sym typeface="Inter"/>
              </a:rPr>
              <a:t> </a:t>
            </a:r>
            <a:r>
              <a:rPr lang="en-US" sz="8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800" b="1">
                <a:solidFill>
                  <a:srgbClr val="059669"/>
                </a:solidFill>
                <a:latin typeface="Inter"/>
                <a:ea typeface="Inter"/>
                <a:cs typeface="Inter"/>
                <a:sym typeface="Inter"/>
              </a:rPr>
              <a:t> </a:t>
            </a:r>
            <a:r>
              <a:rPr lang="en-US" sz="8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800" b="1">
                <a:solidFill>
                  <a:srgbClr val="059669"/>
                </a:solidFill>
                <a:latin typeface="Inter"/>
                <a:ea typeface="Inter"/>
                <a:cs typeface="Inter"/>
                <a:sym typeface="Inter"/>
              </a:rPr>
              <a:t> </a:t>
            </a:r>
            <a:r>
              <a:rPr lang="en-US" sz="8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800" b="1">
                <a:solidFill>
                  <a:srgbClr val="059669"/>
                </a:solidFill>
                <a:latin typeface="Inter"/>
                <a:ea typeface="Inter"/>
                <a:cs typeface="Inter"/>
                <a:sym typeface="Inter"/>
              </a:rPr>
              <a:t> </a:t>
            </a:r>
            <a:r>
              <a:rPr lang="en-US" sz="8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Forging Die Fit (Sona Comstar)</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FEA-Simulated DED Interface</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Pending Die Trial at Sona Comstar</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Match Factory Tolerance ±0.05 mm</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800" b="1"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800" b="1">
                <a:solidFill>
                  <a:schemeClr val="accent4"/>
                </a:solidFill>
              </a:rPr>
              <a:t>      </a:t>
            </a:r>
            <a:r>
              <a:rPr lang="en-US" sz="8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800" b="1">
                <a:solidFill>
                  <a:schemeClr val="accent4"/>
                </a:solidFill>
              </a:rPr>
              <a:t>   </a:t>
            </a:r>
            <a:r>
              <a:rPr lang="en-US" sz="800" b="1">
                <a:solidFill>
                  <a:schemeClr val="accent4"/>
                </a:solidFill>
              </a:rPr>
              <a:t>NEXT PHASE</a:t>
            </a:r>
            <a:endParaRPr sz="600" b="1">
              <a:solidFill>
                <a:schemeClr val="accent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50">
                <a:solidFill>
                  <a:srgbClr val="00B4D8"/>
                </a:solidFill>
                <a:latin typeface="Inter"/>
                <a:ea typeface="Inter"/>
                <a:cs typeface="Inter"/>
                <a:sym typeface="Inter"/>
              </a:rPr>
              <a:t>Note: Timeline aligned to SCIDIP's 24-month AIC IIT Delhi incubation cycle. Lab access via IIT Delhi CRF (XRD, STA, SEM/EDS) and NIDHI-CoE (tensile testing).</a:t>
            </a:r>
            <a:endParaRPr sz="1200">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Factory-Floor Integration</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00" b="0" i="0" u="none" strike="noStrike" cap="none">
                <a:solidFill>
                  <a:srgbClr val="111111"/>
                </a:solidFill>
                <a:latin typeface="Inter"/>
                <a:ea typeface="Inter"/>
                <a:cs typeface="Inter"/>
                <a:sym typeface="Inter"/>
              </a:rPr>
              <a:t>Upon TRL 4 physical validation at IIT Delhi CRF, move to Sona Comstar factory-floor integration trials. Begin H13 forging die replacement and SRM stator prototyping aligned to Sona Comstar's EPIC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CRYSTAL PARADIGM ECONOMIC VALUE FOR SONA COMSTAR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100" b="0">
                <a:solidFill>
                  <a:srgbClr val="2BDEFD"/>
                </a:solidFill>
                <a:latin typeface="Space Grotesk SemiBold"/>
                <a:ea typeface="Space Grotesk SemiBold"/>
                <a:cs typeface="Space Grotesk SemiBold"/>
                <a:sym typeface="Space Grotesk SemiBold"/>
              </a:rPr>
              <a:t>Sona Comstar EPIC Mobility — Quantified Material Advantage &amp; Commercial Returns</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Economic Mechanism</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Crystal Paradigm Value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Sona Comstar Benefit</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750" b="0">
                <a:solidFill>
                  <a:srgbClr val="1A365D"/>
                </a:solidFill>
                <a:latin typeface="Inter SemiBold"/>
                <a:ea typeface="Inter SemiBold"/>
                <a:cs typeface="Inter SemiBold"/>
                <a:sym typeface="Inter SemiBold"/>
              </a:rPr>
              <a:t>H13 Forging Die
Cost Reduction</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Ta-W-Cr-V-Ti HEA: 75% Hafnium → Titanium substitution; cost: ~$170/kg vs $280/kg Hf-rich alloys</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15–20% Drop in Alloy
Raw Material Cost</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750" b="1">
                <a:solidFill>
                  <a:srgbClr val="059669"/>
                </a:solidFill>
                <a:latin typeface="Inter"/>
                <a:ea typeface="Inter"/>
                <a:cs typeface="Inter"/>
                <a:sym typeface="Inter"/>
              </a:rPr>
              <a:t>Saves ₹2–4 Cr / Year
across 9 facilities</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750" b="0">
                <a:solidFill>
                  <a:srgbClr val="1A365D"/>
                </a:solidFill>
                <a:latin typeface="Inter SemiBold"/>
                <a:ea typeface="Inter SemiBold"/>
                <a:cs typeface="Inter SemiBold"/>
                <a:sym typeface="Inter SemiBold"/>
              </a:rPr>
              <a:t>Forging Die
Lifespan Extension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Candidate C retains &gt;917.7 MPa yield at 1,200°C vs H13 collapse to ~420 MPa (77% failure)</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3× longer tooling life;
eliminate thermal fatigue</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750" b="1">
                <a:solidFill>
                  <a:srgbClr val="059669"/>
                </a:solidFill>
                <a:latin typeface="Inter"/>
                <a:ea typeface="Inter"/>
                <a:cs typeface="Inter"/>
                <a:sym typeface="Inter"/>
              </a:rPr>
              <a:t>MRO Cost Cut: ₹5–8 Cr
/ Year in downtime savings</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750" b="0">
                <a:solidFill>
                  <a:srgbClr val="1A365D"/>
                </a:solidFill>
                <a:latin typeface="Inter SemiBold"/>
                <a:ea typeface="Inter SemiBold"/>
                <a:cs typeface="Inter SemiBold"/>
                <a:sym typeface="Inter SemiBold"/>
              </a:rPr>
              <a:t>EV SRM Motor
Thermal Efficiency</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FGM thermal shield: 15.95 MPa interface stress; zero delamination under extreme torque cycling</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Rare-Earth-Free SRM
at commercial scale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750" b="1">
                <a:solidFill>
                  <a:srgbClr val="059669"/>
                </a:solidFill>
                <a:latin typeface="Inter"/>
                <a:ea typeface="Inter"/>
                <a:cs typeface="Inter"/>
                <a:sym typeface="Inter"/>
              </a:rPr>
              <a:t>Eliminates ₹50–80 Cr
Neodymium import cost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750" b="0">
                <a:solidFill>
                  <a:srgbClr val="1A365D"/>
                </a:solidFill>
                <a:latin typeface="Inter SemiBold"/>
                <a:ea typeface="Inter SemiBold"/>
                <a:cs typeface="Inter SemiBold"/>
                <a:sym typeface="Inter SemiBold"/>
              </a:rPr>
              <a:t>ESG Supplier
Compliance Score</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Embodied Energy: 1,680 MJ/kg; zero rare-earth dependency; ZLD-compatible production process</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Qualifies 75% Sona
Comstar ESG mandate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$114,750 / Aircraft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750" b="1">
                <a:solidFill>
                  <a:srgbClr val="1A365D"/>
                </a:solidFill>
                <a:latin typeface="Space Grotesk"/>
                <a:ea typeface="Space Grotesk"/>
                <a:cs typeface="Space Grotesk"/>
                <a:sym typeface="Space Grotesk"/>
              </a:rPr>
              <a:t>IP &amp; Commercialization
Scalability</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11-phase AI pipeline generates bespoke materials for any EPIC vertical on demand — continuously</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750">
                <a:solidFill>
                  <a:srgbClr val="5580A0"/>
                </a:solidFill>
                <a:latin typeface="Inter"/>
                <a:ea typeface="Inter"/>
                <a:cs typeface="Inter"/>
                <a:sym typeface="Inter"/>
              </a:rPr>
              <a:t>1 Patent + 4 Papers
Under Review (TRL 3+)</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750" b="1">
                <a:solidFill>
                  <a:srgbClr val="059669"/>
                </a:solidFill>
                <a:latin typeface="Space Grotesk"/>
                <a:ea typeface="Space Grotesk"/>
                <a:cs typeface="Space Grotesk"/>
                <a:sym typeface="Space Grotesk"/>
              </a:rPr>
              <a:t>JV / Acquisition pathway
via SCIDIP incubation</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*Calculations based on global average aviation fuel procurement costs and standard narrowbody operational profiles.</a:t>
            </a:r>
            <a:endParaRPr sz="700" b="0">
              <a:solidFill>
                <a:srgbClr val="94A3B8"/>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SCIDIP DEPLOYMENT: TWO HIGH-VALUE TARGET PATHWAYS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Aerospace Physics to Sona Comstar's Manufacturing and Electric Mobility Bottlenecks</a:t>
            </a: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3840480" cy="164592"/>
          </a:xfrm>
          <a:prstGeom prst="rect">
            <a:avLst/>
          </a:prstGeom>
          <a:noFill/>
        </p:spPr>
        <p:txBody>
          <a:bodyPr wrap="square" lIns="0" rIns="0" tIns="25400" bIns="25400">
            <a:spAutoFit/>
          </a:bodyPr>
          <a:lstStyle/>
          <a:p>
            <a:pPr algn="l"/>
            <a:r>
              <a:rPr sz="800" b="1" i="0">
                <a:solidFill>
                  <a:srgbClr val="00B4D8"/>
                </a:solidFill>
              </a:rPr>
              <a:t>DEPLOYMENT PATHWAY 1  ·  DRIVELINE SYSTEMS</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Next-Gen Precision Forging Dies</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20240"/>
            <a:ext cx="3474720" cy="164592"/>
          </a:xfrm>
          <a:prstGeom prst="rect">
            <a:avLst/>
          </a:prstGeom>
          <a:noFill/>
        </p:spPr>
        <p:txBody>
          <a:bodyPr wrap="square" lIns="0" rIns="0" tIns="25400" bIns="25400">
            <a:spAutoFit/>
          </a:bodyPr>
          <a:lstStyle/>
          <a:p>
            <a:pPr algn="l"/>
            <a:r>
              <a:rPr sz="800" b="1" i="0">
                <a:solidFill>
                  <a:srgbClr val="DC2626"/>
                </a:solidFill>
              </a:rPr>
              <a:t>LEGACY H13 STEEL FAILURE MODE</a:t>
            </a:r>
          </a:p>
        </p:txBody>
      </p:sp>
      <p:sp>
        <p:nvSpPr>
          <p:cNvPr id="13" name="TextBox 12"/>
          <p:cNvSpPr txBox="1"/>
          <p:nvPr/>
        </p:nvSpPr>
        <p:spPr>
          <a:xfrm>
            <a:off x="548640" y="2103120"/>
            <a:ext cx="3474720" cy="566928"/>
          </a:xfrm>
          <a:prstGeom prst="rect">
            <a:avLst/>
          </a:prstGeom>
          <a:noFill/>
        </p:spPr>
        <p:txBody>
          <a:bodyPr wrap="square" lIns="0" rIns="0" tIns="25400" bIns="25400">
            <a:spAutoFit/>
          </a:bodyPr>
          <a:lstStyle/>
          <a:p>
            <a:pPr algn="l"/>
            <a:r>
              <a:rPr sz="800" b="0" i="0">
                <a:solidFill>
                  <a:srgbClr val="111111"/>
                </a:solidFill>
              </a:rPr>
              <a:t>Yield strength collapses from 1,800 MPa at room temp to ~420 MPa at 1,200°C — a 77% mechanical failure. Rapid thermal fatigue causes micro-cracking after 200-400 forging cycles, creating unplanned downtime in Sona Comstar's differential bevel gear production lines.</a:t>
            </a:r>
          </a:p>
        </p:txBody>
      </p:sp>
      <p:sp>
        <p:nvSpPr>
          <p:cNvPr id="14" name="Rectangle 13"/>
          <p:cNvSpPr/>
          <p:nvPr/>
        </p:nvSpPr>
        <p:spPr>
          <a:xfrm>
            <a:off x="402336" y="2706624"/>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6" y="27889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926080"/>
            <a:ext cx="3474720" cy="164592"/>
          </a:xfrm>
          <a:prstGeom prst="rect">
            <a:avLst/>
          </a:prstGeom>
          <a:noFill/>
        </p:spPr>
        <p:txBody>
          <a:bodyPr wrap="square" lIns="0" rIns="0" tIns="25400" bIns="25400">
            <a:spAutoFit/>
          </a:bodyPr>
          <a:lstStyle/>
          <a:p>
            <a:pPr algn="l"/>
            <a:r>
              <a:rPr sz="800" b="1" i="0">
                <a:solidFill>
                  <a:srgbClr val="059669"/>
                </a:solidFill>
              </a:rPr>
              <a:t>CANDIDATE C UPGRADE ARCHITECTURE</a:t>
            </a:r>
          </a:p>
        </p:txBody>
      </p:sp>
      <p:sp>
        <p:nvSpPr>
          <p:cNvPr id="17" name="Rectangle 16"/>
          <p:cNvSpPr/>
          <p:nvPr/>
        </p:nvSpPr>
        <p:spPr>
          <a:xfrm>
            <a:off x="402336" y="2971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072384"/>
            <a:ext cx="1828800" cy="137160"/>
          </a:xfrm>
          <a:prstGeom prst="rect">
            <a:avLst/>
          </a:prstGeom>
          <a:noFill/>
        </p:spPr>
        <p:txBody>
          <a:bodyPr wrap="square" lIns="0" rIns="0" tIns="25400" bIns="25400">
            <a:spAutoFit/>
          </a:bodyPr>
          <a:lstStyle/>
          <a:p>
            <a:pPr algn="l"/>
            <a:r>
              <a:rPr sz="750" b="1" i="0">
                <a:solidFill>
                  <a:srgbClr val="1A365D"/>
                </a:solidFill>
              </a:rPr>
              <a:t>The Core (Alloy)</a:t>
            </a:r>
          </a:p>
        </p:txBody>
      </p:sp>
      <p:sp>
        <p:nvSpPr>
          <p:cNvPr id="19" name="TextBox 18"/>
          <p:cNvSpPr txBox="1"/>
          <p:nvPr/>
        </p:nvSpPr>
        <p:spPr>
          <a:xfrm>
            <a:off x="548640" y="3401568"/>
            <a:ext cx="3474720" cy="402336"/>
          </a:xfrm>
          <a:prstGeom prst="rect">
            <a:avLst/>
          </a:prstGeom>
          <a:noFill/>
        </p:spPr>
        <p:txBody>
          <a:bodyPr wrap="square" lIns="0" rIns="0" tIns="25400" bIns="25400">
            <a:spAutoFit/>
          </a:bodyPr>
          <a:lstStyle/>
          <a:p>
            <a:pPr algn="l"/>
            <a:r>
              <a:rPr sz="750" b="0" i="0">
                <a:solidFill>
                  <a:srgbClr val="111111"/>
                </a:solidFill>
              </a:rPr>
              <a:t>&gt;917.7 MPa yield at 1,200°C — 2.2× better than H13. Ta-W-Cr-V-Ti-Zr-Hf + 2.8% Al; BCC phase lock confirmed via CALPHAD.</a:t>
            </a:r>
          </a:p>
        </p:txBody>
      </p:sp>
      <p:sp>
        <p:nvSpPr>
          <p:cNvPr id="20" name="Rectangle 19"/>
          <p:cNvSpPr/>
          <p:nvPr/>
        </p:nvSpPr>
        <p:spPr>
          <a:xfrm>
            <a:off x="402336" y="35387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547872"/>
            <a:ext cx="1828800" cy="137160"/>
          </a:xfrm>
          <a:prstGeom prst="rect">
            <a:avLst/>
          </a:prstGeom>
          <a:noFill/>
        </p:spPr>
        <p:txBody>
          <a:bodyPr wrap="square" lIns="0" rIns="0" tIns="25400" bIns="25400">
            <a:spAutoFit/>
          </a:bodyPr>
          <a:lstStyle/>
          <a:p>
            <a:pPr algn="l"/>
            <a:r>
              <a:rPr sz="750" b="1" i="0">
                <a:solidFill>
                  <a:srgbClr val="1A365D"/>
                </a:solidFill>
              </a:rPr>
              <a:t>The Surface (LZO Ceramic)</a:t>
            </a:r>
          </a:p>
        </p:txBody>
      </p:sp>
      <p:sp>
        <p:nvSpPr>
          <p:cNvPr id="22" name="TextBox 21"/>
          <p:cNvSpPr txBox="1"/>
          <p:nvPr/>
        </p:nvSpPr>
        <p:spPr>
          <a:xfrm>
            <a:off x="548640" y="3877056"/>
            <a:ext cx="3474720" cy="402336"/>
          </a:xfrm>
          <a:prstGeom prst="rect">
            <a:avLst/>
          </a:prstGeom>
          <a:noFill/>
        </p:spPr>
        <p:txBody>
          <a:bodyPr wrap="square" lIns="0" rIns="0" tIns="25400" bIns="25400">
            <a:spAutoFit/>
          </a:bodyPr>
          <a:lstStyle/>
          <a:p>
            <a:pPr algn="l"/>
            <a:r>
              <a:rPr sz="750" b="0" i="0">
                <a:solidFill>
                  <a:srgbClr val="111111"/>
                </a:solidFill>
              </a:rPr>
              <a:t>Lanthanum Zirconate outer layer acts as supreme thermal barrier. Prevents heat transfer into die infrastructure.</a:t>
            </a:r>
          </a:p>
        </p:txBody>
      </p:sp>
      <p:sp>
        <p:nvSpPr>
          <p:cNvPr id="23" name="Rectangle 22"/>
          <p:cNvSpPr/>
          <p:nvPr/>
        </p:nvSpPr>
        <p:spPr>
          <a:xfrm>
            <a:off x="402336" y="38770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23360"/>
            <a:ext cx="1828800" cy="137160"/>
          </a:xfrm>
          <a:prstGeom prst="rect">
            <a:avLst/>
          </a:prstGeom>
          <a:noFill/>
        </p:spPr>
        <p:txBody>
          <a:bodyPr wrap="square" lIns="0" rIns="0" tIns="25400" bIns="25400">
            <a:spAutoFit/>
          </a:bodyPr>
          <a:lstStyle/>
          <a:p>
            <a:pPr algn="l"/>
            <a:r>
              <a:rPr sz="750" b="1" i="0">
                <a:solidFill>
                  <a:srgbClr val="1A365D"/>
                </a:solidFill>
              </a:rPr>
              <a:t>The Manufacturing Recipe</a:t>
            </a:r>
          </a:p>
        </p:txBody>
      </p:sp>
      <p:sp>
        <p:nvSpPr>
          <p:cNvPr id="25" name="TextBox 24"/>
          <p:cNvSpPr txBox="1"/>
          <p:nvPr/>
        </p:nvSpPr>
        <p:spPr>
          <a:xfrm>
            <a:off x="548640" y="4224528"/>
            <a:ext cx="3474720" cy="402336"/>
          </a:xfrm>
          <a:prstGeom prst="rect">
            <a:avLst/>
          </a:prstGeom>
          <a:noFill/>
        </p:spPr>
        <p:txBody>
          <a:bodyPr wrap="square" lIns="0" rIns="0" tIns="25400" bIns="25400">
            <a:spAutoFit/>
          </a:bodyPr>
          <a:lstStyle/>
          <a:p>
            <a:pPr algn="l"/>
            <a:r>
              <a:rPr sz="750" b="0" i="0">
                <a:solidFill>
                  <a:srgbClr val="111111"/>
                </a:solidFill>
              </a:rPr>
              <a:t>11-layer manufacturing_recipe.csv export — ready for Multi-Hopper Directed Energy Deposition (DED) 3D printing.</a:t>
            </a:r>
          </a:p>
        </p:txBody>
      </p:sp>
      <p:sp>
        <p:nvSpPr>
          <p:cNvPr id="29" name="Rectangle 28"/>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0016"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1389888"/>
            <a:ext cx="3840480" cy="164592"/>
          </a:xfrm>
          <a:prstGeom prst="rect">
            <a:avLst/>
          </a:prstGeom>
          <a:noFill/>
        </p:spPr>
        <p:txBody>
          <a:bodyPr wrap="square" lIns="0" rIns="0" tIns="25400" bIns="25400">
            <a:spAutoFit/>
          </a:bodyPr>
          <a:lstStyle/>
          <a:p>
            <a:pPr algn="l"/>
            <a:r>
              <a:rPr sz="800" b="1" i="0">
                <a:solidFill>
                  <a:srgbClr val="00B4D8"/>
                </a:solidFill>
              </a:rPr>
              <a:t>DEPLOYMENT PATHWAY 2  ·  ELECTRIC MOBILITY</a:t>
            </a:r>
          </a:p>
        </p:txBody>
      </p:sp>
      <p:sp>
        <p:nvSpPr>
          <p:cNvPr id="32" name="TextBox 31"/>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Rare-Earth-Free EV Traction Motors</a:t>
            </a:r>
          </a:p>
        </p:txBody>
      </p:sp>
      <p:sp>
        <p:nvSpPr>
          <p:cNvPr id="33" name="Rectangle 32"/>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46320"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92624" y="1920240"/>
            <a:ext cx="3474720" cy="164592"/>
          </a:xfrm>
          <a:prstGeom prst="rect">
            <a:avLst/>
          </a:prstGeom>
          <a:noFill/>
        </p:spPr>
        <p:txBody>
          <a:bodyPr wrap="square" lIns="0" rIns="0" tIns="25400" bIns="25400">
            <a:spAutoFit/>
          </a:bodyPr>
          <a:lstStyle/>
          <a:p>
            <a:pPr algn="l"/>
            <a:r>
              <a:rPr sz="800" b="1" i="0">
                <a:solidFill>
                  <a:srgbClr val="DC2626"/>
                </a:solidFill>
              </a:rPr>
              <a:t>THE SRM THERMAL BOTTLENECK</a:t>
            </a:r>
          </a:p>
        </p:txBody>
      </p:sp>
      <p:sp>
        <p:nvSpPr>
          <p:cNvPr id="36" name="TextBox 35"/>
          <p:cNvSpPr txBox="1"/>
          <p:nvPr/>
        </p:nvSpPr>
        <p:spPr>
          <a:xfrm>
            <a:off x="4992624" y="2103120"/>
            <a:ext cx="3474720" cy="512064"/>
          </a:xfrm>
          <a:prstGeom prst="rect">
            <a:avLst/>
          </a:prstGeom>
          <a:noFill/>
        </p:spPr>
        <p:txBody>
          <a:bodyPr wrap="square" lIns="0" rIns="0" tIns="25400" bIns="25400">
            <a:spAutoFit/>
          </a:bodyPr>
          <a:lstStyle/>
          <a:p>
            <a:pPr algn="l"/>
            <a:r>
              <a:rPr sz="800" b="0" i="0">
                <a:solidFill>
                  <a:srgbClr val="111111"/>
                </a:solidFill>
              </a:rPr>
              <a:t>Switched Reluctance Motors (SRMs) eliminate Neodymium but generate extreme localized thermal hotspots at stator teeth under peak torque. Traditional silicon-steel laminations degrade → limits motor power density and reliability.</a:t>
            </a:r>
          </a:p>
        </p:txBody>
      </p:sp>
      <p:sp>
        <p:nvSpPr>
          <p:cNvPr id="37" name="Rectangle 36"/>
          <p:cNvSpPr/>
          <p:nvPr/>
        </p:nvSpPr>
        <p:spPr>
          <a:xfrm>
            <a:off x="4846320" y="2651760"/>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46320" y="27340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92624" y="2697480"/>
            <a:ext cx="3474720" cy="164592"/>
          </a:xfrm>
          <a:prstGeom prst="rect">
            <a:avLst/>
          </a:prstGeom>
          <a:noFill/>
        </p:spPr>
        <p:txBody>
          <a:bodyPr wrap="square" lIns="0" rIns="0" tIns="25400" bIns="25400">
            <a:spAutoFit/>
          </a:bodyPr>
          <a:lstStyle/>
          <a:p>
            <a:pPr algn="l"/>
            <a:r>
              <a:rPr sz="800" b="1" i="0">
                <a:solidFill>
                  <a:srgbClr val="059669"/>
                </a:solidFill>
              </a:rPr>
              <a:t>THE CRYSTAL PARADIGM SRM UPGRADE</a:t>
            </a:r>
          </a:p>
        </p:txBody>
      </p:sp>
      <p:sp>
        <p:nvSpPr>
          <p:cNvPr id="40" name="Rectangle 39"/>
          <p:cNvSpPr/>
          <p:nvPr/>
        </p:nvSpPr>
        <p:spPr>
          <a:xfrm>
            <a:off x="4846320" y="29077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92624" y="2880360"/>
            <a:ext cx="1828800" cy="137160"/>
          </a:xfrm>
          <a:prstGeom prst="rect">
            <a:avLst/>
          </a:prstGeom>
          <a:noFill/>
        </p:spPr>
        <p:txBody>
          <a:bodyPr wrap="square" lIns="0" rIns="0" tIns="25400" bIns="25400">
            <a:spAutoFit/>
          </a:bodyPr>
          <a:lstStyle/>
          <a:p>
            <a:pPr algn="l"/>
            <a:r>
              <a:rPr sz="750" b="1" i="0">
                <a:solidFill>
                  <a:srgbClr val="1A365D"/>
                </a:solidFill>
              </a:rPr>
              <a:t>Thermal Shielding</a:t>
            </a:r>
          </a:p>
        </p:txBody>
      </p:sp>
      <p:sp>
        <p:nvSpPr>
          <p:cNvPr id="42" name="TextBox 41"/>
          <p:cNvSpPr txBox="1"/>
          <p:nvPr/>
        </p:nvSpPr>
        <p:spPr>
          <a:xfrm>
            <a:off x="4992624" y="3026664"/>
            <a:ext cx="3474720" cy="402336"/>
          </a:xfrm>
          <a:prstGeom prst="rect">
            <a:avLst/>
          </a:prstGeom>
          <a:noFill/>
        </p:spPr>
        <p:txBody>
          <a:bodyPr wrap="square" lIns="0" rIns="0" tIns="25400" bIns="25400">
            <a:spAutoFit/>
          </a:bodyPr>
          <a:lstStyle/>
          <a:p>
            <a:pPr algn="l"/>
            <a:r>
              <a:rPr sz="750" b="0" i="0">
                <a:solidFill>
                  <a:srgbClr val="111111"/>
                </a:solidFill>
              </a:rPr>
              <a:t>FGM architecture handles rapid thermal cycling — 15.95 MPa interface shear stress (zero delamination under extreme torque cycling).</a:t>
            </a:r>
          </a:p>
        </p:txBody>
      </p:sp>
      <p:sp>
        <p:nvSpPr>
          <p:cNvPr id="43" name="Rectangle 42"/>
          <p:cNvSpPr/>
          <p:nvPr/>
        </p:nvSpPr>
        <p:spPr>
          <a:xfrm>
            <a:off x="4846320" y="34747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92624" y="3447288"/>
            <a:ext cx="1828800" cy="137160"/>
          </a:xfrm>
          <a:prstGeom prst="rect">
            <a:avLst/>
          </a:prstGeom>
          <a:noFill/>
        </p:spPr>
        <p:txBody>
          <a:bodyPr wrap="square" lIns="0" rIns="0" tIns="25400" bIns="25400">
            <a:spAutoFit/>
          </a:bodyPr>
          <a:lstStyle/>
          <a:p>
            <a:pPr algn="l"/>
            <a:r>
              <a:rPr sz="750" b="1" i="0">
                <a:solidFill>
                  <a:srgbClr val="1A365D"/>
                </a:solidFill>
              </a:rPr>
              <a:t>Rare-Earth Independence</a:t>
            </a:r>
          </a:p>
        </p:txBody>
      </p:sp>
      <p:sp>
        <p:nvSpPr>
          <p:cNvPr id="45" name="TextBox 44"/>
          <p:cNvSpPr txBox="1"/>
          <p:nvPr/>
        </p:nvSpPr>
        <p:spPr>
          <a:xfrm>
            <a:off x="4992624" y="3593592"/>
            <a:ext cx="3474720" cy="402336"/>
          </a:xfrm>
          <a:prstGeom prst="rect">
            <a:avLst/>
          </a:prstGeom>
          <a:noFill/>
        </p:spPr>
        <p:txBody>
          <a:bodyPr wrap="square" lIns="0" rIns="0" tIns="25400" bIns="25400">
            <a:spAutoFit/>
          </a:bodyPr>
          <a:lstStyle/>
          <a:p>
            <a:pPr algn="l"/>
            <a:r>
              <a:rPr sz="750" b="0" i="0">
                <a:solidFill>
                  <a:srgbClr val="111111"/>
                </a:solidFill>
              </a:rPr>
              <a:t>Ti-Zr-Hf matrix eliminates Neodymium and reduces dependence on Chinese-controlled minerals — directly enabling Sona Comstar's Enedym SRM + Equipmake inverter supply chain.</a:t>
            </a:r>
          </a:p>
        </p:txBody>
      </p:sp>
      <p:sp>
        <p:nvSpPr>
          <p:cNvPr id="46" name="Rectangle 45"/>
          <p:cNvSpPr/>
          <p:nvPr/>
        </p:nvSpPr>
        <p:spPr>
          <a:xfrm>
            <a:off x="4846320" y="404164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92624" y="4014215"/>
            <a:ext cx="1828800" cy="137160"/>
          </a:xfrm>
          <a:prstGeom prst="rect">
            <a:avLst/>
          </a:prstGeom>
          <a:noFill/>
        </p:spPr>
        <p:txBody>
          <a:bodyPr wrap="square" lIns="0" rIns="0" tIns="25400" bIns="25400">
            <a:spAutoFit/>
          </a:bodyPr>
          <a:lstStyle/>
          <a:p>
            <a:pPr algn="l"/>
            <a:r>
              <a:rPr sz="750" b="1" i="0">
                <a:solidFill>
                  <a:srgbClr val="1A365D"/>
                </a:solidFill>
              </a:rPr>
              <a:t>ESG &amp; Make-in-India</a:t>
            </a:r>
          </a:p>
        </p:txBody>
      </p:sp>
      <p:sp>
        <p:nvSpPr>
          <p:cNvPr id="48" name="TextBox 47"/>
          <p:cNvSpPr txBox="1"/>
          <p:nvPr/>
        </p:nvSpPr>
        <p:spPr>
          <a:xfrm>
            <a:off x="4992624" y="4160520"/>
            <a:ext cx="3474720" cy="402336"/>
          </a:xfrm>
          <a:prstGeom prst="rect">
            <a:avLst/>
          </a:prstGeom>
          <a:noFill/>
        </p:spPr>
        <p:txBody>
          <a:bodyPr wrap="square" lIns="0" rIns="0" tIns="25400" bIns="25400">
            <a:spAutoFit/>
          </a:bodyPr>
          <a:lstStyle/>
          <a:p>
            <a:pPr algn="l"/>
            <a:r>
              <a:rPr sz="750" b="0" i="0">
                <a:solidFill>
                  <a:srgbClr val="111111"/>
                </a:solidFill>
              </a:rPr>
              <a:t>Alloy cost ~$170/kg. Embodied Energy: 1,680 MJ/kg. Qualifies for Sona Comstar's 75% Supplier ESG Score (12 ESG metrics).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INTELLECTUAL PROPERTY &amp; SUPPLY CHAIN DE-RISKING</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True Aatmanirbharta — Indigenous Deep-Tech IP for the Indian Mobility Sector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3566160" cy="804672"/>
          </a:xfrm>
          <a:prstGeom prst="roundRect">
            <a:avLst>
              <a:gd name="adj" fmla="val 8000"/>
            </a:avLst>
          </a:prstGeom>
          <a:solidFill>
            <a:srgbClr val="FFF1F0"/>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16736"/>
            <a:ext cx="3291840" cy="164592"/>
          </a:xfrm>
          <a:prstGeom prst="rect">
            <a:avLst/>
          </a:prstGeom>
          <a:noFill/>
        </p:spPr>
        <p:txBody>
          <a:bodyPr wrap="square" lIns="0" rIns="0" tIns="25400" bIns="25400">
            <a:spAutoFit/>
          </a:bodyPr>
          <a:lstStyle/>
          <a:p>
            <a:pPr algn="l"/>
            <a:r>
              <a:rPr sz="750" b="1" i="0">
                <a:solidFill>
                  <a:srgbClr val="DC2626"/>
                </a:solidFill>
              </a:rPr>
              <a:t>CURRENT GLOBAL DEPENDENCY</a:t>
            </a:r>
          </a:p>
        </p:txBody>
      </p:sp>
      <p:sp>
        <p:nvSpPr>
          <p:cNvPr id="8" name="TextBox 7"/>
          <p:cNvSpPr txBox="1"/>
          <p:nvPr/>
        </p:nvSpPr>
        <p:spPr>
          <a:xfrm>
            <a:off x="384048" y="1499616"/>
            <a:ext cx="3291840" cy="512064"/>
          </a:xfrm>
          <a:prstGeom prst="rect">
            <a:avLst/>
          </a:prstGeom>
          <a:noFill/>
        </p:spPr>
        <p:txBody>
          <a:bodyPr wrap="square" lIns="0" rIns="0" tIns="25400" bIns="25400">
            <a:spAutoFit/>
          </a:bodyPr>
          <a:lstStyle/>
          <a:p>
            <a:pPr algn="l"/>
            <a:r>
              <a:rPr sz="750" b="0" i="0">
                <a:solidFill>
                  <a:srgbClr val="111111"/>
                </a:solidFill>
              </a:rPr>
              <a:t>80%+ Neodymium &amp; Hafnium controlled by China
Any trade disruption collapses Indian EV supply chains
Sona Comstar: 17-metric ESG supplier audit exposure</a:t>
            </a:r>
          </a:p>
        </p:txBody>
      </p:sp>
      <p:sp>
        <p:nvSpPr>
          <p:cNvPr id="9" name="TextBox 8"/>
          <p:cNvSpPr txBox="1"/>
          <p:nvPr/>
        </p:nvSpPr>
        <p:spPr>
          <a:xfrm>
            <a:off x="3913632" y="1417320"/>
            <a:ext cx="502920" cy="457200"/>
          </a:xfrm>
          <a:prstGeom prst="rect">
            <a:avLst/>
          </a:prstGeom>
          <a:noFill/>
        </p:spPr>
        <p:txBody>
          <a:bodyPr wrap="square" lIns="0" rIns="0" tIns="25400" bIns="25400">
            <a:spAutoFit/>
          </a:bodyPr>
          <a:lstStyle/>
          <a:p>
            <a:pPr algn="ctr"/>
            <a:r>
              <a:rPr sz="2200" b="1" i="0">
                <a:solidFill>
                  <a:srgbClr val="00B4D8"/>
                </a:solidFill>
              </a:rPr>
              <a:t>⟶</a:t>
            </a:r>
          </a:p>
        </p:txBody>
      </p:sp>
      <p:sp>
        <p:nvSpPr>
          <p:cNvPr id="10" name="Rectangle 9"/>
          <p:cNvSpPr/>
          <p:nvPr/>
        </p:nvSpPr>
        <p:spPr>
          <a:xfrm>
            <a:off x="4480560" y="1261872"/>
            <a:ext cx="4389120" cy="804672"/>
          </a:xfrm>
          <a:prstGeom prst="roundRect">
            <a:avLst>
              <a:gd name="adj" fmla="val 8000"/>
            </a:avLst>
          </a:prstGeom>
          <a:solidFill>
            <a:srgbClr val="ECFDF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316736"/>
            <a:ext cx="4114800" cy="164592"/>
          </a:xfrm>
          <a:prstGeom prst="rect">
            <a:avLst/>
          </a:prstGeom>
          <a:noFill/>
        </p:spPr>
        <p:txBody>
          <a:bodyPr wrap="square" lIns="0" rIns="0" tIns="25400" bIns="25400">
            <a:spAutoFit/>
          </a:bodyPr>
          <a:lstStyle/>
          <a:p>
            <a:pPr algn="l"/>
            <a:r>
              <a:rPr sz="750" b="1" i="0">
                <a:solidFill>
                  <a:srgbClr val="059669"/>
                </a:solidFill>
              </a:rPr>
              <a:t>CRYSTAL PARADIGM INDIGENOUS SOLUTION</a:t>
            </a:r>
          </a:p>
        </p:txBody>
      </p:sp>
      <p:sp>
        <p:nvSpPr>
          <p:cNvPr id="12" name="TextBox 11"/>
          <p:cNvSpPr txBox="1"/>
          <p:nvPr/>
        </p:nvSpPr>
        <p:spPr>
          <a:xfrm>
            <a:off x="4608576" y="1499616"/>
            <a:ext cx="4114800" cy="512064"/>
          </a:xfrm>
          <a:prstGeom prst="rect">
            <a:avLst/>
          </a:prstGeom>
          <a:noFill/>
        </p:spPr>
        <p:txBody>
          <a:bodyPr wrap="square" lIns="0" rIns="0" tIns="25400" bIns="25400">
            <a:spAutoFit/>
          </a:bodyPr>
          <a:lstStyle/>
          <a:p>
            <a:pPr algn="l"/>
            <a:r>
              <a:rPr sz="750" b="0" i="0">
                <a:solidFill>
                  <a:srgbClr val="111111"/>
                </a:solidFill>
              </a:rPr>
              <a:t>Titanium + Chromium (globally abundant) | ~$170/kg commercial cost
9-element multi-principal matrix — no single-mineral dependency
Crystal Paradigm + IIT Delhi CRF = 100% Indian IP generation</a:t>
            </a:r>
          </a:p>
        </p:txBody>
      </p:sp>
      <p:sp>
        <p:nvSpPr>
          <p:cNvPr id="13" name="Rectangle 12"/>
          <p:cNvSpPr/>
          <p:nvPr/>
        </p:nvSpPr>
        <p:spPr>
          <a:xfrm>
            <a:off x="256032" y="2139696"/>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12848"/>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 y="226771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249424"/>
            <a:ext cx="365760" cy="365760"/>
          </a:xfrm>
          <a:prstGeom prst="rect">
            <a:avLst/>
          </a:prstGeom>
          <a:noFill/>
        </p:spPr>
        <p:txBody>
          <a:bodyPr wrap="square" lIns="0" rIns="0" tIns="25400" bIns="25400">
            <a:spAutoFit/>
          </a:bodyPr>
          <a:lstStyle/>
          <a:p>
            <a:pPr algn="ctr"/>
            <a:r>
              <a:rPr sz="1000" b="1" i="0">
                <a:solidFill>
                  <a:srgbClr val="FFFFFF"/>
                </a:solidFill>
              </a:rPr>
              <a:t>1</a:t>
            </a:r>
          </a:p>
        </p:txBody>
      </p:sp>
      <p:sp>
        <p:nvSpPr>
          <p:cNvPr id="18" name="TextBox 17"/>
          <p:cNvSpPr txBox="1"/>
          <p:nvPr/>
        </p:nvSpPr>
        <p:spPr>
          <a:xfrm>
            <a:off x="365760" y="2706624"/>
            <a:ext cx="2633472" cy="201168"/>
          </a:xfrm>
          <a:prstGeom prst="rect">
            <a:avLst/>
          </a:prstGeom>
          <a:noFill/>
        </p:spPr>
        <p:txBody>
          <a:bodyPr wrap="square" lIns="0" rIns="0" tIns="25400" bIns="25400">
            <a:spAutoFit/>
          </a:bodyPr>
          <a:lstStyle/>
          <a:p>
            <a:pPr algn="ctr"/>
            <a:r>
              <a:rPr sz="900" b="1" i="0">
                <a:solidFill>
                  <a:srgbClr val="1A365D"/>
                </a:solidFill>
              </a:rPr>
              <a:t>The Computational IP Moat</a:t>
            </a:r>
          </a:p>
        </p:txBody>
      </p:sp>
      <p:sp>
        <p:nvSpPr>
          <p:cNvPr id="19" name="Rectangle 18"/>
          <p:cNvSpPr/>
          <p:nvPr/>
        </p:nvSpPr>
        <p:spPr>
          <a:xfrm>
            <a:off x="420624"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999232"/>
            <a:ext cx="2633472" cy="1389888"/>
          </a:xfrm>
          <a:prstGeom prst="rect">
            <a:avLst/>
          </a:prstGeom>
          <a:noFill/>
        </p:spPr>
        <p:txBody>
          <a:bodyPr wrap="square" lIns="0" rIns="0" tIns="25400" bIns="25400">
            <a:spAutoFit/>
          </a:bodyPr>
          <a:lstStyle/>
          <a:p>
            <a:pPr algn="l"/>
            <a:r>
              <a:rPr sz="750" b="0" i="0">
                <a:solidFill>
                  <a:srgbClr val="111111"/>
                </a:solidFill>
              </a:rPr>
              <a:t>Our proprietary 11-phase AI pipeline is a continuous IP generation engine. Candidate C is our first output. We can computationally generate bespoke materials for every thermal bottleneck across Sona Comstar's 4 EPIC verticals (Driveline, Motors, Railway, ADAS) on demand.
1 Patent Accepted · 4 Research Papers Under Review</a:t>
            </a:r>
          </a:p>
        </p:txBody>
      </p:sp>
      <p:sp>
        <p:nvSpPr>
          <p:cNvPr id="21" name="Rectangle 20"/>
          <p:cNvSpPr/>
          <p:nvPr/>
        </p:nvSpPr>
        <p:spPr>
          <a:xfrm>
            <a:off x="3246120"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6120" y="2212848"/>
            <a:ext cx="283464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226771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9272" y="2249424"/>
            <a:ext cx="365760" cy="365760"/>
          </a:xfrm>
          <a:prstGeom prst="rect">
            <a:avLst/>
          </a:prstGeom>
          <a:noFill/>
        </p:spPr>
        <p:txBody>
          <a:bodyPr wrap="square" lIns="0" rIns="0" tIns="25400" bIns="25400">
            <a:spAutoFit/>
          </a:bodyPr>
          <a:lstStyle/>
          <a:p>
            <a:pPr algn="ctr"/>
            <a:r>
              <a:rPr sz="1000" b="1" i="0">
                <a:solidFill>
                  <a:srgbClr val="FFFFFF"/>
                </a:solidFill>
              </a:rPr>
              <a:t>2</a:t>
            </a:r>
          </a:p>
        </p:txBody>
      </p:sp>
      <p:sp>
        <p:nvSpPr>
          <p:cNvPr id="25" name="TextBox 24"/>
          <p:cNvSpPr txBox="1"/>
          <p:nvPr/>
        </p:nvSpPr>
        <p:spPr>
          <a:xfrm>
            <a:off x="3355848" y="2706624"/>
            <a:ext cx="2633472" cy="201168"/>
          </a:xfrm>
          <a:prstGeom prst="rect">
            <a:avLst/>
          </a:prstGeom>
          <a:noFill/>
        </p:spPr>
        <p:txBody>
          <a:bodyPr wrap="square" lIns="0" rIns="0" tIns="25400" bIns="25400">
            <a:spAutoFit/>
          </a:bodyPr>
          <a:lstStyle/>
          <a:p>
            <a:pPr algn="ctr"/>
            <a:r>
              <a:rPr sz="900" b="1" i="0">
                <a:solidFill>
                  <a:srgbClr val="1A365D"/>
                </a:solidFill>
              </a:rPr>
              <a:t>FITT IIT Delhi IP Framework</a:t>
            </a:r>
          </a:p>
        </p:txBody>
      </p:sp>
      <p:sp>
        <p:nvSpPr>
          <p:cNvPr id="26" name="Rectangle 25"/>
          <p:cNvSpPr/>
          <p:nvPr/>
        </p:nvSpPr>
        <p:spPr>
          <a:xfrm>
            <a:off x="3410712"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5848" y="2999232"/>
            <a:ext cx="2633472" cy="1389888"/>
          </a:xfrm>
          <a:prstGeom prst="rect">
            <a:avLst/>
          </a:prstGeom>
          <a:noFill/>
        </p:spPr>
        <p:txBody>
          <a:bodyPr wrap="square" lIns="0" rIns="0" tIns="25400" bIns="25400">
            <a:spAutoFit/>
          </a:bodyPr>
          <a:lstStyle/>
          <a:p>
            <a:pPr algn="l"/>
            <a:r>
              <a:rPr sz="750" b="0" i="0">
                <a:solidFill>
                  <a:srgbClr val="111111"/>
                </a:solidFill>
              </a:rPr>
              <a:t>We are fully prepared to navigate FITT's IP commercialization model. Physical material formulations developed within IIT Delhi's CRF will be jointly patented under FITT management and licensed back to Crystal Paradigm for commercial deployment — creating a legally bulletproof IP structure.
IIT Delhi Alumni Network → Series A Pipeline</a:t>
            </a:r>
          </a:p>
        </p:txBody>
      </p:sp>
      <p:sp>
        <p:nvSpPr>
          <p:cNvPr id="28" name="Rectangle 27"/>
          <p:cNvSpPr/>
          <p:nvPr/>
        </p:nvSpPr>
        <p:spPr>
          <a:xfrm>
            <a:off x="6236208"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6208" y="2212848"/>
            <a:ext cx="283464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226771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249424"/>
            <a:ext cx="365760" cy="365760"/>
          </a:xfrm>
          <a:prstGeom prst="rect">
            <a:avLst/>
          </a:prstGeom>
          <a:noFill/>
        </p:spPr>
        <p:txBody>
          <a:bodyPr wrap="square" lIns="0" rIns="0" tIns="25400" bIns="25400">
            <a:spAutoFit/>
          </a:bodyPr>
          <a:lstStyle/>
          <a:p>
            <a:pPr algn="ctr"/>
            <a:r>
              <a:rPr sz="1000" b="1" i="0">
                <a:solidFill>
                  <a:srgbClr val="FFFFFF"/>
                </a:solidFill>
              </a:rPr>
              <a:t>3</a:t>
            </a:r>
          </a:p>
        </p:txBody>
      </p:sp>
      <p:sp>
        <p:nvSpPr>
          <p:cNvPr id="32" name="TextBox 31"/>
          <p:cNvSpPr txBox="1"/>
          <p:nvPr/>
        </p:nvSpPr>
        <p:spPr>
          <a:xfrm>
            <a:off x="6345936" y="2706624"/>
            <a:ext cx="2633472" cy="201168"/>
          </a:xfrm>
          <a:prstGeom prst="rect">
            <a:avLst/>
          </a:prstGeom>
          <a:noFill/>
        </p:spPr>
        <p:txBody>
          <a:bodyPr wrap="square" lIns="0" rIns="0" tIns="25400" bIns="25400">
            <a:spAutoFit/>
          </a:bodyPr>
          <a:lstStyle/>
          <a:p>
            <a:pPr algn="ctr"/>
            <a:r>
              <a:rPr sz="900" b="1" i="0">
                <a:solidFill>
                  <a:srgbClr val="1A365D"/>
                </a:solidFill>
              </a:rPr>
              <a:t>Sona Comstar Strategic Integration</a:t>
            </a:r>
          </a:p>
        </p:txBody>
      </p:sp>
      <p:sp>
        <p:nvSpPr>
          <p:cNvPr id="33" name="Rectangle 32"/>
          <p:cNvSpPr/>
          <p:nvPr/>
        </p:nvSpPr>
        <p:spPr>
          <a:xfrm>
            <a:off x="6400800"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2999232"/>
            <a:ext cx="2633472" cy="1389888"/>
          </a:xfrm>
          <a:prstGeom prst="rect">
            <a:avLst/>
          </a:prstGeom>
          <a:noFill/>
        </p:spPr>
        <p:txBody>
          <a:bodyPr wrap="square" lIns="0" rIns="0" tIns="25400" bIns="25400">
            <a:spAutoFit/>
          </a:bodyPr>
          <a:lstStyle/>
          <a:p>
            <a:pPr algn="l"/>
            <a:r>
              <a:rPr sz="750" b="0" i="0">
                <a:solidFill>
                  <a:srgbClr val="111111"/>
                </a:solidFill>
              </a:rPr>
              <a:t>Sona Comstar's 'buy &amp; build' acquisition playbook (DENSO JV 2026, NOVELIC 2023, Escorts Kubota 2025) proves they want to internalize technology partners. Crystal Paradigm's IP architecture is specifically designed for this JV/acquisition pathway — our material generation engine fills their EPIC technology gap.
Drive TLV ↔ Crystal Paradigm analogous pathway</a:t>
            </a:r>
          </a:p>
        </p:txBody>
      </p:sp>
      <p:sp>
        <p:nvSpPr>
          <p:cNvPr id="35" name="TextBox 34"/>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Crystal Paradigm  ·  SCIDIP Program Application  ·  Advanced Materials Track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CORPORATE ASK</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Bridging TRL 3+ Computational Validation to TRL 6 Factory-Floor Commercialization at Sona Comstar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82880"/>
          </a:xfrm>
          <a:prstGeom prst="rect">
            <a:avLst/>
          </a:prstGeom>
          <a:noFill/>
        </p:spPr>
        <p:txBody>
          <a:bodyPr wrap="square" lIns="0" rIns="0" tIns="25400" bIns="25400">
            <a:spAutoFit/>
          </a:bodyPr>
          <a:lstStyle/>
          <a:p>
            <a:pPr algn="l"/>
            <a:r>
              <a:rPr sz="800" b="1" i="0">
                <a:solidFill>
                  <a:srgbClr val="1A365D"/>
                </a:solidFill>
              </a:rPr>
              <a:t>CURRENT POSITION ON THE TECHNOLOGY READINESS SCALE</a:t>
            </a:r>
          </a:p>
        </p:txBody>
      </p:sp>
      <p:sp>
        <p:nvSpPr>
          <p:cNvPr id="7" name="Rectangle 6"/>
          <p:cNvSpPr/>
          <p:nvPr/>
        </p:nvSpPr>
        <p:spPr>
          <a:xfrm>
            <a:off x="292608" y="1508760"/>
            <a:ext cx="1653235" cy="594360"/>
          </a:xfrm>
          <a:prstGeom prst="roundRect">
            <a:avLst>
              <a:gd name="adj" fmla="val 6000"/>
            </a:avLst>
          </a:prstGeom>
          <a:solidFill>
            <a:srgbClr val="5580A0"/>
          </a:solidFill>
          <a:ln w="15240">
            <a:solidFill>
              <a:srgbClr val="558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 y="1508760"/>
            <a:ext cx="1653235" cy="594360"/>
          </a:xfrm>
          <a:prstGeom prst="rect">
            <a:avLst/>
          </a:prstGeom>
          <a:noFill/>
        </p:spPr>
        <p:txBody>
          <a:bodyPr wrap="square" lIns="0" rIns="0" tIns="25400" bIns="25400">
            <a:spAutoFit/>
          </a:bodyPr>
          <a:lstStyle/>
          <a:p>
            <a:pPr algn="ctr"/>
            <a:r>
              <a:rPr sz="750" b="1" i="0">
                <a:solidFill>
                  <a:srgbClr val="FFFFFF"/>
                </a:solidFill>
              </a:rPr>
              <a:t>TRL 1–2
Physics
Concept</a:t>
            </a:r>
          </a:p>
        </p:txBody>
      </p:sp>
      <p:sp>
        <p:nvSpPr>
          <p:cNvPr id="9" name="Rectangle 8"/>
          <p:cNvSpPr/>
          <p:nvPr/>
        </p:nvSpPr>
        <p:spPr>
          <a:xfrm>
            <a:off x="2018995" y="1508760"/>
            <a:ext cx="1653235" cy="594360"/>
          </a:xfrm>
          <a:prstGeom prst="roundRect">
            <a:avLst>
              <a:gd name="adj" fmla="val 6000"/>
            </a:avLst>
          </a:prstGeom>
          <a:solidFill>
            <a:srgbClr val="059669"/>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8995" y="1508760"/>
            <a:ext cx="1653235" cy="594360"/>
          </a:xfrm>
          <a:prstGeom prst="rect">
            <a:avLst/>
          </a:prstGeom>
          <a:noFill/>
        </p:spPr>
        <p:txBody>
          <a:bodyPr wrap="square" lIns="0" rIns="0" tIns="25400" bIns="25400">
            <a:spAutoFit/>
          </a:bodyPr>
          <a:lstStyle/>
          <a:p>
            <a:pPr algn="ctr"/>
            <a:r>
              <a:rPr sz="750" b="1" i="0">
                <a:solidFill>
                  <a:srgbClr val="FFFFFF"/>
                </a:solidFill>
              </a:rPr>
              <a:t>TRL 3+
✓ NOW
In Silico Valid.</a:t>
            </a:r>
          </a:p>
        </p:txBody>
      </p:sp>
      <p:sp>
        <p:nvSpPr>
          <p:cNvPr id="11" name="Rectangle 10"/>
          <p:cNvSpPr/>
          <p:nvPr/>
        </p:nvSpPr>
        <p:spPr>
          <a:xfrm>
            <a:off x="3745382" y="1508760"/>
            <a:ext cx="1653235" cy="594360"/>
          </a:xfrm>
          <a:prstGeom prst="roundRect">
            <a:avLst>
              <a:gd name="adj" fmla="val 6000"/>
            </a:avLst>
          </a:prstGeom>
          <a:no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5382" y="1508760"/>
            <a:ext cx="1653235" cy="594360"/>
          </a:xfrm>
          <a:prstGeom prst="rect">
            <a:avLst/>
          </a:prstGeom>
          <a:noFill/>
        </p:spPr>
        <p:txBody>
          <a:bodyPr wrap="square" lIns="0" rIns="0" tIns="25400" bIns="25400">
            <a:spAutoFit/>
          </a:bodyPr>
          <a:lstStyle/>
          <a:p>
            <a:pPr algn="ctr"/>
            <a:r>
              <a:rPr sz="750" b="0" i="0">
                <a:solidFill>
                  <a:srgbClr val="00B4D8"/>
                </a:solidFill>
              </a:rPr>
              <a:t>TRL 4
SCIDIP
Physical PoC</a:t>
            </a:r>
          </a:p>
        </p:txBody>
      </p:sp>
      <p:sp>
        <p:nvSpPr>
          <p:cNvPr id="13" name="Rectangle 12"/>
          <p:cNvSpPr/>
          <p:nvPr/>
        </p:nvSpPr>
        <p:spPr>
          <a:xfrm>
            <a:off x="5471769" y="1508760"/>
            <a:ext cx="1653235" cy="594360"/>
          </a:xfrm>
          <a:prstGeom prst="roundRect">
            <a:avLst>
              <a:gd name="adj" fmla="val 6000"/>
            </a:avLst>
          </a:prstGeom>
          <a:no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71769" y="1508760"/>
            <a:ext cx="1653235" cy="594360"/>
          </a:xfrm>
          <a:prstGeom prst="rect">
            <a:avLst/>
          </a:prstGeom>
          <a:noFill/>
        </p:spPr>
        <p:txBody>
          <a:bodyPr wrap="square" lIns="0" rIns="0" tIns="25400" bIns="25400">
            <a:spAutoFit/>
          </a:bodyPr>
          <a:lstStyle/>
          <a:p>
            <a:pPr algn="ctr"/>
            <a:r>
              <a:rPr sz="750" b="0" i="0">
                <a:solidFill>
                  <a:srgbClr val="F59E0B"/>
                </a:solidFill>
              </a:rPr>
              <a:t>TRL 5
Prototype
Integration</a:t>
            </a:r>
          </a:p>
        </p:txBody>
      </p:sp>
      <p:sp>
        <p:nvSpPr>
          <p:cNvPr id="15" name="Rectangle 14"/>
          <p:cNvSpPr/>
          <p:nvPr/>
        </p:nvSpPr>
        <p:spPr>
          <a:xfrm>
            <a:off x="7198156" y="1508760"/>
            <a:ext cx="1653235" cy="594360"/>
          </a:xfrm>
          <a:prstGeom prst="roundRect">
            <a:avLst>
              <a:gd name="adj" fmla="val 6000"/>
            </a:avLst>
          </a:prstGeom>
          <a:no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98156" y="1508760"/>
            <a:ext cx="1653235" cy="594360"/>
          </a:xfrm>
          <a:prstGeom prst="rect">
            <a:avLst/>
          </a:prstGeom>
          <a:noFill/>
        </p:spPr>
        <p:txBody>
          <a:bodyPr wrap="square" lIns="0" rIns="0" tIns="25400" bIns="25400">
            <a:spAutoFit/>
          </a:bodyPr>
          <a:lstStyle/>
          <a:p>
            <a:pPr algn="ctr"/>
            <a:r>
              <a:rPr sz="750" b="0" i="0">
                <a:solidFill>
                  <a:srgbClr val="1A365D"/>
                </a:solidFill>
              </a:rPr>
              <a:t>TRL 6
Sona Comstar
Commercial</a:t>
            </a:r>
          </a:p>
        </p:txBody>
      </p:sp>
      <p:sp>
        <p:nvSpPr>
          <p:cNvPr id="17" name="TextBox 16"/>
          <p:cNvSpPr txBox="1"/>
          <p:nvPr/>
        </p:nvSpPr>
        <p:spPr>
          <a:xfrm>
            <a:off x="256032" y="2148840"/>
            <a:ext cx="8631936" cy="182880"/>
          </a:xfrm>
          <a:prstGeom prst="rect">
            <a:avLst/>
          </a:prstGeom>
          <a:noFill/>
        </p:spPr>
        <p:txBody>
          <a:bodyPr wrap="square" lIns="0" rIns="0" tIns="25400" bIns="25400">
            <a:spAutoFit/>
          </a:bodyPr>
          <a:lstStyle/>
          <a:p>
            <a:pPr algn="l"/>
            <a:r>
              <a:rPr sz="800" b="0" i="0">
                <a:solidFill>
                  <a:srgbClr val="00B4D8"/>
                </a:solidFill>
              </a:rPr>
              <a:t>▶ SCIDIP enables the jump from TRL 3+ to TRL 6 in 24 months</a:t>
            </a:r>
          </a:p>
        </p:txBody>
      </p:sp>
      <p:sp>
        <p:nvSpPr>
          <p:cNvPr id="18" name="Rectangle 17"/>
          <p:cNvSpPr/>
          <p:nvPr/>
        </p:nvSpPr>
        <p:spPr>
          <a:xfrm>
            <a:off x="256032" y="237744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2487168"/>
            <a:ext cx="2084831"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578608"/>
            <a:ext cx="1883663" cy="146304"/>
          </a:xfrm>
          <a:prstGeom prst="rect">
            <a:avLst/>
          </a:prstGeom>
          <a:noFill/>
        </p:spPr>
        <p:txBody>
          <a:bodyPr wrap="square" lIns="0" rIns="0" tIns="25400" bIns="25400">
            <a:spAutoFit/>
          </a:bodyPr>
          <a:lstStyle/>
          <a:p>
            <a:pPr algn="l"/>
            <a:r>
              <a:rPr sz="750" b="1" i="0">
                <a:solidFill>
                  <a:srgbClr val="00B4D8"/>
                </a:solidFill>
              </a:rPr>
              <a:t>PILLAR 1</a:t>
            </a:r>
          </a:p>
        </p:txBody>
      </p:sp>
      <p:sp>
        <p:nvSpPr>
          <p:cNvPr id="22" name="TextBox 21"/>
          <p:cNvSpPr txBox="1"/>
          <p:nvPr/>
        </p:nvSpPr>
        <p:spPr>
          <a:xfrm>
            <a:off x="365760" y="2724912"/>
            <a:ext cx="1883663" cy="320040"/>
          </a:xfrm>
          <a:prstGeom prst="rect">
            <a:avLst/>
          </a:prstGeom>
          <a:noFill/>
        </p:spPr>
        <p:txBody>
          <a:bodyPr wrap="square" lIns="0" rIns="0" tIns="25400" bIns="25400">
            <a:spAutoFit/>
          </a:bodyPr>
          <a:lstStyle/>
          <a:p>
            <a:pPr algn="ctr"/>
            <a:r>
              <a:rPr sz="1000" b="1" i="0">
                <a:solidFill>
                  <a:srgbClr val="1A365D"/>
                </a:solidFill>
              </a:rPr>
              <a:t>Technology &amp;
Lab Support</a:t>
            </a:r>
          </a:p>
        </p:txBody>
      </p:sp>
      <p:sp>
        <p:nvSpPr>
          <p:cNvPr id="23" name="TextBox 22"/>
          <p:cNvSpPr txBox="1"/>
          <p:nvPr/>
        </p:nvSpPr>
        <p:spPr>
          <a:xfrm>
            <a:off x="365760" y="3063240"/>
            <a:ext cx="1883663" cy="164592"/>
          </a:xfrm>
          <a:prstGeom prst="rect">
            <a:avLst/>
          </a:prstGeom>
          <a:noFill/>
        </p:spPr>
        <p:txBody>
          <a:bodyPr wrap="square" lIns="0" rIns="0" tIns="25400" bIns="25400">
            <a:spAutoFit/>
          </a:bodyPr>
          <a:lstStyle/>
          <a:p>
            <a:pPr algn="ctr"/>
            <a:r>
              <a:rPr sz="750" b="0" i="0">
                <a:solidFill>
                  <a:srgbClr val="00B4D8"/>
                </a:solidFill>
              </a:rPr>
              <a:t>IIT Delhi CRF</a:t>
            </a:r>
          </a:p>
        </p:txBody>
      </p:sp>
      <p:sp>
        <p:nvSpPr>
          <p:cNvPr id="24" name="Rectangle 23"/>
          <p:cNvSpPr/>
          <p:nvPr/>
        </p:nvSpPr>
        <p:spPr>
          <a:xfrm>
            <a:off x="40233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3310128"/>
            <a:ext cx="1920239" cy="1097280"/>
          </a:xfrm>
          <a:prstGeom prst="rect">
            <a:avLst/>
          </a:prstGeom>
          <a:noFill/>
        </p:spPr>
        <p:txBody>
          <a:bodyPr wrap="square" lIns="0" rIns="0" tIns="25400" bIns="25400">
            <a:spAutoFit/>
          </a:bodyPr>
          <a:lstStyle/>
          <a:p>
            <a:pPr algn="l"/>
            <a:r>
              <a:rPr sz="750" b="0" i="0">
                <a:solidFill>
                  <a:srgbClr val="111111"/>
                </a:solidFill>
              </a:rPr>
              <a:t>• High-Temperature XRD at IIT Delhi CRF to confirm BCC phase stability
• Simultaneous Thermal Analysis (STA) for oxidation kinetics validation
• SEM/EDS characterization of coupon microstructure
• NIDHI-CoE tensile testing to confirm 917.7 MPa yield strength
• Altair simulation software access for structural FEA</a:t>
            </a:r>
          </a:p>
        </p:txBody>
      </p:sp>
      <p:sp>
        <p:nvSpPr>
          <p:cNvPr id="26" name="Rectangle 25"/>
          <p:cNvSpPr/>
          <p:nvPr/>
        </p:nvSpPr>
        <p:spPr>
          <a:xfrm>
            <a:off x="2450591"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50591" y="2487168"/>
            <a:ext cx="2084831"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0" y="2578608"/>
            <a:ext cx="1883663" cy="146304"/>
          </a:xfrm>
          <a:prstGeom prst="rect">
            <a:avLst/>
          </a:prstGeom>
          <a:noFill/>
        </p:spPr>
        <p:txBody>
          <a:bodyPr wrap="square" lIns="0" rIns="0" tIns="25400" bIns="25400">
            <a:spAutoFit/>
          </a:bodyPr>
          <a:lstStyle/>
          <a:p>
            <a:pPr algn="l"/>
            <a:r>
              <a:rPr sz="750" b="1" i="0">
                <a:solidFill>
                  <a:srgbClr val="1A365D"/>
                </a:solidFill>
              </a:rPr>
              <a:t>PILLAR 2</a:t>
            </a:r>
          </a:p>
        </p:txBody>
      </p:sp>
      <p:sp>
        <p:nvSpPr>
          <p:cNvPr id="29" name="TextBox 28"/>
          <p:cNvSpPr txBox="1"/>
          <p:nvPr/>
        </p:nvSpPr>
        <p:spPr>
          <a:xfrm>
            <a:off x="2560320" y="2724912"/>
            <a:ext cx="1883663" cy="320040"/>
          </a:xfrm>
          <a:prstGeom prst="rect">
            <a:avLst/>
          </a:prstGeom>
          <a:noFill/>
        </p:spPr>
        <p:txBody>
          <a:bodyPr wrap="square" lIns="0" rIns="0" tIns="25400" bIns="25400">
            <a:spAutoFit/>
          </a:bodyPr>
          <a:lstStyle/>
          <a:p>
            <a:pPr algn="ctr"/>
            <a:r>
              <a:rPr sz="1000" b="1" i="0">
                <a:solidFill>
                  <a:srgbClr val="1A365D"/>
                </a:solidFill>
              </a:rPr>
              <a:t>Sona Comstar
Mentorship</a:t>
            </a:r>
          </a:p>
        </p:txBody>
      </p:sp>
      <p:sp>
        <p:nvSpPr>
          <p:cNvPr id="30" name="TextBox 29"/>
          <p:cNvSpPr txBox="1"/>
          <p:nvPr/>
        </p:nvSpPr>
        <p:spPr>
          <a:xfrm>
            <a:off x="2560320" y="3063240"/>
            <a:ext cx="1883663" cy="164592"/>
          </a:xfrm>
          <a:prstGeom prst="rect">
            <a:avLst/>
          </a:prstGeom>
          <a:noFill/>
        </p:spPr>
        <p:txBody>
          <a:bodyPr wrap="square" lIns="0" rIns="0" tIns="25400" bIns="25400">
            <a:spAutoFit/>
          </a:bodyPr>
          <a:lstStyle/>
          <a:p>
            <a:pPr algn="ctr"/>
            <a:r>
              <a:rPr sz="750" b="0" i="0">
                <a:solidFill>
                  <a:srgbClr val="1A365D"/>
                </a:solidFill>
              </a:rPr>
              <a:t>Engineering Alignment</a:t>
            </a:r>
          </a:p>
        </p:txBody>
      </p:sp>
      <p:sp>
        <p:nvSpPr>
          <p:cNvPr id="31" name="Rectangle 30"/>
          <p:cNvSpPr/>
          <p:nvPr/>
        </p:nvSpPr>
        <p:spPr>
          <a:xfrm>
            <a:off x="259689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2032" y="3310128"/>
            <a:ext cx="1920239" cy="1097280"/>
          </a:xfrm>
          <a:prstGeom prst="rect">
            <a:avLst/>
          </a:prstGeom>
          <a:noFill/>
        </p:spPr>
        <p:txBody>
          <a:bodyPr wrap="square" lIns="0" rIns="0" tIns="25400" bIns="25400">
            <a:spAutoFit/>
          </a:bodyPr>
          <a:lstStyle/>
          <a:p>
            <a:pPr algn="l"/>
            <a:r>
              <a:rPr sz="750" b="0" i="0">
                <a:solidFill>
                  <a:srgbClr val="111111"/>
                </a:solidFill>
              </a:rPr>
              <a:t>• Direct access to Sona Comstar precision forging division engineers
• Calibrate 11-layer DED print parameters to factory-floor tolerances
• Joint Failure Mode &amp; Effect Analysis (FMEA) on die integration
• Access Sona Comstar's 9-facility manufacturing ecosystem
• Align with DENSO JV technical teams for e-Axle material specs</a:t>
            </a:r>
          </a:p>
        </p:txBody>
      </p:sp>
      <p:sp>
        <p:nvSpPr>
          <p:cNvPr id="33" name="Rectangle 32"/>
          <p:cNvSpPr/>
          <p:nvPr/>
        </p:nvSpPr>
        <p:spPr>
          <a:xfrm>
            <a:off x="464515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45152" y="2487168"/>
            <a:ext cx="2084831"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2578608"/>
            <a:ext cx="1883663" cy="146304"/>
          </a:xfrm>
          <a:prstGeom prst="rect">
            <a:avLst/>
          </a:prstGeom>
          <a:noFill/>
        </p:spPr>
        <p:txBody>
          <a:bodyPr wrap="square" lIns="0" rIns="0" tIns="25400" bIns="25400">
            <a:spAutoFit/>
          </a:bodyPr>
          <a:lstStyle/>
          <a:p>
            <a:pPr algn="l"/>
            <a:r>
              <a:rPr sz="750" b="1" i="0">
                <a:solidFill>
                  <a:srgbClr val="059669"/>
                </a:solidFill>
              </a:rPr>
              <a:t>PILLAR 3</a:t>
            </a:r>
          </a:p>
        </p:txBody>
      </p:sp>
      <p:sp>
        <p:nvSpPr>
          <p:cNvPr id="36" name="TextBox 35"/>
          <p:cNvSpPr txBox="1"/>
          <p:nvPr/>
        </p:nvSpPr>
        <p:spPr>
          <a:xfrm>
            <a:off x="4754880" y="2724912"/>
            <a:ext cx="1883663" cy="320040"/>
          </a:xfrm>
          <a:prstGeom prst="rect">
            <a:avLst/>
          </a:prstGeom>
          <a:noFill/>
        </p:spPr>
        <p:txBody>
          <a:bodyPr wrap="square" lIns="0" rIns="0" tIns="25400" bIns="25400">
            <a:spAutoFit/>
          </a:bodyPr>
          <a:lstStyle/>
          <a:p>
            <a:pPr algn="ctr"/>
            <a:r>
              <a:rPr sz="1000" b="1" i="0">
                <a:solidFill>
                  <a:srgbClr val="1A365D"/>
                </a:solidFill>
              </a:rPr>
              <a:t>₹80L Grant
Seed Ecosystem</a:t>
            </a:r>
          </a:p>
        </p:txBody>
      </p:sp>
      <p:sp>
        <p:nvSpPr>
          <p:cNvPr id="37" name="TextBox 36"/>
          <p:cNvSpPr txBox="1"/>
          <p:nvPr/>
        </p:nvSpPr>
        <p:spPr>
          <a:xfrm>
            <a:off x="4754880" y="3063240"/>
            <a:ext cx="1883663" cy="164592"/>
          </a:xfrm>
          <a:prstGeom prst="rect">
            <a:avLst/>
          </a:prstGeom>
          <a:noFill/>
        </p:spPr>
        <p:txBody>
          <a:bodyPr wrap="square" lIns="0" rIns="0" tIns="25400" bIns="25400">
            <a:spAutoFit/>
          </a:bodyPr>
          <a:lstStyle/>
          <a:p>
            <a:pPr algn="ctr"/>
            <a:r>
              <a:rPr sz="750" b="0" i="0">
                <a:solidFill>
                  <a:srgbClr val="059669"/>
                </a:solidFill>
              </a:rPr>
              <a:t>Equity-Free Funding</a:t>
            </a:r>
          </a:p>
        </p:txBody>
      </p:sp>
      <p:sp>
        <p:nvSpPr>
          <p:cNvPr id="38" name="Rectangle 37"/>
          <p:cNvSpPr/>
          <p:nvPr/>
        </p:nvSpPr>
        <p:spPr>
          <a:xfrm>
            <a:off x="479145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36592" y="3310128"/>
            <a:ext cx="1920239" cy="1097280"/>
          </a:xfrm>
          <a:prstGeom prst="rect">
            <a:avLst/>
          </a:prstGeom>
          <a:noFill/>
        </p:spPr>
        <p:txBody>
          <a:bodyPr wrap="square" lIns="0" rIns="0" tIns="25400" bIns="25400">
            <a:spAutoFit/>
          </a:bodyPr>
          <a:lstStyle/>
          <a:p>
            <a:pPr algn="l"/>
            <a:r>
              <a:rPr sz="750" b="0" i="0">
                <a:solidFill>
                  <a:srgbClr val="111111"/>
                </a:solidFill>
              </a:rPr>
              <a:t>• Milestone-tranche funding for raw powder procurement
  (Ta, W, Cr, V, Ti, Zr, Hf, Al — atomization grade)
• Finance multi-hopper DED 3D printer time for coupon production
• 24-month AIC IIT Delhi incubation infrastructure
• Access to ₹1.6 CR total SCIDIP grant pool</a:t>
            </a:r>
          </a:p>
        </p:txBody>
      </p:sp>
      <p:sp>
        <p:nvSpPr>
          <p:cNvPr id="40" name="Rectangle 39"/>
          <p:cNvSpPr/>
          <p:nvPr/>
        </p:nvSpPr>
        <p:spPr>
          <a:xfrm>
            <a:off x="683971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39712" y="2487168"/>
            <a:ext cx="2084831"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0" y="2578608"/>
            <a:ext cx="1883663" cy="146304"/>
          </a:xfrm>
          <a:prstGeom prst="rect">
            <a:avLst/>
          </a:prstGeom>
          <a:noFill/>
        </p:spPr>
        <p:txBody>
          <a:bodyPr wrap="square" lIns="0" rIns="0" tIns="25400" bIns="25400">
            <a:spAutoFit/>
          </a:bodyPr>
          <a:lstStyle/>
          <a:p>
            <a:pPr algn="l"/>
            <a:r>
              <a:rPr sz="750" b="1" i="0">
                <a:solidFill>
                  <a:srgbClr val="F59E0B"/>
                </a:solidFill>
              </a:rPr>
              <a:t>PILLAR 4</a:t>
            </a:r>
          </a:p>
        </p:txBody>
      </p:sp>
      <p:sp>
        <p:nvSpPr>
          <p:cNvPr id="43" name="TextBox 42"/>
          <p:cNvSpPr txBox="1"/>
          <p:nvPr/>
        </p:nvSpPr>
        <p:spPr>
          <a:xfrm>
            <a:off x="6949440" y="2724912"/>
            <a:ext cx="1883663" cy="320040"/>
          </a:xfrm>
          <a:prstGeom prst="rect">
            <a:avLst/>
          </a:prstGeom>
          <a:noFill/>
        </p:spPr>
        <p:txBody>
          <a:bodyPr wrap="square" lIns="0" rIns="0" tIns="25400" bIns="25400">
            <a:spAutoFit/>
          </a:bodyPr>
          <a:lstStyle/>
          <a:p>
            <a:pPr algn="ctr"/>
            <a:r>
              <a:rPr sz="1000" b="1" i="0">
                <a:solidFill>
                  <a:srgbClr val="1A365D"/>
                </a:solidFill>
              </a:rPr>
              <a:t>Corporate
Market Connect</a:t>
            </a:r>
          </a:p>
        </p:txBody>
      </p:sp>
      <p:sp>
        <p:nvSpPr>
          <p:cNvPr id="44" name="TextBox 43"/>
          <p:cNvSpPr txBox="1"/>
          <p:nvPr/>
        </p:nvSpPr>
        <p:spPr>
          <a:xfrm>
            <a:off x="6949440" y="3063240"/>
            <a:ext cx="1883663" cy="164592"/>
          </a:xfrm>
          <a:prstGeom prst="rect">
            <a:avLst/>
          </a:prstGeom>
          <a:noFill/>
        </p:spPr>
        <p:txBody>
          <a:bodyPr wrap="square" lIns="0" rIns="0" tIns="25400" bIns="25400">
            <a:spAutoFit/>
          </a:bodyPr>
          <a:lstStyle/>
          <a:p>
            <a:pPr algn="ctr"/>
            <a:r>
              <a:rPr sz="750" b="0" i="0">
                <a:solidFill>
                  <a:srgbClr val="F59E0B"/>
                </a:solidFill>
              </a:rPr>
              <a:t>Supply Chain Access</a:t>
            </a:r>
          </a:p>
        </p:txBody>
      </p:sp>
      <p:sp>
        <p:nvSpPr>
          <p:cNvPr id="45" name="Rectangle 44"/>
          <p:cNvSpPr/>
          <p:nvPr/>
        </p:nvSpPr>
        <p:spPr>
          <a:xfrm>
            <a:off x="698601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31152" y="3310128"/>
            <a:ext cx="1920239" cy="1097280"/>
          </a:xfrm>
          <a:prstGeom prst="rect">
            <a:avLst/>
          </a:prstGeom>
          <a:noFill/>
        </p:spPr>
        <p:txBody>
          <a:bodyPr wrap="square" lIns="0" rIns="0" tIns="25400" bIns="25400">
            <a:spAutoFit/>
          </a:bodyPr>
          <a:lstStyle/>
          <a:p>
            <a:pPr algn="l"/>
            <a:r>
              <a:rPr sz="750" b="0" i="0">
                <a:solidFill>
                  <a:srgbClr val="111111"/>
                </a:solidFill>
              </a:rPr>
              <a:t>• Integration into Sona Comstar downstream EV supply chain
• Access to Sona Comstar's OEM client network (Tier-1 EV manufacturers)
• Pathway to Drive TLV (Israel mobility startup hub) partnerships
• IIT Delhi Alumni VC pipeline for Series A raise
• FITT government partner access: iDEX, MeitY, DST</a:t>
            </a:r>
          </a:p>
        </p:txBody>
      </p:sp>
      <p:sp>
        <p:nvSpPr>
          <p:cNvPr id="47" name="TextBox 46"/>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Crystal Paradigm  ·  SCIDIP Program Application  ·  Advanced Materials Track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24-MONTH INCUBATION ROADMAP</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Computational Validation to Sona Comstar Factory Integration · Atal Incubation Centre, IIT Delhi</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201168"/>
          </a:xfrm>
          <a:prstGeom prst="rect">
            <a:avLst/>
          </a:prstGeom>
          <a:noFill/>
        </p:spPr>
        <p:txBody>
          <a:bodyPr wrap="square" lIns="0" rIns="0" tIns="25400" bIns="25400">
            <a:spAutoFit/>
          </a:bodyPr>
          <a:lstStyle/>
          <a:p>
            <a:pPr algn="l"/>
            <a:r>
              <a:rPr sz="850" b="0" i="0">
                <a:solidFill>
                  <a:srgbClr val="5580A0"/>
                </a:solidFill>
              </a:rPr>
              <a:t>Execution mapped to SCIDIP 24-month incubation cycle. Milestone-tranche funding releases at M1→M2→M3→M4 gates.</a:t>
            </a:r>
          </a:p>
        </p:txBody>
      </p:sp>
      <p:sp>
        <p:nvSpPr>
          <p:cNvPr id="7" name="Rectangle 6"/>
          <p:cNvSpPr/>
          <p:nvPr/>
        </p:nvSpPr>
        <p:spPr>
          <a:xfrm>
            <a:off x="457200" y="1627632"/>
            <a:ext cx="8229600" cy="36576"/>
          </a:xfrm>
          <a:prstGeom prst="rect">
            <a:avLst/>
          </a:prstGeom>
          <a:solidFill>
            <a:srgbClr val="D6E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536192"/>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1545336"/>
            <a:ext cx="256032" cy="228600"/>
          </a:xfrm>
          <a:prstGeom prst="rect">
            <a:avLst/>
          </a:prstGeom>
          <a:noFill/>
        </p:spPr>
        <p:txBody>
          <a:bodyPr wrap="square" lIns="0" rIns="0" tIns="25400" bIns="25400">
            <a:spAutoFit/>
          </a:bodyPr>
          <a:lstStyle/>
          <a:p>
            <a:pPr algn="ctr"/>
            <a:r>
              <a:rPr sz="800" b="1" i="0">
                <a:solidFill>
                  <a:srgbClr val="FFFFFF"/>
                </a:solidFill>
              </a:rPr>
              <a:t>M1</a:t>
            </a:r>
          </a:p>
        </p:txBody>
      </p:sp>
      <p:sp>
        <p:nvSpPr>
          <p:cNvPr id="10" name="Rectangle 9"/>
          <p:cNvSpPr/>
          <p:nvPr/>
        </p:nvSpPr>
        <p:spPr>
          <a:xfrm>
            <a:off x="45720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20116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83664"/>
            <a:ext cx="1847088" cy="146304"/>
          </a:xfrm>
          <a:prstGeom prst="rect">
            <a:avLst/>
          </a:prstGeom>
          <a:noFill/>
        </p:spPr>
        <p:txBody>
          <a:bodyPr wrap="square" lIns="0" rIns="0" tIns="25400" bIns="25400">
            <a:spAutoFit/>
          </a:bodyPr>
          <a:lstStyle/>
          <a:p>
            <a:pPr algn="l"/>
            <a:r>
              <a:rPr sz="750" b="1" i="0">
                <a:solidFill>
                  <a:srgbClr val="00B4D8"/>
                </a:solidFill>
              </a:rPr>
              <a:t>MONTHS 1–6</a:t>
            </a:r>
          </a:p>
        </p:txBody>
      </p:sp>
      <p:sp>
        <p:nvSpPr>
          <p:cNvPr id="13" name="TextBox 12"/>
          <p:cNvSpPr txBox="1"/>
          <p:nvPr/>
        </p:nvSpPr>
        <p:spPr>
          <a:xfrm>
            <a:off x="548640" y="2048256"/>
            <a:ext cx="1847088" cy="320040"/>
          </a:xfrm>
          <a:prstGeom prst="rect">
            <a:avLst/>
          </a:prstGeom>
          <a:noFill/>
        </p:spPr>
        <p:txBody>
          <a:bodyPr wrap="square" lIns="0" rIns="0" tIns="25400" bIns="25400">
            <a:spAutoFit/>
          </a:bodyPr>
          <a:lstStyle/>
          <a:p>
            <a:pPr algn="l"/>
            <a:r>
              <a:rPr sz="900" b="1" i="0">
                <a:solidFill>
                  <a:srgbClr val="1A365D"/>
                </a:solidFill>
              </a:rPr>
              <a:t>Powder Synthesis &amp;
Composition Verification</a:t>
            </a:r>
          </a:p>
        </p:txBody>
      </p:sp>
      <p:sp>
        <p:nvSpPr>
          <p:cNvPr id="14" name="Rectangle 13"/>
          <p:cNvSpPr/>
          <p:nvPr/>
        </p:nvSpPr>
        <p:spPr>
          <a:xfrm>
            <a:off x="54864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468880"/>
            <a:ext cx="1700784" cy="365760"/>
          </a:xfrm>
          <a:prstGeom prst="rect">
            <a:avLst/>
          </a:prstGeom>
          <a:noFill/>
        </p:spPr>
        <p:txBody>
          <a:bodyPr wrap="square" lIns="0" rIns="0" tIns="25400" bIns="25400">
            <a:spAutoFit/>
          </a:bodyPr>
          <a:lstStyle/>
          <a:p>
            <a:pPr algn="l"/>
            <a:r>
              <a:rPr sz="750" b="0" i="0">
                <a:solidFill>
                  <a:srgbClr val="111111"/>
                </a:solidFill>
              </a:rPr>
              <a:t>Procure raw metal powders: Ta, W, Cr, V, Ti, Zr, Hf, Al (atomization grade)</a:t>
            </a:r>
          </a:p>
        </p:txBody>
      </p:sp>
      <p:sp>
        <p:nvSpPr>
          <p:cNvPr id="17" name="Rectangle 16"/>
          <p:cNvSpPr/>
          <p:nvPr/>
        </p:nvSpPr>
        <p:spPr>
          <a:xfrm>
            <a:off x="54864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2871216"/>
            <a:ext cx="1700784" cy="365760"/>
          </a:xfrm>
          <a:prstGeom prst="rect">
            <a:avLst/>
          </a:prstGeom>
          <a:noFill/>
        </p:spPr>
        <p:txBody>
          <a:bodyPr wrap="square" lIns="0" rIns="0" tIns="25400" bIns="25400">
            <a:spAutoFit/>
          </a:bodyPr>
          <a:lstStyle/>
          <a:p>
            <a:pPr algn="l"/>
            <a:r>
              <a:rPr sz="750" b="0" i="0">
                <a:solidFill>
                  <a:srgbClr val="111111"/>
                </a:solidFill>
              </a:rPr>
              <a:t>IIT Delhi CRF: XRD baseline scan to verify powder phase purity</a:t>
            </a:r>
          </a:p>
        </p:txBody>
      </p:sp>
      <p:sp>
        <p:nvSpPr>
          <p:cNvPr id="19" name="Rectangle 18"/>
          <p:cNvSpPr/>
          <p:nvPr/>
        </p:nvSpPr>
        <p:spPr>
          <a:xfrm>
            <a:off x="54864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273552"/>
            <a:ext cx="1700784" cy="365760"/>
          </a:xfrm>
          <a:prstGeom prst="rect">
            <a:avLst/>
          </a:prstGeom>
          <a:noFill/>
        </p:spPr>
        <p:txBody>
          <a:bodyPr wrap="square" lIns="0" rIns="0" tIns="25400" bIns="25400">
            <a:spAutoFit/>
          </a:bodyPr>
          <a:lstStyle/>
          <a:p>
            <a:pPr algn="l"/>
            <a:r>
              <a:rPr sz="750" b="0" i="0">
                <a:solidFill>
                  <a:srgbClr val="111111"/>
                </a:solidFill>
              </a:rPr>
              <a:t>NIDHI-CoE: Establish tensile test protocol and specimen geometry</a:t>
            </a:r>
          </a:p>
        </p:txBody>
      </p:sp>
      <p:sp>
        <p:nvSpPr>
          <p:cNvPr id="21" name="Rectangle 20"/>
          <p:cNvSpPr/>
          <p:nvPr/>
        </p:nvSpPr>
        <p:spPr>
          <a:xfrm>
            <a:off x="54864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3675888"/>
            <a:ext cx="1700784" cy="365760"/>
          </a:xfrm>
          <a:prstGeom prst="rect">
            <a:avLst/>
          </a:prstGeom>
          <a:noFill/>
        </p:spPr>
        <p:txBody>
          <a:bodyPr wrap="square" lIns="0" rIns="0" tIns="25400" bIns="25400">
            <a:spAutoFit/>
          </a:bodyPr>
          <a:lstStyle/>
          <a:p>
            <a:pPr algn="l"/>
            <a:r>
              <a:rPr sz="750" b="0" i="0">
                <a:solidFill>
                  <a:srgbClr val="111111"/>
                </a:solidFill>
              </a:rPr>
              <a:t>Sona Comstar: Receive forging die dimensional specs for coupon sizing</a:t>
            </a:r>
          </a:p>
        </p:txBody>
      </p:sp>
      <p:sp>
        <p:nvSpPr>
          <p:cNvPr id="23" name="Rectangle 22"/>
          <p:cNvSpPr/>
          <p:nvPr/>
        </p:nvSpPr>
        <p:spPr>
          <a:xfrm>
            <a:off x="54864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4078224"/>
            <a:ext cx="1700784" cy="365760"/>
          </a:xfrm>
          <a:prstGeom prst="rect">
            <a:avLst/>
          </a:prstGeom>
          <a:noFill/>
        </p:spPr>
        <p:txBody>
          <a:bodyPr wrap="square" lIns="0" rIns="0" tIns="25400" bIns="25400">
            <a:spAutoFit/>
          </a:bodyPr>
          <a:lstStyle/>
          <a:p>
            <a:pPr algn="l"/>
            <a:r>
              <a:rPr sz="750" b="0" i="0">
                <a:solidFill>
                  <a:srgbClr val="111111"/>
                </a:solidFill>
              </a:rPr>
              <a:t>Funding Gate: M1 tranche release upon powder procurement verification</a:t>
            </a:r>
          </a:p>
        </p:txBody>
      </p:sp>
      <p:sp>
        <p:nvSpPr>
          <p:cNvPr id="25" name="Rectangle 24"/>
          <p:cNvSpPr/>
          <p:nvPr/>
        </p:nvSpPr>
        <p:spPr>
          <a:xfrm>
            <a:off x="3529584" y="1536192"/>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9584" y="1545336"/>
            <a:ext cx="256032" cy="228600"/>
          </a:xfrm>
          <a:prstGeom prst="rect">
            <a:avLst/>
          </a:prstGeom>
          <a:noFill/>
        </p:spPr>
        <p:txBody>
          <a:bodyPr wrap="square" lIns="0" rIns="0" tIns="25400" bIns="25400">
            <a:spAutoFit/>
          </a:bodyPr>
          <a:lstStyle/>
          <a:p>
            <a:pPr algn="ctr"/>
            <a:r>
              <a:rPr sz="800" b="1" i="0">
                <a:solidFill>
                  <a:srgbClr val="FFFFFF"/>
                </a:solidFill>
              </a:rPr>
              <a:t>M2</a:t>
            </a:r>
          </a:p>
        </p:txBody>
      </p:sp>
      <p:sp>
        <p:nvSpPr>
          <p:cNvPr id="27" name="Rectangle 26"/>
          <p:cNvSpPr/>
          <p:nvPr/>
        </p:nvSpPr>
        <p:spPr>
          <a:xfrm>
            <a:off x="265176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651760" y="1783080"/>
            <a:ext cx="201168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0" y="1883664"/>
            <a:ext cx="1847088" cy="146304"/>
          </a:xfrm>
          <a:prstGeom prst="rect">
            <a:avLst/>
          </a:prstGeom>
          <a:noFill/>
        </p:spPr>
        <p:txBody>
          <a:bodyPr wrap="square" lIns="0" rIns="0" tIns="25400" bIns="25400">
            <a:spAutoFit/>
          </a:bodyPr>
          <a:lstStyle/>
          <a:p>
            <a:pPr algn="l"/>
            <a:r>
              <a:rPr sz="750" b="1" i="0">
                <a:solidFill>
                  <a:srgbClr val="1A365D"/>
                </a:solidFill>
              </a:rPr>
              <a:t>MONTHS 6–12</a:t>
            </a:r>
          </a:p>
        </p:txBody>
      </p:sp>
      <p:sp>
        <p:nvSpPr>
          <p:cNvPr id="30" name="TextBox 29"/>
          <p:cNvSpPr txBox="1"/>
          <p:nvPr/>
        </p:nvSpPr>
        <p:spPr>
          <a:xfrm>
            <a:off x="2743200" y="2048256"/>
            <a:ext cx="1847088" cy="320040"/>
          </a:xfrm>
          <a:prstGeom prst="rect">
            <a:avLst/>
          </a:prstGeom>
          <a:noFill/>
        </p:spPr>
        <p:txBody>
          <a:bodyPr wrap="square" lIns="0" rIns="0" tIns="25400" bIns="25400">
            <a:spAutoFit/>
          </a:bodyPr>
          <a:lstStyle/>
          <a:p>
            <a:pPr algn="l"/>
            <a:r>
              <a:rPr sz="900" b="1" i="0">
                <a:solidFill>
                  <a:srgbClr val="1A365D"/>
                </a:solidFill>
              </a:rPr>
              <a:t>Additive Manufacturing
Witness Coupons</a:t>
            </a:r>
          </a:p>
        </p:txBody>
      </p:sp>
      <p:sp>
        <p:nvSpPr>
          <p:cNvPr id="31" name="Rectangle 30"/>
          <p:cNvSpPr/>
          <p:nvPr/>
        </p:nvSpPr>
        <p:spPr>
          <a:xfrm>
            <a:off x="274320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9504" y="2468880"/>
            <a:ext cx="1700784" cy="365760"/>
          </a:xfrm>
          <a:prstGeom prst="rect">
            <a:avLst/>
          </a:prstGeom>
          <a:noFill/>
        </p:spPr>
        <p:txBody>
          <a:bodyPr wrap="square" lIns="0" rIns="0" tIns="25400" bIns="25400">
            <a:spAutoFit/>
          </a:bodyPr>
          <a:lstStyle/>
          <a:p>
            <a:pPr algn="l"/>
            <a:r>
              <a:rPr sz="750" b="0" i="0">
                <a:solidFill>
                  <a:srgbClr val="111111"/>
                </a:solidFill>
              </a:rPr>
              <a:t>Execute 11-layer manufacturing_recipe.csv via DED 3D printer</a:t>
            </a:r>
          </a:p>
        </p:txBody>
      </p:sp>
      <p:sp>
        <p:nvSpPr>
          <p:cNvPr id="34" name="Rectangle 33"/>
          <p:cNvSpPr/>
          <p:nvPr/>
        </p:nvSpPr>
        <p:spPr>
          <a:xfrm>
            <a:off x="274320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9504" y="2871216"/>
            <a:ext cx="1700784" cy="365760"/>
          </a:xfrm>
          <a:prstGeom prst="rect">
            <a:avLst/>
          </a:prstGeom>
          <a:noFill/>
        </p:spPr>
        <p:txBody>
          <a:bodyPr wrap="square" lIns="0" rIns="0" tIns="25400" bIns="25400">
            <a:spAutoFit/>
          </a:bodyPr>
          <a:lstStyle/>
          <a:p>
            <a:pPr algn="l"/>
            <a:r>
              <a:rPr sz="750" b="0" i="0">
                <a:solidFill>
                  <a:srgbClr val="111111"/>
                </a:solidFill>
              </a:rPr>
              <a:t>Multi-hopper DED: Layer 1 (100% Alloy) → Layer 11 (100% LZO Ceramic)</a:t>
            </a:r>
          </a:p>
        </p:txBody>
      </p:sp>
      <p:sp>
        <p:nvSpPr>
          <p:cNvPr id="36" name="Rectangle 35"/>
          <p:cNvSpPr/>
          <p:nvPr/>
        </p:nvSpPr>
        <p:spPr>
          <a:xfrm>
            <a:off x="274320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89504" y="3273552"/>
            <a:ext cx="1700784" cy="365760"/>
          </a:xfrm>
          <a:prstGeom prst="rect">
            <a:avLst/>
          </a:prstGeom>
          <a:noFill/>
        </p:spPr>
        <p:txBody>
          <a:bodyPr wrap="square" lIns="0" rIns="0" tIns="25400" bIns="25400">
            <a:spAutoFit/>
          </a:bodyPr>
          <a:lstStyle/>
          <a:p>
            <a:pPr algn="l"/>
            <a:r>
              <a:rPr sz="750" b="0" i="0">
                <a:solidFill>
                  <a:srgbClr val="111111"/>
                </a:solidFill>
              </a:rPr>
              <a:t>NIDHI-CoE Mechanical Lab: Tensile coupon machining and preparation</a:t>
            </a:r>
          </a:p>
        </p:txBody>
      </p:sp>
      <p:sp>
        <p:nvSpPr>
          <p:cNvPr id="38" name="Rectangle 37"/>
          <p:cNvSpPr/>
          <p:nvPr/>
        </p:nvSpPr>
        <p:spPr>
          <a:xfrm>
            <a:off x="274320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89504" y="3675888"/>
            <a:ext cx="1700784" cy="365760"/>
          </a:xfrm>
          <a:prstGeom prst="rect">
            <a:avLst/>
          </a:prstGeom>
          <a:noFill/>
        </p:spPr>
        <p:txBody>
          <a:bodyPr wrap="square" lIns="0" rIns="0" tIns="25400" bIns="25400">
            <a:spAutoFit/>
          </a:bodyPr>
          <a:lstStyle/>
          <a:p>
            <a:pPr algn="l"/>
            <a:r>
              <a:rPr sz="750" b="0" i="0">
                <a:solidFill>
                  <a:srgbClr val="111111"/>
                </a:solidFill>
              </a:rPr>
              <a:t>SEM/EDS scan: Verify chemical composition layer-by-layer</a:t>
            </a:r>
          </a:p>
        </p:txBody>
      </p:sp>
      <p:sp>
        <p:nvSpPr>
          <p:cNvPr id="40" name="Rectangle 39"/>
          <p:cNvSpPr/>
          <p:nvPr/>
        </p:nvSpPr>
        <p:spPr>
          <a:xfrm>
            <a:off x="274320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9504" y="4078224"/>
            <a:ext cx="1700784" cy="365760"/>
          </a:xfrm>
          <a:prstGeom prst="rect">
            <a:avLst/>
          </a:prstGeom>
          <a:noFill/>
        </p:spPr>
        <p:txBody>
          <a:bodyPr wrap="square" lIns="0" rIns="0" tIns="25400" bIns="25400">
            <a:spAutoFit/>
          </a:bodyPr>
          <a:lstStyle/>
          <a:p>
            <a:pPr algn="l"/>
            <a:r>
              <a:rPr sz="750" b="0" i="0">
                <a:solidFill>
                  <a:srgbClr val="111111"/>
                </a:solidFill>
              </a:rPr>
              <a:t>Funding Gate: M2 tranche upon coupon dimensional inspection pass</a:t>
            </a:r>
          </a:p>
        </p:txBody>
      </p:sp>
      <p:sp>
        <p:nvSpPr>
          <p:cNvPr id="42" name="Rectangle 41"/>
          <p:cNvSpPr/>
          <p:nvPr/>
        </p:nvSpPr>
        <p:spPr>
          <a:xfrm>
            <a:off x="5724144" y="1536192"/>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24144" y="1545336"/>
            <a:ext cx="256032" cy="228600"/>
          </a:xfrm>
          <a:prstGeom prst="rect">
            <a:avLst/>
          </a:prstGeom>
          <a:noFill/>
        </p:spPr>
        <p:txBody>
          <a:bodyPr wrap="square" lIns="0" rIns="0" tIns="25400" bIns="25400">
            <a:spAutoFit/>
          </a:bodyPr>
          <a:lstStyle/>
          <a:p>
            <a:pPr algn="ctr"/>
            <a:r>
              <a:rPr sz="800" b="1" i="0">
                <a:solidFill>
                  <a:srgbClr val="FFFFFF"/>
                </a:solidFill>
              </a:rPr>
              <a:t>M3</a:t>
            </a:r>
          </a:p>
        </p:txBody>
      </p:sp>
      <p:sp>
        <p:nvSpPr>
          <p:cNvPr id="44" name="Rectangle 43"/>
          <p:cNvSpPr/>
          <p:nvPr/>
        </p:nvSpPr>
        <p:spPr>
          <a:xfrm>
            <a:off x="484632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846320" y="1783080"/>
            <a:ext cx="201168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1883664"/>
            <a:ext cx="1847088" cy="146304"/>
          </a:xfrm>
          <a:prstGeom prst="rect">
            <a:avLst/>
          </a:prstGeom>
          <a:noFill/>
        </p:spPr>
        <p:txBody>
          <a:bodyPr wrap="square" lIns="0" rIns="0" tIns="25400" bIns="25400">
            <a:spAutoFit/>
          </a:bodyPr>
          <a:lstStyle/>
          <a:p>
            <a:pPr algn="l"/>
            <a:r>
              <a:rPr sz="750" b="1" i="0">
                <a:solidFill>
                  <a:srgbClr val="059669"/>
                </a:solidFill>
              </a:rPr>
              <a:t>MONTHS 12–18</a:t>
            </a:r>
          </a:p>
        </p:txBody>
      </p:sp>
      <p:sp>
        <p:nvSpPr>
          <p:cNvPr id="47" name="TextBox 46"/>
          <p:cNvSpPr txBox="1"/>
          <p:nvPr/>
        </p:nvSpPr>
        <p:spPr>
          <a:xfrm>
            <a:off x="4937760" y="2048256"/>
            <a:ext cx="1847088" cy="320040"/>
          </a:xfrm>
          <a:prstGeom prst="rect">
            <a:avLst/>
          </a:prstGeom>
          <a:noFill/>
        </p:spPr>
        <p:txBody>
          <a:bodyPr wrap="square" lIns="0" rIns="0" tIns="25400" bIns="25400">
            <a:spAutoFit/>
          </a:bodyPr>
          <a:lstStyle/>
          <a:p>
            <a:pPr algn="l"/>
            <a:r>
              <a:rPr sz="900" b="1" i="0">
                <a:solidFill>
                  <a:srgbClr val="1A365D"/>
                </a:solidFill>
              </a:rPr>
              <a:t>IIT Delhi CRF &amp;
NIDHI-CoE Validation</a:t>
            </a:r>
          </a:p>
        </p:txBody>
      </p:sp>
      <p:sp>
        <p:nvSpPr>
          <p:cNvPr id="48" name="Rectangle 47"/>
          <p:cNvSpPr/>
          <p:nvPr/>
        </p:nvSpPr>
        <p:spPr>
          <a:xfrm>
            <a:off x="493776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93776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84064" y="2468880"/>
            <a:ext cx="1700784" cy="365760"/>
          </a:xfrm>
          <a:prstGeom prst="rect">
            <a:avLst/>
          </a:prstGeom>
          <a:noFill/>
        </p:spPr>
        <p:txBody>
          <a:bodyPr wrap="square" lIns="0" rIns="0" tIns="25400" bIns="25400">
            <a:spAutoFit/>
          </a:bodyPr>
          <a:lstStyle/>
          <a:p>
            <a:pPr algn="l"/>
            <a:r>
              <a:rPr sz="750" b="0" i="0">
                <a:solidFill>
                  <a:srgbClr val="111111"/>
                </a:solidFill>
              </a:rPr>
              <a:t>High-Temp XRD: Confirm 0% brittle sigma phase at 1,200°C</a:t>
            </a:r>
          </a:p>
        </p:txBody>
      </p:sp>
      <p:sp>
        <p:nvSpPr>
          <p:cNvPr id="51" name="Rectangle 50"/>
          <p:cNvSpPr/>
          <p:nvPr/>
        </p:nvSpPr>
        <p:spPr>
          <a:xfrm>
            <a:off x="493776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84064" y="2871216"/>
            <a:ext cx="1700784" cy="365760"/>
          </a:xfrm>
          <a:prstGeom prst="rect">
            <a:avLst/>
          </a:prstGeom>
          <a:noFill/>
        </p:spPr>
        <p:txBody>
          <a:bodyPr wrap="square" lIns="0" rIns="0" tIns="25400" bIns="25400">
            <a:spAutoFit/>
          </a:bodyPr>
          <a:lstStyle/>
          <a:p>
            <a:pPr algn="l"/>
            <a:r>
              <a:rPr sz="750" b="0" i="0">
                <a:solidFill>
                  <a:srgbClr val="111111"/>
                </a:solidFill>
              </a:rPr>
              <a:t>STA/TGA: Mass gain oxidation kinetics — target &lt;10 mg/cm²</a:t>
            </a:r>
          </a:p>
        </p:txBody>
      </p:sp>
      <p:sp>
        <p:nvSpPr>
          <p:cNvPr id="53" name="Rectangle 52"/>
          <p:cNvSpPr/>
          <p:nvPr/>
        </p:nvSpPr>
        <p:spPr>
          <a:xfrm>
            <a:off x="493776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84064" y="3273552"/>
            <a:ext cx="1700784" cy="365760"/>
          </a:xfrm>
          <a:prstGeom prst="rect">
            <a:avLst/>
          </a:prstGeom>
          <a:noFill/>
        </p:spPr>
        <p:txBody>
          <a:bodyPr wrap="square" lIns="0" rIns="0" tIns="25400" bIns="25400">
            <a:spAutoFit/>
          </a:bodyPr>
          <a:lstStyle/>
          <a:p>
            <a:pPr algn="l"/>
            <a:r>
              <a:rPr sz="750" b="0" i="0">
                <a:solidFill>
                  <a:srgbClr val="111111"/>
                </a:solidFill>
              </a:rPr>
              <a:t>Burner rig adhesion test: Validate interfacial bond Safety Factor ≥1.50</a:t>
            </a:r>
          </a:p>
        </p:txBody>
      </p:sp>
      <p:sp>
        <p:nvSpPr>
          <p:cNvPr id="55" name="Rectangle 54"/>
          <p:cNvSpPr/>
          <p:nvPr/>
        </p:nvSpPr>
        <p:spPr>
          <a:xfrm>
            <a:off x="493776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84064" y="3675888"/>
            <a:ext cx="1700784" cy="365760"/>
          </a:xfrm>
          <a:prstGeom prst="rect">
            <a:avLst/>
          </a:prstGeom>
          <a:noFill/>
        </p:spPr>
        <p:txBody>
          <a:bodyPr wrap="square" lIns="0" rIns="0" tIns="25400" bIns="25400">
            <a:spAutoFit/>
          </a:bodyPr>
          <a:lstStyle/>
          <a:p>
            <a:pPr algn="l"/>
            <a:r>
              <a:rPr sz="750" b="0" i="0">
                <a:solidFill>
                  <a:srgbClr val="111111"/>
                </a:solidFill>
              </a:rPr>
              <a:t>NIDHI-CoE tensile: Confirm &gt;917.7 MPa yield strength retention</a:t>
            </a:r>
          </a:p>
        </p:txBody>
      </p:sp>
      <p:sp>
        <p:nvSpPr>
          <p:cNvPr id="57" name="Rectangle 56"/>
          <p:cNvSpPr/>
          <p:nvPr/>
        </p:nvSpPr>
        <p:spPr>
          <a:xfrm>
            <a:off x="493776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84064" y="4078224"/>
            <a:ext cx="1700784" cy="365760"/>
          </a:xfrm>
          <a:prstGeom prst="rect">
            <a:avLst/>
          </a:prstGeom>
          <a:noFill/>
        </p:spPr>
        <p:txBody>
          <a:bodyPr wrap="square" lIns="0" rIns="0" tIns="25400" bIns="25400">
            <a:spAutoFit/>
          </a:bodyPr>
          <a:lstStyle/>
          <a:p>
            <a:pPr algn="l"/>
            <a:r>
              <a:rPr sz="750" b="0" i="0">
                <a:solidFill>
                  <a:srgbClr val="111111"/>
                </a:solidFill>
              </a:rPr>
              <a:t>Funding Gate: M3 upon full TRL 4 physical validation report</a:t>
            </a:r>
          </a:p>
        </p:txBody>
      </p:sp>
      <p:sp>
        <p:nvSpPr>
          <p:cNvPr id="59" name="Rectangle 58"/>
          <p:cNvSpPr/>
          <p:nvPr/>
        </p:nvSpPr>
        <p:spPr>
          <a:xfrm>
            <a:off x="7918704" y="1536192"/>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18704" y="1545336"/>
            <a:ext cx="256032" cy="228600"/>
          </a:xfrm>
          <a:prstGeom prst="rect">
            <a:avLst/>
          </a:prstGeom>
          <a:noFill/>
        </p:spPr>
        <p:txBody>
          <a:bodyPr wrap="square" lIns="0" rIns="0" tIns="25400" bIns="25400">
            <a:spAutoFit/>
          </a:bodyPr>
          <a:lstStyle/>
          <a:p>
            <a:pPr algn="ctr"/>
            <a:r>
              <a:rPr sz="800" b="1" i="0">
                <a:solidFill>
                  <a:srgbClr val="FFFFFF"/>
                </a:solidFill>
              </a:rPr>
              <a:t>M4</a:t>
            </a:r>
          </a:p>
        </p:txBody>
      </p:sp>
      <p:sp>
        <p:nvSpPr>
          <p:cNvPr id="61" name="Rectangle 60"/>
          <p:cNvSpPr/>
          <p:nvPr/>
        </p:nvSpPr>
        <p:spPr>
          <a:xfrm>
            <a:off x="704088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040880" y="1783080"/>
            <a:ext cx="201168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32320" y="1883664"/>
            <a:ext cx="1847088" cy="146304"/>
          </a:xfrm>
          <a:prstGeom prst="rect">
            <a:avLst/>
          </a:prstGeom>
          <a:noFill/>
        </p:spPr>
        <p:txBody>
          <a:bodyPr wrap="square" lIns="0" rIns="0" tIns="25400" bIns="25400">
            <a:spAutoFit/>
          </a:bodyPr>
          <a:lstStyle/>
          <a:p>
            <a:pPr algn="l"/>
            <a:r>
              <a:rPr sz="750" b="1" i="0">
                <a:solidFill>
                  <a:srgbClr val="F59E0B"/>
                </a:solidFill>
              </a:rPr>
              <a:t>MONTHS 18–24</a:t>
            </a:r>
          </a:p>
        </p:txBody>
      </p:sp>
      <p:sp>
        <p:nvSpPr>
          <p:cNvPr id="64" name="TextBox 63"/>
          <p:cNvSpPr txBox="1"/>
          <p:nvPr/>
        </p:nvSpPr>
        <p:spPr>
          <a:xfrm>
            <a:off x="7132320" y="2048256"/>
            <a:ext cx="1847088" cy="320040"/>
          </a:xfrm>
          <a:prstGeom prst="rect">
            <a:avLst/>
          </a:prstGeom>
          <a:noFill/>
        </p:spPr>
        <p:txBody>
          <a:bodyPr wrap="square" lIns="0" rIns="0" tIns="25400" bIns="25400">
            <a:spAutoFit/>
          </a:bodyPr>
          <a:lstStyle/>
          <a:p>
            <a:pPr algn="l"/>
            <a:r>
              <a:rPr sz="900" b="1" i="0">
                <a:solidFill>
                  <a:srgbClr val="1A365D"/>
                </a:solidFill>
              </a:rPr>
              <a:t>Corporate Handover
TRL 5/6 Integration</a:t>
            </a:r>
          </a:p>
        </p:txBody>
      </p:sp>
      <p:sp>
        <p:nvSpPr>
          <p:cNvPr id="65" name="Rectangle 64"/>
          <p:cNvSpPr/>
          <p:nvPr/>
        </p:nvSpPr>
        <p:spPr>
          <a:xfrm>
            <a:off x="713232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13232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78624" y="2468880"/>
            <a:ext cx="1700784" cy="365760"/>
          </a:xfrm>
          <a:prstGeom prst="rect">
            <a:avLst/>
          </a:prstGeom>
          <a:noFill/>
        </p:spPr>
        <p:txBody>
          <a:bodyPr wrap="square" lIns="0" rIns="0" tIns="25400" bIns="25400">
            <a:spAutoFit/>
          </a:bodyPr>
          <a:lstStyle/>
          <a:p>
            <a:pPr algn="l"/>
            <a:r>
              <a:rPr sz="750" b="0" i="0">
                <a:solidFill>
                  <a:srgbClr val="111111"/>
                </a:solidFill>
              </a:rPr>
              <a:t>Present validated TRL 5 hardware to Sona Comstar forging division</a:t>
            </a:r>
          </a:p>
        </p:txBody>
      </p:sp>
      <p:sp>
        <p:nvSpPr>
          <p:cNvPr id="68" name="Rectangle 67"/>
          <p:cNvSpPr/>
          <p:nvPr/>
        </p:nvSpPr>
        <p:spPr>
          <a:xfrm>
            <a:off x="713232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78624" y="2871216"/>
            <a:ext cx="1700784" cy="365760"/>
          </a:xfrm>
          <a:prstGeom prst="rect">
            <a:avLst/>
          </a:prstGeom>
          <a:noFill/>
        </p:spPr>
        <p:txBody>
          <a:bodyPr wrap="square" lIns="0" rIns="0" tIns="25400" bIns="25400">
            <a:spAutoFit/>
          </a:bodyPr>
          <a:lstStyle/>
          <a:p>
            <a:pPr algn="l"/>
            <a:r>
              <a:rPr sz="750" b="0" i="0">
                <a:solidFill>
                  <a:srgbClr val="111111"/>
                </a:solidFill>
              </a:rPr>
              <a:t>Begin integration trial: Candidate C die vs. legacy H13 comparative run</a:t>
            </a:r>
          </a:p>
        </p:txBody>
      </p:sp>
      <p:sp>
        <p:nvSpPr>
          <p:cNvPr id="70" name="Rectangle 69"/>
          <p:cNvSpPr/>
          <p:nvPr/>
        </p:nvSpPr>
        <p:spPr>
          <a:xfrm>
            <a:off x="713232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78624" y="3273552"/>
            <a:ext cx="1700784" cy="365760"/>
          </a:xfrm>
          <a:prstGeom prst="rect">
            <a:avLst/>
          </a:prstGeom>
          <a:noFill/>
        </p:spPr>
        <p:txBody>
          <a:bodyPr wrap="square" lIns="0" rIns="0" tIns="25400" bIns="25400">
            <a:spAutoFit/>
          </a:bodyPr>
          <a:lstStyle/>
          <a:p>
            <a:pPr algn="l"/>
            <a:r>
              <a:rPr sz="750" b="0" i="0">
                <a:solidFill>
                  <a:srgbClr val="111111"/>
                </a:solidFill>
              </a:rPr>
              <a:t>SRM stator prototype assembly — thermal shock cycling test</a:t>
            </a:r>
          </a:p>
        </p:txBody>
      </p:sp>
      <p:sp>
        <p:nvSpPr>
          <p:cNvPr id="72" name="Rectangle 71"/>
          <p:cNvSpPr/>
          <p:nvPr/>
        </p:nvSpPr>
        <p:spPr>
          <a:xfrm>
            <a:off x="713232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78624" y="3675888"/>
            <a:ext cx="1700784" cy="365760"/>
          </a:xfrm>
          <a:prstGeom prst="rect">
            <a:avLst/>
          </a:prstGeom>
          <a:noFill/>
        </p:spPr>
        <p:txBody>
          <a:bodyPr wrap="square" lIns="0" rIns="0" tIns="25400" bIns="25400">
            <a:spAutoFit/>
          </a:bodyPr>
          <a:lstStyle/>
          <a:p>
            <a:pPr algn="l"/>
            <a:r>
              <a:rPr sz="750" b="0" i="0">
                <a:solidFill>
                  <a:srgbClr val="111111"/>
                </a:solidFill>
              </a:rPr>
              <a:t>File joint patents via FITT IIT Delhi for commercialized formulations</a:t>
            </a:r>
          </a:p>
        </p:txBody>
      </p:sp>
      <p:sp>
        <p:nvSpPr>
          <p:cNvPr id="74" name="Rectangle 73"/>
          <p:cNvSpPr/>
          <p:nvPr/>
        </p:nvSpPr>
        <p:spPr>
          <a:xfrm>
            <a:off x="713232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278624" y="4078224"/>
            <a:ext cx="1700784" cy="365760"/>
          </a:xfrm>
          <a:prstGeom prst="rect">
            <a:avLst/>
          </a:prstGeom>
          <a:noFill/>
        </p:spPr>
        <p:txBody>
          <a:bodyPr wrap="square" lIns="0" rIns="0" tIns="25400" bIns="25400">
            <a:spAutoFit/>
          </a:bodyPr>
          <a:lstStyle/>
          <a:p>
            <a:pPr algn="l"/>
            <a:r>
              <a:rPr sz="750" b="0" i="0">
                <a:solidFill>
                  <a:srgbClr val="111111"/>
                </a:solidFill>
              </a:rPr>
              <a:t>Funding Gate: M4 — Series A readiness pitch to IIT Delhi Alumni VCs</a:t>
            </a:r>
          </a:p>
        </p:txBody>
      </p:sp>
      <p:sp>
        <p:nvSpPr>
          <p:cNvPr id="76" name="TextBox 75"/>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Crystal Paradigm  ·  SCIDIP Program Application  ·  Advanced Materials Track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TEAM</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Elite Academic Leadership · Prodigious AI Engineering · 18-Strong Research Execution Engine</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64592"/>
          </a:xfrm>
          <a:prstGeom prst="rect">
            <a:avLst/>
          </a:prstGeom>
          <a:noFill/>
        </p:spPr>
        <p:txBody>
          <a:bodyPr wrap="square" lIns="0" rIns="0" tIns="25400" bIns="25400">
            <a:spAutoFit/>
          </a:bodyPr>
          <a:lstStyle/>
          <a:p>
            <a:pPr algn="l"/>
            <a:r>
              <a:rPr sz="800" b="1" i="0">
                <a:solidFill>
                  <a:srgbClr val="00B4D8"/>
                </a:solidFill>
              </a:rPr>
              <a:t>RESEARCH LEADS — SCIENTIFIC OVERSIGHT &amp; VALIDATION</a:t>
            </a:r>
          </a:p>
        </p:txBody>
      </p:sp>
      <p:sp>
        <p:nvSpPr>
          <p:cNvPr id="7" name="Rectangle 6"/>
          <p:cNvSpPr/>
          <p:nvPr/>
        </p:nvSpPr>
        <p:spPr>
          <a:xfrm>
            <a:off x="256032" y="14447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508760"/>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664208"/>
            <a:ext cx="530352" cy="438912"/>
          </a:xfrm>
          <a:prstGeom prst="rect">
            <a:avLst/>
          </a:prstGeom>
          <a:noFill/>
        </p:spPr>
        <p:txBody>
          <a:bodyPr wrap="square" lIns="0" rIns="0" tIns="25400" bIns="25400">
            <a:spAutoFit/>
          </a:bodyPr>
          <a:lstStyle/>
          <a:p>
            <a:pPr algn="ctr"/>
            <a:r>
              <a:rPr sz="1300" b="1" i="0">
                <a:solidFill>
                  <a:srgbClr val="2BDEFD"/>
                </a:solidFill>
              </a:rPr>
              <a:t>SC</a:t>
            </a:r>
          </a:p>
        </p:txBody>
      </p:sp>
      <p:sp>
        <p:nvSpPr>
          <p:cNvPr id="12" name="TextBox 11"/>
          <p:cNvSpPr txBox="1"/>
          <p:nvPr/>
        </p:nvSpPr>
        <p:spPr>
          <a:xfrm>
            <a:off x="950976" y="1572768"/>
            <a:ext cx="3310128" cy="201168"/>
          </a:xfrm>
          <a:prstGeom prst="rect">
            <a:avLst/>
          </a:prstGeom>
          <a:noFill/>
        </p:spPr>
        <p:txBody>
          <a:bodyPr wrap="square" lIns="0" rIns="0" tIns="25400" bIns="25400">
            <a:spAutoFit/>
          </a:bodyPr>
          <a:lstStyle/>
          <a:p>
            <a:pPr algn="l"/>
            <a:r>
              <a:rPr sz="1000" b="1" i="0">
                <a:solidFill>
                  <a:srgbClr val="1A365D"/>
                </a:solidFill>
              </a:rPr>
              <a:t>Dr. Shilpa Choudhary</a:t>
            </a:r>
          </a:p>
        </p:txBody>
      </p:sp>
      <p:sp>
        <p:nvSpPr>
          <p:cNvPr id="13" name="TextBox 12"/>
          <p:cNvSpPr txBox="1"/>
          <p:nvPr/>
        </p:nvSpPr>
        <p:spPr>
          <a:xfrm>
            <a:off x="950976" y="1773936"/>
            <a:ext cx="3310128" cy="164592"/>
          </a:xfrm>
          <a:prstGeom prst="rect">
            <a:avLst/>
          </a:prstGeom>
          <a:noFill/>
        </p:spPr>
        <p:txBody>
          <a:bodyPr wrap="square" lIns="0" rIns="0" tIns="25400" bIns="25400">
            <a:spAutoFit/>
          </a:bodyPr>
          <a:lstStyle/>
          <a:p>
            <a:pPr algn="l"/>
            <a:r>
              <a:rPr sz="750" b="0" i="0">
                <a:solidFill>
                  <a:srgbClr val="00B4D8"/>
                </a:solidFill>
              </a:rPr>
              <a:t>AI / ML Lead  ·  Top 2% Scientists Worldwide — Stanford University (2024)</a:t>
            </a:r>
          </a:p>
        </p:txBody>
      </p:sp>
      <p:sp>
        <p:nvSpPr>
          <p:cNvPr id="14" name="Rectangle 13"/>
          <p:cNvSpPr/>
          <p:nvPr/>
        </p:nvSpPr>
        <p:spPr>
          <a:xfrm>
            <a:off x="950976"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2011680"/>
            <a:ext cx="3310128" cy="914400"/>
          </a:xfrm>
          <a:prstGeom prst="rect">
            <a:avLst/>
          </a:prstGeom>
          <a:noFill/>
        </p:spPr>
        <p:txBody>
          <a:bodyPr wrap="square" lIns="0" rIns="0" tIns="25400" bIns="25400">
            <a:spAutoFit/>
          </a:bodyPr>
          <a:lstStyle/>
          <a:p>
            <a:pPr algn="l"/>
            <a:r>
              <a:rPr sz="750" b="0" i="0">
                <a:solidFill>
                  <a:srgbClr val="111111"/>
                </a:solidFill>
              </a:rPr>
              <a:t>Dr. Choudhary brings over 16 years of research expertise in Artificial Intelligence, Deep Learning, and AI-driven scientific applications. She holds postdoctoral research experience at the Singapore Institute of Technology and the National Kaohsiung University of Science and Technology (Taiwan). She has authored over 100 research papers (1,763 citations, H-index 22), 12 academic books, and holds multiple patents. At Crystal Paradigm, she leads AI architecture, constrained optimization, and surrogate model design.</a:t>
            </a:r>
          </a:p>
        </p:txBody>
      </p:sp>
      <p:sp>
        <p:nvSpPr>
          <p:cNvPr id="16" name="Rectangle 15"/>
          <p:cNvSpPr/>
          <p:nvPr/>
        </p:nvSpPr>
        <p:spPr>
          <a:xfrm>
            <a:off x="4700016"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0016" y="1508760"/>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6" y="1664208"/>
            <a:ext cx="530352" cy="438912"/>
          </a:xfrm>
          <a:prstGeom prst="rect">
            <a:avLst/>
          </a:prstGeom>
          <a:noFill/>
        </p:spPr>
        <p:txBody>
          <a:bodyPr wrap="square" lIns="0" rIns="0" tIns="25400" bIns="25400">
            <a:spAutoFit/>
          </a:bodyPr>
          <a:lstStyle/>
          <a:p>
            <a:pPr algn="ctr"/>
            <a:r>
              <a:rPr sz="1300" b="1" i="0">
                <a:solidFill>
                  <a:srgbClr val="2BDEFD"/>
                </a:solidFill>
              </a:rPr>
              <a:t>KV</a:t>
            </a:r>
          </a:p>
        </p:txBody>
      </p:sp>
      <p:sp>
        <p:nvSpPr>
          <p:cNvPr id="20" name="TextBox 19"/>
          <p:cNvSpPr txBox="1"/>
          <p:nvPr/>
        </p:nvSpPr>
        <p:spPr>
          <a:xfrm>
            <a:off x="5394960" y="1572768"/>
            <a:ext cx="3310128" cy="201168"/>
          </a:xfrm>
          <a:prstGeom prst="rect">
            <a:avLst/>
          </a:prstGeom>
          <a:noFill/>
        </p:spPr>
        <p:txBody>
          <a:bodyPr wrap="square" lIns="0" rIns="0" tIns="25400" bIns="25400">
            <a:spAutoFit/>
          </a:bodyPr>
          <a:lstStyle/>
          <a:p>
            <a:pPr algn="l"/>
            <a:r>
              <a:rPr sz="1000" b="1" i="0">
                <a:solidFill>
                  <a:srgbClr val="1A365D"/>
                </a:solidFill>
              </a:rPr>
              <a:t>Dr. Kasarapu Venkataramana</a:t>
            </a:r>
          </a:p>
        </p:txBody>
      </p:sp>
      <p:sp>
        <p:nvSpPr>
          <p:cNvPr id="21" name="TextBox 20"/>
          <p:cNvSpPr txBox="1"/>
          <p:nvPr/>
        </p:nvSpPr>
        <p:spPr>
          <a:xfrm>
            <a:off x="5394960" y="1773936"/>
            <a:ext cx="3310128" cy="164592"/>
          </a:xfrm>
          <a:prstGeom prst="rect">
            <a:avLst/>
          </a:prstGeom>
          <a:noFill/>
        </p:spPr>
        <p:txBody>
          <a:bodyPr wrap="square" lIns="0" rIns="0" tIns="25400" bIns="25400">
            <a:spAutoFit/>
          </a:bodyPr>
          <a:lstStyle/>
          <a:p>
            <a:pPr algn="l"/>
            <a:r>
              <a:rPr sz="750" b="0" i="0">
                <a:solidFill>
                  <a:srgbClr val="00B4D8"/>
                </a:solidFill>
              </a:rPr>
              <a:t>Materials Science &amp; Experimental Validation Lead  ·  CSIR-IICT / DRDO</a:t>
            </a:r>
          </a:p>
        </p:txBody>
      </p:sp>
      <p:sp>
        <p:nvSpPr>
          <p:cNvPr id="22" name="Rectangle 21"/>
          <p:cNvSpPr/>
          <p:nvPr/>
        </p:nvSpPr>
        <p:spPr>
          <a:xfrm>
            <a:off x="5394960"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2011680"/>
            <a:ext cx="3310128" cy="914400"/>
          </a:xfrm>
          <a:prstGeom prst="rect">
            <a:avLst/>
          </a:prstGeom>
          <a:noFill/>
        </p:spPr>
        <p:txBody>
          <a:bodyPr wrap="square" lIns="0" rIns="0" tIns="25400" bIns="25400">
            <a:spAutoFit/>
          </a:bodyPr>
          <a:lstStyle/>
          <a:p>
            <a:pPr algn="l"/>
            <a:r>
              <a:rPr sz="750" b="0" i="0">
                <a:solidFill>
                  <a:srgbClr val="111111"/>
                </a:solidFill>
              </a:rPr>
              <a:t>Research Associate at CSIR-IICT (DRDO-sponsored pyrotechnic nanomaterial project). Associate Fellow, Telangana Academy of Sciences (2024). 12 years of research + 5 years academic teaching. 38 research publications (610+ citations, H-index 14), 2 book chapters. Peer reviewer for Elsevier, Springer, and Taylor &amp; Francis. Specializes in High Entropy Oxides and advanced materials characterization (XRD, SEM, EDS). Provides critical domain oversight on computational chemistry, thermodynamics, and physical experimental validation for Crystal Paradigm.</a:t>
            </a:r>
          </a:p>
        </p:txBody>
      </p:sp>
      <p:sp>
        <p:nvSpPr>
          <p:cNvPr id="24" name="TextBox 23"/>
          <p:cNvSpPr txBox="1"/>
          <p:nvPr/>
        </p:nvSpPr>
        <p:spPr>
          <a:xfrm>
            <a:off x="256032" y="3063240"/>
            <a:ext cx="8631936" cy="164592"/>
          </a:xfrm>
          <a:prstGeom prst="rect">
            <a:avLst/>
          </a:prstGeom>
          <a:noFill/>
        </p:spPr>
        <p:txBody>
          <a:bodyPr wrap="square" lIns="0" rIns="0" tIns="25400" bIns="25400">
            <a:spAutoFit/>
          </a:bodyPr>
          <a:lstStyle/>
          <a:p>
            <a:pPr algn="l"/>
            <a:r>
              <a:rPr sz="800" b="1" i="0">
                <a:solidFill>
                  <a:srgbClr val="00B4D8"/>
                </a:solidFill>
              </a:rPr>
              <a:t>CORE AI ARCHITECTS — DAY-TO-DAY INNOVATION ENGINE</a:t>
            </a:r>
          </a:p>
        </p:txBody>
      </p:sp>
      <p:sp>
        <p:nvSpPr>
          <p:cNvPr id="25" name="Rectangle 24"/>
          <p:cNvSpPr/>
          <p:nvPr/>
        </p:nvSpPr>
        <p:spPr>
          <a:xfrm>
            <a:off x="256032" y="324612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310128"/>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3456432"/>
            <a:ext cx="475488" cy="347472"/>
          </a:xfrm>
          <a:prstGeom prst="rect">
            <a:avLst/>
          </a:prstGeom>
          <a:noFill/>
        </p:spPr>
        <p:txBody>
          <a:bodyPr wrap="square" lIns="0" rIns="0" tIns="25400" bIns="25400">
            <a:spAutoFit/>
          </a:bodyPr>
          <a:lstStyle/>
          <a:p>
            <a:pPr algn="ctr"/>
            <a:r>
              <a:rPr sz="800" b="1" i="0">
                <a:solidFill>
                  <a:srgbClr val="2BDEFD"/>
                </a:solidFill>
              </a:rPr>
              <a:t>MAR</a:t>
            </a:r>
          </a:p>
        </p:txBody>
      </p:sp>
      <p:sp>
        <p:nvSpPr>
          <p:cNvPr id="30" name="TextBox 29"/>
          <p:cNvSpPr txBox="1"/>
          <p:nvPr/>
        </p:nvSpPr>
        <p:spPr>
          <a:xfrm>
            <a:off x="896112" y="3364992"/>
            <a:ext cx="3364992" cy="182880"/>
          </a:xfrm>
          <a:prstGeom prst="rect">
            <a:avLst/>
          </a:prstGeom>
          <a:noFill/>
        </p:spPr>
        <p:txBody>
          <a:bodyPr wrap="square" lIns="0" rIns="0" tIns="25400" bIns="25400">
            <a:spAutoFit/>
          </a:bodyPr>
          <a:lstStyle/>
          <a:p>
            <a:pPr algn="l"/>
            <a:r>
              <a:rPr sz="950" b="1" i="0">
                <a:solidFill>
                  <a:srgbClr val="1A365D"/>
                </a:solidFill>
              </a:rPr>
              <a:t>Mohammed Ahmed Raza</a:t>
            </a:r>
          </a:p>
        </p:txBody>
      </p:sp>
      <p:sp>
        <p:nvSpPr>
          <p:cNvPr id="31" name="TextBox 30"/>
          <p:cNvSpPr txBox="1"/>
          <p:nvPr/>
        </p:nvSpPr>
        <p:spPr>
          <a:xfrm>
            <a:off x="896112" y="3547872"/>
            <a:ext cx="3364992" cy="164592"/>
          </a:xfrm>
          <a:prstGeom prst="rect">
            <a:avLst/>
          </a:prstGeom>
          <a:noFill/>
        </p:spPr>
        <p:txBody>
          <a:bodyPr wrap="square" lIns="0" rIns="0" tIns="25400" bIns="25400">
            <a:spAutoFit/>
          </a:bodyPr>
          <a:lstStyle/>
          <a:p>
            <a:pPr algn="l"/>
            <a:r>
              <a:rPr sz="750" b="0" i="0">
                <a:solidFill>
                  <a:srgbClr val="00B4D8"/>
                </a:solidFill>
              </a:rPr>
              <a:t>AI Research Intern  ·  Crystal Paradigm  ·  Certified AI/ML — iHub-Data, IIIT Hyderabad</a:t>
            </a:r>
          </a:p>
        </p:txBody>
      </p:sp>
      <p:sp>
        <p:nvSpPr>
          <p:cNvPr id="32" name="Rectangle 31"/>
          <p:cNvSpPr/>
          <p:nvPr/>
        </p:nvSpPr>
        <p:spPr>
          <a:xfrm>
            <a:off x="896112"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3785615"/>
            <a:ext cx="3364992" cy="768096"/>
          </a:xfrm>
          <a:prstGeom prst="rect">
            <a:avLst/>
          </a:prstGeom>
          <a:noFill/>
        </p:spPr>
        <p:txBody>
          <a:bodyPr wrap="square" lIns="0" rIns="0" tIns="25400" bIns="25400">
            <a:spAutoFit/>
          </a:bodyPr>
          <a:lstStyle/>
          <a:p>
            <a:pPr algn="l"/>
            <a:r>
              <a:rPr sz="750" b="0" i="0">
                <a:solidFill>
                  <a:srgbClr val="111111"/>
                </a:solidFill>
              </a:rPr>
              <a:t>CSE student at Neil Gogte Institute of Technology (NGIT). Previously served as Winter Research Intern at IIIT Hyderabad — engineered advanced computer vision systems for UAV spatial awareness and obstacle detection. At Crystal Paradigm, he develops inverse design frameworks for the HE-MCGA superalloy pipeline and co-authored breakthrough research introducing the Attention Graph Siamese Transformer (DPT-GNN) that drastically optimizes lithium-ion battery capacity predictions through transition-aware graph learning.</a:t>
            </a:r>
          </a:p>
        </p:txBody>
      </p:sp>
      <p:sp>
        <p:nvSpPr>
          <p:cNvPr id="34" name="Rectangle 33"/>
          <p:cNvSpPr/>
          <p:nvPr/>
        </p:nvSpPr>
        <p:spPr>
          <a:xfrm>
            <a:off x="4700016"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00016" y="3310128"/>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91456"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91456" y="3456432"/>
            <a:ext cx="475488" cy="347472"/>
          </a:xfrm>
          <a:prstGeom prst="rect">
            <a:avLst/>
          </a:prstGeom>
          <a:noFill/>
        </p:spPr>
        <p:txBody>
          <a:bodyPr wrap="square" lIns="0" rIns="0" tIns="25400" bIns="25400">
            <a:spAutoFit/>
          </a:bodyPr>
          <a:lstStyle/>
          <a:p>
            <a:pPr algn="ctr"/>
            <a:r>
              <a:rPr sz="800" b="1" i="0">
                <a:solidFill>
                  <a:srgbClr val="2BDEFD"/>
                </a:solidFill>
              </a:rPr>
              <a:t>KIR</a:t>
            </a:r>
          </a:p>
        </p:txBody>
      </p:sp>
      <p:sp>
        <p:nvSpPr>
          <p:cNvPr id="38" name="TextBox 37"/>
          <p:cNvSpPr txBox="1"/>
          <p:nvPr/>
        </p:nvSpPr>
        <p:spPr>
          <a:xfrm>
            <a:off x="5340096" y="3364992"/>
            <a:ext cx="3364992" cy="182880"/>
          </a:xfrm>
          <a:prstGeom prst="rect">
            <a:avLst/>
          </a:prstGeom>
          <a:noFill/>
        </p:spPr>
        <p:txBody>
          <a:bodyPr wrap="square" lIns="0" rIns="0" tIns="25400" bIns="25400">
            <a:spAutoFit/>
          </a:bodyPr>
          <a:lstStyle/>
          <a:p>
            <a:pPr algn="l"/>
            <a:r>
              <a:rPr sz="950" b="1" i="0">
                <a:solidFill>
                  <a:srgbClr val="1A365D"/>
                </a:solidFill>
              </a:rPr>
              <a:t>K. Indrasena Reddy (Indra)</a:t>
            </a:r>
          </a:p>
        </p:txBody>
      </p:sp>
      <p:sp>
        <p:nvSpPr>
          <p:cNvPr id="39" name="TextBox 38"/>
          <p:cNvSpPr txBox="1"/>
          <p:nvPr/>
        </p:nvSpPr>
        <p:spPr>
          <a:xfrm>
            <a:off x="5340096" y="3547872"/>
            <a:ext cx="3364992" cy="164592"/>
          </a:xfrm>
          <a:prstGeom prst="rect">
            <a:avLst/>
          </a:prstGeom>
          <a:noFill/>
        </p:spPr>
        <p:txBody>
          <a:bodyPr wrap="square" lIns="0" rIns="0" tIns="25400" bIns="25400">
            <a:spAutoFit/>
          </a:bodyPr>
          <a:lstStyle/>
          <a:p>
            <a:pPr algn="l"/>
            <a:r>
              <a:rPr sz="750" b="0" i="0">
                <a:solidFill>
                  <a:srgbClr val="00B4D8"/>
                </a:solidFill>
              </a:rPr>
              <a:t>AI Research Intern  ·  Crystal Paradigm  ·  Ex-AI Developer, Viswam.AI</a:t>
            </a:r>
          </a:p>
        </p:txBody>
      </p:sp>
      <p:sp>
        <p:nvSpPr>
          <p:cNvPr id="40" name="Rectangle 39"/>
          <p:cNvSpPr/>
          <p:nvPr/>
        </p:nvSpPr>
        <p:spPr>
          <a:xfrm>
            <a:off x="5340096"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0096" y="3785615"/>
            <a:ext cx="3364992" cy="768096"/>
          </a:xfrm>
          <a:prstGeom prst="rect">
            <a:avLst/>
          </a:prstGeom>
          <a:noFill/>
        </p:spPr>
        <p:txBody>
          <a:bodyPr wrap="square" lIns="0" rIns="0" tIns="25400" bIns="25400">
            <a:spAutoFit/>
          </a:bodyPr>
          <a:lstStyle/>
          <a:p>
            <a:pPr algn="l"/>
            <a:r>
              <a:rPr sz="750" b="0" i="0">
                <a:solidFill>
                  <a:srgbClr val="111111"/>
                </a:solidFill>
              </a:rPr>
              <a:t>CSE student at Neil Gogte Institute of Technology (NGIT). Previously served as AI Developer Intern at Viswam.AI — built NLP applications and contributed to experimental language model research. At Crystal Paradigm, he advances materials informatics and graph neural network modeling for large-scale property prediction. Specializes in GNN architectures for multi-principal element alloy systems, enabling high-throughput computational screening of novel refractory alloy compositions across the 9-element search space.</a:t>
            </a:r>
          </a:p>
        </p:txBody>
      </p:sp>
      <p:sp>
        <p:nvSpPr>
          <p:cNvPr id="42" name="Rectangle 41"/>
          <p:cNvSpPr/>
          <p:nvPr/>
        </p:nvSpPr>
        <p:spPr>
          <a:xfrm>
            <a:off x="256032" y="46451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32" y="4553712"/>
            <a:ext cx="8631936" cy="9144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7472" y="4690872"/>
            <a:ext cx="8412480" cy="347472"/>
          </a:xfrm>
          <a:prstGeom prst="rect">
            <a:avLst/>
          </a:prstGeom>
          <a:noFill/>
        </p:spPr>
        <p:txBody>
          <a:bodyPr wrap="square" lIns="0" rIns="0" tIns="25400" bIns="25400">
            <a:spAutoFit/>
          </a:bodyPr>
          <a:lstStyle/>
          <a:p>
            <a:pPr algn="l"/>
            <a:r>
              <a:rPr sz="800" b="0" i="0">
                <a:solidFill>
                  <a:srgbClr val="D0E8F5"/>
                </a:solidFill>
              </a:rPr>
              <a:t>Extended Team: 18 specialized AI Research Interns · Massive parallel execution bandwidth for multi-physics simulations &amp; AI training pipelines · Crystal Paradigm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0" y="0"/>
            <a:ext cx="9144000" cy="5129784"/>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7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and access to corporate market connect for downstream application mapping in precision forging, EV thermal management, and railway systems.</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fabricate initial FGM witness coupons and execute TRL 4 validation.</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10642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347472"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