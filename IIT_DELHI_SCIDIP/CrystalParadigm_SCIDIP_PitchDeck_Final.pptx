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  <p:sldMasterId id="2147483663" r:id="rId3"/>
  </p:sldMasterIdLst>
  <p:notesMasterIdLst>
    <p:notesMasterId r:id="rId25"/>
  </p:notesMasterIdLst>
  <p:sldIdLst>
    <p:sldId id="273" r:id="rId4"/>
    <p:sldId id="276" r:id="rId5"/>
    <p:sldId id="258" r:id="rId6"/>
    <p:sldId id="277" r:id="rId7"/>
    <p:sldId id="278" r:id="rId8"/>
    <p:sldId id="274" r:id="rId9"/>
    <p:sldId id="275" r:id="rId10"/>
    <p:sldId id="256" r:id="rId11"/>
    <p:sldId id="270" r:id="rId12"/>
    <p:sldId id="271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72" r:id="rId23"/>
    <p:sldId id="269" r:id="rId24"/>
  </p:sldIdLst>
  <p:sldSz cx="9144000" cy="5143500" type="screen16x9"/>
  <p:notesSz cx="5143500" cy="9144000"/>
  <p:embeddedFontLs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Inter Medium" panose="020B0604020202020204" charset="0"/>
      <p:regular r:id="rId30"/>
      <p:bold r:id="rId31"/>
      <p:italic r:id="rId32"/>
      <p:boldItalic r:id="rId33"/>
    </p:embeddedFont>
    <p:embeddedFont>
      <p:font typeface="Inter SemiBold" panose="020B0604020202020204" charset="0"/>
      <p:regular r:id="rId34"/>
      <p:bold r:id="rId35"/>
      <p:italic r:id="rId36"/>
      <p:boldItalic r:id="rId37"/>
    </p:embeddedFont>
    <p:embeddedFont>
      <p:font typeface="Space Grotesk" panose="020B0604020202020204" charset="0"/>
      <p:bold r:id="rId38"/>
    </p:embeddedFont>
    <p:embeddedFont>
      <p:font typeface="Space Grotesk SemiBold" panose="020B0604020202020204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1" roundtripDataSignature="AMtx7mhLdsu46NZDv1iNawfR3J/rA+h4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4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18.xml"/><Relationship Id="rId34" Type="http://schemas.openxmlformats.org/officeDocument/2006/relationships/font" Target="fonts/font9.fntdata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6.fntdata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7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85893f04f_6_75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3e85893f04f_6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8" name="Google Shape;43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e8969c066b_83_15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3e8969c066b_83_15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e8969c066b_83_15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e8969c066b_83_159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e8969c066b_83_159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g3e8969c066b_83_15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3e8969c066b_83_15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e8969c066b_83_15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e8969c066b_83_165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e8969c066b_83_165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g3e8969c066b_83_16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e8969c066b_83_16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e8969c066b_83_16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e8969c066b_83_171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e8969c066b_83_171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g3e8969c066b_83_17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g3e8969c066b_83_17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3e8969c066b_83_17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e8969c066b_83_17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3e8969c066b_83_177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2" name="Google Shape;42;g3e8969c066b_83_177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43" name="Google Shape;43;g3e8969c066b_83_17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g3e8969c066b_83_17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3e8969c066b_83_17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e8969c066b_83_18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3e8969c066b_83_184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9" name="Google Shape;49;g3e8969c066b_83_184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50" name="Google Shape;50;g3e8969c066b_83_184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51" name="Google Shape;51;g3e8969c066b_83_184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52" name="Google Shape;52;g3e8969c066b_83_18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3e8969c066b_83_18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g3e8969c066b_83_18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8969c066b_83_19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g3e8969c066b_83_19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e8969c066b_83_19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e8969c066b_83_19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8969c066b_83_198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3e8969c066b_83_198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63" name="Google Shape;63;g3e8969c066b_83_198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64" name="Google Shape;64;g3e8969c066b_83_19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3e8969c066b_83_19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e8969c066b_83_19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8969c066b_83_205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3e8969c066b_83_205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g3e8969c066b_83_205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71" name="Google Shape;71;g3e8969c066b_83_20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3e8969c066b_83_20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g3e8969c066b_83_20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969c066b_83_212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3e8969c066b_83_212"/>
          <p:cNvSpPr txBox="1">
            <a:spLocks noGrp="1"/>
          </p:cNvSpPr>
          <p:nvPr>
            <p:ph type="body" idx="1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g3e8969c066b_83_2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e8969c066b_83_2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e8969c066b_83_2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969c066b_83_218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e8969c066b_83_218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g3e8969c066b_83_2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e8969c066b_83_2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3e8969c066b_83_2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247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561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8969c066b_83_14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13" name="Google Shape;13;g3e8969c066b_83_149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g3e8969c066b_83_14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g3e8969c066b_83_14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g3e8969c066b_83_14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89" y="205979"/>
            <a:ext cx="6173808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89" y="1200151"/>
            <a:ext cx="6173808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16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fitt-iitd.in/web/sona-comstar-iit-delhi-innovation-program-scidip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watch?v=V_1Xm7Ba-Ug" TargetMode="Externa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ystalparadigm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93646-1243-74DA-A27C-12A6B480B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38196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87248D-CC7F-C397-669F-3CACEE06C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378" y="425450"/>
            <a:ext cx="5481622" cy="4394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E092E3-9167-5508-2994-388890DD8C40}"/>
              </a:ext>
            </a:extLst>
          </p:cNvPr>
          <p:cNvSpPr txBox="1"/>
          <p:nvPr/>
        </p:nvSpPr>
        <p:spPr>
          <a:xfrm>
            <a:off x="3780639" y="4835723"/>
            <a:ext cx="5245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» SONA-COMSTAR-IIT Delhi Innovation Program (SCIDIP)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63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91" y="5088636"/>
            <a:ext cx="9141714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91" y="54864"/>
            <a:ext cx="342900" cy="5033772"/>
          </a:xfrm>
          <a:prstGeom prst="rect">
            <a:avLst/>
          </a:prstGeom>
          <a:solidFill>
            <a:srgbClr val="1B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1251" y="137160"/>
            <a:ext cx="34290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750" i="1" kern="120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FITT | IIT Delhi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251" y="377190"/>
            <a:ext cx="342900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750" i="1" kern="120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x  Sona Comstar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251" y="974920"/>
            <a:ext cx="7543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2000" kern="1200" dirty="0">
                <a:solidFill>
                  <a:srgbClr val="F4A261"/>
                </a:solidFill>
                <a:latin typeface="Calibri"/>
                <a:ea typeface="+mn-ea"/>
                <a:cs typeface="+mn-cs"/>
              </a:rPr>
              <a:t>SCIDIP 2026 — IIT Delhi Innovation Program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391" y="1525906"/>
            <a:ext cx="5486400" cy="2743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5051" y="1863660"/>
            <a:ext cx="78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8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IIT Delhi Innovation Program (SCIDIP) 2026,
one of India's most prestigious deep-tech startup incubation programs.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1251" y="3634740"/>
            <a:ext cx="1920240" cy="109728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4121" y="3703320"/>
            <a:ext cx="1714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650" b="1" kern="1200">
                <a:solidFill>
                  <a:srgbClr val="F4A261"/>
                </a:solidFill>
                <a:latin typeface="Calibri"/>
                <a:ea typeface="+mn-ea"/>
                <a:cs typeface="+mn-cs"/>
              </a:rPr>
              <a:t>Rs.80L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830" y="4149090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750" kern="120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Max Grant
Per Startup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7231" y="3634740"/>
            <a:ext cx="1920240" cy="109728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10100" y="3703320"/>
            <a:ext cx="1714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650" b="1" kern="1200">
                <a:solidFill>
                  <a:srgbClr val="F4A261"/>
                </a:solidFill>
                <a:latin typeface="Calibri"/>
                <a:ea typeface="+mn-ea"/>
                <a:cs typeface="+mn-cs"/>
              </a:rPr>
              <a:t>24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5811" y="4149090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750" kern="120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Incubation
Period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33211" y="3634740"/>
            <a:ext cx="1920240" cy="109728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36081" y="3703320"/>
            <a:ext cx="1714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650" b="1" kern="1200">
                <a:solidFill>
                  <a:srgbClr val="F4A261"/>
                </a:solidFill>
                <a:latin typeface="Calibri"/>
                <a:ea typeface="+mn-ea"/>
                <a:cs typeface="+mn-cs"/>
              </a:rPr>
              <a:t>2 Rounds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1791" y="4149090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750" kern="120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Selection
Process Cleared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9191" y="3634740"/>
            <a:ext cx="1920240" cy="109728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62061" y="3703320"/>
            <a:ext cx="17145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650" b="1" kern="1200">
                <a:solidFill>
                  <a:srgbClr val="F4A261"/>
                </a:solidFill>
                <a:latin typeface="Calibri"/>
                <a:ea typeface="+mn-ea"/>
                <a:cs typeface="+mn-cs"/>
              </a:rPr>
              <a:t>6th Edition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7771" y="4149090"/>
            <a:ext cx="17830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750" kern="120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Program
Legacy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251" y="4869180"/>
            <a:ext cx="548640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675" i="1" kern="120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Presenter: Crystal Paradigm | crystalparadigm.in</a:t>
            </a:r>
          </a:p>
        </p:txBody>
      </p:sp>
      <p:pic>
        <p:nvPicPr>
          <p:cNvPr id="27" name="Picture 26">
            <a:hlinkClick r:id="rId2"/>
            <a:extLst>
              <a:ext uri="{FF2B5EF4-FFF2-40B4-BE49-F238E27FC236}">
                <a16:creationId xmlns:a16="http://schemas.microsoft.com/office/drawing/2014/main" id="{FD422DA3-B595-2776-88D9-3E44717DA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735" y="189184"/>
            <a:ext cx="3528601" cy="20036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91" y="5088636"/>
            <a:ext cx="9141714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91" y="54864"/>
            <a:ext cx="342900" cy="5033772"/>
          </a:xfrm>
          <a:prstGeom prst="rect">
            <a:avLst/>
          </a:prstGeom>
          <a:solidFill>
            <a:srgbClr val="1B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1251" y="10287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WHO IS SONA COMSTAR &amp; WHY ONLY IIT DELHI?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251" y="548640"/>
            <a:ext cx="8229600" cy="2743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1251" y="651510"/>
            <a:ext cx="3909060" cy="2485292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8411" y="685800"/>
            <a:ext cx="36347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050" b="1" kern="1200" dirty="0">
                <a:solidFill>
                  <a:srgbClr val="F4A261"/>
                </a:solidFill>
                <a:latin typeface="Calibri"/>
                <a:ea typeface="+mn-ea"/>
                <a:cs typeface="+mn-cs"/>
              </a:rPr>
              <a:t>Who is Sona Comstar?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121" y="994410"/>
            <a:ext cx="370332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India's leading Automotive Systems &amp; Components manufacturer</a:t>
            </a:r>
          </a:p>
          <a:p>
            <a:pPr defTabSz="342900">
              <a:buClrTx/>
            </a:pPr>
            <a:endParaRPr sz="9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Listed company (NSE: SONACOMS) with Rs.3,200+ Cr revenue</a:t>
            </a:r>
          </a:p>
          <a:p>
            <a:pPr defTabSz="342900">
              <a:buClrTx/>
            </a:pPr>
            <a:endParaRPr sz="9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9 manufacturing plants: India, China, Mexico, USA</a:t>
            </a:r>
          </a:p>
          <a:p>
            <a:pPr defTabSz="342900">
              <a:buClrTx/>
            </a:pPr>
            <a:endParaRPr sz="9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Manufactures precision driveline gears, differential assemblies, electric motors (SRM), and motor control units</a:t>
            </a:r>
          </a:p>
          <a:p>
            <a:pPr defTabSz="342900">
              <a:buClrTx/>
            </a:pPr>
            <a:endParaRPr sz="9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EPIC Roadmap: Electric, Personalized, Intelligent, Connected vehicles</a:t>
            </a:r>
          </a:p>
          <a:p>
            <a:pPr defTabSz="342900">
              <a:buClrTx/>
            </a:pPr>
            <a:endParaRPr sz="9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Key OEM clients: Tata, Mahindra, Ather, Honda, BMW, GM, Ford</a:t>
            </a:r>
          </a:p>
          <a:p>
            <a:pPr defTabSz="342900">
              <a:buClrTx/>
            </a:pPr>
            <a:endParaRPr sz="9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Actively scaling next-gen magnet-less Switched Reluctance Motors (SRMs)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7471" y="651510"/>
            <a:ext cx="4389120" cy="2263140"/>
          </a:xfrm>
          <a:prstGeom prst="rect">
            <a:avLst/>
          </a:prstGeom>
          <a:solidFill>
            <a:srgbClr val="3A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64631" y="685800"/>
            <a:ext cx="418338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050" b="1" kern="1200" dirty="0">
                <a:solidFill>
                  <a:srgbClr val="F4A261"/>
                </a:solidFill>
                <a:latin typeface="Calibri"/>
                <a:ea typeface="+mn-ea"/>
                <a:cs typeface="+mn-cs"/>
              </a:rPr>
              <a:t>Why ONLY IIT Delhi Can Characterize Our Material?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0341" y="994410"/>
            <a:ext cx="41833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Our HE-MCGA material (9-element RHEA + 11-layer FGM) operates at 1400 C</a:t>
            </a:r>
          </a:p>
          <a:p>
            <a:pPr defTabSz="342900">
              <a:buClrTx/>
            </a:pPr>
            <a:endParaRPr sz="10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Physical validation requires STA at 1500 C, high-temp XRD, and SEM/EDS</a:t>
            </a:r>
          </a:p>
          <a:p>
            <a:pPr defTabSz="342900">
              <a:buClrTx/>
            </a:pPr>
            <a:endParaRPr sz="10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Only IIT Delhi CRF houses all required equipment in one facility in India</a:t>
            </a:r>
          </a:p>
          <a:p>
            <a:pPr defTabSz="342900">
              <a:buClrTx/>
            </a:pPr>
            <a:endParaRPr sz="10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No private lab in India can characterize refractory HEA + FGM composites at this temperature</a:t>
            </a:r>
          </a:p>
          <a:p>
            <a:pPr defTabSz="342900">
              <a:buClrTx/>
            </a:pPr>
            <a:endParaRPr sz="10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IIT Delhi is not optional — it is the only viable path to TRL 4+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1251" y="3288460"/>
            <a:ext cx="8435340" cy="1615009"/>
          </a:xfrm>
          <a:prstGeom prst="rect">
            <a:avLst/>
          </a:prstGeom>
          <a:solidFill>
            <a:srgbClr val="1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4121" y="3516349"/>
            <a:ext cx="82296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050" b="1" kern="1200" dirty="0">
                <a:solidFill>
                  <a:srgbClr val="F4A261"/>
                </a:solidFill>
                <a:latin typeface="Calibri"/>
                <a:ea typeface="+mn-ea"/>
                <a:cs typeface="+mn-cs"/>
              </a:rPr>
              <a:t>Program Track Record — Previous Cohort Winners (Calls 1-5)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121" y="3827303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Call 1: QUANTEON POWERTRAIN, </a:t>
            </a:r>
            <a:r>
              <a:rPr sz="900" kern="1200" dirty="0" err="1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inGO</a:t>
            </a: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 Electric   |   Call 2: CREATARA, P3C Technology &amp; Solutions   |   Call 3: MOTOR AMA, </a:t>
            </a:r>
            <a:r>
              <a:rPr sz="900" kern="1200" dirty="0" err="1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Octarange</a:t>
            </a: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 Technologies
Call 4: </a:t>
            </a:r>
            <a:r>
              <a:rPr sz="900" kern="1200" dirty="0" err="1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Calvem</a:t>
            </a: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 Controls, Aatral ESP, </a:t>
            </a:r>
            <a:r>
              <a:rPr sz="900" kern="1200" dirty="0" err="1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Dopar</a:t>
            </a: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 Energy   |   Call 5: Baud Resources, EV Recharge, </a:t>
            </a:r>
            <a:r>
              <a:rPr sz="900" kern="1200" dirty="0" err="1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GroKalp</a:t>
            </a: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 H2CNT, </a:t>
            </a:r>
            <a:r>
              <a:rPr sz="900" kern="1200" dirty="0" err="1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Planzit</a:t>
            </a: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
RESULT</a:t>
            </a:r>
            <a:r>
              <a:rPr lang="en-US"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S</a:t>
            </a: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: IGNIT Technical Solutions Pvt. Ltd. received Rs.40 LAKHS from SONA COMSTAR-FITT for Battery Thermal Management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251" y="4869180"/>
            <a:ext cx="75438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600" i="1" kern="120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Source: sonacomstar.com | fitt-iitd.in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91" y="5088636"/>
            <a:ext cx="9141714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91" y="54864"/>
            <a:ext cx="342900" cy="5033772"/>
          </a:xfrm>
          <a:prstGeom prst="rect">
            <a:avLst/>
          </a:prstGeom>
          <a:solidFill>
            <a:srgbClr val="1B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1251" y="10287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8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WHAT WE HAVE DONE — THE HE-MCGA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251" y="548640"/>
            <a:ext cx="8229600" cy="2743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1251" y="651510"/>
            <a:ext cx="8435340" cy="116586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8411" y="685800"/>
            <a:ext cx="8229600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975" b="1" kern="1200">
                <a:solidFill>
                  <a:srgbClr val="F4A261"/>
                </a:solidFill>
                <a:latin typeface="Calibri"/>
                <a:ea typeface="+mn-ea"/>
                <a:cs typeface="+mn-cs"/>
              </a:rPr>
              <a:t>The HE-MCGA Project — What Crystal Paradigm Has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411" y="994411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We have computationally engineered a constrained 9-element High-Entropy Alloy (RHEA) fused with an 11-layer Functionally Graded Material (FGM) using our proprietary AI platform. This "HE-MCGA" system achieves a 3D-validated aerospace Safety Factor of 1.71 (clearing the 1.50 airworthiness threshold), an oxidation mass gain of just 7.5 mg/cm2, and reduces critical Hafnium exposure by &gt;75% — entirely through physics-informed inverse design. We are at TRL 3+.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251" y="1920240"/>
            <a:ext cx="2606040" cy="96012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4121" y="1968247"/>
            <a:ext cx="24003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825" b="1" kern="1200">
                <a:solidFill>
                  <a:srgbClr val="007BFF"/>
                </a:solidFill>
                <a:latin typeface="Calibri"/>
                <a:ea typeface="+mn-ea"/>
                <a:cs typeface="+mn-cs"/>
              </a:rPr>
              <a:t>Safety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830" y="2194560"/>
            <a:ext cx="24688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5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1.71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830" y="2537460"/>
            <a:ext cx="24688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675" kern="120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Target: 1.50 (Cleared)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3031" y="1920240"/>
            <a:ext cx="2606040" cy="96012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95901" y="1968247"/>
            <a:ext cx="24003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825" b="1" kern="1200">
                <a:solidFill>
                  <a:srgbClr val="2D6A4F"/>
                </a:solidFill>
                <a:latin typeface="Calibri"/>
                <a:ea typeface="+mn-ea"/>
                <a:cs typeface="+mn-cs"/>
              </a:rPr>
              <a:t>Oxidation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1610" y="2194560"/>
            <a:ext cx="24688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5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7.5 mg/cm2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1610" y="2537460"/>
            <a:ext cx="24688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675" kern="120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Industry limit: &lt;10 (Cleared)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4810" y="1920240"/>
            <a:ext cx="2606040" cy="960120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07680" y="1968247"/>
            <a:ext cx="24003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825" b="1" kern="1200">
                <a:solidFill>
                  <a:srgbClr val="F4A261"/>
                </a:solidFill>
                <a:latin typeface="Calibri"/>
                <a:ea typeface="+mn-ea"/>
                <a:cs typeface="+mn-cs"/>
              </a:rPr>
              <a:t>Hf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3390" y="2194560"/>
            <a:ext cx="24688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500" b="1" kern="120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&gt;75%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3390" y="2537460"/>
            <a:ext cx="2468880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675" kern="120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vs. baseline CMSX-4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1251" y="3017520"/>
            <a:ext cx="8435340" cy="1851660"/>
          </a:xfrm>
          <a:prstGeom prst="rect">
            <a:avLst/>
          </a:prstGeom>
          <a:solidFill>
            <a:srgbClr val="10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4121" y="3228600"/>
            <a:ext cx="82296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Applied under the "Advanced Materials" track of SCIDIP 2026</a:t>
            </a:r>
          </a:p>
          <a:p>
            <a:pPr defTabSz="342900">
              <a:buClrTx/>
            </a:pPr>
            <a:endParaRPr sz="9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Round 1 — Technical Expert Committee: Evaluated on innovation, feasibility, TRL and preliminary data. We CLEARED.</a:t>
            </a:r>
          </a:p>
          <a:p>
            <a:pPr defTabSz="342900">
              <a:buClrTx/>
            </a:pPr>
            <a:endParaRPr sz="9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Round 2 — Techno-Commercial Panel: Industry + investor + FITT representatives evaluated technical strength, IP, team &amp; business plan. We CLEARED.</a:t>
            </a:r>
          </a:p>
          <a:p>
            <a:pPr defTabSz="342900">
              <a:buClrTx/>
            </a:pPr>
            <a:endParaRPr sz="9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Now selected for the final presentation event at IIT Delhi — the final approval round before grant disbursement begins.</a:t>
            </a:r>
          </a:p>
          <a:p>
            <a:pPr defTabSz="342900">
              <a:buClrTx/>
            </a:pPr>
            <a:endParaRPr sz="900" kern="1200" dirty="0">
              <a:solidFill>
                <a:srgbClr val="ECF0F1"/>
              </a:solidFill>
              <a:latin typeface="Calibri"/>
              <a:ea typeface="+mn-ea"/>
              <a:cs typeface="+mn-cs"/>
            </a:endParaRPr>
          </a:p>
          <a:p>
            <a:pPr defTabSz="342900">
              <a:buClrTx/>
            </a:pPr>
            <a:r>
              <a:rPr sz="9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•  Crystal Paradigm has a published Indian Patent (App No: 202641084226) and a Q1-SCI publication supporting this work.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91" y="5088636"/>
            <a:ext cx="9141714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91" y="54864"/>
            <a:ext cx="342900" cy="5033772"/>
          </a:xfrm>
          <a:prstGeom prst="rect">
            <a:avLst/>
          </a:prstGeom>
          <a:solidFill>
            <a:srgbClr val="1B4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1251" y="102870"/>
            <a:ext cx="822960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lang="en-US" sz="1650" b="1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									 </a:t>
            </a:r>
            <a:r>
              <a:rPr sz="1650" b="1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WHAT WE GAI</a:t>
            </a:r>
            <a:r>
              <a:rPr lang="en-US" sz="1650" b="1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N</a:t>
            </a:r>
            <a:endParaRPr sz="1650" b="1" kern="1200" dirty="0">
              <a:solidFill>
                <a:srgbClr val="FFFFFF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1251" y="548640"/>
            <a:ext cx="8229600" cy="2743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1251" y="685800"/>
            <a:ext cx="2674620" cy="17145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1251" y="685800"/>
            <a:ext cx="2674620" cy="24003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9830" y="720091"/>
            <a:ext cx="25374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lang="en-US" sz="1200" b="1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UPTO </a:t>
            </a:r>
            <a:r>
              <a:rPr sz="1200" b="1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Rs.80L Grant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9830" y="973836"/>
            <a:ext cx="25374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Direct non-dilutive grant to fund raw material atomization, additive manufacturing (DED/LENS), and physical prototype fabrication — no equity lost.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1611" y="685800"/>
            <a:ext cx="2674620" cy="17145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61611" y="685800"/>
            <a:ext cx="2674620" cy="24003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0191" y="720091"/>
            <a:ext cx="25374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200" b="1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IIT Delhi Lab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0191" y="973836"/>
            <a:ext cx="25374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Access to CRF: High-Temp STA (1500C), XRD, SEM/EDS, LENS/DED — the ONLY Indian facility capable of characterizing our 9-element RHEA+FGM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1971" y="685800"/>
            <a:ext cx="2674620" cy="17145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41971" y="685800"/>
            <a:ext cx="2674620" cy="24003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10551" y="720091"/>
            <a:ext cx="25374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200" b="1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Mentorship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0551" y="973836"/>
            <a:ext cx="25374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Technical mentorship from IIT Delhi faculty + Sona Comstar engineering division for DED tolerance alignment and real-world integration planning.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1251" y="2606040"/>
            <a:ext cx="2674620" cy="17145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1251" y="2606040"/>
            <a:ext cx="2674620" cy="24003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9830" y="2640330"/>
            <a:ext cx="25374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200" b="1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Investor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9830" y="2894076"/>
            <a:ext cx="25374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FITT connects </a:t>
            </a:r>
            <a:r>
              <a:rPr sz="1000" kern="1200" dirty="0" err="1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incubatees</a:t>
            </a: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 with its VC/investor network for follow-on funding beyond the SCIDIP grant.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61611" y="2606040"/>
            <a:ext cx="2674620" cy="17145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361611" y="2606040"/>
            <a:ext cx="2674620" cy="24003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30191" y="2640330"/>
            <a:ext cx="25374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200" b="1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Recognition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0191" y="2894076"/>
            <a:ext cx="25374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IIT Delhi </a:t>
            </a:r>
            <a:r>
              <a:rPr sz="1000" kern="1200" dirty="0" err="1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incubatee</a:t>
            </a: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 status provides national credibility, publication opportunities, and government scheme eligibility (NIDHI, BIRAC, etc.)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1971" y="2606040"/>
            <a:ext cx="2674620" cy="171450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41971" y="2606040"/>
            <a:ext cx="2674620" cy="24003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>
              <a:buClrTx/>
            </a:pPr>
            <a:endParaRPr sz="1350" kern="120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10551" y="2640330"/>
            <a:ext cx="25374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42900">
              <a:buClrTx/>
            </a:pPr>
            <a:r>
              <a:rPr sz="1200" b="1" kern="1200" dirty="0">
                <a:solidFill>
                  <a:srgbClr val="FFFFFF"/>
                </a:solidFill>
                <a:latin typeface="Calibri"/>
                <a:ea typeface="+mn-ea"/>
                <a:cs typeface="+mn-cs"/>
              </a:rPr>
              <a:t>Market Connect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0551" y="2894076"/>
            <a:ext cx="25374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000" kern="1200" dirty="0">
                <a:solidFill>
                  <a:srgbClr val="ECF0F1"/>
                </a:solidFill>
                <a:latin typeface="Calibri"/>
                <a:ea typeface="+mn-ea"/>
                <a:cs typeface="+mn-cs"/>
              </a:rPr>
              <a:t>Direct access to Sona Comstar EV supply chain — mapping our validated FGM into H13 forging dies and SRM stator components for commercialization.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251" y="4489144"/>
            <a:ext cx="84353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buClrTx/>
            </a:pPr>
            <a:r>
              <a:rPr sz="1100" b="1" i="1" kern="1200" dirty="0">
                <a:solidFill>
                  <a:srgbClr val="F4A261"/>
                </a:solidFill>
                <a:latin typeface="Calibri"/>
                <a:ea typeface="+mn-ea"/>
                <a:cs typeface="+mn-cs"/>
              </a:rPr>
              <a:t>Beyond HE-MCGA: IIT Delhi incubation opens Crystal Paradigm's entire AI-materials platform to national research partnerships, government grants (DST, NITI Aayog), and international collaborations.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95B7-3B3B-4669-6B80-C2374816A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9277A-DACD-564F-0F05-26101FA780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F454CA-411C-568A-BD0E-87028D1FB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13"/>
            <a:ext cx="91440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869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C977-0289-3EF7-5B58-83DA96CF05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FC55D-0855-FB66-9BAD-88655CBD8B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6EF53-9919-B2D6-FBC7-0DD776412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5504"/>
            <a:ext cx="9144000" cy="365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44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g3e85893f04f_6_75"/>
          <p:cNvGrpSpPr/>
          <p:nvPr/>
        </p:nvGrpSpPr>
        <p:grpSpPr>
          <a:xfrm>
            <a:off x="476250" y="285750"/>
            <a:ext cx="8191500" cy="809625"/>
            <a:chOff x="476250" y="285750"/>
            <a:chExt cx="8191500" cy="809625"/>
          </a:xfrm>
        </p:grpSpPr>
        <p:sp>
          <p:nvSpPr>
            <p:cNvPr id="91" name="Google Shape;91;g3e85893f04f_6_75"/>
            <p:cNvSpPr txBox="1"/>
            <p:nvPr/>
          </p:nvSpPr>
          <p:spPr>
            <a:xfrm>
              <a:off x="476250" y="285750"/>
              <a:ext cx="8191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30" b="1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CRYSTAL </a:t>
              </a:r>
              <a:r>
                <a:rPr lang="en-US" sz="3330" b="1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PARADIGM</a:t>
              </a:r>
              <a:endParaRPr sz="3330" b="1" dirty="0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295" b="1" dirty="0">
                  <a:solidFill>
                    <a:srgbClr val="64748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AI-Integrated Materials Architectures for Advanced Mobility &amp; Aerospace</a:t>
              </a:r>
              <a:endParaRPr sz="1295" b="1" dirty="0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cxnSp>
          <p:nvCxnSpPr>
            <p:cNvPr id="92" name="Google Shape;92;g3e85893f04f_6_75"/>
            <p:cNvCxnSpPr/>
            <p:nvPr/>
          </p:nvCxnSpPr>
          <p:spPr>
            <a:xfrm>
              <a:off x="476250" y="1095375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3" name="Google Shape;93;g3e85893f04f_6_75"/>
          <p:cNvSpPr txBox="1"/>
          <p:nvPr/>
        </p:nvSpPr>
        <p:spPr>
          <a:xfrm>
            <a:off x="476250" y="1333500"/>
            <a:ext cx="5143500" cy="28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Advanced Materials for Extreme-Environment Applications</a:t>
            </a:r>
            <a:endParaRPr sz="1300" b="1" dirty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Crystal Paradigm is a research-driven organization at the intersection of artificial intelligence and materials science. We field a deep-tech startup that has computationally validated a next-generation turbine blade material and extreme-environment mobility components achieving a </a:t>
            </a:r>
            <a:r>
              <a:rPr lang="en-US" sz="1150" b="1" dirty="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3D aerospace Safety Factor of 1.71</a:t>
            </a: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- exceeding the 1.50 airworthiness threshold by 14%.</a:t>
            </a:r>
            <a:endParaRPr sz="115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Mission</a:t>
            </a:r>
            <a:endParaRPr sz="1300" b="1" dirty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To accelerate the discovery of next-generation materials by combining machine learning, high-performance computing (HPC), and experimental validation in one closed loop.</a:t>
            </a:r>
            <a:endParaRPr sz="1150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125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64748B"/>
                </a:solidFill>
                <a:highlight>
                  <a:srgbClr val="F8FAFC"/>
                </a:highlight>
                <a:latin typeface="Inter"/>
                <a:ea typeface="Inter"/>
                <a:cs typeface="Inter"/>
                <a:sym typeface="Inter"/>
              </a:rPr>
              <a:t>Targeting extreme-environment mobility and aerospace applications: refractory high-entropy alloys paired with functionally graded ceramic coatings, merging in-house data curation with high-fidelity physics models to generate direct, print-ready manufacturing matrices.</a:t>
            </a:r>
            <a:endParaRPr sz="1000" dirty="0">
              <a:solidFill>
                <a:srgbClr val="64748B"/>
              </a:solidFill>
              <a:highlight>
                <a:srgbClr val="F8FAF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4" name="Google Shape;94;g3e85893f04f_6_75"/>
          <p:cNvGrpSpPr/>
          <p:nvPr/>
        </p:nvGrpSpPr>
        <p:grpSpPr>
          <a:xfrm>
            <a:off x="6022075" y="525144"/>
            <a:ext cx="2840355" cy="4142371"/>
            <a:chOff x="6286500" y="1333500"/>
            <a:chExt cx="2286000" cy="3333900"/>
          </a:xfrm>
        </p:grpSpPr>
        <p:pic>
          <p:nvPicPr>
            <p:cNvPr id="95" name="Google Shape;95;g3e85893f04f_6_7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477000" y="1333500"/>
              <a:ext cx="1905000" cy="1905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96" name="Google Shape;96;g3e85893f04f_6_75"/>
            <p:cNvSpPr/>
            <p:nvPr/>
          </p:nvSpPr>
          <p:spPr>
            <a:xfrm>
              <a:off x="6286500" y="3429000"/>
              <a:ext cx="2286000" cy="1238400"/>
            </a:xfrm>
            <a:prstGeom prst="roundRect">
              <a:avLst>
                <a:gd name="adj" fmla="val 9230"/>
              </a:avLst>
            </a:prstGeom>
            <a:solidFill>
              <a:srgbClr val="1A365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g3e85893f04f_6_75"/>
            <p:cNvSpPr txBox="1"/>
            <p:nvPr/>
          </p:nvSpPr>
          <p:spPr>
            <a:xfrm>
              <a:off x="6286500" y="3429000"/>
              <a:ext cx="2286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8325" tIns="118325" rIns="118325" bIns="1183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33" b="1" dirty="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4 </a:t>
              </a:r>
              <a:r>
                <a:rPr lang="en-US" sz="1242" b="0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Research Papers</a:t>
              </a:r>
              <a:endParaRPr sz="2733" b="1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4" i="1" dirty="0">
                  <a:solidFill>
                    <a:srgbClr val="94A3B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(under Review)</a:t>
              </a:r>
              <a:endParaRPr sz="994" i="1" dirty="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932"/>
                </a:spcBef>
                <a:spcAft>
                  <a:spcPts val="0"/>
                </a:spcAft>
                <a:buNone/>
              </a:pPr>
              <a:r>
                <a:rPr lang="en-US" sz="2733" b="1" dirty="0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2 </a:t>
              </a:r>
              <a:r>
                <a:rPr lang="en-US" sz="1242" b="0" dirty="0">
                  <a:solidFill>
                    <a:srgbClr val="2BDEF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Patents</a:t>
              </a:r>
              <a:endParaRPr sz="2733" b="1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94" i="1" dirty="0">
                  <a:solidFill>
                    <a:srgbClr val="94A3B8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(1  Accepted)</a:t>
              </a:r>
              <a:endParaRPr sz="994" i="1" dirty="0">
                <a:solidFill>
                  <a:srgbClr val="94A3B8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07008"/>
          </a:xfrm>
          <a:prstGeom prst="rect">
            <a:avLst/>
          </a:prstGeom>
          <a:solidFill>
            <a:srgbClr val="0F203C"/>
          </a:solidFill>
          <a:ln w="12700">
            <a:solidFill>
              <a:srgbClr val="0F2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120700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47472" y="91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PARADIGM  ·  SCIDIP APPLICATION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7472" y="2743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ALIGNMENT: SCIDIP FOCUS AREAS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47472" y="8595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B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AI-driven discovery and physical bulk materials.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422452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F"/>
            </a:solidFill>
            <a:prstDash val="solid"/>
          </a:ln>
          <a:effectLst>
            <a:outerShdw blurRad="63500" dist="25400" dir="8100000" algn="bl" rotWithShape="0">
              <a:srgbClr val="B0BECB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256032" y="1371600"/>
            <a:ext cx="422452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8912" y="1481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6459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8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MATERIALS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8912" y="194767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Systems, Gradients &amp; Additive Processes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249424"/>
            <a:ext cx="3858768" cy="0"/>
          </a:xfrm>
          <a:prstGeom prst="line">
            <a:avLst/>
          </a:prstGeom>
          <a:noFill/>
          <a:ln w="9525">
            <a:solidFill>
              <a:srgbClr val="D6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38912" y="2377440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85216" y="232257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Multi-Material TBCs: Solved the 1400°C CTE mismatch using an integrated Lanthanum Zirconate (LZO) ceramic coating coupled with a refractory HEA core.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9535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85216" y="289864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&amp; Mechanical Gradients: Our 11-layer Functionally Graded Material (FGM) completely eliminates macro-stress concentrations at the coating interface.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3529584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85216" y="347472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Additive Processes: The entire architecture is formulated for immediate multi-hopper Laser Engineered Net Shaping (LENS / DED) 3D printing.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224528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EF"/>
            </a:solidFill>
            <a:prstDash val="solid"/>
          </a:ln>
          <a:effectLst>
            <a:outerShdw blurRad="63500" dist="25400" dir="8100000" algn="bl" rotWithShape="0">
              <a:srgbClr val="B0BECB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22452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846320" y="1481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2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 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645920"/>
            <a:ext cx="3950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6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&amp; AI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194767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Design, Simulation &amp; Digital Twins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249424"/>
            <a:ext cx="3858768" cy="0"/>
          </a:xfrm>
          <a:prstGeom prst="line">
            <a:avLst/>
          </a:prstGeom>
          <a:noFill/>
          <a:ln w="9525">
            <a:solidFill>
              <a:srgbClr val="D6E4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846320" y="2377440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992624" y="2322576"/>
            <a:ext cx="3712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Composite Architectures: Deployed Constrained Differential Evolution (DE) combined with Random Forest surrogates to navigate a 9-element hypercube in minutes.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953512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992624" y="2898648"/>
            <a:ext cx="3712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Performance Simulation: Validated candidates via 3D FEniCS FEA stress grids (Aerospace SF = 1.71) and MACE/CHGNet ML Force Field Molecular Dynamics.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529584"/>
            <a:ext cx="82296" cy="8229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992624" y="3474720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Chemical Gradients: Automatically converts continuous AI property curves into discrete, print-ready metal-ceramic gradient parameters.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599432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0" y="4645152"/>
            <a:ext cx="9144000" cy="544068"/>
          </a:xfrm>
          <a:prstGeom prst="rect">
            <a:avLst/>
          </a:prstGeom>
          <a:solidFill>
            <a:srgbClr val="0F203C"/>
          </a:solidFill>
          <a:ln w="12700">
            <a:solidFill>
              <a:srgbClr val="0F20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256032" y="4718304"/>
            <a:ext cx="14173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256032" y="471830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F2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SOLUTION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0" y="4709160"/>
            <a:ext cx="0" cy="310896"/>
          </a:xfrm>
          <a:prstGeom prst="line">
            <a:avLst/>
          </a:prstGeom>
          <a:noFill/>
          <a:ln w="19050">
            <a:solidFill>
              <a:srgbClr val="1E3A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1993392" y="469087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Paradigm does not just provide a material (Focus Area 1) or software (Focus Area 2) - we provide a complete, unbroken data-to-manufacturing pipeline.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/>
          <p:nvPr/>
        </p:nvSpPr>
        <p:spPr>
          <a:xfrm>
            <a:off x="1267123" y="3564731"/>
            <a:ext cx="1123500" cy="1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50"/>
              <a:buFont typeface="Inter"/>
              <a:buNone/>
            </a:pP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428625" y="381000"/>
            <a:ext cx="8286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CRYSTAL PARADIGM FOR EXTREME-ENVIRONMENT ADVANCED MATERIALS</a:t>
            </a:r>
            <a:endParaRPr sz="182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428625" y="1000125"/>
            <a:ext cx="8286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AI-Driven Inverse Design of Graded Transpiration Shields</a:t>
            </a:r>
            <a:endParaRPr sz="1600" b="0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112" name="Google Shape;112;p1"/>
          <p:cNvGrpSpPr/>
          <p:nvPr/>
        </p:nvGrpSpPr>
        <p:grpSpPr>
          <a:xfrm>
            <a:off x="428625" y="1524000"/>
            <a:ext cx="3238500" cy="3238500"/>
            <a:chOff x="428625" y="1524000"/>
            <a:chExt cx="3238500" cy="3238500"/>
          </a:xfrm>
        </p:grpSpPr>
        <p:pic>
          <p:nvPicPr>
            <p:cNvPr id="113" name="Google Shape;113;p1" descr="A high-tech, futuristic cross-section of a 3D-printed aerospace material shield with visible 11-layers, showing a gradient from a metallic base to a white ceramic coating, glowing with extreme heat (1400C) on one side, photorealistic, cinematic lighting, laboratory setting.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8625" y="1524000"/>
              <a:ext cx="3238500" cy="3238500"/>
            </a:xfrm>
            <a:prstGeom prst="roundRect">
              <a:avLst>
                <a:gd name="adj" fmla="val 5882"/>
              </a:avLst>
            </a:prstGeom>
            <a:noFill/>
            <a:ln>
              <a:noFill/>
            </a:ln>
          </p:spPr>
        </p:pic>
        <p:sp>
          <p:nvSpPr>
            <p:cNvPr id="114" name="Google Shape;114;p1"/>
            <p:cNvSpPr/>
            <p:nvPr/>
          </p:nvSpPr>
          <p:spPr>
            <a:xfrm>
              <a:off x="428625" y="1524000"/>
              <a:ext cx="3238500" cy="3238500"/>
            </a:xfrm>
            <a:prstGeom prst="roundRect">
              <a:avLst>
                <a:gd name="adj" fmla="val 5882"/>
              </a:avLst>
            </a:prstGeom>
            <a:solidFill>
              <a:srgbClr val="000000">
                <a:alpha val="0"/>
              </a:srgbClr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"/>
          <p:cNvGrpSpPr/>
          <p:nvPr/>
        </p:nvGrpSpPr>
        <p:grpSpPr>
          <a:xfrm>
            <a:off x="3952875" y="1524000"/>
            <a:ext cx="4762500" cy="3143175"/>
            <a:chOff x="3952875" y="1524000"/>
            <a:chExt cx="4762500" cy="3143175"/>
          </a:xfrm>
        </p:grpSpPr>
        <p:sp>
          <p:nvSpPr>
            <p:cNvPr id="116" name="Google Shape;116;p1"/>
            <p:cNvSpPr/>
            <p:nvPr/>
          </p:nvSpPr>
          <p:spPr>
            <a:xfrm>
              <a:off x="3952875" y="152400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4095750" y="152400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Integrated Multi-Material Architecture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Merging a high-temperature refractory HEA base with an 11-layer functionally graded LZO thermal barrier coating.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952875" y="233362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EF2F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"/>
            <p:cNvSpPr txBox="1"/>
            <p:nvPr/>
          </p:nvSpPr>
          <p:spPr>
            <a:xfrm>
              <a:off x="4095750" y="233362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991B1B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Problem</a:t>
              </a:r>
              <a:endParaRPr sz="1100" b="1">
                <a:solidFill>
                  <a:srgbClr val="991B1B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Thermal fatigue from CTE mismatches at 1400°C causing interfacial shear stress and layer delamination.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3952875" y="3143250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9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4095750" y="3143250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75985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Current Status</a:t>
              </a:r>
              <a:endParaRPr sz="1100" b="1">
                <a:solidFill>
                  <a:srgbClr val="075985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TRL-3+ screening complete via physics-informed regressors and FEA/MD solvers; lab-backed prototyping ready.</a:t>
              </a:r>
              <a:endParaRPr sz="10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3952875" y="3952875"/>
              <a:ext cx="4762500" cy="714300"/>
            </a:xfrm>
            <a:prstGeom prst="roundRect">
              <a:avLst>
                <a:gd name="adj" fmla="val 13333"/>
              </a:avLst>
            </a:prstGeom>
            <a:solidFill>
              <a:srgbClr val="F0FDF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4095750" y="3952875"/>
              <a:ext cx="4476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dirty="0">
                  <a:solidFill>
                    <a:srgbClr val="166534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Competing for the Rs.1.6 Cr SCIDIP grant pool to advance from TRL 3 to TRL 5 - backed by IIT Delhi CRF labs, Sona Comstar industry mentorship, and SCIDIP investor network access for commercialization.</a:t>
              </a:r>
              <a:endParaRPr sz="1100" b="1" dirty="0">
                <a:solidFill>
                  <a:srgbClr val="166534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THIS MATTERS NOW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Addressing Extreme-Environment Industrial Imperatives and Supply Chain Resilience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600075" y="1441252"/>
            <a:ext cx="811530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Aerothermal Fire Limit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600075" y="1659136"/>
            <a:ext cx="8115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 dirty="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Next-generation turbine entries run at 1400^C (1673^K). These severe limits introduce extreme expansion stresses and oxidation kinetics that outpace legacy protective systems.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00063" y="2182443"/>
            <a:ext cx="8115300" cy="1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Supply Chain Resilience</a:t>
            </a:r>
            <a:endParaRPr sz="1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00075" y="2398534"/>
            <a:ext cx="81153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Conventional designs rely heavily on rare elements like Hafnium. Our solution intentionally limits high-risk dependencies to mitigate price volatility and supply chain exposure. </a:t>
            </a:r>
            <a:endParaRPr sz="850" b="0" i="0" u="none" strike="noStrike" cap="none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Directly aligned with next-generation open-rotor program targets for TET &gt; 1400°C and 20% SFC improvement.</a:t>
            </a: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85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578644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FUEL BURN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578644" y="3662958"/>
            <a:ext cx="2319319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50"/>
              <a:buFont typeface="Inter"/>
              <a:buNone/>
            </a:pP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15% reduction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compressor parasitic bleed air, driving an immediate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1.5% net reduction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in Specific Fuel Consumption (SFC).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3412313" y="3391495"/>
            <a:ext cx="2319347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MRO MAINTENANCE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3412313" y="3662958"/>
            <a:ext cx="2319347" cy="450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Lowering thermal degradation to extend engine shop visit intervals and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blade operational life cycles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significantly.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6246009" y="3391495"/>
            <a:ext cx="2319319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6246000" y="3662947"/>
            <a:ext cx="2319300" cy="8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Direct export of a universal, </a:t>
            </a:r>
            <a:r>
              <a:rPr lang="en-US" sz="750" b="1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print-ready 11-layer compositional matrix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to drive multi-hopper 3D printers for shop-floor deployment</a:t>
            </a:r>
            <a:r>
              <a:rPr lang="en-US" sz="80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,drastically reducing physical prototyping lead times from months to days.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2675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/>
          <p:nvPr/>
        </p:nvSpPr>
        <p:spPr>
          <a:xfrm>
            <a:off x="428625" y="817318"/>
            <a:ext cx="3714750" cy="66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100"/>
              <a:buFont typeface="Space Grotesk SemiBold"/>
              <a:buNone/>
            </a:pPr>
            <a:r>
              <a:rPr lang="en-US" sz="21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TECHNICAL PROBLEM IN ONE PICTURE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00075" y="1691701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Thermal Expansion Discontinuity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00075" y="1856000"/>
            <a:ext cx="3543300" cy="4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Metallic base (α ≈ 6.44-14.0 μm/m·K) vs LZO coating (α = 9.1 μm/m·K). Interface shear forces exceed 850 MPa, far surpassing the thermal limits of legacy Inconel 718 and CMSX-4.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600075" y="235032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Microstructural Phase Decay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00075" y="255034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Oxygen diffusion precipitates brittle sigma phases , causing rapid material loss and interface failure.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00075" y="300894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Cooling Hole Threat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00075" y="320896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Laser-drilled holes create stress concentration , accelerating crack propagation and layer delamination.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00075" y="3667562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Unified Imperative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00075" y="3867587"/>
            <a:ext cx="3543300" cy="280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Substrate, cooling channels, and insulating layers must be optimized as a single system to prevent failure. Same physics govern forging die failure, EV motor thermal cycling, and railway brake degradation.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5000625" y="874216"/>
            <a:ext cx="3714750" cy="14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800"/>
              <a:buFont typeface="Space Grotesk SemiBold"/>
              <a:buNone/>
            </a:pPr>
            <a:r>
              <a:rPr lang="en-US" sz="8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THERMOMECHANICAL FAILURE-MODE ANALYSIS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0625" y="1163538"/>
            <a:ext cx="357187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"/>
          <p:cNvSpPr/>
          <p:nvPr/>
        </p:nvSpPr>
        <p:spPr>
          <a:xfrm>
            <a:off x="7429500" y="2806601"/>
            <a:ext cx="912614" cy="191095"/>
          </a:xfrm>
          <a:prstGeom prst="rect">
            <a:avLst/>
          </a:prstGeom>
          <a:solidFill>
            <a:srgbClr val="FF0000">
              <a:alpha val="10196"/>
            </a:srgbClr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"/>
          <p:cNvSpPr/>
          <p:nvPr/>
        </p:nvSpPr>
        <p:spPr>
          <a:xfrm>
            <a:off x="7429500" y="2806601"/>
            <a:ext cx="912614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SHEAR &gt; 850 MPa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572125" y="2306538"/>
            <a:ext cx="1019770" cy="191095"/>
          </a:xfrm>
          <a:prstGeom prst="rect">
            <a:avLst/>
          </a:prstGeom>
          <a:solidFill>
            <a:srgbClr val="FF0000">
              <a:alpha val="10196"/>
            </a:srgbClr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5572125" y="2306538"/>
            <a:ext cx="1019770" cy="191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42525" rIns="85075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DELAMINATION RISK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5000625" y="4163913"/>
            <a:ext cx="3714750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600"/>
              <a:buFont typeface="Inter"/>
              <a:buNone/>
            </a:pPr>
            <a:r>
              <a:rPr lang="en-US" sz="6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Schematic cross-section showing interfacial stress singularities and crack initiation zones.</a:t>
            </a:r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/>
        </p:nvSpPr>
        <p:spPr>
          <a:xfrm>
            <a:off x="83925" y="149325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OUR ADVANCED ARCHITECTURE &amp; RECIPIENT LAYOUT</a:t>
            </a:r>
            <a:endParaRPr sz="22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71" name="Google Shape;171;p4"/>
          <p:cNvGrpSpPr/>
          <p:nvPr/>
        </p:nvGrpSpPr>
        <p:grpSpPr>
          <a:xfrm>
            <a:off x="428625" y="1238250"/>
            <a:ext cx="3333900" cy="3238575"/>
            <a:chOff x="428625" y="1238250"/>
            <a:chExt cx="3333900" cy="3238575"/>
          </a:xfrm>
        </p:grpSpPr>
        <p:sp>
          <p:nvSpPr>
            <p:cNvPr id="172" name="Google Shape;172;p4"/>
            <p:cNvSpPr/>
            <p:nvPr/>
          </p:nvSpPr>
          <p:spPr>
            <a:xfrm>
              <a:off x="428625" y="1238250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571500" y="1333500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Substrate Phase Security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Optimized quinary refractory HEA matrix ensuring stable single-phase BCC solid solution.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428625" y="2143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571500" y="2238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The Pareto Gradient</a:t>
              </a:r>
              <a:endParaRPr sz="1018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Transition zone governed by power-law exponent </a:t>
              </a:r>
              <a:r>
                <a:rPr lang="en-US" sz="833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n=1.1</a:t>
              </a: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, shifting shear stresses away from the surface.</a:t>
              </a:r>
              <a:endParaRPr sz="83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6" name="Google Shape;176;p4"/>
            <p:cNvSpPr/>
            <p:nvPr/>
          </p:nvSpPr>
          <p:spPr>
            <a:xfrm>
              <a:off x="428625" y="2905125"/>
              <a:ext cx="3333900" cy="6669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571500" y="3000375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18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Transpiration Porosity Network</a:t>
              </a:r>
              <a:endParaRPr sz="1018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33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Integrated micro-pores programmed via selective laser sintering, allowing cooling air to weep uniformly.</a:t>
              </a:r>
              <a:endParaRPr sz="833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8" name="Google Shape;178;p4"/>
            <p:cNvSpPr/>
            <p:nvPr/>
          </p:nvSpPr>
          <p:spPr>
            <a:xfrm>
              <a:off x="428625" y="3667125"/>
              <a:ext cx="3333900" cy="809700"/>
            </a:xfrm>
            <a:prstGeom prst="roundRect">
              <a:avLst>
                <a:gd name="adj" fmla="val 4705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4"/>
            <p:cNvSpPr txBox="1"/>
            <p:nvPr/>
          </p:nvSpPr>
          <p:spPr>
            <a:xfrm>
              <a:off x="571500" y="3762375"/>
              <a:ext cx="30480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Hardware-Agnostic Output</a:t>
              </a:r>
              <a:endParaRPr sz="11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Direct export of 11-layer data ledger  to drive multi-hopper LENS printers.</a:t>
              </a:r>
              <a:endParaRPr sz="90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0" name="Google Shape;180;p4"/>
          <p:cNvGrpSpPr/>
          <p:nvPr/>
        </p:nvGrpSpPr>
        <p:grpSpPr>
          <a:xfrm>
            <a:off x="4106000" y="717063"/>
            <a:ext cx="4857900" cy="3572119"/>
            <a:chOff x="4000500" y="333375"/>
            <a:chExt cx="4857900" cy="4476900"/>
          </a:xfrm>
        </p:grpSpPr>
        <p:sp>
          <p:nvSpPr>
            <p:cNvPr id="181" name="Google Shape;181;p4"/>
            <p:cNvSpPr/>
            <p:nvPr/>
          </p:nvSpPr>
          <p:spPr>
            <a:xfrm>
              <a:off x="4000500" y="333375"/>
              <a:ext cx="4857900" cy="4476900"/>
            </a:xfrm>
            <a:prstGeom prst="roundRect">
              <a:avLst>
                <a:gd name="adj" fmla="val 1702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4"/>
            <p:cNvGrpSpPr/>
            <p:nvPr/>
          </p:nvGrpSpPr>
          <p:grpSpPr>
            <a:xfrm>
              <a:off x="4000500" y="333375"/>
              <a:ext cx="4857600" cy="381000"/>
              <a:chOff x="4000500" y="333375"/>
              <a:chExt cx="4857600" cy="381000"/>
            </a:xfrm>
          </p:grpSpPr>
          <p:pic>
            <p:nvPicPr>
              <p:cNvPr id="183" name="Google Shape;183;p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4" name="Google Shape;184;p4"/>
              <p:cNvSpPr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4"/>
              <p:cNvSpPr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4"/>
              <p:cNvSpPr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87" name="Google Shape;187;p4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8" name="Google Shape;188;p4"/>
              <p:cNvSpPr txBox="1"/>
              <p:nvPr/>
            </p:nvSpPr>
            <p:spPr>
              <a:xfrm>
                <a:off x="4000500" y="333375"/>
                <a:ext cx="476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Layer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89" name="Google Shape;189;p4"/>
              <p:cNvSpPr txBox="1"/>
              <p:nvPr/>
            </p:nvSpPr>
            <p:spPr>
              <a:xfrm>
                <a:off x="4476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Depth (mm)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0" name="Google Shape;190;p4"/>
              <p:cNvSpPr txBox="1"/>
              <p:nvPr/>
            </p:nvSpPr>
            <p:spPr>
              <a:xfrm>
                <a:off x="5238750" y="3333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Alloy Vol %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1" name="Google Shape;191;p4"/>
              <p:cNvSpPr txBox="1"/>
              <p:nvPr/>
            </p:nvSpPr>
            <p:spPr>
              <a:xfrm>
                <a:off x="6000750" y="333375"/>
                <a:ext cx="857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Ceramic Vol %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  <p:sp>
            <p:nvSpPr>
              <p:cNvPr id="192" name="Google Shape;192;p4"/>
              <p:cNvSpPr txBox="1"/>
              <p:nvPr/>
            </p:nvSpPr>
            <p:spPr>
              <a:xfrm>
                <a:off x="6858000" y="333375"/>
                <a:ext cx="20001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FFFFFF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Profile Description</a:t>
                </a:r>
                <a:endParaRPr sz="800" b="0">
                  <a:solidFill>
                    <a:srgbClr val="FFFFFF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193" name="Google Shape;193;p4"/>
            <p:cNvGrpSpPr/>
            <p:nvPr/>
          </p:nvGrpSpPr>
          <p:grpSpPr>
            <a:xfrm>
              <a:off x="4000500" y="714375"/>
              <a:ext cx="4857900" cy="3214838"/>
              <a:chOff x="4000500" y="714375"/>
              <a:chExt cx="4857900" cy="3214838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4000500" y="714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4"/>
              <p:cNvSpPr txBox="1"/>
              <p:nvPr/>
            </p:nvSpPr>
            <p:spPr>
              <a:xfrm>
                <a:off x="4000500" y="714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6" name="Google Shape;196;p4"/>
              <p:cNvSpPr txBox="1"/>
              <p:nvPr/>
            </p:nvSpPr>
            <p:spPr>
              <a:xfrm>
                <a:off x="4476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7" name="Google Shape;197;p4"/>
              <p:cNvSpPr txBox="1"/>
              <p:nvPr/>
            </p:nvSpPr>
            <p:spPr>
              <a:xfrm>
                <a:off x="5238750" y="714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8" name="Google Shape;198;p4"/>
              <p:cNvSpPr txBox="1"/>
              <p:nvPr/>
            </p:nvSpPr>
            <p:spPr>
              <a:xfrm>
                <a:off x="6000750" y="714375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4"/>
              <p:cNvSpPr txBox="1"/>
              <p:nvPr/>
            </p:nvSpPr>
            <p:spPr>
              <a:xfrm>
                <a:off x="6858000" y="714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Refractory HEA Base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4"/>
              <p:cNvSpPr/>
              <p:nvPr/>
            </p:nvSpPr>
            <p:spPr>
              <a:xfrm>
                <a:off x="4000500" y="1000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4"/>
              <p:cNvSpPr txBox="1"/>
              <p:nvPr/>
            </p:nvSpPr>
            <p:spPr>
              <a:xfrm>
                <a:off x="4000500" y="1000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2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4"/>
              <p:cNvSpPr txBox="1"/>
              <p:nvPr/>
            </p:nvSpPr>
            <p:spPr>
              <a:xfrm>
                <a:off x="4476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4"/>
              <p:cNvSpPr txBox="1"/>
              <p:nvPr/>
            </p:nvSpPr>
            <p:spPr>
              <a:xfrm>
                <a:off x="5238750" y="1000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4"/>
              <p:cNvSpPr txBox="1"/>
              <p:nvPr/>
            </p:nvSpPr>
            <p:spPr>
              <a:xfrm>
                <a:off x="6000750" y="106111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4"/>
              <p:cNvSpPr txBox="1"/>
              <p:nvPr/>
            </p:nvSpPr>
            <p:spPr>
              <a:xfrm>
                <a:off x="6858000" y="1000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4"/>
              <p:cNvSpPr/>
              <p:nvPr/>
            </p:nvSpPr>
            <p:spPr>
              <a:xfrm>
                <a:off x="4000500" y="1285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4"/>
              <p:cNvSpPr txBox="1"/>
              <p:nvPr/>
            </p:nvSpPr>
            <p:spPr>
              <a:xfrm>
                <a:off x="4000500" y="1285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4"/>
              <p:cNvSpPr txBox="1"/>
              <p:nvPr/>
            </p:nvSpPr>
            <p:spPr>
              <a:xfrm>
                <a:off x="4476750" y="1285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4"/>
              <p:cNvSpPr txBox="1"/>
              <p:nvPr/>
            </p:nvSpPr>
            <p:spPr>
              <a:xfrm>
                <a:off x="5238750" y="1285797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4"/>
              <p:cNvSpPr txBox="1"/>
              <p:nvPr/>
            </p:nvSpPr>
            <p:spPr>
              <a:xfrm>
                <a:off x="6000750" y="1305379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4"/>
              <p:cNvSpPr txBox="1"/>
              <p:nvPr/>
            </p:nvSpPr>
            <p:spPr>
              <a:xfrm>
                <a:off x="6858000" y="1285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2" name="Google Shape;212;p4"/>
              <p:cNvSpPr/>
              <p:nvPr/>
            </p:nvSpPr>
            <p:spPr>
              <a:xfrm>
                <a:off x="4000500" y="15716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4"/>
              <p:cNvSpPr txBox="1"/>
              <p:nvPr/>
            </p:nvSpPr>
            <p:spPr>
              <a:xfrm>
                <a:off x="4000500" y="1571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4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4" name="Google Shape;214;p4"/>
              <p:cNvSpPr txBox="1"/>
              <p:nvPr/>
            </p:nvSpPr>
            <p:spPr>
              <a:xfrm>
                <a:off x="4476750" y="1571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1.50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5" name="Google Shape;215;p4"/>
              <p:cNvSpPr txBox="1"/>
              <p:nvPr/>
            </p:nvSpPr>
            <p:spPr>
              <a:xfrm>
                <a:off x="5238750" y="164964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6" name="Google Shape;216;p4"/>
              <p:cNvSpPr txBox="1"/>
              <p:nvPr/>
            </p:nvSpPr>
            <p:spPr>
              <a:xfrm>
                <a:off x="6000750" y="1610634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7" name="Google Shape;217;p4"/>
              <p:cNvSpPr txBox="1"/>
              <p:nvPr/>
            </p:nvSpPr>
            <p:spPr>
              <a:xfrm>
                <a:off x="6858000" y="1571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18" name="Google Shape;218;p4"/>
              <p:cNvSpPr/>
              <p:nvPr/>
            </p:nvSpPr>
            <p:spPr>
              <a:xfrm>
                <a:off x="4000500" y="18573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4"/>
              <p:cNvSpPr txBox="1"/>
              <p:nvPr/>
            </p:nvSpPr>
            <p:spPr>
              <a:xfrm>
                <a:off x="4000500" y="1857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5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0" name="Google Shape;220;p4"/>
              <p:cNvSpPr txBox="1"/>
              <p:nvPr/>
            </p:nvSpPr>
            <p:spPr>
              <a:xfrm>
                <a:off x="4476750" y="1857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2.00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1" name="Google Shape;221;p4"/>
              <p:cNvSpPr txBox="1"/>
              <p:nvPr/>
            </p:nvSpPr>
            <p:spPr>
              <a:xfrm>
                <a:off x="5238750" y="1935392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2" name="Google Shape;222;p4"/>
              <p:cNvSpPr txBox="1"/>
              <p:nvPr/>
            </p:nvSpPr>
            <p:spPr>
              <a:xfrm>
                <a:off x="6000750" y="189472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3" name="Google Shape;223;p4"/>
              <p:cNvSpPr txBox="1"/>
              <p:nvPr/>
            </p:nvSpPr>
            <p:spPr>
              <a:xfrm>
                <a:off x="6858000" y="1857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4" name="Google Shape;224;p4"/>
              <p:cNvSpPr/>
              <p:nvPr/>
            </p:nvSpPr>
            <p:spPr>
              <a:xfrm>
                <a:off x="4000500" y="214312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4"/>
              <p:cNvSpPr txBox="1"/>
              <p:nvPr/>
            </p:nvSpPr>
            <p:spPr>
              <a:xfrm>
                <a:off x="4000500" y="2143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6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6" name="Google Shape;226;p4"/>
              <p:cNvSpPr txBox="1"/>
              <p:nvPr/>
            </p:nvSpPr>
            <p:spPr>
              <a:xfrm>
                <a:off x="4476750" y="2143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2.50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7" name="Google Shape;227;p4"/>
              <p:cNvSpPr txBox="1"/>
              <p:nvPr/>
            </p:nvSpPr>
            <p:spPr>
              <a:xfrm>
                <a:off x="5238750" y="22145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8" name="Google Shape;228;p4"/>
              <p:cNvSpPr txBox="1"/>
              <p:nvPr/>
            </p:nvSpPr>
            <p:spPr>
              <a:xfrm>
                <a:off x="6000750" y="2217852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29" name="Google Shape;229;p4"/>
              <p:cNvSpPr txBox="1"/>
              <p:nvPr/>
            </p:nvSpPr>
            <p:spPr>
              <a:xfrm>
                <a:off x="6858000" y="2143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0" name="Google Shape;230;p4"/>
              <p:cNvSpPr/>
              <p:nvPr/>
            </p:nvSpPr>
            <p:spPr>
              <a:xfrm>
                <a:off x="4000500" y="2428875"/>
                <a:ext cx="4857900" cy="285900"/>
              </a:xfrm>
              <a:prstGeom prst="rect">
                <a:avLst/>
              </a:prstGeom>
              <a:solidFill>
                <a:srgbClr val="ECFE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4"/>
              <p:cNvSpPr txBox="1"/>
              <p:nvPr/>
            </p:nvSpPr>
            <p:spPr>
              <a:xfrm>
                <a:off x="4000500" y="2428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7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2" name="Google Shape;232;p4"/>
              <p:cNvSpPr txBox="1"/>
              <p:nvPr/>
            </p:nvSpPr>
            <p:spPr>
              <a:xfrm>
                <a:off x="4476750" y="2428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3.00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3" name="Google Shape;233;p4"/>
              <p:cNvSpPr txBox="1"/>
              <p:nvPr/>
            </p:nvSpPr>
            <p:spPr>
              <a:xfrm>
                <a:off x="5238750" y="2500250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4" name="Google Shape;234;p4"/>
              <p:cNvSpPr txBox="1"/>
              <p:nvPr/>
            </p:nvSpPr>
            <p:spPr>
              <a:xfrm>
                <a:off x="6000750" y="2503602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5" name="Google Shape;235;p4"/>
              <p:cNvSpPr txBox="1"/>
              <p:nvPr/>
            </p:nvSpPr>
            <p:spPr>
              <a:xfrm>
                <a:off x="6858000" y="2428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>
                    <a:solidFill>
                      <a:srgbClr val="0891B2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Micro-Porosity Zone</a:t>
                </a:r>
                <a:endParaRPr sz="800" b="0">
                  <a:solidFill>
                    <a:srgbClr val="0891B2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236" name="Google Shape;236;p4"/>
              <p:cNvSpPr/>
              <p:nvPr/>
            </p:nvSpPr>
            <p:spPr>
              <a:xfrm>
                <a:off x="4000500" y="27146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4"/>
              <p:cNvSpPr txBox="1"/>
              <p:nvPr/>
            </p:nvSpPr>
            <p:spPr>
              <a:xfrm>
                <a:off x="4000500" y="27146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8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4"/>
              <p:cNvSpPr txBox="1"/>
              <p:nvPr/>
            </p:nvSpPr>
            <p:spPr>
              <a:xfrm>
                <a:off x="4476750" y="27146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3.50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4"/>
              <p:cNvSpPr txBox="1"/>
              <p:nvPr/>
            </p:nvSpPr>
            <p:spPr>
              <a:xfrm>
                <a:off x="5238750" y="27860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4"/>
              <p:cNvSpPr txBox="1"/>
              <p:nvPr/>
            </p:nvSpPr>
            <p:spPr>
              <a:xfrm>
                <a:off x="6000750" y="278606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4"/>
              <p:cNvSpPr txBox="1"/>
              <p:nvPr/>
            </p:nvSpPr>
            <p:spPr>
              <a:xfrm>
                <a:off x="6858000" y="27146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4"/>
              <p:cNvSpPr/>
              <p:nvPr/>
            </p:nvSpPr>
            <p:spPr>
              <a:xfrm>
                <a:off x="4000500" y="30003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4"/>
              <p:cNvSpPr txBox="1"/>
              <p:nvPr/>
            </p:nvSpPr>
            <p:spPr>
              <a:xfrm>
                <a:off x="4000500" y="30003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9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4"/>
              <p:cNvSpPr txBox="1"/>
              <p:nvPr/>
            </p:nvSpPr>
            <p:spPr>
              <a:xfrm>
                <a:off x="4476750" y="30003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4"/>
              <p:cNvSpPr txBox="1"/>
              <p:nvPr/>
            </p:nvSpPr>
            <p:spPr>
              <a:xfrm>
                <a:off x="5238750" y="307181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4"/>
              <p:cNvSpPr txBox="1"/>
              <p:nvPr/>
            </p:nvSpPr>
            <p:spPr>
              <a:xfrm>
                <a:off x="6000750" y="3071781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4"/>
              <p:cNvSpPr txBox="1"/>
              <p:nvPr/>
            </p:nvSpPr>
            <p:spPr>
              <a:xfrm>
                <a:off x="6858000" y="30003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" name="Google Shape;248;p4"/>
              <p:cNvSpPr/>
              <p:nvPr/>
            </p:nvSpPr>
            <p:spPr>
              <a:xfrm>
                <a:off x="4000500" y="3286125"/>
                <a:ext cx="4857900" cy="2859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4"/>
              <p:cNvSpPr txBox="1"/>
              <p:nvPr/>
            </p:nvSpPr>
            <p:spPr>
              <a:xfrm>
                <a:off x="4000500" y="328612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0" name="Google Shape;250;p4"/>
              <p:cNvSpPr txBox="1"/>
              <p:nvPr/>
            </p:nvSpPr>
            <p:spPr>
              <a:xfrm>
                <a:off x="4476750" y="328612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4.50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1" name="Google Shape;251;p4"/>
              <p:cNvSpPr txBox="1"/>
              <p:nvPr/>
            </p:nvSpPr>
            <p:spPr>
              <a:xfrm>
                <a:off x="5238750" y="335756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2" name="Google Shape;252;p4"/>
              <p:cNvSpPr txBox="1"/>
              <p:nvPr/>
            </p:nvSpPr>
            <p:spPr>
              <a:xfrm>
                <a:off x="6000750" y="335756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xx.x%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3" name="Google Shape;253;p4"/>
              <p:cNvSpPr txBox="1"/>
              <p:nvPr/>
            </p:nvSpPr>
            <p:spPr>
              <a:xfrm>
                <a:off x="6858000" y="328612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Graded Matrix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" name="Google Shape;254;p4"/>
              <p:cNvSpPr/>
              <p:nvPr/>
            </p:nvSpPr>
            <p:spPr>
              <a:xfrm>
                <a:off x="4000500" y="3571875"/>
                <a:ext cx="4857900" cy="285900"/>
              </a:xfrm>
              <a:prstGeom prst="rect">
                <a:avLst/>
              </a:prstGeom>
              <a:solidFill>
                <a:srgbClr val="F8FAFC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4"/>
              <p:cNvSpPr txBox="1"/>
              <p:nvPr/>
            </p:nvSpPr>
            <p:spPr>
              <a:xfrm>
                <a:off x="4000500" y="3571875"/>
                <a:ext cx="476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11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4"/>
              <p:cNvSpPr txBox="1"/>
              <p:nvPr/>
            </p:nvSpPr>
            <p:spPr>
              <a:xfrm>
                <a:off x="4476750" y="3571875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5.00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4"/>
              <p:cNvSpPr txBox="1"/>
              <p:nvPr/>
            </p:nvSpPr>
            <p:spPr>
              <a:xfrm>
                <a:off x="5238750" y="3643313"/>
                <a:ext cx="762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0.00%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6000750" y="3643313"/>
                <a:ext cx="8574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100.0%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4"/>
              <p:cNvSpPr txBox="1"/>
              <p:nvPr/>
            </p:nvSpPr>
            <p:spPr>
              <a:xfrm>
                <a:off x="6858000" y="3571875"/>
                <a:ext cx="20001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>
                    <a:solidFill>
                      <a:srgbClr val="1E293B"/>
                    </a:solidFill>
                    <a:latin typeface="Inter"/>
                    <a:ea typeface="Inter"/>
                    <a:cs typeface="Inter"/>
                    <a:sym typeface="Inter"/>
                  </a:rPr>
                  <a:t>Pure Porous LZO Ceramic</a:t>
                </a:r>
                <a:endParaRPr sz="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260" name="Google Shape;260;p4"/>
            <p:cNvSpPr txBox="1"/>
            <p:nvPr/>
          </p:nvSpPr>
          <p:spPr>
            <a:xfrm>
              <a:off x="4000500" y="4572000"/>
              <a:ext cx="4857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 			Optimized for 5.0 mm transition zone.</a:t>
              </a:r>
              <a:endParaRPr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1" name="Google Shape;261;p4"/>
          <p:cNvGrpSpPr/>
          <p:nvPr/>
        </p:nvGrpSpPr>
        <p:grpSpPr>
          <a:xfrm>
            <a:off x="428625" y="4476825"/>
            <a:ext cx="8370825" cy="500400"/>
            <a:chOff x="428625" y="4476825"/>
            <a:chExt cx="8370825" cy="500400"/>
          </a:xfrm>
        </p:grpSpPr>
        <p:sp>
          <p:nvSpPr>
            <p:cNvPr id="262" name="Google Shape;262;p4"/>
            <p:cNvSpPr/>
            <p:nvPr/>
          </p:nvSpPr>
          <p:spPr>
            <a:xfrm>
              <a:off x="428625" y="4619625"/>
              <a:ext cx="3333900" cy="190500"/>
            </a:xfrm>
            <a:prstGeom prst="roundRect">
              <a:avLst>
                <a:gd name="adj" fmla="val 1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 txBox="1"/>
            <p:nvPr/>
          </p:nvSpPr>
          <p:spPr>
            <a:xfrm>
              <a:off x="476250" y="4476825"/>
              <a:ext cx="8323200" cy="5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dirty="0">
                  <a:solidFill>
                    <a:srgbClr val="1A365D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Elemental family details are fully provided (Ta-W-Cr-V-Ti-Zr-Hf-Al-Nb), but exact compositional ratios are proprietary to protect Crystal Paradigm IP; full composition disclosure is available for joint engineering teams during subsequent technical reviews under an NDA </a:t>
              </a:r>
              <a:endParaRPr sz="1100" b="0" dirty="0">
                <a:solidFill>
                  <a:srgbClr val="1A365D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64" name="Google Shape;264;p4"/>
          <p:cNvSpPr txBox="1"/>
          <p:nvPr/>
        </p:nvSpPr>
        <p:spPr>
          <a:xfrm>
            <a:off x="4657525" y="211250"/>
            <a:ext cx="46329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     11-Layer Graded FGM Design Profile </a:t>
            </a:r>
            <a:endParaRPr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(Proprietary Composition Ratios Masked Pending Formal NDA Review) </a:t>
            </a:r>
            <a:endParaRPr sz="10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6377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WE WIN TECHNICALLY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System-Level Innovation and Active Environmental Armor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600075" y="1369814"/>
            <a:ext cx="811530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50"/>
              <a:buFont typeface="Inter"/>
              <a:buNone/>
            </a:pPr>
            <a:r>
              <a:rPr lang="en-US" sz="9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Our platform executes a unified optimization run that solves for substrate chemistry, gradient shapes, and active transpiration mechanics concurrently, minimizing interface mismatch to just </a:t>
            </a:r>
            <a:r>
              <a:rPr lang="en-US" sz="9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2.66 μm/mK</a:t>
            </a:r>
            <a:r>
              <a:rPr lang="en-US" sz="9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4363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"/>
          <p:cNvSpPr/>
          <p:nvPr/>
        </p:nvSpPr>
        <p:spPr>
          <a:xfrm>
            <a:off x="892969" y="2288456"/>
            <a:ext cx="124837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STABILITY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614363" y="2577778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Audited VEC of 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5.02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ensures a stable single-phase BCC solid solution with zero sigma phase risk up to its solidus limit (What this means: 3x longer component life). </a:t>
            </a:r>
            <a:r>
              <a:rPr lang="en-US" sz="8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its solidus limit of 2727^K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4894" y="2293813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5"/>
          <p:cNvSpPr/>
          <p:nvPr/>
        </p:nvSpPr>
        <p:spPr>
          <a:xfrm>
            <a:off x="5143500" y="2288456"/>
            <a:ext cx="1696641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OXIDATION RESISTANCE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4864894" y="2577778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Self-healing Alumina armor limits high-temperature scale growth to 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&lt; 10 mg/cm²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(exceptional 7.5 mg/cm² achieved - Survives at 200°C higher temperatures).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363" y="3794001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5"/>
          <p:cNvSpPr/>
          <p:nvPr/>
        </p:nvSpPr>
        <p:spPr>
          <a:xfrm>
            <a:off x="892969" y="3788643"/>
            <a:ext cx="1852017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ADHESION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614363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Power-law gradient curves (</a:t>
            </a:r>
            <a:r>
              <a:rPr lang="en-US" sz="800" b="0" i="0" u="none" strike="noStrike" cap="none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n=1.1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) minimize internal shear forces and prevent coating spallation at 1400°C.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64894" y="3794001"/>
            <a:ext cx="19288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5"/>
          <p:cNvSpPr/>
          <p:nvPr/>
        </p:nvSpPr>
        <p:spPr>
          <a:xfrm>
            <a:off x="5164931" y="3788643"/>
            <a:ext cx="1559123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MANUFACTURABILITY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/>
          <p:nvPr/>
        </p:nvSpPr>
        <p:spPr>
          <a:xfrm>
            <a:off x="4864894" y="4077965"/>
            <a:ext cx="366474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The universal </a:t>
            </a:r>
            <a:r>
              <a:rPr lang="en-US" sz="800">
                <a:solidFill>
                  <a:srgbClr val="1A365D"/>
                </a:solidFill>
                <a:latin typeface="Inter"/>
                <a:ea typeface="Inter"/>
                <a:cs typeface="Inter"/>
                <a:sym typeface="Inter"/>
              </a:rPr>
              <a:t>proprietary LENS  printing matrix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maps composition directly to commercial multi-hopper 3D printers.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6"/>
          <p:cNvSpPr/>
          <p:nvPr/>
        </p:nvSpPr>
        <p:spPr>
          <a:xfrm>
            <a:off x="428625" y="357188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WHAT IS PROVEN TODAY AND WHAT IS NOT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428625" y="866180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Verification Metrics and TRL Maturity Status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60007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High-Fidelity Models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600075" y="1516261"/>
            <a:ext cx="38290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In-memory properties surrogate model audited at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Test R^2 = 0.977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MAE = 8.11 GPa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 Verified via cloud-scaled 3D FEniCS FEA stress grids.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886325" y="1298377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Ab Initio Phase Consistency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886325" y="1516261"/>
            <a:ext cx="3829050" cy="480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CALPHAD sweeps and Gradient Boosting regressors (R^2 = 0.958) confirm stable </a:t>
            </a:r>
            <a:r>
              <a:rPr lang="en-US" sz="8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single-phase BCC matrix</a:t>
            </a: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across extreme thermal envelopes.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28625" y="2282037"/>
            <a:ext cx="1861170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428625" y="2282037"/>
            <a:ext cx="1861170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Evaluation Vector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2289795" y="2282037"/>
            <a:ext cx="1677302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2289795" y="2282037"/>
            <a:ext cx="1677302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Model / In Silico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3967097" y="2282037"/>
            <a:ext cx="1774915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3967097" y="2282037"/>
            <a:ext cx="1774915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Experimental Lab 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5742012" y="2282037"/>
            <a:ext cx="1849813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5742012" y="2282037"/>
            <a:ext cx="1849813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Target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7591825" y="2282037"/>
            <a:ext cx="1123550" cy="2982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7591825" y="2282037"/>
            <a:ext cx="1123550" cy="298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Status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28625" y="2580289"/>
            <a:ext cx="1861170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BCC Phase Security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2289795" y="2580289"/>
            <a:ext cx="1677302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(CALPHAD)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3967097" y="2580289"/>
            <a:ext cx="1774915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Lab Sweep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5742012" y="2580289"/>
            <a:ext cx="1849813" cy="351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0% Brittle Sigma Phase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7698974" y="26660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7913294" y="2694589"/>
            <a:ext cx="287536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28625" y="2917831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Elastic Modulus Surface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2289795" y="2917831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Audited (R^2=0.977$)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3967097" y="2917831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Coupon Tensile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5742012" y="2917831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MAE ≤ 8.11 GPa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7698973" y="300712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6"/>
          <p:cNvSpPr/>
          <p:nvPr/>
        </p:nvSpPr>
        <p:spPr>
          <a:xfrm>
            <a:off x="7913302" y="3035775"/>
            <a:ext cx="3876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428625" y="3258945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Oxidation Scale Kinetics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2289795" y="3258945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(MACE MD)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3967097" y="3258945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TGA Weight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5742012" y="3258945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Mass Gain &lt; 10 mg/cm²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7698973" y="3348250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6"/>
          <p:cNvSpPr/>
          <p:nvPr/>
        </p:nvSpPr>
        <p:spPr>
          <a:xfrm>
            <a:off x="7913294" y="3376817"/>
            <a:ext cx="287536" cy="10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6"/>
          <p:cNvSpPr/>
          <p:nvPr/>
        </p:nvSpPr>
        <p:spPr>
          <a:xfrm>
            <a:off x="428625" y="3600059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Interfacial Bond Safety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2289795" y="3600059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Verified (1D/3D FEA)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6"/>
          <p:cNvSpPr/>
          <p:nvPr/>
        </p:nvSpPr>
        <p:spPr>
          <a:xfrm>
            <a:off x="3967097" y="3600059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Adhesion Test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5742012" y="3600059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Safety Factor ≥ 1.50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7699026" y="3689375"/>
            <a:ext cx="773100" cy="1767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7913294" y="3717931"/>
            <a:ext cx="287400" cy="1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600"/>
              <a:buFont typeface="Inter"/>
              <a:buNone/>
            </a:pPr>
            <a:r>
              <a:rPr lang="en-US" sz="60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600" b="1" i="0" u="none" strike="noStrike" cap="non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GREEN </a:t>
            </a:r>
            <a:endParaRPr sz="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6"/>
          <p:cNvSpPr/>
          <p:nvPr/>
        </p:nvSpPr>
        <p:spPr>
          <a:xfrm>
            <a:off x="428625" y="3941173"/>
            <a:ext cx="1861170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Transpiration Film Stability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2289795" y="3941173"/>
            <a:ext cx="1677302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Modeled (CFD Jet Lift)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3967097" y="3941173"/>
            <a:ext cx="1774915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Pending Thermal Cycling Test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5742012" y="3941173"/>
            <a:ext cx="1849813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Zero Boundary Separation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428625" y="4282287"/>
            <a:ext cx="1865244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Physical Prototyping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2293869" y="4282287"/>
            <a:ext cx="1680986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Fully Formulated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3974855" y="4282287"/>
            <a:ext cx="1778794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Not Yet Tested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5753649" y="4282287"/>
            <a:ext cx="1853859" cy="35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102100" rIns="127500" bIns="1021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TRL 4 Coupon Assembly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 txBox="1"/>
          <p:nvPr/>
        </p:nvSpPr>
        <p:spPr>
          <a:xfrm>
            <a:off x="6294025" y="4877000"/>
            <a:ext cx="773100" cy="1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6"/>
          <p:cNvSpPr txBox="1"/>
          <p:nvPr/>
        </p:nvSpPr>
        <p:spPr>
          <a:xfrm>
            <a:off x="7870275" y="4120300"/>
            <a:ext cx="6018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6"/>
          <p:cNvSpPr/>
          <p:nvPr/>
        </p:nvSpPr>
        <p:spPr>
          <a:xfrm>
            <a:off x="7682025" y="4023388"/>
            <a:ext cx="807000" cy="1821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</a:rPr>
              <a:t>      </a:t>
            </a:r>
            <a:r>
              <a:rPr lang="en-US" sz="600" b="1">
                <a:solidFill>
                  <a:srgbClr val="F1C232"/>
                </a:solidFill>
              </a:rPr>
              <a:t>YELLOW</a:t>
            </a:r>
            <a:endParaRPr sz="600" b="1">
              <a:solidFill>
                <a:srgbClr val="F1C232"/>
              </a:solidFill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7682075" y="4362825"/>
            <a:ext cx="807000" cy="176700"/>
          </a:xfrm>
          <a:prstGeom prst="rect">
            <a:avLst/>
          </a:prstGeom>
          <a:gradFill>
            <a:gsLst>
              <a:gs pos="0">
                <a:srgbClr val="FFF6DB"/>
              </a:gs>
              <a:gs pos="100000">
                <a:srgbClr val="FAD15C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accent4"/>
                </a:solidFill>
              </a:rPr>
              <a:t>   </a:t>
            </a:r>
            <a:r>
              <a:rPr lang="en-US" sz="600" b="1">
                <a:solidFill>
                  <a:schemeClr val="accent4"/>
                </a:solidFill>
              </a:rPr>
              <a:t>NEXT PHASE</a:t>
            </a:r>
            <a:endParaRPr sz="600"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99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7"/>
          <p:cNvSpPr/>
          <p:nvPr/>
        </p:nvSpPr>
        <p:spPr>
          <a:xfrm>
            <a:off x="428625" y="98925"/>
            <a:ext cx="87153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VALIDATION PLAN TO TRL 4+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7"/>
          <p:cNvSpPr/>
          <p:nvPr/>
        </p:nvSpPr>
        <p:spPr>
          <a:xfrm>
            <a:off x="428588" y="554642"/>
            <a:ext cx="8715300" cy="217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050" b="1" dirty="0">
                <a:solidFill>
                  <a:srgbClr val="2BDEFD"/>
                </a:solidFill>
                <a:highlight>
                  <a:srgbClr val="FFFFFF"/>
                </a:highlight>
              </a:rPr>
              <a:t>Validation Plan to TRL 4+ - Incubation Milestone Framework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7"/>
          <p:cNvSpPr/>
          <p:nvPr/>
        </p:nvSpPr>
        <p:spPr>
          <a:xfrm>
            <a:off x="578644" y="1341239"/>
            <a:ext cx="589359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1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578644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Multi-Physics Structural Audits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578650" y="2065250"/>
            <a:ext cx="2367000" cy="15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Final certification of ALREADY ACHIEVED structural aerospace Safety Factor of 1.71 via 3D FEniCS FEA and MACE Molecular Dynamics on High-end  cloud supercomputing. Extending validation to 20,000+ thermal cycles.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7"/>
          <p:cNvSpPr/>
          <p:nvPr/>
        </p:nvSpPr>
        <p:spPr>
          <a:xfrm>
            <a:off x="3388509" y="1341239"/>
            <a:ext cx="603647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2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3388509" y="1803797"/>
            <a:ext cx="2366953" cy="308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Additive Prototyping &amp; Porosity Programming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3388500" y="2219519"/>
            <a:ext cx="23670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Feeding the universal reference matrix into a dual-line </a:t>
            </a:r>
            <a:r>
              <a:rPr lang="en-US" sz="10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multi-hopper LENS system</a:t>
            </a: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. Optimizing laser power and powder flow to program the integrated transpiration micro-pores.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7"/>
          <p:cNvSpPr/>
          <p:nvPr/>
        </p:nvSpPr>
        <p:spPr>
          <a:xfrm>
            <a:off x="6198375" y="1341239"/>
            <a:ext cx="605433" cy="19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42525" rIns="127500" bIns="425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PHASE 3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6198375" y="1803797"/>
            <a:ext cx="2366953" cy="15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1" i="0" u="none" strike="noStrike" cap="none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High-Temperature Characterization</a:t>
            </a: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6198375" y="2065262"/>
            <a:ext cx="2367000" cy="13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Exposure of fabricated coupons to 1,000 continuous thermal shock cycles inside an automated </a:t>
            </a:r>
            <a:r>
              <a:rPr lang="en-US" sz="100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Automated Thermal Cycling Rig</a:t>
            </a:r>
            <a:r>
              <a:rPr lang="en-US" sz="10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at a real gas temperature of 1400°C (1673 K).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428625" y="4013002"/>
            <a:ext cx="8286750" cy="553641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7"/>
          <p:cNvSpPr/>
          <p:nvPr/>
        </p:nvSpPr>
        <p:spPr>
          <a:xfrm>
            <a:off x="428625" y="4013002"/>
            <a:ext cx="28575" cy="553641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7"/>
          <p:cNvSpPr/>
          <p:nvPr/>
        </p:nvSpPr>
        <p:spPr>
          <a:xfrm>
            <a:off x="571500" y="4013002"/>
            <a:ext cx="8143875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Go/No-Go Gatekeeping Criteria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571500" y="4266605"/>
            <a:ext cx="8143875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00"/>
              <a:buFont typeface="Inter"/>
              <a:buNone/>
            </a:pP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Microstructural characterization via </a:t>
            </a:r>
            <a:r>
              <a:rPr lang="en-US" sz="750" b="1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SEM/EDS</a:t>
            </a:r>
            <a:r>
              <a:rPr lang="en-US" sz="80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 must confirm clear layer-wise compositional layout and verify the complete absence of processing voids or macro-cracking before advancing to full turbine blade geometries.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525898" y="954850"/>
            <a:ext cx="49326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Inter"/>
                <a:ea typeface="Inter"/>
                <a:cs typeface="Inter"/>
                <a:sym typeface="Inter"/>
              </a:rPr>
              <a:t>Note: Timeline to be mutually agreed .</a:t>
            </a:r>
            <a:endParaRPr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8"/>
          <p:cNvSpPr/>
          <p:nvPr/>
        </p:nvSpPr>
        <p:spPr>
          <a:xfrm>
            <a:off x="428625" y="428625"/>
            <a:ext cx="8715375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TECHNOLOGY VALIDATION &amp; DEPLOYMENT ROADMAP</a:t>
            </a:r>
            <a:endParaRPr sz="2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428625" y="937617"/>
            <a:ext cx="8715375" cy="21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sz="1200" b="0" i="0" u="none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From In Silico Design to Physical Validation &amp; Deployment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428625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548283" y="1663601"/>
            <a:ext cx="1332309" cy="1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 SILICO DESIGN SCREENING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2107406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2197596" y="1663601"/>
            <a:ext cx="1391245" cy="126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LENS FGM WITNESS COUPONS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3786188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3857625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THERMAL CYCLING VALIDATION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5464969" y="1441252"/>
            <a:ext cx="1571625" cy="5715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5536406" y="1600200"/>
            <a:ext cx="1428750" cy="253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 dirty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SUBSCALE COMPONENT VALIDATION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solidFill>
            <a:srgbClr val="2BDE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7143750" y="1441252"/>
            <a:ext cx="15716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85075" rIns="85075" bIns="85075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700"/>
              <a:buFont typeface="Space Grotesk SemiBold"/>
              <a:buNone/>
            </a:pPr>
            <a:r>
              <a:rPr lang="en-US" sz="700" b="0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INDUSTRY DEPLOYMENT &amp; CERTIFICATION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60007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Witness Coupon Baseline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60007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Fabricate flat, graded FGM witness coupons using our hardware-agnostic composition standard, providing a cost-effective platform for initial evaluation.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4886325" y="2369939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Comparative Performance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886325" y="2609255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Subject our transpiration-cooled HEA coupons to concurrent testing alongside current industry-standard single-crystal Nickel superalloys to measure structural gains.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60007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Adaptive Learning Loops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60007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Real-world discrepancies provide data to retrain surrogate models, close the digital twin gap, and calibrate multi-hopper additive manufacturing parameters.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4886325" y="3409355"/>
            <a:ext cx="3829050" cy="1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000"/>
              <a:buFont typeface="Space Grotesk SemiBold"/>
              <a:buNone/>
            </a:pPr>
            <a:r>
              <a:rPr lang="en-US" sz="1000" b="1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Flight-Readiness Funnel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4886325" y="3648670"/>
            <a:ext cx="3829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850" b="0" i="0" u="none" strike="noStrike" cap="none">
                <a:solidFill>
                  <a:srgbClr val="111111"/>
                </a:solidFill>
                <a:latin typeface="Inter"/>
                <a:ea typeface="Inter"/>
                <a:cs typeface="Inter"/>
                <a:sym typeface="Inter"/>
              </a:rPr>
              <a:t>Upon successful TRL 4 validation, move to manufacturing subscale blade-feature coupons to establish a long-term, industry qualification and certification roadmap.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428625" y="381000"/>
            <a:ext cx="8286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rPr>
              <a:t>ECONOMIC VALUE &amp; OPERATING SAVINGS LEDGER</a:t>
            </a:r>
            <a:endParaRPr sz="2400" b="1">
              <a:solidFill>
                <a:srgbClr val="1A365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428625" y="762000"/>
            <a:ext cx="8286900" cy="23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Fleet Scalability and Direct Operating Cost Reductions (Aerospace Case Study - Platform Applicable to Precision Forging &amp; EV Thermal Management)</a:t>
            </a:r>
            <a:endParaRPr sz="1200" b="0">
              <a:solidFill>
                <a:srgbClr val="2BDEFD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grpSp>
        <p:nvGrpSpPr>
          <p:cNvPr id="402" name="Google Shape;402;p9"/>
          <p:cNvGrpSpPr/>
          <p:nvPr/>
        </p:nvGrpSpPr>
        <p:grpSpPr>
          <a:xfrm>
            <a:off x="428625" y="1285875"/>
            <a:ext cx="8286825" cy="714300"/>
            <a:chOff x="428625" y="1285875"/>
            <a:chExt cx="8286825" cy="714300"/>
          </a:xfrm>
        </p:grpSpPr>
        <p:sp>
          <p:nvSpPr>
            <p:cNvPr id="403" name="Google Shape;403;p9"/>
            <p:cNvSpPr/>
            <p:nvPr/>
          </p:nvSpPr>
          <p:spPr>
            <a:xfrm>
              <a:off x="428625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 txBox="1"/>
            <p:nvPr/>
          </p:nvSpPr>
          <p:spPr>
            <a:xfrm>
              <a:off x="571500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Parasitic Air Reductions</a:t>
              </a:r>
              <a:endParaRPr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11-layer insulation matrix drops substrate temperatures by 150K-200K, cutting reliance on compressor parasitic bleed air by </a:t>
              </a:r>
              <a:r>
                <a:rPr lang="en-US" sz="850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15%</a:t>
              </a: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4667250" y="1285875"/>
              <a:ext cx="4048200" cy="714300"/>
            </a:xfrm>
            <a:prstGeom prst="roundRect">
              <a:avLst>
                <a:gd name="adj" fmla="val 10666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 txBox="1"/>
            <p:nvPr/>
          </p:nvSpPr>
          <p:spPr>
            <a:xfrm>
              <a:off x="4810125" y="1381125"/>
              <a:ext cx="37623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Annual Volumetric Yield</a:t>
              </a:r>
              <a:endParaRPr sz="1000" b="1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For a standard narrowbody (3,000 hr/yr), our platform saves </a:t>
              </a:r>
              <a:r>
                <a:rPr lang="en-US" sz="850" b="1">
                  <a:solidFill>
                    <a:srgbClr val="1A365D"/>
                  </a:solidFill>
                  <a:latin typeface="Inter"/>
                  <a:ea typeface="Inter"/>
                  <a:cs typeface="Inter"/>
                  <a:sym typeface="Inter"/>
                </a:rPr>
                <a:t>108 metric tons (135,000 liters)</a:t>
              </a:r>
              <a:r>
                <a:rPr lang="en-US" sz="8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 of Jet A-1 fuel per aircraft annually.</a:t>
              </a:r>
              <a:endParaRPr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07" name="Google Shape;407;p9"/>
          <p:cNvSpPr/>
          <p:nvPr/>
        </p:nvSpPr>
        <p:spPr>
          <a:xfrm>
            <a:off x="428625" y="21431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42862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Assessment Parameter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09" name="Google Shape;409;p9"/>
          <p:cNvSpPr/>
          <p:nvPr/>
        </p:nvSpPr>
        <p:spPr>
          <a:xfrm>
            <a:off x="2333625" y="21431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Governing Aerospace Formula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0" name="Google Shape;410;p9"/>
          <p:cNvSpPr/>
          <p:nvPr/>
        </p:nvSpPr>
        <p:spPr>
          <a:xfrm>
            <a:off x="5000625" y="21431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Baseline Input Variable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1" name="Google Shape;411;p9"/>
          <p:cNvSpPr/>
          <p:nvPr/>
        </p:nvSpPr>
        <p:spPr>
          <a:xfrm>
            <a:off x="6810375" y="21431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Net Annual Savings Yield</a:t>
            </a:r>
            <a:endParaRPr sz="800" b="0">
              <a:solidFill>
                <a:srgbClr val="FFFFFF"/>
              </a:solidFill>
              <a:latin typeface="Space Grotesk SemiBold"/>
              <a:ea typeface="Space Grotesk SemiBold"/>
              <a:cs typeface="Space Grotesk SemiBold"/>
              <a:sym typeface="Space Grotesk SemiBold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2862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Parasitic Bleed Air Cut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2333625" y="252412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Δ m_bleed = m_baseline × 0.15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5000625" y="252412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15% Reduction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6810375" y="252412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Frees Core Mass Flow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428625" y="285750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9"/>
          <p:cNvSpPr/>
          <p:nvPr/>
        </p:nvSpPr>
        <p:spPr>
          <a:xfrm>
            <a:off x="42862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Net SFC Efficiency Gain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2333625" y="285750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η_cycle = Δ SFC × 1.0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5000625" y="285750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1.5% Net Reduction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6810375" y="285750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Maximizes Core Thrust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42862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Volumetric Fuel Savings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2333625" y="3190875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V_saved = 3,000 hr × 2,400 kg/hr × 0.015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5000625" y="3190875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7,200 Metric Tons Baseline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6810375" y="3190875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135,000 Liters / Aircraft</a:t>
            </a: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428625" y="3524250"/>
            <a:ext cx="8286900" cy="3333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428625" y="3524250"/>
            <a:ext cx="1905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>
                <a:solidFill>
                  <a:srgbClr val="1A365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Direct Operating Cost Cut</a:t>
            </a:r>
            <a:endParaRPr sz="850" b="0">
              <a:solidFill>
                <a:srgbClr val="1A365D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27" name="Google Shape;427;p9"/>
          <p:cNvSpPr/>
          <p:nvPr/>
        </p:nvSpPr>
        <p:spPr>
          <a:xfrm>
            <a:off x="2333625" y="3524250"/>
            <a:ext cx="26670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Cash Savings = V_saved × $0.85 /L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5000625" y="3524250"/>
            <a:ext cx="18096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$0.85/L Jet A-1 Price</a:t>
            </a:r>
            <a:endParaRPr sz="8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6992525" y="3524250"/>
            <a:ext cx="17229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$114,750 / Aircraft           </a:t>
            </a:r>
            <a:endParaRPr sz="1050">
              <a:solidFill>
                <a:srgbClr val="FD971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850" b="1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28625" y="3857625"/>
            <a:ext cx="8286900" cy="381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42862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142875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2BDEFD"/>
                </a:solidFill>
                <a:latin typeface="Space Grotesk"/>
                <a:ea typeface="Space Grotesk"/>
                <a:cs typeface="Space Grotesk"/>
                <a:sym typeface="Space Grotesk"/>
              </a:rPr>
              <a:t>Fleet Scalability Revenue</a:t>
            </a:r>
            <a:endParaRPr sz="900" b="1">
              <a:solidFill>
                <a:srgbClr val="2BDEFD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2333625" y="3857625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Total Yield = Cash Savings × 100 Jets</a:t>
            </a:r>
            <a:endParaRPr sz="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5000625" y="3857625"/>
            <a:ext cx="1809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100 Narrowbody Fleet</a:t>
            </a:r>
            <a:endParaRPr sz="85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6810375" y="3857625"/>
            <a:ext cx="190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142875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$11,475,000 / Year</a:t>
            </a:r>
            <a:endParaRPr sz="1100" b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428625" y="4381500"/>
            <a:ext cx="828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*Calculations based on global average aviation fuel procurement costs and standard narrowbody operational profiles.</a:t>
            </a:r>
            <a:endParaRPr sz="700" b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0"/>
          <p:cNvGrpSpPr/>
          <p:nvPr/>
        </p:nvGrpSpPr>
        <p:grpSpPr>
          <a:xfrm>
            <a:off x="428625" y="381000"/>
            <a:ext cx="8286900" cy="666825"/>
            <a:chOff x="428625" y="381000"/>
            <a:chExt cx="8286900" cy="666825"/>
          </a:xfrm>
        </p:grpSpPr>
        <p:sp>
          <p:nvSpPr>
            <p:cNvPr id="442" name="Google Shape;442;p10"/>
            <p:cNvSpPr txBox="1"/>
            <p:nvPr/>
          </p:nvSpPr>
          <p:spPr>
            <a:xfrm>
              <a:off x="428625" y="381000"/>
              <a:ext cx="8286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rPr>
                <a:t>DEFENSIBILITY AND IP PERIMETER</a:t>
              </a:r>
              <a:endParaRPr sz="2400" b="1" dirty="0">
                <a:solidFill>
                  <a:srgbClr val="1A365D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443" name="Google Shape;443;p10"/>
            <p:cNvSpPr txBox="1"/>
            <p:nvPr/>
          </p:nvSpPr>
          <p:spPr>
            <a:xfrm>
              <a:off x="428625" y="809625"/>
              <a:ext cx="8286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rPr>
                <a:t>Multi-Layered Protection Strategy</a:t>
              </a:r>
              <a:endParaRPr sz="1200" b="0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endParaRPr>
            </a:p>
          </p:txBody>
        </p:sp>
      </p:grpSp>
      <p:grpSp>
        <p:nvGrpSpPr>
          <p:cNvPr id="444" name="Google Shape;444;p10"/>
          <p:cNvGrpSpPr/>
          <p:nvPr/>
        </p:nvGrpSpPr>
        <p:grpSpPr>
          <a:xfrm>
            <a:off x="428625" y="1333500"/>
            <a:ext cx="3905400" cy="3238500"/>
            <a:chOff x="428625" y="1333500"/>
            <a:chExt cx="3905400" cy="3238500"/>
          </a:xfrm>
        </p:grpSpPr>
        <p:sp>
          <p:nvSpPr>
            <p:cNvPr id="445" name="Google Shape;445;p10"/>
            <p:cNvSpPr/>
            <p:nvPr/>
          </p:nvSpPr>
          <p:spPr>
            <a:xfrm>
              <a:off x="428625" y="1333500"/>
              <a:ext cx="3905400" cy="3238500"/>
            </a:xfrm>
            <a:prstGeom prst="roundRect">
              <a:avLst>
                <a:gd name="adj" fmla="val 2352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6" name="Google Shape;446;p10"/>
            <p:cNvGrpSpPr/>
            <p:nvPr/>
          </p:nvGrpSpPr>
          <p:grpSpPr>
            <a:xfrm>
              <a:off x="714375" y="1619250"/>
              <a:ext cx="3333900" cy="428700"/>
              <a:chOff x="714375" y="1619250"/>
              <a:chExt cx="3333900" cy="428700"/>
            </a:xfrm>
          </p:grpSpPr>
          <p:sp>
            <p:nvSpPr>
              <p:cNvPr id="447" name="Google Shape;447;p10"/>
              <p:cNvSpPr/>
              <p:nvPr/>
            </p:nvSpPr>
            <p:spPr>
              <a:xfrm>
                <a:off x="714375" y="161925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 txBox="1"/>
              <p:nvPr/>
            </p:nvSpPr>
            <p:spPr>
              <a:xfrm>
                <a:off x="714375" y="161925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1: RHEA CHEMISTRY PATENTS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49" name="Google Shape;449;p10"/>
            <p:cNvGrpSpPr/>
            <p:nvPr/>
          </p:nvGrpSpPr>
          <p:grpSpPr>
            <a:xfrm>
              <a:off x="714375" y="2143125"/>
              <a:ext cx="3333900" cy="428700"/>
              <a:chOff x="714375" y="2143125"/>
              <a:chExt cx="3333900" cy="428700"/>
            </a:xfrm>
          </p:grpSpPr>
          <p:sp>
            <p:nvSpPr>
              <p:cNvPr id="450" name="Google Shape;450;p10"/>
              <p:cNvSpPr/>
              <p:nvPr/>
            </p:nvSpPr>
            <p:spPr>
              <a:xfrm>
                <a:off x="714375" y="2143125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2BDEFD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 txBox="1"/>
              <p:nvPr/>
            </p:nvSpPr>
            <p:spPr>
              <a:xfrm>
                <a:off x="714375" y="2143125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2: 11-LAYER SPATIAL FGM ARCHITECTURE</a:t>
                </a:r>
                <a:endParaRPr sz="9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52" name="Google Shape;452;p10"/>
            <p:cNvGrpSpPr/>
            <p:nvPr/>
          </p:nvGrpSpPr>
          <p:grpSpPr>
            <a:xfrm>
              <a:off x="714375" y="2667000"/>
              <a:ext cx="3333900" cy="428700"/>
              <a:chOff x="714375" y="2667000"/>
              <a:chExt cx="3333900" cy="428700"/>
            </a:xfrm>
          </p:grpSpPr>
          <p:sp>
            <p:nvSpPr>
              <p:cNvPr id="453" name="Google Shape;453;p10"/>
              <p:cNvSpPr/>
              <p:nvPr/>
            </p:nvSpPr>
            <p:spPr>
              <a:xfrm>
                <a:off x="714375" y="2667000"/>
                <a:ext cx="3333900" cy="428700"/>
              </a:xfrm>
              <a:prstGeom prst="roundRect">
                <a:avLst>
                  <a:gd name="adj" fmla="val 8888"/>
                </a:avLst>
              </a:prstGeom>
              <a:solidFill>
                <a:srgbClr val="E2E8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 txBox="1"/>
              <p:nvPr/>
            </p:nvSpPr>
            <p:spPr>
              <a:xfrm>
                <a:off x="714375" y="2667000"/>
                <a:ext cx="3333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 dirty="0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3: SINTERED TRANSPIRATION PROCESS</a:t>
                </a:r>
                <a:endParaRPr sz="900" b="1" dirty="0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  <p:grpSp>
          <p:nvGrpSpPr>
            <p:cNvPr id="455" name="Google Shape;455;p10"/>
            <p:cNvGrpSpPr/>
            <p:nvPr/>
          </p:nvGrpSpPr>
          <p:grpSpPr>
            <a:xfrm>
              <a:off x="714375" y="3190875"/>
              <a:ext cx="3333900" cy="1095300"/>
              <a:chOff x="714375" y="3190875"/>
              <a:chExt cx="3333900" cy="1095300"/>
            </a:xfrm>
          </p:grpSpPr>
          <p:sp>
            <p:nvSpPr>
              <p:cNvPr id="456" name="Google Shape;456;p10"/>
              <p:cNvSpPr/>
              <p:nvPr/>
            </p:nvSpPr>
            <p:spPr>
              <a:xfrm>
                <a:off x="714375" y="3190875"/>
                <a:ext cx="3333900" cy="1095300"/>
              </a:xfrm>
              <a:prstGeom prst="roundRect">
                <a:avLst>
                  <a:gd name="adj" fmla="val 3478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 txBox="1"/>
              <p:nvPr/>
            </p:nvSpPr>
            <p:spPr>
              <a:xfrm>
                <a:off x="714375" y="3190875"/>
                <a:ext cx="3333900" cy="10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LAYER 4: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IN-MEMORY MATERIALS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INFORMATICS DATA MOAT</a:t>
                </a:r>
                <a:endParaRPr sz="11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</p:grpSp>
      </p:grpSp>
      <p:grpSp>
        <p:nvGrpSpPr>
          <p:cNvPr id="458" name="Google Shape;458;p10"/>
          <p:cNvGrpSpPr/>
          <p:nvPr/>
        </p:nvGrpSpPr>
        <p:grpSpPr>
          <a:xfrm>
            <a:off x="4714875" y="1333500"/>
            <a:ext cx="4000500" cy="3143175"/>
            <a:chOff x="4714875" y="1333500"/>
            <a:chExt cx="4000500" cy="3143175"/>
          </a:xfrm>
        </p:grpSpPr>
        <p:grpSp>
          <p:nvGrpSpPr>
            <p:cNvPr id="459" name="Google Shape;459;p10"/>
            <p:cNvGrpSpPr/>
            <p:nvPr/>
          </p:nvGrpSpPr>
          <p:grpSpPr>
            <a:xfrm>
              <a:off x="4714875" y="1333500"/>
              <a:ext cx="4000500" cy="714300"/>
              <a:chOff x="4714875" y="1333500"/>
              <a:chExt cx="4000500" cy="714300"/>
            </a:xfrm>
          </p:grpSpPr>
          <p:sp>
            <p:nvSpPr>
              <p:cNvPr id="460" name="Google Shape;460;p10"/>
              <p:cNvSpPr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 txBox="1"/>
              <p:nvPr/>
            </p:nvSpPr>
            <p:spPr>
              <a:xfrm>
                <a:off x="4714875" y="133350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Compositional Windows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Protecting the exact chemical boundaries of our optimized quinary and senary refractory HEA spaces via 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composition patent filings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2" name="Google Shape;462;p10"/>
            <p:cNvGrpSpPr/>
            <p:nvPr/>
          </p:nvGrpSpPr>
          <p:grpSpPr>
            <a:xfrm>
              <a:off x="4714875" y="2143125"/>
              <a:ext cx="4000500" cy="714300"/>
              <a:chOff x="4714875" y="2143125"/>
              <a:chExt cx="4000500" cy="714300"/>
            </a:xfrm>
          </p:grpSpPr>
          <p:sp>
            <p:nvSpPr>
              <p:cNvPr id="463" name="Google Shape;463;p10"/>
              <p:cNvSpPr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 txBox="1"/>
              <p:nvPr/>
            </p:nvSpPr>
            <p:spPr>
              <a:xfrm>
                <a:off x="4714875" y="214312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Gradient Architecture Claims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Patenting the 11-layer power-law distribution profile (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n=1.1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) and the specific spatial arrangement of the co-deposited metal-ceramic transition zone.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5" name="Google Shape;465;p10"/>
            <p:cNvGrpSpPr/>
            <p:nvPr/>
          </p:nvGrpSpPr>
          <p:grpSpPr>
            <a:xfrm>
              <a:off x="4714875" y="2952750"/>
              <a:ext cx="4000500" cy="714300"/>
              <a:chOff x="4714875" y="2952750"/>
              <a:chExt cx="4000500" cy="714300"/>
            </a:xfrm>
          </p:grpSpPr>
          <p:sp>
            <p:nvSpPr>
              <p:cNvPr id="466" name="Google Shape;466;p10"/>
              <p:cNvSpPr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10"/>
              <p:cNvSpPr txBox="1"/>
              <p:nvPr/>
            </p:nvSpPr>
            <p:spPr>
              <a:xfrm>
                <a:off x="4714875" y="2952750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Process Recipe Protections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Filing defensive patents covering the multi-hopper powder feeding conditions, operational pressure fields, and geometric turbine casing constraints.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68" name="Google Shape;468;p10"/>
            <p:cNvGrpSpPr/>
            <p:nvPr/>
          </p:nvGrpSpPr>
          <p:grpSpPr>
            <a:xfrm>
              <a:off x="4714875" y="3762375"/>
              <a:ext cx="4000500" cy="714300"/>
              <a:chOff x="4714875" y="3762375"/>
              <a:chExt cx="4000500" cy="714300"/>
            </a:xfrm>
          </p:grpSpPr>
          <p:sp>
            <p:nvSpPr>
              <p:cNvPr id="469" name="Google Shape;469;p10"/>
              <p:cNvSpPr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10"/>
              <p:cNvSpPr txBox="1"/>
              <p:nvPr/>
            </p:nvSpPr>
            <p:spPr>
              <a:xfrm>
                <a:off x="4714875" y="3762375"/>
                <a:ext cx="4000500" cy="7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Data Moat &amp; Trade Secrets</a:t>
                </a:r>
                <a:endParaRPr sz="11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  <a:p>
                <a:pPr marL="0" lvl="0" indent="0" algn="l" rtl="0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Securing the proprietary </a:t>
                </a:r>
                <a:r>
                  <a:rPr lang="en-US" sz="900" b="0">
                    <a:solidFill>
                      <a:srgbClr val="1A365D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surrogate model weights</a:t>
                </a:r>
                <a:r>
                  <a:rPr lang="en-US" sz="900" b="0">
                    <a:solidFill>
                      <a:srgbClr val="111111"/>
                    </a:solidFill>
                    <a:latin typeface="Inter"/>
                    <a:ea typeface="Inter"/>
                    <a:cs typeface="Inter"/>
                    <a:sym typeface="Inter"/>
                  </a:rPr>
                  <a:t> and the unreduced multi-physics training datasets that anchor our optimization runs.</a:t>
                </a:r>
                <a:endParaRPr sz="900" b="0">
                  <a:solidFill>
                    <a:srgbClr val="11111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11"/>
          <p:cNvGrpSpPr/>
          <p:nvPr/>
        </p:nvGrpSpPr>
        <p:grpSpPr>
          <a:xfrm>
            <a:off x="428625" y="428625"/>
            <a:ext cx="8286900" cy="4286250"/>
            <a:chOff x="428625" y="428625"/>
            <a:chExt cx="8286900" cy="4286250"/>
          </a:xfrm>
        </p:grpSpPr>
        <p:sp>
          <p:nvSpPr>
            <p:cNvPr id="477" name="Google Shape;477;p11"/>
            <p:cNvSpPr/>
            <p:nvPr/>
          </p:nvSpPr>
          <p:spPr>
            <a:xfrm>
              <a:off x="428625" y="1190625"/>
              <a:ext cx="8286900" cy="1047900"/>
            </a:xfrm>
            <a:prstGeom prst="roundRect">
              <a:avLst>
                <a:gd name="adj" fmla="val 909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8" name="Google Shape;478;p11"/>
            <p:cNvGrpSpPr/>
            <p:nvPr/>
          </p:nvGrpSpPr>
          <p:grpSpPr>
            <a:xfrm>
              <a:off x="428625" y="428625"/>
              <a:ext cx="8286900" cy="714450"/>
              <a:chOff x="428625" y="428625"/>
              <a:chExt cx="8286900" cy="714450"/>
            </a:xfrm>
          </p:grpSpPr>
          <p:sp>
            <p:nvSpPr>
              <p:cNvPr id="479" name="Google Shape;479;p11"/>
              <p:cNvSpPr txBox="1"/>
              <p:nvPr/>
            </p:nvSpPr>
            <p:spPr>
              <a:xfrm>
                <a:off x="428625" y="428625"/>
                <a:ext cx="8286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BUSINESS MODEL AND ASK</a:t>
                </a:r>
                <a:endParaRPr sz="28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0" name="Google Shape;480;p11"/>
              <p:cNvSpPr txBox="1"/>
              <p:nvPr/>
            </p:nvSpPr>
            <p:spPr>
              <a:xfrm>
                <a:off x="428625" y="904875"/>
                <a:ext cx="8286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>
                    <a:solidFill>
                      <a:srgbClr val="2BDEFD"/>
                    </a:solidFill>
                    <a:latin typeface="Space Grotesk SemiBold"/>
                    <a:ea typeface="Space Grotesk SemiBold"/>
                    <a:cs typeface="Space Grotesk SemiBold"/>
                    <a:sym typeface="Space Grotesk SemiBold"/>
                  </a:rPr>
                  <a:t>What We Bring and What We Need from SCIDIP</a:t>
                </a:r>
                <a:endParaRPr sz="1200" b="0">
                  <a:solidFill>
                    <a:srgbClr val="2BDEFD"/>
                  </a:solidFill>
                  <a:latin typeface="Space Grotesk SemiBold"/>
                  <a:ea typeface="Space Grotesk SemiBold"/>
                  <a:cs typeface="Space Grotesk SemiBold"/>
                  <a:sym typeface="Space Grotesk SemiBold"/>
                </a:endParaRPr>
              </a:p>
            </p:txBody>
          </p:sp>
        </p:grpSp>
        <p:grpSp>
          <p:nvGrpSpPr>
            <p:cNvPr id="481" name="Google Shape;481;p11"/>
            <p:cNvGrpSpPr/>
            <p:nvPr/>
          </p:nvGrpSpPr>
          <p:grpSpPr>
            <a:xfrm>
              <a:off x="619125" y="1333500"/>
              <a:ext cx="3619500" cy="809625"/>
              <a:chOff x="619125" y="1333500"/>
              <a:chExt cx="3619500" cy="809625"/>
            </a:xfrm>
          </p:grpSpPr>
          <p:sp>
            <p:nvSpPr>
              <p:cNvPr id="482" name="Google Shape;482;p11"/>
              <p:cNvSpPr txBox="1"/>
              <p:nvPr/>
            </p:nvSpPr>
            <p:spPr>
              <a:xfrm>
                <a:off x="61912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Project Structure</a:t>
                </a:r>
                <a:endParaRPr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3" name="Google Shape;483;p11"/>
              <p:cNvSpPr txBox="1"/>
              <p:nvPr/>
            </p:nvSpPr>
            <p:spPr>
              <a:xfrm>
                <a:off x="61912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Program participation to access the Rs.1.6 Cr SCIDIP grant pool, IIT Delhi advanced characterization infrastructure, and Sona Comstar technology mentorship — advancing Crystal Paradigm from TRL 3 to physical TRL 5 validation.</a:t>
                </a:r>
                <a:endParaRPr sz="9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4905375" y="1333500"/>
              <a:ext cx="3619500" cy="809625"/>
              <a:chOff x="4905375" y="1333500"/>
              <a:chExt cx="3619500" cy="809625"/>
            </a:xfrm>
          </p:grpSpPr>
          <p:sp>
            <p:nvSpPr>
              <p:cNvPr id="485" name="Google Shape;485;p11"/>
              <p:cNvSpPr txBox="1"/>
              <p:nvPr/>
            </p:nvSpPr>
            <p:spPr>
              <a:xfrm>
                <a:off x="4905375" y="133350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>
                    <a:solidFill>
                      <a:srgbClr val="1A365D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Success Criteria</a:t>
                </a:r>
                <a:endParaRPr sz="1000" b="1">
                  <a:solidFill>
                    <a:srgbClr val="1A365D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86" name="Google Shape;486;p11"/>
              <p:cNvSpPr txBox="1"/>
              <p:nvPr/>
            </p:nvSpPr>
            <p:spPr>
              <a:xfrm>
                <a:off x="4905375" y="1571625"/>
                <a:ext cx="3619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Zero interface delamination under burner rig testing and verification of a physical </a:t>
                </a:r>
                <a:r>
                  <a:rPr lang="en-US" sz="900" b="1" dirty="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rPr>
                  <a:t>Safety Factor ≥ 1.50</a:t>
                </a:r>
                <a:r>
                  <a:rPr lang="en-US" sz="900" b="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sz="900" b="0" dirty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87" name="Google Shape;487;p11"/>
            <p:cNvGrpSpPr/>
            <p:nvPr/>
          </p:nvGrpSpPr>
          <p:grpSpPr>
            <a:xfrm>
              <a:off x="428625" y="2381250"/>
              <a:ext cx="8286900" cy="2000250"/>
              <a:chOff x="428625" y="2381250"/>
              <a:chExt cx="8286900" cy="2000250"/>
            </a:xfrm>
          </p:grpSpPr>
          <p:sp>
            <p:nvSpPr>
              <p:cNvPr id="488" name="Google Shape;488;p11"/>
              <p:cNvSpPr/>
              <p:nvPr/>
            </p:nvSpPr>
            <p:spPr>
              <a:xfrm>
                <a:off x="428625" y="2381250"/>
                <a:ext cx="8286900" cy="381000"/>
              </a:xfrm>
              <a:prstGeom prst="roundRect">
                <a:avLst>
                  <a:gd name="adj" fmla="val 10000"/>
                </a:avLst>
              </a:prstGeom>
              <a:solidFill>
                <a:srgbClr val="1A365D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1"/>
              <p:cNvSpPr txBox="1"/>
              <p:nvPr/>
            </p:nvSpPr>
            <p:spPr>
              <a:xfrm>
                <a:off x="428625" y="2381250"/>
                <a:ext cx="1905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Collaborative Phase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90" name="Google Shape;490;p11"/>
              <p:cNvSpPr txBox="1"/>
              <p:nvPr/>
            </p:nvSpPr>
            <p:spPr>
              <a:xfrm>
                <a:off x="2333625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Crystal Paradigm Delivers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sp>
            <p:nvSpPr>
              <p:cNvPr id="491" name="Google Shape;491;p11"/>
              <p:cNvSpPr txBox="1"/>
              <p:nvPr/>
            </p:nvSpPr>
            <p:spPr>
              <a:xfrm>
                <a:off x="5524500" y="2381250"/>
                <a:ext cx="31908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9050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1">
                    <a:solidFill>
                      <a:srgbClr val="FFFFFF"/>
                    </a:solidFill>
                    <a:latin typeface="Space Grotesk"/>
                    <a:ea typeface="Space Grotesk"/>
                    <a:cs typeface="Space Grotesk"/>
                    <a:sym typeface="Space Grotesk"/>
                  </a:rPr>
                  <a:t>What We Need from SCIDIP</a:t>
                </a:r>
                <a:endParaRPr sz="900" b="1">
                  <a:solidFill>
                    <a:srgbClr val="FFFFFF"/>
                  </a:solidFill>
                  <a:latin typeface="Space Grotesk"/>
                  <a:ea typeface="Space Grotesk"/>
                  <a:cs typeface="Space Grotesk"/>
                  <a:sym typeface="Space Grotesk"/>
                </a:endParaRPr>
              </a:p>
            </p:txBody>
          </p:sp>
          <p:grpSp>
            <p:nvGrpSpPr>
              <p:cNvPr id="492" name="Google Shape;492;p11"/>
              <p:cNvGrpSpPr/>
              <p:nvPr/>
            </p:nvGrpSpPr>
            <p:grpSpPr>
              <a:xfrm>
                <a:off x="428625" y="2809875"/>
                <a:ext cx="8286900" cy="762000"/>
                <a:chOff x="428625" y="2809875"/>
                <a:chExt cx="8286900" cy="762000"/>
              </a:xfrm>
            </p:grpSpPr>
            <p:sp>
              <p:nvSpPr>
                <p:cNvPr id="493" name="Google Shape;493;p11"/>
                <p:cNvSpPr/>
                <p:nvPr/>
              </p:nvSpPr>
              <p:spPr>
                <a:xfrm>
                  <a:off x="428625" y="2809875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8FAFC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11"/>
                <p:cNvSpPr txBox="1"/>
                <p:nvPr/>
              </p:nvSpPr>
              <p:spPr>
                <a:xfrm>
                  <a:off x="428625" y="2809875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 dirty="0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1:</a:t>
                  </a:r>
                  <a:endParaRPr sz="900" b="1" dirty="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dirty="0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Shared POC Sprint</a:t>
                  </a:r>
                  <a:endParaRPr sz="900" dirty="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95" name="Google Shape;495;p11"/>
                <p:cNvSpPr txBox="1"/>
                <p:nvPr/>
              </p:nvSpPr>
              <p:spPr>
                <a:xfrm>
                  <a:off x="2333625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 dirty="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Deliver production-ready AI models, complete multi-physics validation.</a:t>
                  </a:r>
                  <a:endParaRPr sz="85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496" name="Google Shape;496;p11"/>
                <p:cNvSpPr txBox="1"/>
                <p:nvPr/>
              </p:nvSpPr>
              <p:spPr>
                <a:xfrm>
                  <a:off x="5524500" y="2809875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 dirty="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SCIDIP seed funding tranche, access to IIT Delhi HPC resources, and faculty mentorship to validate AI model outputs against physical materials characterization benchmarks.</a:t>
                  </a:r>
                  <a:endParaRPr sz="850" dirty="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497" name="Google Shape;497;p11"/>
              <p:cNvGrpSpPr/>
              <p:nvPr/>
            </p:nvGrpSpPr>
            <p:grpSpPr>
              <a:xfrm>
                <a:off x="428625" y="3619500"/>
                <a:ext cx="8286900" cy="762000"/>
                <a:chOff x="428625" y="3619500"/>
                <a:chExt cx="8286900" cy="762000"/>
              </a:xfrm>
            </p:grpSpPr>
            <p:sp>
              <p:nvSpPr>
                <p:cNvPr id="498" name="Google Shape;498;p11"/>
                <p:cNvSpPr/>
                <p:nvPr/>
              </p:nvSpPr>
              <p:spPr>
                <a:xfrm>
                  <a:off x="428625" y="3619500"/>
                  <a:ext cx="8286900" cy="762000"/>
                </a:xfrm>
                <a:prstGeom prst="roundRect">
                  <a:avLst>
                    <a:gd name="adj" fmla="val 5000"/>
                  </a:avLst>
                </a:prstGeom>
                <a:solidFill>
                  <a:srgbClr val="FFFFFF"/>
                </a:solidFill>
                <a:ln w="9525" cap="flat" cmpd="sng">
                  <a:solidFill>
                    <a:srgbClr val="F1F5F9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9" name="Google Shape;499;p11"/>
                <p:cNvSpPr txBox="1"/>
                <p:nvPr/>
              </p:nvSpPr>
              <p:spPr>
                <a:xfrm>
                  <a:off x="428625" y="3619500"/>
                  <a:ext cx="1905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 b="1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Phase 2:</a:t>
                  </a:r>
                  <a:endParaRPr sz="900" b="1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900">
                      <a:solidFill>
                        <a:srgbClr val="1A365D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Scale-Out JDA</a:t>
                  </a:r>
                  <a:endParaRPr sz="900">
                    <a:solidFill>
                      <a:srgbClr val="1A365D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00" name="Google Shape;500;p11"/>
                <p:cNvSpPr txBox="1"/>
                <p:nvPr/>
              </p:nvSpPr>
              <p:spPr>
                <a:xfrm>
                  <a:off x="2333625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Provide 11-layer FGM manufacturing recipes and oversee coupon fabrication &amp; validation.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501" name="Google Shape;501;p11"/>
                <p:cNvSpPr txBox="1"/>
                <p:nvPr/>
              </p:nvSpPr>
              <p:spPr>
                <a:xfrm>
                  <a:off x="5524500" y="3619500"/>
                  <a:ext cx="31908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90500" tIns="0" rIns="19050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850">
                      <a:solidFill>
                        <a:srgbClr val="475569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Grant-funded access to IIT Delhi CRF high-temperature burner rigs, LENS/DED labs, SEM/EDS/XRD, and TGA facilities — plus Sona Comstar market connect to map validated prototypes into the EV supply chain.</a:t>
                  </a:r>
                  <a:endParaRPr sz="85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sp>
          <p:nvSpPr>
            <p:cNvPr id="502" name="Google Shape;502;p11"/>
            <p:cNvSpPr txBox="1"/>
            <p:nvPr/>
          </p:nvSpPr>
          <p:spPr>
            <a:xfrm>
              <a:off x="428625" y="4524375"/>
              <a:ext cx="828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050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Precision Forging and EV Thermal Management.</a:t>
              </a:r>
              <a:endParaRPr sz="75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775" y="0"/>
            <a:ext cx="9144000" cy="5413483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2"/>
          <p:cNvSpPr/>
          <p:nvPr/>
        </p:nvSpPr>
        <p:spPr>
          <a:xfrm>
            <a:off x="518725" y="180432"/>
            <a:ext cx="8001000" cy="43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2450"/>
              <a:buFont typeface="Space Grotesk SemiBold"/>
              <a:buNone/>
            </a:pPr>
            <a:r>
              <a:rPr lang="en-US" sz="2450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CLOSING &amp; </a:t>
            </a:r>
            <a:r>
              <a:rPr lang="en-US" sz="2450" b="1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COLLABORATION ROADMAP</a:t>
            </a:r>
            <a:endParaRPr sz="2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650625" y="821986"/>
            <a:ext cx="3686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Why Us, Why Now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650625" y="1108868"/>
            <a:ext cx="36861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r>
              <a:rPr lang="en-US" sz="1000" dirty="0">
                <a:highlight>
                  <a:srgbClr val="FFFFFF"/>
                </a:highlight>
              </a:rPr>
              <a:t>We have successfully engineered a constrained 9-element RHEA+FGM system achieving a 3D-validated aerospace Safety Factor of 1.71 and an oxidation mass gain of just 7.5 mg/cm² - computationally clearing the 1.50 airworthiness threshold while reducing Hafnium exposure by &gt;75%. We are ready to transition from digital twin to physical test.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endParaRPr sz="850" b="0" i="0" u="none" strike="noStrike" cap="none" dirty="0">
              <a:highlight>
                <a:srgbClr val="0000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4818150" y="821986"/>
            <a:ext cx="36861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1100"/>
              <a:buFont typeface="Space Grotesk SemiBold"/>
              <a:buNone/>
            </a:pPr>
            <a:r>
              <a:rPr lang="en-US" b="1" i="0" u="none" strike="noStrike" cap="none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The Crystal Paradigm Team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4870925" y="955653"/>
            <a:ext cx="4058100" cy="1944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 dirty="0">
                <a:highlight>
                  <a:srgbClr val="FFFFFF"/>
                </a:highlight>
              </a:rPr>
              <a:t>Our scientific foundation is anchored by top-tier mentors, including Dr. Shilpa Choudhary (Stanford Top 2% Scientist, 16+ yrs AI) and Dr. </a:t>
            </a:r>
            <a:r>
              <a:rPr lang="en-US" sz="1000" b="1" dirty="0" err="1">
                <a:highlight>
                  <a:srgbClr val="FFFFFF"/>
                </a:highlight>
              </a:rPr>
              <a:t>Kasarapu</a:t>
            </a:r>
            <a:r>
              <a:rPr lang="en-US" sz="1000" b="1" dirty="0">
                <a:highlight>
                  <a:srgbClr val="FFFFFF"/>
                </a:highlight>
              </a:rPr>
              <a:t> Venkataramana (CSIR-IICT, 12+ yrs materials science). </a:t>
            </a:r>
            <a:r>
              <a:rPr lang="en-US" sz="1000" dirty="0">
                <a:highlight>
                  <a:srgbClr val="FFFFFF"/>
                </a:highlight>
              </a:rPr>
              <a:t>The rapid technical execution and day-to-day innovation are driven by our core team of undergraduate AI Research Interns and applied engineering specialists. Together, we build high-throughput data pipelines, multi-physics simulations, and ML/AutoML workflows under structured, expert oversight.</a:t>
            </a:r>
            <a:r>
              <a:rPr lang="en-US" sz="1100" dirty="0">
                <a:highlight>
                  <a:srgbClr val="FFFFFF"/>
                </a:highlight>
              </a:rPr>
              <a:t> </a:t>
            </a:r>
            <a:endParaRPr sz="1100" dirty="0"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850"/>
              <a:buFont typeface="Inter"/>
              <a:buNone/>
            </a:pPr>
            <a:endParaRPr sz="1100" dirty="0">
              <a:solidFill>
                <a:srgbClr val="1F1F1F"/>
              </a:solidFill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491450" y="2482086"/>
            <a:ext cx="8001000" cy="2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200"/>
              <a:buFont typeface="Space Grotesk SemiBold"/>
              <a:buNone/>
            </a:pPr>
            <a:r>
              <a:rPr lang="en-US" b="1" dirty="0">
                <a:solidFill>
                  <a:srgbClr val="2BDEF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SCIDIP Collaboration Ask:</a:t>
            </a:r>
            <a:r>
              <a:rPr lang="en-US" sz="1200" dirty="0">
                <a:solidFill>
                  <a:srgbClr val="4A86E8"/>
                </a:solidFill>
                <a:highlight>
                  <a:srgbClr val="F0FDF4"/>
                </a:highlight>
              </a:rPr>
              <a:t> </a:t>
            </a:r>
            <a:endParaRPr sz="1200" b="0" i="0" u="none" strike="noStrike" cap="none" dirty="0">
              <a:solidFill>
                <a:srgbClr val="4A86E8"/>
              </a:solidFill>
              <a:highlight>
                <a:srgbClr val="F0FDF4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571500" y="2807494"/>
            <a:ext cx="8001000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571500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1. IIT Delhi CRF Access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571500" y="3186113"/>
            <a:ext cx="26670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750" dirty="0">
                <a:highlight>
                  <a:srgbClr val="FFFFFF"/>
                </a:highlight>
              </a:rPr>
              <a:t>Specifically STA (1500°C), Tube Furnaces, XRD, and SEM/EDS for physical validation.</a:t>
            </a:r>
            <a:endParaRPr sz="750" i="0" u="none" strike="noStrike" cap="none" dirty="0">
              <a:highlight>
                <a:srgbClr val="FFFFFF"/>
              </a:highlight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323849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b="0" i="0" u="none" strike="noStrike" cap="none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2. Sona Comstar Technology Mentorship &amp; Market Connect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3238491" y="3186113"/>
            <a:ext cx="2666991" cy="1051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algn="ctr">
              <a:lnSpc>
                <a:spcPct val="112000"/>
              </a:lnSpc>
              <a:buClr>
                <a:srgbClr val="111111"/>
              </a:buClr>
              <a:buSzPts val="750"/>
            </a:pPr>
            <a:r>
              <a:rPr lang="en-US" sz="1000" dirty="0">
                <a:highlight>
                  <a:srgbClr val="FFFFFF"/>
                </a:highlight>
              </a:rPr>
              <a:t>Industry mentorship from Sona Comstar engineering leadership and access to SCIDIP corporate market connect for downstream application in precision forging and EV thermal management.</a:t>
            </a:r>
            <a:endParaRPr lang="en-US" sz="750" dirty="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750"/>
              <a:buFont typeface="Inter"/>
              <a:buNone/>
            </a:pPr>
            <a:r>
              <a:rPr lang="en-US" sz="1000" dirty="0">
                <a:highlight>
                  <a:srgbClr val="FFFFFF"/>
                </a:highlight>
              </a:rPr>
              <a:t>.</a:t>
            </a:r>
            <a:r>
              <a:rPr lang="en-US" sz="1100" dirty="0">
                <a:highlight>
                  <a:srgbClr val="FFFFFF"/>
                </a:highlight>
              </a:rPr>
              <a:t> </a:t>
            </a:r>
            <a:endParaRPr sz="750" b="0" i="0" u="none" strike="noStrike" cap="none" dirty="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5905481" y="2950369"/>
            <a:ext cx="2666991" cy="16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365D"/>
              </a:buClr>
              <a:buSzPts val="900"/>
              <a:buFont typeface="Space Grotesk SemiBold"/>
              <a:buNone/>
            </a:pPr>
            <a:r>
              <a:rPr lang="en-US" sz="900" dirty="0">
                <a:solidFill>
                  <a:srgbClr val="1A365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3. SCIDIP Grant Support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5905481" y="3186113"/>
            <a:ext cx="2666991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0050" tIns="0" rIns="170050" bIns="0" anchor="t" anchorCtr="0">
            <a:spAutoFit/>
          </a:bodyPr>
          <a:lstStyle/>
          <a:p>
            <a:pPr lvl="0" algn="ctr">
              <a:lnSpc>
                <a:spcPct val="112000"/>
              </a:lnSpc>
              <a:buClr>
                <a:srgbClr val="111111"/>
              </a:buClr>
              <a:buSzPts val="750"/>
            </a:pPr>
            <a:r>
              <a:rPr lang="en-US" sz="1000" dirty="0">
                <a:highlight>
                  <a:srgbClr val="FFFFFF"/>
                </a:highlight>
              </a:rPr>
              <a:t>To finance raw material atomization, additive manufacturing of FGM witness coupons, and TRL 4 physical validation - targeting the Rs.1.6 Cr SCIDIP grant pool under the Advanced Materials track.</a:t>
            </a:r>
            <a:endParaRPr lang="en-US" sz="750" dirty="0"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0" y="4034740"/>
            <a:ext cx="9144000" cy="1378744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2"/>
          <p:cNvSpPr/>
          <p:nvPr/>
        </p:nvSpPr>
        <p:spPr>
          <a:xfrm>
            <a:off x="-52775" y="4236400"/>
            <a:ext cx="86937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Space Grotesk SemiBold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From computational design to physical validation — in advanced mobility and aerospace.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571500" y="4763100"/>
            <a:ext cx="8175000" cy="2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DEFD"/>
              </a:buClr>
              <a:buSzPts val="1600"/>
              <a:buFont typeface="Space Grotesk SemiBold"/>
              <a:buNone/>
            </a:pPr>
            <a:r>
              <a:rPr lang="en-US" sz="1600" b="0" i="0" u="sng" strike="noStrike" cap="none">
                <a:solidFill>
                  <a:srgbClr val="2BDEFD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crystalparadigm.in</a:t>
            </a:r>
            <a:r>
              <a:rPr lang="en-US" sz="1600">
                <a:solidFill>
                  <a:srgbClr val="2BDEFD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khub.crystalparadigm@gmail.com</a:t>
            </a:r>
            <a:endParaRPr sz="1600" b="0" i="0" u="none" strike="noStrike" cap="none">
              <a:solidFill>
                <a:srgbClr val="2BDEF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3325</Words>
  <Application>Microsoft Office PowerPoint</Application>
  <PresentationFormat>On-screen Show (16:9)</PresentationFormat>
  <Paragraphs>388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Courier New</vt:lpstr>
      <vt:lpstr>Inter</vt:lpstr>
      <vt:lpstr>Calibri</vt:lpstr>
      <vt:lpstr>Space Grotesk SemiBold</vt:lpstr>
      <vt:lpstr>Inter SemiBold</vt:lpstr>
      <vt:lpstr>Space Grotesk</vt:lpstr>
      <vt:lpstr>Inter Medium</vt:lpstr>
      <vt:lpstr>Office Theme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MOHAMMED AHMED RAZA</cp:lastModifiedBy>
  <cp:revision>9</cp:revision>
  <dcterms:created xsi:type="dcterms:W3CDTF">2026-06-04T12:08:38Z</dcterms:created>
  <dcterms:modified xsi:type="dcterms:W3CDTF">2026-10-19T23:03:18Z</dcterms:modified>
</cp:coreProperties>
</file>